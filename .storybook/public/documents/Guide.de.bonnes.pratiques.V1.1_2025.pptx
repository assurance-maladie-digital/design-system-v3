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7"/>
  </p:notesMasterIdLst>
  <p:sldIdLst>
    <p:sldId id="1125" r:id="rId5"/>
    <p:sldId id="1154" r:id="rId6"/>
    <p:sldId id="1152" r:id="rId7"/>
    <p:sldId id="1113" r:id="rId8"/>
    <p:sldId id="915" r:id="rId9"/>
    <p:sldId id="1126" r:id="rId10"/>
    <p:sldId id="917" r:id="rId11"/>
    <p:sldId id="1116" r:id="rId12"/>
    <p:sldId id="1117" r:id="rId13"/>
    <p:sldId id="935" r:id="rId14"/>
    <p:sldId id="750" r:id="rId15"/>
    <p:sldId id="1127" r:id="rId16"/>
    <p:sldId id="1114" r:id="rId17"/>
    <p:sldId id="1115" r:id="rId18"/>
    <p:sldId id="1142" r:id="rId19"/>
    <p:sldId id="1143" r:id="rId20"/>
    <p:sldId id="1144" r:id="rId21"/>
    <p:sldId id="1118" r:id="rId22"/>
    <p:sldId id="1141" r:id="rId23"/>
    <p:sldId id="1145" r:id="rId24"/>
    <p:sldId id="1120" r:id="rId25"/>
    <p:sldId id="1122" r:id="rId26"/>
    <p:sldId id="1123" r:id="rId27"/>
    <p:sldId id="1124" r:id="rId28"/>
    <p:sldId id="1153" r:id="rId29"/>
    <p:sldId id="1109" r:id="rId30"/>
    <p:sldId id="1105" r:id="rId31"/>
    <p:sldId id="1094" r:id="rId32"/>
    <p:sldId id="1076" r:id="rId33"/>
    <p:sldId id="1136" r:id="rId34"/>
    <p:sldId id="1095" r:id="rId35"/>
    <p:sldId id="1077" r:id="rId36"/>
    <p:sldId id="1129" r:id="rId37"/>
    <p:sldId id="1096" r:id="rId38"/>
    <p:sldId id="1078" r:id="rId39"/>
    <p:sldId id="1130" r:id="rId40"/>
    <p:sldId id="1097" r:id="rId41"/>
    <p:sldId id="1146" r:id="rId42"/>
    <p:sldId id="1150" r:id="rId43"/>
    <p:sldId id="1151" r:id="rId44"/>
    <p:sldId id="1148" r:id="rId45"/>
    <p:sldId id="1149" r:id="rId46"/>
    <p:sldId id="1147" r:id="rId47"/>
    <p:sldId id="1131" r:id="rId48"/>
    <p:sldId id="1098" r:id="rId49"/>
    <p:sldId id="1083" r:id="rId50"/>
    <p:sldId id="1084" r:id="rId51"/>
    <p:sldId id="1132" r:id="rId52"/>
    <p:sldId id="1099" r:id="rId53"/>
    <p:sldId id="1085" r:id="rId54"/>
    <p:sldId id="1104" r:id="rId55"/>
    <p:sldId id="1133" r:id="rId56"/>
    <p:sldId id="1100" r:id="rId57"/>
    <p:sldId id="1087" r:id="rId58"/>
    <p:sldId id="1137" r:id="rId59"/>
    <p:sldId id="1101" r:id="rId60"/>
    <p:sldId id="1088" r:id="rId61"/>
    <p:sldId id="1134" r:id="rId62"/>
    <p:sldId id="1102" r:id="rId63"/>
    <p:sldId id="1089" r:id="rId64"/>
    <p:sldId id="1135" r:id="rId65"/>
    <p:sldId id="1103" r:id="rId66"/>
    <p:sldId id="1091" r:id="rId67"/>
    <p:sldId id="1110" r:id="rId68"/>
    <p:sldId id="1106" r:id="rId69"/>
    <p:sldId id="923" r:id="rId70"/>
    <p:sldId id="777" r:id="rId71"/>
    <p:sldId id="924" r:id="rId72"/>
    <p:sldId id="778" r:id="rId73"/>
    <p:sldId id="779" r:id="rId74"/>
    <p:sldId id="918" r:id="rId75"/>
    <p:sldId id="913" r:id="rId76"/>
    <p:sldId id="751" r:id="rId77"/>
    <p:sldId id="752" r:id="rId78"/>
    <p:sldId id="753" r:id="rId79"/>
    <p:sldId id="926" r:id="rId80"/>
    <p:sldId id="766" r:id="rId81"/>
    <p:sldId id="760" r:id="rId82"/>
    <p:sldId id="761" r:id="rId83"/>
    <p:sldId id="762" r:id="rId84"/>
    <p:sldId id="763" r:id="rId85"/>
    <p:sldId id="764" r:id="rId86"/>
    <p:sldId id="931" r:id="rId87"/>
    <p:sldId id="770" r:id="rId88"/>
    <p:sldId id="767" r:id="rId89"/>
    <p:sldId id="768" r:id="rId90"/>
    <p:sldId id="769" r:id="rId91"/>
    <p:sldId id="771" r:id="rId92"/>
    <p:sldId id="772" r:id="rId93"/>
    <p:sldId id="773" r:id="rId94"/>
    <p:sldId id="774" r:id="rId95"/>
    <p:sldId id="775" r:id="rId96"/>
    <p:sldId id="919" r:id="rId97"/>
    <p:sldId id="754" r:id="rId98"/>
    <p:sldId id="755" r:id="rId99"/>
    <p:sldId id="756" r:id="rId100"/>
    <p:sldId id="757" r:id="rId101"/>
    <p:sldId id="758" r:id="rId102"/>
    <p:sldId id="920" r:id="rId103"/>
    <p:sldId id="749" r:id="rId104"/>
    <p:sldId id="922" r:id="rId105"/>
    <p:sldId id="776" r:id="rId106"/>
    <p:sldId id="1111" r:id="rId107"/>
    <p:sldId id="1107" r:id="rId108"/>
    <p:sldId id="1139" r:id="rId109"/>
    <p:sldId id="1138" r:id="rId110"/>
    <p:sldId id="940" r:id="rId111"/>
    <p:sldId id="941" r:id="rId112"/>
    <p:sldId id="942" r:id="rId113"/>
    <p:sldId id="943" r:id="rId114"/>
    <p:sldId id="944" r:id="rId115"/>
    <p:sldId id="945" r:id="rId116"/>
    <p:sldId id="946" r:id="rId117"/>
    <p:sldId id="947" r:id="rId118"/>
    <p:sldId id="948" r:id="rId119"/>
    <p:sldId id="949" r:id="rId120"/>
    <p:sldId id="950" r:id="rId121"/>
    <p:sldId id="951" r:id="rId122"/>
    <p:sldId id="953" r:id="rId123"/>
    <p:sldId id="954" r:id="rId124"/>
    <p:sldId id="955" r:id="rId125"/>
    <p:sldId id="956" r:id="rId126"/>
    <p:sldId id="957" r:id="rId127"/>
    <p:sldId id="958" r:id="rId128"/>
    <p:sldId id="959" r:id="rId129"/>
    <p:sldId id="960" r:id="rId130"/>
    <p:sldId id="961" r:id="rId131"/>
    <p:sldId id="962" r:id="rId132"/>
    <p:sldId id="963" r:id="rId133"/>
    <p:sldId id="964" r:id="rId134"/>
    <p:sldId id="965" r:id="rId135"/>
    <p:sldId id="967" r:id="rId136"/>
    <p:sldId id="968" r:id="rId137"/>
    <p:sldId id="969" r:id="rId138"/>
    <p:sldId id="970" r:id="rId139"/>
    <p:sldId id="971" r:id="rId140"/>
    <p:sldId id="972" r:id="rId141"/>
    <p:sldId id="973" r:id="rId142"/>
    <p:sldId id="974" r:id="rId143"/>
    <p:sldId id="975" r:id="rId144"/>
    <p:sldId id="976" r:id="rId145"/>
    <p:sldId id="977" r:id="rId146"/>
    <p:sldId id="978" r:id="rId147"/>
    <p:sldId id="979" r:id="rId148"/>
    <p:sldId id="980" r:id="rId149"/>
    <p:sldId id="981" r:id="rId150"/>
    <p:sldId id="982" r:id="rId151"/>
    <p:sldId id="983" r:id="rId152"/>
    <p:sldId id="984" r:id="rId153"/>
    <p:sldId id="985" r:id="rId154"/>
    <p:sldId id="986" r:id="rId155"/>
    <p:sldId id="987" r:id="rId156"/>
    <p:sldId id="988" r:id="rId157"/>
    <p:sldId id="989" r:id="rId158"/>
    <p:sldId id="990" r:id="rId159"/>
    <p:sldId id="991" r:id="rId160"/>
    <p:sldId id="992" r:id="rId161"/>
    <p:sldId id="993" r:id="rId162"/>
    <p:sldId id="994" r:id="rId163"/>
    <p:sldId id="995" r:id="rId164"/>
    <p:sldId id="996" r:id="rId165"/>
    <p:sldId id="997" r:id="rId166"/>
    <p:sldId id="998" r:id="rId167"/>
    <p:sldId id="999" r:id="rId168"/>
    <p:sldId id="1000" r:id="rId169"/>
    <p:sldId id="1001" r:id="rId170"/>
    <p:sldId id="1002" r:id="rId171"/>
    <p:sldId id="1003" r:id="rId172"/>
    <p:sldId id="1005" r:id="rId173"/>
    <p:sldId id="1006" r:id="rId174"/>
    <p:sldId id="1007" r:id="rId175"/>
    <p:sldId id="1008" r:id="rId176"/>
    <p:sldId id="1009" r:id="rId177"/>
    <p:sldId id="1010" r:id="rId178"/>
    <p:sldId id="1011" r:id="rId179"/>
    <p:sldId id="1012" r:id="rId180"/>
    <p:sldId id="1013" r:id="rId181"/>
    <p:sldId id="1014" r:id="rId182"/>
    <p:sldId id="1015" r:id="rId183"/>
    <p:sldId id="1016" r:id="rId184"/>
    <p:sldId id="1017" r:id="rId185"/>
    <p:sldId id="1018" r:id="rId186"/>
    <p:sldId id="1019" r:id="rId187"/>
    <p:sldId id="1020" r:id="rId188"/>
    <p:sldId id="1021" r:id="rId189"/>
    <p:sldId id="1022" r:id="rId190"/>
    <p:sldId id="1023" r:id="rId191"/>
    <p:sldId id="1024" r:id="rId192"/>
    <p:sldId id="1025" r:id="rId193"/>
    <p:sldId id="1026" r:id="rId194"/>
    <p:sldId id="1027" r:id="rId195"/>
    <p:sldId id="1028" r:id="rId196"/>
    <p:sldId id="1029" r:id="rId197"/>
    <p:sldId id="1030" r:id="rId198"/>
    <p:sldId id="1031" r:id="rId199"/>
    <p:sldId id="1032" r:id="rId200"/>
    <p:sldId id="1033" r:id="rId201"/>
    <p:sldId id="1034" r:id="rId202"/>
    <p:sldId id="1035" r:id="rId203"/>
    <p:sldId id="1036" r:id="rId204"/>
    <p:sldId id="1037" r:id="rId205"/>
    <p:sldId id="1038" r:id="rId206"/>
    <p:sldId id="1039" r:id="rId207"/>
    <p:sldId id="1040" r:id="rId208"/>
    <p:sldId id="1042" r:id="rId209"/>
    <p:sldId id="1044" r:id="rId210"/>
    <p:sldId id="1045" r:id="rId211"/>
    <p:sldId id="1046" r:id="rId212"/>
    <p:sldId id="1047" r:id="rId213"/>
    <p:sldId id="1048" r:id="rId214"/>
    <p:sldId id="1049" r:id="rId215"/>
    <p:sldId id="1050" r:id="rId216"/>
    <p:sldId id="1051" r:id="rId217"/>
    <p:sldId id="1052" r:id="rId218"/>
    <p:sldId id="1055" r:id="rId219"/>
    <p:sldId id="1057" r:id="rId220"/>
    <p:sldId id="1058" r:id="rId221"/>
    <p:sldId id="1059" r:id="rId222"/>
    <p:sldId id="1060" r:id="rId223"/>
    <p:sldId id="1063" r:id="rId224"/>
    <p:sldId id="1064" r:id="rId225"/>
    <p:sldId id="1065" r:id="rId226"/>
    <p:sldId id="1066" r:id="rId227"/>
    <p:sldId id="1067" r:id="rId228"/>
    <p:sldId id="1068" r:id="rId229"/>
    <p:sldId id="1069" r:id="rId230"/>
    <p:sldId id="1070" r:id="rId231"/>
    <p:sldId id="1071" r:id="rId232"/>
    <p:sldId id="1072" r:id="rId233"/>
    <p:sldId id="1073" r:id="rId234"/>
    <p:sldId id="1074" r:id="rId235"/>
    <p:sldId id="1075" r:id="rId23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ésentation" id="{365F0152-D4A1-4602-89A1-3E803AA2C4DD}">
          <p14:sldIdLst>
            <p14:sldId id="1125"/>
            <p14:sldId id="1154"/>
            <p14:sldId id="1152"/>
            <p14:sldId id="1113"/>
            <p14:sldId id="915"/>
          </p14:sldIdLst>
        </p14:section>
        <p14:section name="Liste des finalités et critères" id="{C69AB590-BD9F-4FDE-A841-CB09BD4590D2}">
          <p14:sldIdLst>
            <p14:sldId id="1126"/>
            <p14:sldId id="917"/>
            <p14:sldId id="1116"/>
            <p14:sldId id="1117"/>
            <p14:sldId id="935"/>
          </p14:sldIdLst>
        </p14:section>
        <p14:section name="Phase projets par acteurs" id="{38BA7664-B455-40C0-A538-0CF5DEA65AE1}">
          <p14:sldIdLst>
            <p14:sldId id="750"/>
          </p14:sldIdLst>
        </p14:section>
        <p14:section name="Liste des métiers et critères" id="{6F28C904-45A2-4D65-A399-4FBF4893F07B}">
          <p14:sldIdLst>
            <p14:sldId id="1127"/>
            <p14:sldId id="1114"/>
            <p14:sldId id="1115"/>
            <p14:sldId id="1142"/>
            <p14:sldId id="1143"/>
            <p14:sldId id="1144"/>
            <p14:sldId id="1118"/>
            <p14:sldId id="1141"/>
            <p14:sldId id="1145"/>
            <p14:sldId id="1120"/>
            <p14:sldId id="1122"/>
            <p14:sldId id="1123"/>
            <p14:sldId id="1124"/>
          </p14:sldIdLst>
        </p14:section>
        <p14:section name="Schéma de la mesure" id="{A71EC61A-2E72-497D-9D1B-D58D04BF115B}">
          <p14:sldIdLst>
            <p14:sldId id="1153"/>
          </p14:sldIdLst>
        </p14:section>
        <p14:section name="Bonnes pratique par phase métier" id="{4B52C0EE-424D-42CB-8825-596359D20D1D}">
          <p14:sldIdLst>
            <p14:sldId id="1109"/>
            <p14:sldId id="1105"/>
          </p14:sldIdLst>
        </p14:section>
        <p14:section name=" Gouvernance/Stratégie SI" id="{ACE296F0-B38E-4180-A0CA-A99EEE31560F}">
          <p14:sldIdLst>
            <p14:sldId id="1094"/>
            <p14:sldId id="1076"/>
            <p14:sldId id="1136"/>
          </p14:sldIdLst>
        </p14:section>
        <p14:section name="Gestion projet" id="{6027CDCE-0A5C-4DCF-B4C8-4E7D0A1947B0}">
          <p14:sldIdLst>
            <p14:sldId id="1095"/>
            <p14:sldId id="1077"/>
            <p14:sldId id="1129"/>
          </p14:sldIdLst>
        </p14:section>
        <p14:section name="CDC Spec" id="{26C504E1-455D-4BAB-8E4B-A00B6AEAF39A}">
          <p14:sldIdLst>
            <p14:sldId id="1096"/>
            <p14:sldId id="1078"/>
            <p14:sldId id="1130"/>
          </p14:sldIdLst>
        </p14:section>
        <p14:section name="Architecture" id="{76431477-4F25-41F2-85EC-EDAFC1F61436}">
          <p14:sldIdLst>
            <p14:sldId id="1097"/>
            <p14:sldId id="1146"/>
            <p14:sldId id="1150"/>
            <p14:sldId id="1151"/>
            <p14:sldId id="1148"/>
            <p14:sldId id="1149"/>
            <p14:sldId id="1147"/>
            <p14:sldId id="1131"/>
          </p14:sldIdLst>
        </p14:section>
        <p14:section name="Spec Conception et Design" id="{83F26ECC-6691-454B-B3BC-BAEB202E4B2C}">
          <p14:sldIdLst>
            <p14:sldId id="1098"/>
            <p14:sldId id="1083"/>
            <p14:sldId id="1084"/>
            <p14:sldId id="1132"/>
          </p14:sldIdLst>
        </p14:section>
        <p14:section name="Développement Front end" id="{8320ED95-8AD8-48FA-A4B1-7290FC469E10}">
          <p14:sldIdLst>
            <p14:sldId id="1099"/>
            <p14:sldId id="1085"/>
            <p14:sldId id="1104"/>
            <p14:sldId id="1133"/>
          </p14:sldIdLst>
        </p14:section>
        <p14:section name="Développement Back end" id="{588546AD-1058-4B65-AD65-1B4AFBBE2F23}">
          <p14:sldIdLst>
            <p14:sldId id="1100"/>
            <p14:sldId id="1087"/>
            <p14:sldId id="1137"/>
          </p14:sldIdLst>
        </p14:section>
        <p14:section name="Environnements : Conception de l’hébergement numérique" id="{E54029B2-F7D5-4C85-A2F6-2AE8D04543B3}">
          <p14:sldIdLst>
            <p14:sldId id="1101"/>
            <p14:sldId id="1088"/>
            <p14:sldId id="1134"/>
          </p14:sldIdLst>
        </p14:section>
        <p14:section name="Run Maintenance" id="{662D2FEE-669D-4EAC-B77C-173BAA8E3566}">
          <p14:sldIdLst>
            <p14:sldId id="1102"/>
            <p14:sldId id="1089"/>
            <p14:sldId id="1135"/>
          </p14:sldIdLst>
        </p14:section>
        <p14:section name="Intelligence Artificielle" id="{77B847B3-859D-4E4D-9B79-7F22665E467F}">
          <p14:sldIdLst>
            <p14:sldId id="1103"/>
            <p14:sldId id="1091"/>
          </p14:sldIdLst>
        </p14:section>
        <p14:section name="Bonnes pratiques par finalité" id="{7C0A59AD-86E2-4399-9033-2312CD6D6229}">
          <p14:sldIdLst>
            <p14:sldId id="1110"/>
            <p14:sldId id="1106"/>
          </p14:sldIdLst>
        </p14:section>
        <p14:section name="Service numérique utile" id="{FE78BCC1-C6E2-4449-BE63-B24073A74D23}">
          <p14:sldIdLst>
            <p14:sldId id="923"/>
            <p14:sldId id="777"/>
          </p14:sldIdLst>
        </p14:section>
        <p14:section name="Service numérique utilisable" id="{316E4EC7-D63F-4340-A233-A58F716CCEB3}">
          <p14:sldIdLst>
            <p14:sldId id="924"/>
            <p14:sldId id="778"/>
            <p14:sldId id="779"/>
          </p14:sldIdLst>
        </p14:section>
        <p14:section name="Méthodologie facilitant l'écoconception" id="{2D079D81-319B-42F7-B97F-2509C6E9699D}">
          <p14:sldIdLst>
            <p14:sldId id="918"/>
            <p14:sldId id="913"/>
            <p14:sldId id="751"/>
            <p14:sldId id="752"/>
            <p14:sldId id="753"/>
          </p14:sldIdLst>
        </p14:section>
        <p14:section name="Réduire la consommation de ressources : Optimisation de l'Expérience et de l'Interface Utilisateur" id="{47A837E2-10FE-4617-813B-3C53BC90479F}">
          <p14:sldIdLst>
            <p14:sldId id="926"/>
            <p14:sldId id="766"/>
            <p14:sldId id="760"/>
            <p14:sldId id="761"/>
            <p14:sldId id="762"/>
            <p14:sldId id="763"/>
            <p14:sldId id="764"/>
          </p14:sldIdLst>
        </p14:section>
        <p14:section name="Réduire la consommation de ressources : La solution intègre des pratiques d'écoconception" id="{3B87655F-EE31-40AF-AA88-688BA4271901}">
          <p14:sldIdLst>
            <p14:sldId id="931"/>
            <p14:sldId id="770"/>
            <p14:sldId id="767"/>
            <p14:sldId id="768"/>
            <p14:sldId id="769"/>
            <p14:sldId id="771"/>
            <p14:sldId id="772"/>
            <p14:sldId id="773"/>
            <p14:sldId id="774"/>
            <p14:sldId id="775"/>
          </p14:sldIdLst>
        </p14:section>
        <p14:section name="Moins d'infrastructure IT nécessaire" id="{85D8E09F-5EF7-44F1-917C-E2BFE60ECF6A}">
          <p14:sldIdLst>
            <p14:sldId id="919"/>
            <p14:sldId id="754"/>
            <p14:sldId id="755"/>
            <p14:sldId id="756"/>
            <p14:sldId id="757"/>
            <p14:sldId id="758"/>
          </p14:sldIdLst>
        </p14:section>
        <p14:section name="Libérer les ressources IT" id="{BC1E7290-75BC-43D3-98E5-8DCCC8235BA5}">
          <p14:sldIdLst>
            <p14:sldId id="920"/>
            <p14:sldId id="749"/>
          </p14:sldIdLst>
        </p14:section>
        <p14:section name="Réduire la consommation d'énergie" id="{D8C7B9E8-960D-45DE-A285-3AABDC256AC3}">
          <p14:sldIdLst>
            <p14:sldId id="922"/>
            <p14:sldId id="776"/>
          </p14:sldIdLst>
        </p14:section>
        <p14:section name="Liste des bonnes pratiques" id="{706B9F87-24F3-4084-88AF-E2A4D56C5E23}">
          <p14:sldIdLst>
            <p14:sldId id="1111"/>
            <p14:sldId id="1107"/>
          </p14:sldIdLst>
        </p14:section>
        <p14:section name="Fiches d'écoconception" id="{FEB131C5-9848-4C8C-B4B3-5C983F4AEF5B}">
          <p14:sldIdLst>
            <p14:sldId id="1139"/>
            <p14:sldId id="1138"/>
            <p14:sldId id="940"/>
            <p14:sldId id="941"/>
            <p14:sldId id="942"/>
            <p14:sldId id="943"/>
            <p14:sldId id="944"/>
            <p14:sldId id="945"/>
            <p14:sldId id="946"/>
            <p14:sldId id="947"/>
            <p14:sldId id="948"/>
            <p14:sldId id="949"/>
            <p14:sldId id="950"/>
            <p14:sldId id="951"/>
            <p14:sldId id="953"/>
            <p14:sldId id="954"/>
            <p14:sldId id="955"/>
            <p14:sldId id="956"/>
            <p14:sldId id="957"/>
            <p14:sldId id="958"/>
            <p14:sldId id="959"/>
            <p14:sldId id="960"/>
            <p14:sldId id="961"/>
            <p14:sldId id="962"/>
            <p14:sldId id="963"/>
            <p14:sldId id="964"/>
            <p14:sldId id="965"/>
            <p14:sldId id="967"/>
            <p14:sldId id="968"/>
            <p14:sldId id="969"/>
            <p14:sldId id="970"/>
            <p14:sldId id="971"/>
            <p14:sldId id="972"/>
            <p14:sldId id="973"/>
            <p14:sldId id="974"/>
            <p14:sldId id="975"/>
            <p14:sldId id="976"/>
            <p14:sldId id="977"/>
            <p14:sldId id="978"/>
            <p14:sldId id="979"/>
            <p14:sldId id="980"/>
            <p14:sldId id="981"/>
            <p14:sldId id="982"/>
            <p14:sldId id="983"/>
            <p14:sldId id="984"/>
            <p14:sldId id="985"/>
            <p14:sldId id="986"/>
            <p14:sldId id="987"/>
            <p14:sldId id="988"/>
            <p14:sldId id="989"/>
            <p14:sldId id="990"/>
            <p14:sldId id="991"/>
            <p14:sldId id="992"/>
            <p14:sldId id="993"/>
            <p14:sldId id="994"/>
            <p14:sldId id="995"/>
            <p14:sldId id="996"/>
            <p14:sldId id="997"/>
            <p14:sldId id="998"/>
            <p14:sldId id="999"/>
            <p14:sldId id="1000"/>
            <p14:sldId id="1001"/>
            <p14:sldId id="1002"/>
            <p14:sldId id="1003"/>
            <p14:sldId id="1005"/>
            <p14:sldId id="1006"/>
            <p14:sldId id="1007"/>
            <p14:sldId id="1008"/>
            <p14:sldId id="1009"/>
            <p14:sldId id="1010"/>
            <p14:sldId id="1011"/>
            <p14:sldId id="1012"/>
            <p14:sldId id="1013"/>
            <p14:sldId id="1014"/>
            <p14:sldId id="1015"/>
            <p14:sldId id="1016"/>
            <p14:sldId id="1017"/>
            <p14:sldId id="1018"/>
            <p14:sldId id="1019"/>
            <p14:sldId id="1020"/>
            <p14:sldId id="1021"/>
            <p14:sldId id="1022"/>
            <p14:sldId id="1023"/>
            <p14:sldId id="1024"/>
            <p14:sldId id="1025"/>
            <p14:sldId id="1026"/>
            <p14:sldId id="1027"/>
            <p14:sldId id="1028"/>
            <p14:sldId id="1029"/>
            <p14:sldId id="1030"/>
            <p14:sldId id="1031"/>
            <p14:sldId id="1032"/>
            <p14:sldId id="1033"/>
            <p14:sldId id="1034"/>
            <p14:sldId id="1035"/>
            <p14:sldId id="1036"/>
            <p14:sldId id="1037"/>
            <p14:sldId id="1038"/>
            <p14:sldId id="1039"/>
            <p14:sldId id="1040"/>
            <p14:sldId id="1042"/>
            <p14:sldId id="1044"/>
            <p14:sldId id="1045"/>
            <p14:sldId id="1046"/>
            <p14:sldId id="1047"/>
            <p14:sldId id="1048"/>
            <p14:sldId id="1049"/>
            <p14:sldId id="1050"/>
            <p14:sldId id="1051"/>
            <p14:sldId id="1052"/>
            <p14:sldId id="1055"/>
            <p14:sldId id="1057"/>
            <p14:sldId id="1058"/>
            <p14:sldId id="1059"/>
            <p14:sldId id="1060"/>
            <p14:sldId id="1063"/>
            <p14:sldId id="1064"/>
            <p14:sldId id="1065"/>
            <p14:sldId id="1066"/>
            <p14:sldId id="1067"/>
            <p14:sldId id="1068"/>
            <p14:sldId id="1069"/>
            <p14:sldId id="1070"/>
            <p14:sldId id="1071"/>
            <p14:sldId id="1072"/>
            <p14:sldId id="1073"/>
            <p14:sldId id="1074"/>
            <p14:sldId id="10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84780"/>
    <a:srgbClr val="2F5597"/>
    <a:srgbClr val="51648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0825" autoAdjust="0"/>
    <p:restoredTop sz="94660"/>
  </p:normalViewPr>
  <p:slideViewPr>
    <p:cSldViewPr snapToGrid="0">
      <p:cViewPr varScale="1">
        <p:scale>
          <a:sx n="87" d="100"/>
          <a:sy n="87" d="100"/>
        </p:scale>
        <p:origin x="102" y="6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70" Type="http://schemas.openxmlformats.org/officeDocument/2006/relationships/slide" Target="slides/slide166.xml"/><Relationship Id="rId191" Type="http://schemas.openxmlformats.org/officeDocument/2006/relationships/slide" Target="slides/slide187.xml"/><Relationship Id="rId205" Type="http://schemas.openxmlformats.org/officeDocument/2006/relationships/slide" Target="slides/slide201.xml"/><Relationship Id="rId226" Type="http://schemas.openxmlformats.org/officeDocument/2006/relationships/slide" Target="slides/slide22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181" Type="http://schemas.openxmlformats.org/officeDocument/2006/relationships/slide" Target="slides/slide177.xml"/><Relationship Id="rId216" Type="http://schemas.openxmlformats.org/officeDocument/2006/relationships/slide" Target="slides/slide212.xml"/><Relationship Id="rId237" Type="http://schemas.openxmlformats.org/officeDocument/2006/relationships/notesMaster" Target="notesMasters/notesMaster1.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71" Type="http://schemas.openxmlformats.org/officeDocument/2006/relationships/slide" Target="slides/slide167.xml"/><Relationship Id="rId192" Type="http://schemas.openxmlformats.org/officeDocument/2006/relationships/slide" Target="slides/slide188.xml"/><Relationship Id="rId206" Type="http://schemas.openxmlformats.org/officeDocument/2006/relationships/slide" Target="slides/slide202.xml"/><Relationship Id="rId227" Type="http://schemas.openxmlformats.org/officeDocument/2006/relationships/slide" Target="slides/slide223.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5" Type="http://schemas.openxmlformats.org/officeDocument/2006/relationships/slide" Target="slides/slide71.xml"/><Relationship Id="rId96" Type="http://schemas.openxmlformats.org/officeDocument/2006/relationships/slide" Target="slides/slide92.xml"/><Relationship Id="rId140" Type="http://schemas.openxmlformats.org/officeDocument/2006/relationships/slide" Target="slides/slide136.xml"/><Relationship Id="rId161" Type="http://schemas.openxmlformats.org/officeDocument/2006/relationships/slide" Target="slides/slide157.xml"/><Relationship Id="rId182" Type="http://schemas.openxmlformats.org/officeDocument/2006/relationships/slide" Target="slides/slide178.xml"/><Relationship Id="rId217" Type="http://schemas.openxmlformats.org/officeDocument/2006/relationships/slide" Target="slides/slide213.xml"/><Relationship Id="rId6" Type="http://schemas.openxmlformats.org/officeDocument/2006/relationships/slide" Target="slides/slide2.xml"/><Relationship Id="rId238" Type="http://schemas.openxmlformats.org/officeDocument/2006/relationships/presProps" Target="presProps.xml"/><Relationship Id="rId23" Type="http://schemas.openxmlformats.org/officeDocument/2006/relationships/slide" Target="slides/slide19.xml"/><Relationship Id="rId119" Type="http://schemas.openxmlformats.org/officeDocument/2006/relationships/slide" Target="slides/slide115.xml"/><Relationship Id="rId44" Type="http://schemas.openxmlformats.org/officeDocument/2006/relationships/slide" Target="slides/slide40.xml"/><Relationship Id="rId65" Type="http://schemas.openxmlformats.org/officeDocument/2006/relationships/slide" Target="slides/slide61.xml"/><Relationship Id="rId86" Type="http://schemas.openxmlformats.org/officeDocument/2006/relationships/slide" Target="slides/slide82.xml"/><Relationship Id="rId130" Type="http://schemas.openxmlformats.org/officeDocument/2006/relationships/slide" Target="slides/slide126.xml"/><Relationship Id="rId151" Type="http://schemas.openxmlformats.org/officeDocument/2006/relationships/slide" Target="slides/slide147.xml"/><Relationship Id="rId172" Type="http://schemas.openxmlformats.org/officeDocument/2006/relationships/slide" Target="slides/slide168.xml"/><Relationship Id="rId193" Type="http://schemas.openxmlformats.org/officeDocument/2006/relationships/slide" Target="slides/slide189.xml"/><Relationship Id="rId207" Type="http://schemas.openxmlformats.org/officeDocument/2006/relationships/slide" Target="slides/slide203.xml"/><Relationship Id="rId228" Type="http://schemas.openxmlformats.org/officeDocument/2006/relationships/slide" Target="slides/slide224.xml"/><Relationship Id="rId13" Type="http://schemas.openxmlformats.org/officeDocument/2006/relationships/slide" Target="slides/slide9.xml"/><Relationship Id="rId109" Type="http://schemas.openxmlformats.org/officeDocument/2006/relationships/slide" Target="slides/slide105.xml"/><Relationship Id="rId34" Type="http://schemas.openxmlformats.org/officeDocument/2006/relationships/slide" Target="slides/slide30.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20" Type="http://schemas.openxmlformats.org/officeDocument/2006/relationships/slide" Target="slides/slide116.xml"/><Relationship Id="rId141" Type="http://schemas.openxmlformats.org/officeDocument/2006/relationships/slide" Target="slides/slide137.xml"/><Relationship Id="rId7" Type="http://schemas.openxmlformats.org/officeDocument/2006/relationships/slide" Target="slides/slide3.xml"/><Relationship Id="rId162" Type="http://schemas.openxmlformats.org/officeDocument/2006/relationships/slide" Target="slides/slide158.xml"/><Relationship Id="rId183" Type="http://schemas.openxmlformats.org/officeDocument/2006/relationships/slide" Target="slides/slide179.xml"/><Relationship Id="rId218" Type="http://schemas.openxmlformats.org/officeDocument/2006/relationships/slide" Target="slides/slide214.xml"/><Relationship Id="rId239" Type="http://schemas.openxmlformats.org/officeDocument/2006/relationships/viewProps" Target="viewProps.xml"/><Relationship Id="rId24" Type="http://schemas.openxmlformats.org/officeDocument/2006/relationships/slide" Target="slides/slide20.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31" Type="http://schemas.openxmlformats.org/officeDocument/2006/relationships/slide" Target="slides/slide127.xml"/><Relationship Id="rId152" Type="http://schemas.openxmlformats.org/officeDocument/2006/relationships/slide" Target="slides/slide148.xml"/><Relationship Id="rId173" Type="http://schemas.openxmlformats.org/officeDocument/2006/relationships/slide" Target="slides/slide169.xml"/><Relationship Id="rId194" Type="http://schemas.openxmlformats.org/officeDocument/2006/relationships/slide" Target="slides/slide190.xml"/><Relationship Id="rId208" Type="http://schemas.openxmlformats.org/officeDocument/2006/relationships/slide" Target="slides/slide204.xml"/><Relationship Id="rId229" Type="http://schemas.openxmlformats.org/officeDocument/2006/relationships/slide" Target="slides/slide225.xml"/><Relationship Id="rId240" Type="http://schemas.openxmlformats.org/officeDocument/2006/relationships/theme" Target="theme/theme1.xml"/><Relationship Id="rId14" Type="http://schemas.openxmlformats.org/officeDocument/2006/relationships/slide" Target="slides/slide10.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8" Type="http://schemas.openxmlformats.org/officeDocument/2006/relationships/slide" Target="slides/slide4.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184" Type="http://schemas.openxmlformats.org/officeDocument/2006/relationships/slide" Target="slides/slide180.xml"/><Relationship Id="rId219" Type="http://schemas.openxmlformats.org/officeDocument/2006/relationships/slide" Target="slides/slide215.xml"/><Relationship Id="rId230" Type="http://schemas.openxmlformats.org/officeDocument/2006/relationships/slide" Target="slides/slide226.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slide" Target="slides/slide170.xml"/><Relationship Id="rId195" Type="http://schemas.openxmlformats.org/officeDocument/2006/relationships/slide" Target="slides/slide191.xml"/><Relationship Id="rId209" Type="http://schemas.openxmlformats.org/officeDocument/2006/relationships/slide" Target="slides/slide205.xml"/><Relationship Id="rId220" Type="http://schemas.openxmlformats.org/officeDocument/2006/relationships/slide" Target="slides/slide216.xml"/><Relationship Id="rId241" Type="http://schemas.openxmlformats.org/officeDocument/2006/relationships/tableStyles" Target="tableStyles.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slide" Target="slides/slide160.xml"/><Relationship Id="rId169" Type="http://schemas.openxmlformats.org/officeDocument/2006/relationships/slide" Target="slides/slide165.xml"/><Relationship Id="rId185" Type="http://schemas.openxmlformats.org/officeDocument/2006/relationships/slide" Target="slides/slide181.xml"/><Relationship Id="rId4" Type="http://schemas.openxmlformats.org/officeDocument/2006/relationships/slideMaster" Target="slideMasters/slideMaster1.xml"/><Relationship Id="rId9" Type="http://schemas.openxmlformats.org/officeDocument/2006/relationships/slide" Target="slides/slide5.xml"/><Relationship Id="rId180" Type="http://schemas.openxmlformats.org/officeDocument/2006/relationships/slide" Target="slides/slide176.xml"/><Relationship Id="rId210" Type="http://schemas.openxmlformats.org/officeDocument/2006/relationships/slide" Target="slides/slide206.xml"/><Relationship Id="rId215" Type="http://schemas.openxmlformats.org/officeDocument/2006/relationships/slide" Target="slides/slide211.xml"/><Relationship Id="rId236" Type="http://schemas.openxmlformats.org/officeDocument/2006/relationships/slide" Target="slides/slide232.xml"/><Relationship Id="rId26" Type="http://schemas.openxmlformats.org/officeDocument/2006/relationships/slide" Target="slides/slide22.xml"/><Relationship Id="rId231" Type="http://schemas.openxmlformats.org/officeDocument/2006/relationships/slide" Target="slides/slide227.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slide" Target="slides/slide171.xml"/><Relationship Id="rId196" Type="http://schemas.openxmlformats.org/officeDocument/2006/relationships/slide" Target="slides/slide192.xml"/><Relationship Id="rId200" Type="http://schemas.openxmlformats.org/officeDocument/2006/relationships/slide" Target="slides/slide196.xml"/><Relationship Id="rId16" Type="http://schemas.openxmlformats.org/officeDocument/2006/relationships/slide" Target="slides/slide12.xml"/><Relationship Id="rId221" Type="http://schemas.openxmlformats.org/officeDocument/2006/relationships/slide" Target="slides/slide217.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186" Type="http://schemas.openxmlformats.org/officeDocument/2006/relationships/slide" Target="slides/slide182.xml"/><Relationship Id="rId211" Type="http://schemas.openxmlformats.org/officeDocument/2006/relationships/slide" Target="slides/slide207.xml"/><Relationship Id="rId232" Type="http://schemas.openxmlformats.org/officeDocument/2006/relationships/slide" Target="slides/slide228.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slide" Target="slides/slide172.xml"/><Relationship Id="rId197" Type="http://schemas.openxmlformats.org/officeDocument/2006/relationships/slide" Target="slides/slide193.xml"/><Relationship Id="rId201" Type="http://schemas.openxmlformats.org/officeDocument/2006/relationships/slide" Target="slides/slide197.xml"/><Relationship Id="rId222" Type="http://schemas.openxmlformats.org/officeDocument/2006/relationships/slide" Target="slides/slide218.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87" Type="http://schemas.openxmlformats.org/officeDocument/2006/relationships/slide" Target="slides/slide183.xml"/><Relationship Id="rId1" Type="http://schemas.openxmlformats.org/officeDocument/2006/relationships/customXml" Target="../customXml/item1.xml"/><Relationship Id="rId212" Type="http://schemas.openxmlformats.org/officeDocument/2006/relationships/slide" Target="slides/slide208.xml"/><Relationship Id="rId233" Type="http://schemas.openxmlformats.org/officeDocument/2006/relationships/slide" Target="slides/slide22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60" Type="http://schemas.openxmlformats.org/officeDocument/2006/relationships/slide" Target="slides/slide56.xml"/><Relationship Id="rId81" Type="http://schemas.openxmlformats.org/officeDocument/2006/relationships/slide" Target="slides/slide77.xml"/><Relationship Id="rId135" Type="http://schemas.openxmlformats.org/officeDocument/2006/relationships/slide" Target="slides/slide131.xml"/><Relationship Id="rId156" Type="http://schemas.openxmlformats.org/officeDocument/2006/relationships/slide" Target="slides/slide152.xml"/><Relationship Id="rId177" Type="http://schemas.openxmlformats.org/officeDocument/2006/relationships/slide" Target="slides/slide173.xml"/><Relationship Id="rId198" Type="http://schemas.openxmlformats.org/officeDocument/2006/relationships/slide" Target="slides/slide194.xml"/><Relationship Id="rId202" Type="http://schemas.openxmlformats.org/officeDocument/2006/relationships/slide" Target="slides/slide198.xml"/><Relationship Id="rId223" Type="http://schemas.openxmlformats.org/officeDocument/2006/relationships/slide" Target="slides/slide219.xml"/><Relationship Id="rId18" Type="http://schemas.openxmlformats.org/officeDocument/2006/relationships/slide" Target="slides/slide14.xml"/><Relationship Id="rId39" Type="http://schemas.openxmlformats.org/officeDocument/2006/relationships/slide" Target="slides/slide35.xml"/><Relationship Id="rId50" Type="http://schemas.openxmlformats.org/officeDocument/2006/relationships/slide" Target="slides/slide46.xml"/><Relationship Id="rId104" Type="http://schemas.openxmlformats.org/officeDocument/2006/relationships/slide" Target="slides/slide100.xml"/><Relationship Id="rId125" Type="http://schemas.openxmlformats.org/officeDocument/2006/relationships/slide" Target="slides/slide121.xml"/><Relationship Id="rId146" Type="http://schemas.openxmlformats.org/officeDocument/2006/relationships/slide" Target="slides/slide142.xml"/><Relationship Id="rId167" Type="http://schemas.openxmlformats.org/officeDocument/2006/relationships/slide" Target="slides/slide163.xml"/><Relationship Id="rId188" Type="http://schemas.openxmlformats.org/officeDocument/2006/relationships/slide" Target="slides/slide184.xml"/><Relationship Id="rId71" Type="http://schemas.openxmlformats.org/officeDocument/2006/relationships/slide" Target="slides/slide67.xml"/><Relationship Id="rId92" Type="http://schemas.openxmlformats.org/officeDocument/2006/relationships/slide" Target="slides/slide88.xml"/><Relationship Id="rId213" Type="http://schemas.openxmlformats.org/officeDocument/2006/relationships/slide" Target="slides/slide209.xml"/><Relationship Id="rId234" Type="http://schemas.openxmlformats.org/officeDocument/2006/relationships/slide" Target="slides/slide230.xml"/><Relationship Id="rId2" Type="http://schemas.openxmlformats.org/officeDocument/2006/relationships/customXml" Target="../customXml/item2.xml"/><Relationship Id="rId29" Type="http://schemas.openxmlformats.org/officeDocument/2006/relationships/slide" Target="slides/slide25.xml"/><Relationship Id="rId40" Type="http://schemas.openxmlformats.org/officeDocument/2006/relationships/slide" Target="slides/slide36.xml"/><Relationship Id="rId115" Type="http://schemas.openxmlformats.org/officeDocument/2006/relationships/slide" Target="slides/slide111.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slide" Target="slides/slide174.xml"/><Relationship Id="rId61" Type="http://schemas.openxmlformats.org/officeDocument/2006/relationships/slide" Target="slides/slide57.xml"/><Relationship Id="rId82" Type="http://schemas.openxmlformats.org/officeDocument/2006/relationships/slide" Target="slides/slide78.xml"/><Relationship Id="rId199" Type="http://schemas.openxmlformats.org/officeDocument/2006/relationships/slide" Target="slides/slide195.xml"/><Relationship Id="rId203" Type="http://schemas.openxmlformats.org/officeDocument/2006/relationships/slide" Target="slides/slide199.xml"/><Relationship Id="rId19" Type="http://schemas.openxmlformats.org/officeDocument/2006/relationships/slide" Target="slides/slide15.xml"/><Relationship Id="rId224" Type="http://schemas.openxmlformats.org/officeDocument/2006/relationships/slide" Target="slides/slide220.xml"/><Relationship Id="rId30" Type="http://schemas.openxmlformats.org/officeDocument/2006/relationships/slide" Target="slides/slide2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189" Type="http://schemas.openxmlformats.org/officeDocument/2006/relationships/slide" Target="slides/slide185.xml"/><Relationship Id="rId3" Type="http://schemas.openxmlformats.org/officeDocument/2006/relationships/customXml" Target="../customXml/item3.xml"/><Relationship Id="rId214" Type="http://schemas.openxmlformats.org/officeDocument/2006/relationships/slide" Target="slides/slide210.xml"/><Relationship Id="rId235" Type="http://schemas.openxmlformats.org/officeDocument/2006/relationships/slide" Target="slides/slide231.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179" Type="http://schemas.openxmlformats.org/officeDocument/2006/relationships/slide" Target="slides/slide175.xml"/><Relationship Id="rId190" Type="http://schemas.openxmlformats.org/officeDocument/2006/relationships/slide" Target="slides/slide186.xml"/><Relationship Id="rId204" Type="http://schemas.openxmlformats.org/officeDocument/2006/relationships/slide" Target="slides/slide200.xml"/><Relationship Id="rId225" Type="http://schemas.openxmlformats.org/officeDocument/2006/relationships/slide" Target="slides/slide22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8231189-4AAF-4E63-9E53-00AD89732317}" type="doc">
      <dgm:prSet loTypeId="urn:microsoft.com/office/officeart/2005/8/layout/hierarchy4" loCatId="hierarchy" qsTypeId="urn:microsoft.com/office/officeart/2005/8/quickstyle/simple1" qsCatId="simple" csTypeId="urn:microsoft.com/office/officeart/2005/8/colors/accent1_2" csCatId="accent1" phldr="1"/>
      <dgm:spPr/>
      <dgm:t>
        <a:bodyPr/>
        <a:lstStyle/>
        <a:p>
          <a:endParaRPr lang="fr-FR"/>
        </a:p>
      </dgm:t>
    </dgm:pt>
    <dgm:pt modelId="{C326DB4F-6D88-4E7B-909E-3067AA10B786}">
      <dgm:prSet phldrT="[Texte]" custT="1"/>
      <dgm:spPr/>
      <dgm:t>
        <a:bodyPr/>
        <a:lstStyle/>
        <a:p>
          <a:r>
            <a:rPr lang="fr-FR" sz="3200" dirty="0" smtClean="0"/>
            <a:t>Finalité</a:t>
          </a:r>
          <a:endParaRPr lang="fr-FR" sz="3200" dirty="0"/>
        </a:p>
      </dgm:t>
    </dgm:pt>
    <dgm:pt modelId="{F9D04FA9-37EA-42B2-A73A-628EF67B39A1}" type="parTrans" cxnId="{A4E958D5-689F-4E82-8C95-5BD604DC2C04}">
      <dgm:prSet/>
      <dgm:spPr/>
      <dgm:t>
        <a:bodyPr/>
        <a:lstStyle/>
        <a:p>
          <a:endParaRPr lang="fr-FR"/>
        </a:p>
      </dgm:t>
    </dgm:pt>
    <dgm:pt modelId="{74AB21D8-6EC0-48DD-9714-20AAAE91D632}" type="sibTrans" cxnId="{A4E958D5-689F-4E82-8C95-5BD604DC2C04}">
      <dgm:prSet/>
      <dgm:spPr/>
      <dgm:t>
        <a:bodyPr/>
        <a:lstStyle/>
        <a:p>
          <a:endParaRPr lang="fr-FR"/>
        </a:p>
      </dgm:t>
    </dgm:pt>
    <dgm:pt modelId="{50A32C38-5798-4975-8709-D635EDF2A8E2}">
      <dgm:prSet phldrT="[Texte]" custT="1"/>
      <dgm:spPr/>
      <dgm:t>
        <a:bodyPr lIns="0" rIns="0"/>
        <a:lstStyle/>
        <a:p>
          <a:r>
            <a:rPr lang="fr-FR" sz="2000" dirty="0" smtClean="0"/>
            <a:t>Critère</a:t>
          </a:r>
          <a:endParaRPr lang="fr-FR" sz="2000" dirty="0"/>
        </a:p>
      </dgm:t>
    </dgm:pt>
    <dgm:pt modelId="{396A034F-B5E7-4011-8432-790E4328D162}" type="parTrans" cxnId="{D8BE8FD2-5F5C-4691-BF44-85BCED163115}">
      <dgm:prSet/>
      <dgm:spPr/>
      <dgm:t>
        <a:bodyPr/>
        <a:lstStyle/>
        <a:p>
          <a:endParaRPr lang="fr-FR"/>
        </a:p>
      </dgm:t>
    </dgm:pt>
    <dgm:pt modelId="{E8617AF1-0019-49A6-A8E0-184C71E4CDC7}" type="sibTrans" cxnId="{D8BE8FD2-5F5C-4691-BF44-85BCED163115}">
      <dgm:prSet/>
      <dgm:spPr/>
      <dgm:t>
        <a:bodyPr/>
        <a:lstStyle/>
        <a:p>
          <a:endParaRPr lang="fr-FR"/>
        </a:p>
      </dgm:t>
    </dgm:pt>
    <dgm:pt modelId="{74AFD519-100E-4E06-AD41-BEED0A74A0D7}">
      <dgm:prSet phldrT="[Texte]" custT="1"/>
      <dgm:spPr/>
      <dgm:t>
        <a:bodyPr lIns="0" rIns="0"/>
        <a:lstStyle/>
        <a:p>
          <a:r>
            <a:rPr lang="fr-FR" sz="2000" dirty="0" smtClean="0"/>
            <a:t>Critère</a:t>
          </a:r>
          <a:endParaRPr lang="fr-FR" sz="2000" dirty="0"/>
        </a:p>
      </dgm:t>
    </dgm:pt>
    <dgm:pt modelId="{9FAFD1C0-A213-49F2-883F-5AF9A638E228}" type="parTrans" cxnId="{DB86F0B0-011F-491F-A5C0-8B338657E479}">
      <dgm:prSet/>
      <dgm:spPr/>
      <dgm:t>
        <a:bodyPr/>
        <a:lstStyle/>
        <a:p>
          <a:endParaRPr lang="fr-FR"/>
        </a:p>
      </dgm:t>
    </dgm:pt>
    <dgm:pt modelId="{DB0B3823-6A48-41EB-8606-F3D2FA369FBE}" type="sibTrans" cxnId="{DB86F0B0-011F-491F-A5C0-8B338657E479}">
      <dgm:prSet/>
      <dgm:spPr/>
      <dgm:t>
        <a:bodyPr/>
        <a:lstStyle/>
        <a:p>
          <a:endParaRPr lang="fr-FR"/>
        </a:p>
      </dgm:t>
    </dgm:pt>
    <dgm:pt modelId="{88C3A616-3DA9-4BBF-93A2-B0DFF1D10213}">
      <dgm:prSet phldrT="[Texte]" custT="1"/>
      <dgm:spPr/>
      <dgm:t>
        <a:bodyPr lIns="0" rIns="0"/>
        <a:lstStyle/>
        <a:p>
          <a:r>
            <a:rPr lang="fr-FR" sz="1800" dirty="0" smtClean="0"/>
            <a:t>Phase projet</a:t>
          </a:r>
          <a:endParaRPr lang="fr-FR" sz="1800" dirty="0"/>
        </a:p>
      </dgm:t>
    </dgm:pt>
    <dgm:pt modelId="{028F3477-8E45-4FB7-9CB9-6BFB56D0BE13}" type="parTrans" cxnId="{2EF0190F-B7DC-427A-8592-B2609E78EEC8}">
      <dgm:prSet/>
      <dgm:spPr/>
      <dgm:t>
        <a:bodyPr/>
        <a:lstStyle/>
        <a:p>
          <a:endParaRPr lang="fr-FR"/>
        </a:p>
      </dgm:t>
    </dgm:pt>
    <dgm:pt modelId="{606896F0-CEF5-408F-B3A0-8995149ABE71}" type="sibTrans" cxnId="{2EF0190F-B7DC-427A-8592-B2609E78EEC8}">
      <dgm:prSet/>
      <dgm:spPr/>
      <dgm:t>
        <a:bodyPr/>
        <a:lstStyle/>
        <a:p>
          <a:endParaRPr lang="fr-FR"/>
        </a:p>
      </dgm:t>
    </dgm:pt>
    <dgm:pt modelId="{4102F1E9-7BDB-4D05-8A75-935F6263FFF9}">
      <dgm:prSet phldrT="[Texte]" custT="1"/>
      <dgm:spPr/>
      <dgm:t>
        <a:bodyPr lIns="0" rIns="0"/>
        <a:lstStyle/>
        <a:p>
          <a:r>
            <a:rPr lang="fr-FR" sz="1600" dirty="0" smtClean="0"/>
            <a:t>Bonne pratique</a:t>
          </a:r>
          <a:endParaRPr lang="fr-FR" sz="1600" dirty="0"/>
        </a:p>
      </dgm:t>
    </dgm:pt>
    <dgm:pt modelId="{583C2082-D3E0-4EF3-A532-4E6C7565E1F8}" type="parTrans" cxnId="{DF92A8E5-6027-4A84-BC12-4E1107DD438D}">
      <dgm:prSet/>
      <dgm:spPr/>
      <dgm:t>
        <a:bodyPr/>
        <a:lstStyle/>
        <a:p>
          <a:endParaRPr lang="fr-FR"/>
        </a:p>
      </dgm:t>
    </dgm:pt>
    <dgm:pt modelId="{C746CD3F-891F-4FDF-8545-34434307DF8B}" type="sibTrans" cxnId="{DF92A8E5-6027-4A84-BC12-4E1107DD438D}">
      <dgm:prSet/>
      <dgm:spPr/>
      <dgm:t>
        <a:bodyPr/>
        <a:lstStyle/>
        <a:p>
          <a:endParaRPr lang="fr-FR"/>
        </a:p>
      </dgm:t>
    </dgm:pt>
    <dgm:pt modelId="{E45D2CD6-1F83-4A80-A594-CDAF88105537}">
      <dgm:prSet phldrT="[Texte]" custT="1"/>
      <dgm:spPr/>
      <dgm:t>
        <a:bodyPr lIns="0" rIns="0"/>
        <a:lstStyle/>
        <a:p>
          <a:r>
            <a:rPr lang="fr-FR" sz="1800" dirty="0" smtClean="0"/>
            <a:t>Phase projet</a:t>
          </a:r>
          <a:endParaRPr lang="fr-FR" sz="1800" dirty="0"/>
        </a:p>
      </dgm:t>
    </dgm:pt>
    <dgm:pt modelId="{10D49B6B-719D-4E2B-9428-62333DB1BD64}" type="parTrans" cxnId="{D1B7200A-23F6-4030-92C9-683427F852CD}">
      <dgm:prSet/>
      <dgm:spPr/>
      <dgm:t>
        <a:bodyPr/>
        <a:lstStyle/>
        <a:p>
          <a:endParaRPr lang="fr-FR"/>
        </a:p>
      </dgm:t>
    </dgm:pt>
    <dgm:pt modelId="{582A7495-967A-46F9-9365-A1E1E8759A9D}" type="sibTrans" cxnId="{D1B7200A-23F6-4030-92C9-683427F852CD}">
      <dgm:prSet/>
      <dgm:spPr/>
      <dgm:t>
        <a:bodyPr/>
        <a:lstStyle/>
        <a:p>
          <a:endParaRPr lang="fr-FR"/>
        </a:p>
      </dgm:t>
    </dgm:pt>
    <dgm:pt modelId="{79F17C6C-4E0F-41CD-BADC-78CE3874631B}">
      <dgm:prSet phldrT="[Texte]" custT="1"/>
      <dgm:spPr/>
      <dgm:t>
        <a:bodyPr lIns="0" rIns="0"/>
        <a:lstStyle/>
        <a:p>
          <a:r>
            <a:rPr lang="fr-FR" sz="1600" dirty="0" smtClean="0"/>
            <a:t>Bonne pratique</a:t>
          </a:r>
          <a:endParaRPr lang="fr-FR" sz="1600" dirty="0"/>
        </a:p>
      </dgm:t>
    </dgm:pt>
    <dgm:pt modelId="{E966C53B-AE58-494D-A56B-570910B31F09}" type="parTrans" cxnId="{82A336A9-EDAC-40BF-BA06-ADEAE07FF2FA}">
      <dgm:prSet/>
      <dgm:spPr/>
      <dgm:t>
        <a:bodyPr/>
        <a:lstStyle/>
        <a:p>
          <a:endParaRPr lang="fr-FR"/>
        </a:p>
      </dgm:t>
    </dgm:pt>
    <dgm:pt modelId="{67123033-720E-46DB-9261-2D651A5C13BE}" type="sibTrans" cxnId="{82A336A9-EDAC-40BF-BA06-ADEAE07FF2FA}">
      <dgm:prSet/>
      <dgm:spPr/>
      <dgm:t>
        <a:bodyPr/>
        <a:lstStyle/>
        <a:p>
          <a:endParaRPr lang="fr-FR"/>
        </a:p>
      </dgm:t>
    </dgm:pt>
    <dgm:pt modelId="{95FDCFB2-B371-4AFB-B117-DC8659467C76}">
      <dgm:prSet phldrT="[Texte]" custT="1"/>
      <dgm:spPr/>
      <dgm:t>
        <a:bodyPr lIns="0" rIns="0"/>
        <a:lstStyle/>
        <a:p>
          <a:r>
            <a:rPr lang="fr-FR" sz="1800" dirty="0" smtClean="0"/>
            <a:t>Phase projet</a:t>
          </a:r>
          <a:endParaRPr lang="fr-FR" sz="1800" dirty="0"/>
        </a:p>
      </dgm:t>
    </dgm:pt>
    <dgm:pt modelId="{7D295C11-EE58-43B6-8DF3-6FF714C47F67}" type="parTrans" cxnId="{6765CD6A-A6F2-4445-8633-91AFEBB630A3}">
      <dgm:prSet/>
      <dgm:spPr/>
      <dgm:t>
        <a:bodyPr/>
        <a:lstStyle/>
        <a:p>
          <a:endParaRPr lang="fr-FR"/>
        </a:p>
      </dgm:t>
    </dgm:pt>
    <dgm:pt modelId="{A5B6D1C0-A91D-46AA-864A-8F4198973AF8}" type="sibTrans" cxnId="{6765CD6A-A6F2-4445-8633-91AFEBB630A3}">
      <dgm:prSet/>
      <dgm:spPr/>
      <dgm:t>
        <a:bodyPr/>
        <a:lstStyle/>
        <a:p>
          <a:endParaRPr lang="fr-FR"/>
        </a:p>
      </dgm:t>
    </dgm:pt>
    <dgm:pt modelId="{5B9C5D56-E846-496C-BDC9-E91BE3744A41}">
      <dgm:prSet phldrT="[Texte]" custT="1"/>
      <dgm:spPr/>
      <dgm:t>
        <a:bodyPr lIns="0" rIns="0"/>
        <a:lstStyle/>
        <a:p>
          <a:r>
            <a:rPr lang="fr-FR" sz="1600" dirty="0" smtClean="0"/>
            <a:t>Bonne pratique</a:t>
          </a:r>
          <a:endParaRPr lang="fr-FR" sz="1600" dirty="0"/>
        </a:p>
      </dgm:t>
    </dgm:pt>
    <dgm:pt modelId="{45611E55-F5BF-4113-AD5B-831C72B8B4FF}" type="parTrans" cxnId="{0E106AC2-2B5B-400E-8C1E-FBE69BF4BF4C}">
      <dgm:prSet/>
      <dgm:spPr/>
      <dgm:t>
        <a:bodyPr/>
        <a:lstStyle/>
        <a:p>
          <a:endParaRPr lang="fr-FR"/>
        </a:p>
      </dgm:t>
    </dgm:pt>
    <dgm:pt modelId="{4FDC1A2D-3473-401B-8657-D2E04DAC92EE}" type="sibTrans" cxnId="{0E106AC2-2B5B-400E-8C1E-FBE69BF4BF4C}">
      <dgm:prSet/>
      <dgm:spPr/>
      <dgm:t>
        <a:bodyPr/>
        <a:lstStyle/>
        <a:p>
          <a:endParaRPr lang="fr-FR"/>
        </a:p>
      </dgm:t>
    </dgm:pt>
    <dgm:pt modelId="{F10D0335-4E68-485E-91B7-CCDF03095974}">
      <dgm:prSet phldrT="[Texte]" custT="1"/>
      <dgm:spPr/>
      <dgm:t>
        <a:bodyPr lIns="0" rIns="0"/>
        <a:lstStyle/>
        <a:p>
          <a:r>
            <a:rPr lang="fr-FR" sz="1600" dirty="0" smtClean="0"/>
            <a:t>Bonne pratique</a:t>
          </a:r>
          <a:endParaRPr lang="fr-FR" sz="1600" dirty="0"/>
        </a:p>
      </dgm:t>
    </dgm:pt>
    <dgm:pt modelId="{A4EF0874-0A01-497D-B0FB-51BB72EC21B7}" type="parTrans" cxnId="{428A7077-F3A0-4E77-A3B1-C381F867AA15}">
      <dgm:prSet/>
      <dgm:spPr/>
      <dgm:t>
        <a:bodyPr/>
        <a:lstStyle/>
        <a:p>
          <a:endParaRPr lang="fr-FR"/>
        </a:p>
      </dgm:t>
    </dgm:pt>
    <dgm:pt modelId="{3A36AC86-961A-4F05-84BF-5A84025CE75D}" type="sibTrans" cxnId="{428A7077-F3A0-4E77-A3B1-C381F867AA15}">
      <dgm:prSet/>
      <dgm:spPr/>
      <dgm:t>
        <a:bodyPr/>
        <a:lstStyle/>
        <a:p>
          <a:endParaRPr lang="fr-FR"/>
        </a:p>
      </dgm:t>
    </dgm:pt>
    <dgm:pt modelId="{0876AEDC-E456-4D92-80CD-37E43253AF70}">
      <dgm:prSet phldrT="[Texte]"/>
      <dgm:spPr/>
      <dgm:t>
        <a:bodyPr/>
        <a:lstStyle/>
        <a:p>
          <a:r>
            <a:rPr lang="fr-FR" b="1" dirty="0" smtClean="0"/>
            <a:t>Principe Directeur</a:t>
          </a:r>
          <a:endParaRPr lang="fr-FR" b="1" dirty="0"/>
        </a:p>
      </dgm:t>
    </dgm:pt>
    <dgm:pt modelId="{AC035D6A-A5E8-40B0-ACF3-4B83BBEA1D97}" type="parTrans" cxnId="{09AFF71A-2C7B-42FD-B5AA-99D2F0790F88}">
      <dgm:prSet/>
      <dgm:spPr/>
      <dgm:t>
        <a:bodyPr/>
        <a:lstStyle/>
        <a:p>
          <a:endParaRPr lang="fr-FR"/>
        </a:p>
      </dgm:t>
    </dgm:pt>
    <dgm:pt modelId="{379BBD65-9695-434A-84F3-13B3306B2BAD}" type="sibTrans" cxnId="{09AFF71A-2C7B-42FD-B5AA-99D2F0790F88}">
      <dgm:prSet/>
      <dgm:spPr/>
      <dgm:t>
        <a:bodyPr/>
        <a:lstStyle/>
        <a:p>
          <a:endParaRPr lang="fr-FR"/>
        </a:p>
      </dgm:t>
    </dgm:pt>
    <dgm:pt modelId="{EB595CF9-B444-43EA-8CF2-7386F6718FB5}">
      <dgm:prSet phldrT="[Texte]" custT="1"/>
      <dgm:spPr/>
      <dgm:t>
        <a:bodyPr/>
        <a:lstStyle/>
        <a:p>
          <a:r>
            <a:rPr lang="fr-FR" sz="3200" dirty="0" smtClean="0"/>
            <a:t>Finalité</a:t>
          </a:r>
          <a:endParaRPr lang="fr-FR" sz="3200" dirty="0"/>
        </a:p>
      </dgm:t>
    </dgm:pt>
    <dgm:pt modelId="{6874C9C5-5AFB-413C-833E-BF8F183DC0DB}" type="parTrans" cxnId="{888ADC54-2BA8-42D7-8FC4-9DA354EF2F43}">
      <dgm:prSet/>
      <dgm:spPr/>
      <dgm:t>
        <a:bodyPr/>
        <a:lstStyle/>
        <a:p>
          <a:endParaRPr lang="fr-FR"/>
        </a:p>
      </dgm:t>
    </dgm:pt>
    <dgm:pt modelId="{CE269C40-2F2C-4B15-B1B7-36A8E04DE14F}" type="sibTrans" cxnId="{888ADC54-2BA8-42D7-8FC4-9DA354EF2F43}">
      <dgm:prSet/>
      <dgm:spPr/>
      <dgm:t>
        <a:bodyPr/>
        <a:lstStyle/>
        <a:p>
          <a:endParaRPr lang="fr-FR"/>
        </a:p>
      </dgm:t>
    </dgm:pt>
    <dgm:pt modelId="{7A7FEB08-E2A9-41CD-83A8-B1621076DE27}">
      <dgm:prSet phldrT="[Texte]" custT="1"/>
      <dgm:spPr/>
      <dgm:t>
        <a:bodyPr lIns="0" rIns="0"/>
        <a:lstStyle/>
        <a:p>
          <a:r>
            <a:rPr lang="fr-FR" sz="2000" dirty="0" smtClean="0"/>
            <a:t>Critère</a:t>
          </a:r>
          <a:endParaRPr lang="fr-FR" sz="2000" dirty="0"/>
        </a:p>
      </dgm:t>
    </dgm:pt>
    <dgm:pt modelId="{6067C85A-0120-4EDD-93CA-E3F5B97271AB}" type="parTrans" cxnId="{7DC0DB90-7106-4FF7-A518-08F9A9CD2FDD}">
      <dgm:prSet/>
      <dgm:spPr/>
      <dgm:t>
        <a:bodyPr/>
        <a:lstStyle/>
        <a:p>
          <a:endParaRPr lang="fr-FR"/>
        </a:p>
      </dgm:t>
    </dgm:pt>
    <dgm:pt modelId="{1EAE7202-1FB3-4A5F-8084-FBF88D5949FE}" type="sibTrans" cxnId="{7DC0DB90-7106-4FF7-A518-08F9A9CD2FDD}">
      <dgm:prSet/>
      <dgm:spPr/>
      <dgm:t>
        <a:bodyPr/>
        <a:lstStyle/>
        <a:p>
          <a:endParaRPr lang="fr-FR"/>
        </a:p>
      </dgm:t>
    </dgm:pt>
    <dgm:pt modelId="{404AAE02-E528-458E-9D84-5A1DFCB9C3B2}">
      <dgm:prSet phldrT="[Texte]" custT="1"/>
      <dgm:spPr/>
      <dgm:t>
        <a:bodyPr lIns="0" rIns="0"/>
        <a:lstStyle/>
        <a:p>
          <a:r>
            <a:rPr lang="fr-FR" sz="1800" dirty="0" smtClean="0"/>
            <a:t>Phase projet</a:t>
          </a:r>
          <a:endParaRPr lang="fr-FR" sz="1800" dirty="0"/>
        </a:p>
      </dgm:t>
    </dgm:pt>
    <dgm:pt modelId="{C644EB9D-A7C9-4903-B98F-E3BB8C277F31}" type="parTrans" cxnId="{BA31C5C8-3B19-4AFB-9CC1-25C98885ABB6}">
      <dgm:prSet/>
      <dgm:spPr/>
      <dgm:t>
        <a:bodyPr/>
        <a:lstStyle/>
        <a:p>
          <a:endParaRPr lang="fr-FR"/>
        </a:p>
      </dgm:t>
    </dgm:pt>
    <dgm:pt modelId="{08C61DFC-0DF5-4C72-950B-4110B8356773}" type="sibTrans" cxnId="{BA31C5C8-3B19-4AFB-9CC1-25C98885ABB6}">
      <dgm:prSet/>
      <dgm:spPr/>
      <dgm:t>
        <a:bodyPr/>
        <a:lstStyle/>
        <a:p>
          <a:endParaRPr lang="fr-FR"/>
        </a:p>
      </dgm:t>
    </dgm:pt>
    <dgm:pt modelId="{12BFD55A-029B-495C-8D67-19D692B42C41}">
      <dgm:prSet phldrT="[Texte]" custT="1"/>
      <dgm:spPr/>
      <dgm:t>
        <a:bodyPr lIns="0" rIns="0"/>
        <a:lstStyle/>
        <a:p>
          <a:r>
            <a:rPr lang="fr-FR" sz="1600" dirty="0" smtClean="0"/>
            <a:t>Bonne pratique</a:t>
          </a:r>
          <a:endParaRPr lang="fr-FR" sz="1600" dirty="0"/>
        </a:p>
      </dgm:t>
    </dgm:pt>
    <dgm:pt modelId="{837A2B97-3B3E-4C58-9D10-F75DBDE278A9}" type="parTrans" cxnId="{320BBC25-60D0-4AAC-9806-730C909C9BE6}">
      <dgm:prSet/>
      <dgm:spPr/>
      <dgm:t>
        <a:bodyPr/>
        <a:lstStyle/>
        <a:p>
          <a:endParaRPr lang="fr-FR"/>
        </a:p>
      </dgm:t>
    </dgm:pt>
    <dgm:pt modelId="{60AD0FEA-341D-4C06-8EF1-B5E3F8DEED87}" type="sibTrans" cxnId="{320BBC25-60D0-4AAC-9806-730C909C9BE6}">
      <dgm:prSet/>
      <dgm:spPr/>
      <dgm:t>
        <a:bodyPr/>
        <a:lstStyle/>
        <a:p>
          <a:endParaRPr lang="fr-FR"/>
        </a:p>
      </dgm:t>
    </dgm:pt>
    <dgm:pt modelId="{79E24AC1-2C3A-4DB1-9D5D-84DB65CE9E59}">
      <dgm:prSet phldrT="[Texte]" custT="1"/>
      <dgm:spPr/>
      <dgm:t>
        <a:bodyPr lIns="0" rIns="0"/>
        <a:lstStyle/>
        <a:p>
          <a:r>
            <a:rPr lang="fr-FR" sz="1600" dirty="0" smtClean="0"/>
            <a:t>Bonne pratique</a:t>
          </a:r>
          <a:endParaRPr lang="fr-FR" sz="1600" dirty="0"/>
        </a:p>
      </dgm:t>
    </dgm:pt>
    <dgm:pt modelId="{EAD561A8-3A17-4561-B960-FD9B34458CCC}" type="parTrans" cxnId="{1712CF70-F979-41F0-ACD3-F35A517F79FB}">
      <dgm:prSet/>
      <dgm:spPr/>
      <dgm:t>
        <a:bodyPr/>
        <a:lstStyle/>
        <a:p>
          <a:endParaRPr lang="fr-FR"/>
        </a:p>
      </dgm:t>
    </dgm:pt>
    <dgm:pt modelId="{2673EDC2-B3E4-4A1E-A115-0645B20759A9}" type="sibTrans" cxnId="{1712CF70-F979-41F0-ACD3-F35A517F79FB}">
      <dgm:prSet/>
      <dgm:spPr/>
      <dgm:t>
        <a:bodyPr/>
        <a:lstStyle/>
        <a:p>
          <a:endParaRPr lang="fr-FR"/>
        </a:p>
      </dgm:t>
    </dgm:pt>
    <dgm:pt modelId="{F1A4B543-5812-4D8F-A7B3-2AEF0BB6AA78}">
      <dgm:prSet phldrT="[Texte]" custT="1"/>
      <dgm:spPr/>
      <dgm:t>
        <a:bodyPr lIns="0" rIns="0"/>
        <a:lstStyle/>
        <a:p>
          <a:r>
            <a:rPr lang="fr-FR" sz="1800" dirty="0" smtClean="0"/>
            <a:t>Phase projet</a:t>
          </a:r>
          <a:endParaRPr lang="fr-FR" sz="1800" dirty="0"/>
        </a:p>
      </dgm:t>
    </dgm:pt>
    <dgm:pt modelId="{B8144096-22F3-4622-A41C-9B60FB707CEC}" type="parTrans" cxnId="{330CC1F8-1DC9-49E7-B2C5-44E07C86F6ED}">
      <dgm:prSet/>
      <dgm:spPr/>
      <dgm:t>
        <a:bodyPr/>
        <a:lstStyle/>
        <a:p>
          <a:endParaRPr lang="fr-FR"/>
        </a:p>
      </dgm:t>
    </dgm:pt>
    <dgm:pt modelId="{43527248-0BC8-4489-9D0C-E8A217ABB5EA}" type="sibTrans" cxnId="{330CC1F8-1DC9-49E7-B2C5-44E07C86F6ED}">
      <dgm:prSet/>
      <dgm:spPr/>
      <dgm:t>
        <a:bodyPr/>
        <a:lstStyle/>
        <a:p>
          <a:endParaRPr lang="fr-FR"/>
        </a:p>
      </dgm:t>
    </dgm:pt>
    <dgm:pt modelId="{1F2F96B3-E3AD-4C45-B916-B1BA318E24EA}">
      <dgm:prSet phldrT="[Texte]" custT="1"/>
      <dgm:spPr/>
      <dgm:t>
        <a:bodyPr lIns="0" rIns="0"/>
        <a:lstStyle/>
        <a:p>
          <a:r>
            <a:rPr lang="fr-FR" sz="1600" dirty="0" smtClean="0"/>
            <a:t>Bonne pratique</a:t>
          </a:r>
          <a:endParaRPr lang="fr-FR" sz="1600" dirty="0"/>
        </a:p>
      </dgm:t>
    </dgm:pt>
    <dgm:pt modelId="{FACBB36C-1022-42E2-B29B-E1B13AC1014F}" type="parTrans" cxnId="{60D18DAE-9F2C-4E14-843D-7F3FDD04F632}">
      <dgm:prSet/>
      <dgm:spPr/>
      <dgm:t>
        <a:bodyPr/>
        <a:lstStyle/>
        <a:p>
          <a:endParaRPr lang="fr-FR"/>
        </a:p>
      </dgm:t>
    </dgm:pt>
    <dgm:pt modelId="{2F08CDE0-3FD6-4717-A452-7D2D50AE03E0}" type="sibTrans" cxnId="{60D18DAE-9F2C-4E14-843D-7F3FDD04F632}">
      <dgm:prSet/>
      <dgm:spPr/>
      <dgm:t>
        <a:bodyPr/>
        <a:lstStyle/>
        <a:p>
          <a:endParaRPr lang="fr-FR"/>
        </a:p>
      </dgm:t>
    </dgm:pt>
    <dgm:pt modelId="{4F2F3F2F-5270-4EBE-8968-536EB3F16CAD}">
      <dgm:prSet phldrT="[Texte]" custT="1"/>
      <dgm:spPr/>
      <dgm:t>
        <a:bodyPr lIns="0" rIns="0"/>
        <a:lstStyle/>
        <a:p>
          <a:r>
            <a:rPr lang="fr-FR" sz="2000" dirty="0" smtClean="0"/>
            <a:t>Critère</a:t>
          </a:r>
          <a:endParaRPr lang="fr-FR" sz="2000" dirty="0"/>
        </a:p>
      </dgm:t>
    </dgm:pt>
    <dgm:pt modelId="{7F9A9859-3EA9-4965-9798-A56EEB44F7DE}" type="parTrans" cxnId="{8F9C37BF-469D-4929-AD8B-FCC8998E1951}">
      <dgm:prSet/>
      <dgm:spPr/>
      <dgm:t>
        <a:bodyPr/>
        <a:lstStyle/>
        <a:p>
          <a:endParaRPr lang="fr-FR"/>
        </a:p>
      </dgm:t>
    </dgm:pt>
    <dgm:pt modelId="{E44C769F-FB36-48A4-96C0-971EA1C61258}" type="sibTrans" cxnId="{8F9C37BF-469D-4929-AD8B-FCC8998E1951}">
      <dgm:prSet/>
      <dgm:spPr/>
      <dgm:t>
        <a:bodyPr/>
        <a:lstStyle/>
        <a:p>
          <a:endParaRPr lang="fr-FR"/>
        </a:p>
      </dgm:t>
    </dgm:pt>
    <dgm:pt modelId="{97240A96-CA0A-4A14-9486-60D63DAB8F63}">
      <dgm:prSet phldrT="[Texte]" custT="1"/>
      <dgm:spPr/>
      <dgm:t>
        <a:bodyPr lIns="0" rIns="0"/>
        <a:lstStyle/>
        <a:p>
          <a:r>
            <a:rPr lang="fr-FR" sz="1800" dirty="0" smtClean="0"/>
            <a:t>Phase projet</a:t>
          </a:r>
          <a:endParaRPr lang="fr-FR" sz="1800" dirty="0"/>
        </a:p>
      </dgm:t>
    </dgm:pt>
    <dgm:pt modelId="{8121D3CF-0EDB-4554-8227-7636EE5A8EB1}" type="parTrans" cxnId="{E22CB17A-83C9-4746-8522-032570E29358}">
      <dgm:prSet/>
      <dgm:spPr/>
      <dgm:t>
        <a:bodyPr/>
        <a:lstStyle/>
        <a:p>
          <a:endParaRPr lang="fr-FR"/>
        </a:p>
      </dgm:t>
    </dgm:pt>
    <dgm:pt modelId="{B1ADD92C-7CCF-4D90-8FCD-9F0C276965C9}" type="sibTrans" cxnId="{E22CB17A-83C9-4746-8522-032570E29358}">
      <dgm:prSet/>
      <dgm:spPr/>
      <dgm:t>
        <a:bodyPr/>
        <a:lstStyle/>
        <a:p>
          <a:endParaRPr lang="fr-FR"/>
        </a:p>
      </dgm:t>
    </dgm:pt>
    <dgm:pt modelId="{5AD49E01-F2EB-4E7A-AC60-F6CA5B506759}">
      <dgm:prSet phldrT="[Texte]" custT="1"/>
      <dgm:spPr/>
      <dgm:t>
        <a:bodyPr lIns="0" rIns="0"/>
        <a:lstStyle/>
        <a:p>
          <a:r>
            <a:rPr lang="fr-FR" sz="1600" dirty="0" smtClean="0"/>
            <a:t>Bonne pratique</a:t>
          </a:r>
          <a:endParaRPr lang="fr-FR" sz="1600" dirty="0"/>
        </a:p>
      </dgm:t>
    </dgm:pt>
    <dgm:pt modelId="{5BAF9232-C7D6-40B4-9747-34A07F6636A5}" type="parTrans" cxnId="{04200C78-E38C-4379-9AF4-8C5EE82ECEF9}">
      <dgm:prSet/>
      <dgm:spPr/>
      <dgm:t>
        <a:bodyPr/>
        <a:lstStyle/>
        <a:p>
          <a:endParaRPr lang="fr-FR"/>
        </a:p>
      </dgm:t>
    </dgm:pt>
    <dgm:pt modelId="{E50A6731-1DE9-450A-AE9C-662C4A62BE65}" type="sibTrans" cxnId="{04200C78-E38C-4379-9AF4-8C5EE82ECEF9}">
      <dgm:prSet/>
      <dgm:spPr/>
      <dgm:t>
        <a:bodyPr/>
        <a:lstStyle/>
        <a:p>
          <a:endParaRPr lang="fr-FR"/>
        </a:p>
      </dgm:t>
    </dgm:pt>
    <dgm:pt modelId="{826977A9-F040-4D40-941D-F4370A6663E4}" type="pres">
      <dgm:prSet presAssocID="{58231189-4AAF-4E63-9E53-00AD89732317}" presName="Name0" presStyleCnt="0">
        <dgm:presLayoutVars>
          <dgm:chPref val="1"/>
          <dgm:dir/>
          <dgm:animOne val="branch"/>
          <dgm:animLvl val="lvl"/>
          <dgm:resizeHandles/>
        </dgm:presLayoutVars>
      </dgm:prSet>
      <dgm:spPr/>
      <dgm:t>
        <a:bodyPr/>
        <a:lstStyle/>
        <a:p>
          <a:endParaRPr lang="fr-FR"/>
        </a:p>
      </dgm:t>
    </dgm:pt>
    <dgm:pt modelId="{30F93CA5-E2FB-4DBF-BD13-60C635E9980A}" type="pres">
      <dgm:prSet presAssocID="{0876AEDC-E456-4D92-80CD-37E43253AF70}" presName="vertOne" presStyleCnt="0"/>
      <dgm:spPr/>
    </dgm:pt>
    <dgm:pt modelId="{6788BD6D-7474-44D0-9CF1-B466C57194FA}" type="pres">
      <dgm:prSet presAssocID="{0876AEDC-E456-4D92-80CD-37E43253AF70}" presName="txOne" presStyleLbl="node0" presStyleIdx="0" presStyleCnt="1" custLinFactNeighborX="-167">
        <dgm:presLayoutVars>
          <dgm:chPref val="3"/>
        </dgm:presLayoutVars>
      </dgm:prSet>
      <dgm:spPr/>
      <dgm:t>
        <a:bodyPr/>
        <a:lstStyle/>
        <a:p>
          <a:endParaRPr lang="fr-FR"/>
        </a:p>
      </dgm:t>
    </dgm:pt>
    <dgm:pt modelId="{3582C815-EC1A-4FE1-8E79-4EB77F3BD9EB}" type="pres">
      <dgm:prSet presAssocID="{0876AEDC-E456-4D92-80CD-37E43253AF70}" presName="parTransOne" presStyleCnt="0"/>
      <dgm:spPr/>
    </dgm:pt>
    <dgm:pt modelId="{293E4D0D-A2DC-46C0-8566-11CB23556424}" type="pres">
      <dgm:prSet presAssocID="{0876AEDC-E456-4D92-80CD-37E43253AF70}" presName="horzOne" presStyleCnt="0"/>
      <dgm:spPr/>
    </dgm:pt>
    <dgm:pt modelId="{CE7AD20D-4B5E-47E3-86D6-898226DE63FF}" type="pres">
      <dgm:prSet presAssocID="{C326DB4F-6D88-4E7B-909E-3067AA10B786}" presName="vertTwo" presStyleCnt="0"/>
      <dgm:spPr/>
    </dgm:pt>
    <dgm:pt modelId="{33A161AA-0781-43EF-B6E1-EBB87BE9665B}" type="pres">
      <dgm:prSet presAssocID="{C326DB4F-6D88-4E7B-909E-3067AA10B786}" presName="txTwo" presStyleLbl="node2" presStyleIdx="0" presStyleCnt="2">
        <dgm:presLayoutVars>
          <dgm:chPref val="3"/>
        </dgm:presLayoutVars>
      </dgm:prSet>
      <dgm:spPr/>
      <dgm:t>
        <a:bodyPr/>
        <a:lstStyle/>
        <a:p>
          <a:endParaRPr lang="fr-FR"/>
        </a:p>
      </dgm:t>
    </dgm:pt>
    <dgm:pt modelId="{EEC17495-77A6-41DC-B092-BDB46B0FF8E6}" type="pres">
      <dgm:prSet presAssocID="{C326DB4F-6D88-4E7B-909E-3067AA10B786}" presName="parTransTwo" presStyleCnt="0"/>
      <dgm:spPr/>
    </dgm:pt>
    <dgm:pt modelId="{33166B60-F254-4F55-9168-C90F650C6CAE}" type="pres">
      <dgm:prSet presAssocID="{C326DB4F-6D88-4E7B-909E-3067AA10B786}" presName="horzTwo" presStyleCnt="0"/>
      <dgm:spPr/>
    </dgm:pt>
    <dgm:pt modelId="{F2BA9F3D-9B6C-419F-83E7-E21E0D0123D9}" type="pres">
      <dgm:prSet presAssocID="{50A32C38-5798-4975-8709-D635EDF2A8E2}" presName="vertThree" presStyleCnt="0"/>
      <dgm:spPr/>
    </dgm:pt>
    <dgm:pt modelId="{1596B784-A0F7-43B7-8B5F-ECE2A1198693}" type="pres">
      <dgm:prSet presAssocID="{50A32C38-5798-4975-8709-D635EDF2A8E2}" presName="txThree" presStyleLbl="node3" presStyleIdx="0" presStyleCnt="4">
        <dgm:presLayoutVars>
          <dgm:chPref val="3"/>
        </dgm:presLayoutVars>
      </dgm:prSet>
      <dgm:spPr/>
      <dgm:t>
        <a:bodyPr/>
        <a:lstStyle/>
        <a:p>
          <a:endParaRPr lang="fr-FR"/>
        </a:p>
      </dgm:t>
    </dgm:pt>
    <dgm:pt modelId="{A5BB3E7A-500B-454B-952A-D67ED77E68D3}" type="pres">
      <dgm:prSet presAssocID="{50A32C38-5798-4975-8709-D635EDF2A8E2}" presName="parTransThree" presStyleCnt="0"/>
      <dgm:spPr/>
    </dgm:pt>
    <dgm:pt modelId="{F8400382-B030-4656-AF39-04D079FC6796}" type="pres">
      <dgm:prSet presAssocID="{50A32C38-5798-4975-8709-D635EDF2A8E2}" presName="horzThree" presStyleCnt="0"/>
      <dgm:spPr/>
    </dgm:pt>
    <dgm:pt modelId="{51DCD140-4644-43A8-A0D3-F127DB1F4650}" type="pres">
      <dgm:prSet presAssocID="{E45D2CD6-1F83-4A80-A594-CDAF88105537}" presName="vertFour" presStyleCnt="0">
        <dgm:presLayoutVars>
          <dgm:chPref val="3"/>
        </dgm:presLayoutVars>
      </dgm:prSet>
      <dgm:spPr/>
    </dgm:pt>
    <dgm:pt modelId="{1EB40870-FECE-4299-A932-EA4E971597E2}" type="pres">
      <dgm:prSet presAssocID="{E45D2CD6-1F83-4A80-A594-CDAF88105537}" presName="txFour" presStyleLbl="node4" presStyleIdx="0" presStyleCnt="14">
        <dgm:presLayoutVars>
          <dgm:chPref val="3"/>
        </dgm:presLayoutVars>
      </dgm:prSet>
      <dgm:spPr/>
      <dgm:t>
        <a:bodyPr/>
        <a:lstStyle/>
        <a:p>
          <a:endParaRPr lang="fr-FR"/>
        </a:p>
      </dgm:t>
    </dgm:pt>
    <dgm:pt modelId="{EBB7DC4D-BE83-4039-B61B-F43FF38F47CA}" type="pres">
      <dgm:prSet presAssocID="{E45D2CD6-1F83-4A80-A594-CDAF88105537}" presName="parTransFour" presStyleCnt="0"/>
      <dgm:spPr/>
    </dgm:pt>
    <dgm:pt modelId="{1175C13D-FAFF-4191-A5BA-A257D6C845C7}" type="pres">
      <dgm:prSet presAssocID="{E45D2CD6-1F83-4A80-A594-CDAF88105537}" presName="horzFour" presStyleCnt="0"/>
      <dgm:spPr/>
    </dgm:pt>
    <dgm:pt modelId="{9C73EB2C-D943-4E36-B06F-E030A9F97886}" type="pres">
      <dgm:prSet presAssocID="{5B9C5D56-E846-496C-BDC9-E91BE3744A41}" presName="vertFour" presStyleCnt="0">
        <dgm:presLayoutVars>
          <dgm:chPref val="3"/>
        </dgm:presLayoutVars>
      </dgm:prSet>
      <dgm:spPr/>
    </dgm:pt>
    <dgm:pt modelId="{C70B0188-3B7A-41FD-A83A-DD3BEA72F6BF}" type="pres">
      <dgm:prSet presAssocID="{5B9C5D56-E846-496C-BDC9-E91BE3744A41}" presName="txFour" presStyleLbl="node4" presStyleIdx="1" presStyleCnt="14">
        <dgm:presLayoutVars>
          <dgm:chPref val="3"/>
        </dgm:presLayoutVars>
      </dgm:prSet>
      <dgm:spPr/>
      <dgm:t>
        <a:bodyPr/>
        <a:lstStyle/>
        <a:p>
          <a:endParaRPr lang="fr-FR"/>
        </a:p>
      </dgm:t>
    </dgm:pt>
    <dgm:pt modelId="{A7ABEACD-AF1B-4955-8A82-53B7B1B85DB6}" type="pres">
      <dgm:prSet presAssocID="{5B9C5D56-E846-496C-BDC9-E91BE3744A41}" presName="horzFour" presStyleCnt="0"/>
      <dgm:spPr/>
    </dgm:pt>
    <dgm:pt modelId="{248F5B82-E1F2-4EA3-96FE-34C6AEED018D}" type="pres">
      <dgm:prSet presAssocID="{4FDC1A2D-3473-401B-8657-D2E04DAC92EE}" presName="sibSpaceFour" presStyleCnt="0"/>
      <dgm:spPr/>
    </dgm:pt>
    <dgm:pt modelId="{01E32DD5-036F-48A2-BF73-EA3F42034D77}" type="pres">
      <dgm:prSet presAssocID="{F10D0335-4E68-485E-91B7-CCDF03095974}" presName="vertFour" presStyleCnt="0">
        <dgm:presLayoutVars>
          <dgm:chPref val="3"/>
        </dgm:presLayoutVars>
      </dgm:prSet>
      <dgm:spPr/>
    </dgm:pt>
    <dgm:pt modelId="{786AEB09-EBFF-4CCC-9531-AFAD3BE18035}" type="pres">
      <dgm:prSet presAssocID="{F10D0335-4E68-485E-91B7-CCDF03095974}" presName="txFour" presStyleLbl="node4" presStyleIdx="2" presStyleCnt="14">
        <dgm:presLayoutVars>
          <dgm:chPref val="3"/>
        </dgm:presLayoutVars>
      </dgm:prSet>
      <dgm:spPr/>
      <dgm:t>
        <a:bodyPr/>
        <a:lstStyle/>
        <a:p>
          <a:endParaRPr lang="fr-FR"/>
        </a:p>
      </dgm:t>
    </dgm:pt>
    <dgm:pt modelId="{904E6F94-D48D-4CA7-BFF2-06ADD7BD9374}" type="pres">
      <dgm:prSet presAssocID="{F10D0335-4E68-485E-91B7-CCDF03095974}" presName="horzFour" presStyleCnt="0"/>
      <dgm:spPr/>
    </dgm:pt>
    <dgm:pt modelId="{1915EFA6-185C-4B4E-A47F-F04B553E7AB8}" type="pres">
      <dgm:prSet presAssocID="{582A7495-967A-46F9-9365-A1E1E8759A9D}" presName="sibSpaceFour" presStyleCnt="0"/>
      <dgm:spPr/>
    </dgm:pt>
    <dgm:pt modelId="{08982B27-2E8C-4B13-B008-E85BE2423B99}" type="pres">
      <dgm:prSet presAssocID="{95FDCFB2-B371-4AFB-B117-DC8659467C76}" presName="vertFour" presStyleCnt="0">
        <dgm:presLayoutVars>
          <dgm:chPref val="3"/>
        </dgm:presLayoutVars>
      </dgm:prSet>
      <dgm:spPr/>
    </dgm:pt>
    <dgm:pt modelId="{EB34C0FF-B6D3-40B0-B264-A480A61866B4}" type="pres">
      <dgm:prSet presAssocID="{95FDCFB2-B371-4AFB-B117-DC8659467C76}" presName="txFour" presStyleLbl="node4" presStyleIdx="3" presStyleCnt="14">
        <dgm:presLayoutVars>
          <dgm:chPref val="3"/>
        </dgm:presLayoutVars>
      </dgm:prSet>
      <dgm:spPr/>
      <dgm:t>
        <a:bodyPr/>
        <a:lstStyle/>
        <a:p>
          <a:endParaRPr lang="fr-FR"/>
        </a:p>
      </dgm:t>
    </dgm:pt>
    <dgm:pt modelId="{0BEAE74B-8A5D-4D38-BF85-17BA72CE1726}" type="pres">
      <dgm:prSet presAssocID="{95FDCFB2-B371-4AFB-B117-DC8659467C76}" presName="parTransFour" presStyleCnt="0"/>
      <dgm:spPr/>
    </dgm:pt>
    <dgm:pt modelId="{C2FE1954-C622-40A4-908F-9AEDF4C2B1BC}" type="pres">
      <dgm:prSet presAssocID="{95FDCFB2-B371-4AFB-B117-DC8659467C76}" presName="horzFour" presStyleCnt="0"/>
      <dgm:spPr/>
    </dgm:pt>
    <dgm:pt modelId="{D16C8731-56EE-4895-B961-C1D211C71468}" type="pres">
      <dgm:prSet presAssocID="{4102F1E9-7BDB-4D05-8A75-935F6263FFF9}" presName="vertFour" presStyleCnt="0">
        <dgm:presLayoutVars>
          <dgm:chPref val="3"/>
        </dgm:presLayoutVars>
      </dgm:prSet>
      <dgm:spPr/>
    </dgm:pt>
    <dgm:pt modelId="{94EF6C08-F724-4CD1-8A61-9E9DBA42BAB1}" type="pres">
      <dgm:prSet presAssocID="{4102F1E9-7BDB-4D05-8A75-935F6263FFF9}" presName="txFour" presStyleLbl="node4" presStyleIdx="4" presStyleCnt="14">
        <dgm:presLayoutVars>
          <dgm:chPref val="3"/>
        </dgm:presLayoutVars>
      </dgm:prSet>
      <dgm:spPr/>
      <dgm:t>
        <a:bodyPr/>
        <a:lstStyle/>
        <a:p>
          <a:endParaRPr lang="fr-FR"/>
        </a:p>
      </dgm:t>
    </dgm:pt>
    <dgm:pt modelId="{8D27D06C-1D5C-48BF-B620-1EC2CC21505D}" type="pres">
      <dgm:prSet presAssocID="{4102F1E9-7BDB-4D05-8A75-935F6263FFF9}" presName="horzFour" presStyleCnt="0"/>
      <dgm:spPr/>
    </dgm:pt>
    <dgm:pt modelId="{88718BF5-8A43-4702-8E3D-9209CF88E411}" type="pres">
      <dgm:prSet presAssocID="{E8617AF1-0019-49A6-A8E0-184C71E4CDC7}" presName="sibSpaceThree" presStyleCnt="0"/>
      <dgm:spPr/>
    </dgm:pt>
    <dgm:pt modelId="{B8793535-11D2-41BE-A30C-8C5C2977A7A0}" type="pres">
      <dgm:prSet presAssocID="{74AFD519-100E-4E06-AD41-BEED0A74A0D7}" presName="vertThree" presStyleCnt="0"/>
      <dgm:spPr/>
    </dgm:pt>
    <dgm:pt modelId="{A098D25E-1C55-4C52-8141-059D4815EFBC}" type="pres">
      <dgm:prSet presAssocID="{74AFD519-100E-4E06-AD41-BEED0A74A0D7}" presName="txThree" presStyleLbl="node3" presStyleIdx="1" presStyleCnt="4">
        <dgm:presLayoutVars>
          <dgm:chPref val="3"/>
        </dgm:presLayoutVars>
      </dgm:prSet>
      <dgm:spPr/>
      <dgm:t>
        <a:bodyPr/>
        <a:lstStyle/>
        <a:p>
          <a:endParaRPr lang="fr-FR"/>
        </a:p>
      </dgm:t>
    </dgm:pt>
    <dgm:pt modelId="{478FD7F5-4219-4B79-8CA3-216A5EAF6548}" type="pres">
      <dgm:prSet presAssocID="{74AFD519-100E-4E06-AD41-BEED0A74A0D7}" presName="parTransThree" presStyleCnt="0"/>
      <dgm:spPr/>
    </dgm:pt>
    <dgm:pt modelId="{596C8DDE-674B-4775-B39A-16CA9E534614}" type="pres">
      <dgm:prSet presAssocID="{74AFD519-100E-4E06-AD41-BEED0A74A0D7}" presName="horzThree" presStyleCnt="0"/>
      <dgm:spPr/>
    </dgm:pt>
    <dgm:pt modelId="{3639843B-7C3A-49F4-8847-7E261DC398C3}" type="pres">
      <dgm:prSet presAssocID="{88C3A616-3DA9-4BBF-93A2-B0DFF1D10213}" presName="vertFour" presStyleCnt="0">
        <dgm:presLayoutVars>
          <dgm:chPref val="3"/>
        </dgm:presLayoutVars>
      </dgm:prSet>
      <dgm:spPr/>
    </dgm:pt>
    <dgm:pt modelId="{47B48961-1673-4B38-ADAE-323CEAD1EF9E}" type="pres">
      <dgm:prSet presAssocID="{88C3A616-3DA9-4BBF-93A2-B0DFF1D10213}" presName="txFour" presStyleLbl="node4" presStyleIdx="5" presStyleCnt="14">
        <dgm:presLayoutVars>
          <dgm:chPref val="3"/>
        </dgm:presLayoutVars>
      </dgm:prSet>
      <dgm:spPr/>
      <dgm:t>
        <a:bodyPr/>
        <a:lstStyle/>
        <a:p>
          <a:endParaRPr lang="fr-FR"/>
        </a:p>
      </dgm:t>
    </dgm:pt>
    <dgm:pt modelId="{610C4D51-3EF7-4540-9D96-ED3B0C8A678C}" type="pres">
      <dgm:prSet presAssocID="{88C3A616-3DA9-4BBF-93A2-B0DFF1D10213}" presName="parTransFour" presStyleCnt="0"/>
      <dgm:spPr/>
    </dgm:pt>
    <dgm:pt modelId="{FDF1028B-9095-478D-8937-E509D2F55081}" type="pres">
      <dgm:prSet presAssocID="{88C3A616-3DA9-4BBF-93A2-B0DFF1D10213}" presName="horzFour" presStyleCnt="0"/>
      <dgm:spPr/>
    </dgm:pt>
    <dgm:pt modelId="{C282DA65-D95A-495E-8A5E-A781DD8AE6AD}" type="pres">
      <dgm:prSet presAssocID="{79F17C6C-4E0F-41CD-BADC-78CE3874631B}" presName="vertFour" presStyleCnt="0">
        <dgm:presLayoutVars>
          <dgm:chPref val="3"/>
        </dgm:presLayoutVars>
      </dgm:prSet>
      <dgm:spPr/>
    </dgm:pt>
    <dgm:pt modelId="{DD62049E-CA77-4029-8DA4-CD6F3CD62E4D}" type="pres">
      <dgm:prSet presAssocID="{79F17C6C-4E0F-41CD-BADC-78CE3874631B}" presName="txFour" presStyleLbl="node4" presStyleIdx="6" presStyleCnt="14">
        <dgm:presLayoutVars>
          <dgm:chPref val="3"/>
        </dgm:presLayoutVars>
      </dgm:prSet>
      <dgm:spPr/>
      <dgm:t>
        <a:bodyPr/>
        <a:lstStyle/>
        <a:p>
          <a:endParaRPr lang="fr-FR"/>
        </a:p>
      </dgm:t>
    </dgm:pt>
    <dgm:pt modelId="{60EB8730-D89F-4DB3-87AE-C297957822BD}" type="pres">
      <dgm:prSet presAssocID="{79F17C6C-4E0F-41CD-BADC-78CE3874631B}" presName="horzFour" presStyleCnt="0"/>
      <dgm:spPr/>
    </dgm:pt>
    <dgm:pt modelId="{53ACFBED-A89A-4B81-B749-F251D375C9B6}" type="pres">
      <dgm:prSet presAssocID="{74AB21D8-6EC0-48DD-9714-20AAAE91D632}" presName="sibSpaceTwo" presStyleCnt="0"/>
      <dgm:spPr/>
    </dgm:pt>
    <dgm:pt modelId="{84DDDAC2-4C25-4BAE-9CE8-BA6F113E3F46}" type="pres">
      <dgm:prSet presAssocID="{EB595CF9-B444-43EA-8CF2-7386F6718FB5}" presName="vertTwo" presStyleCnt="0"/>
      <dgm:spPr/>
    </dgm:pt>
    <dgm:pt modelId="{922F7B21-94BF-4043-9185-088C22A0EDB9}" type="pres">
      <dgm:prSet presAssocID="{EB595CF9-B444-43EA-8CF2-7386F6718FB5}" presName="txTwo" presStyleLbl="node2" presStyleIdx="1" presStyleCnt="2">
        <dgm:presLayoutVars>
          <dgm:chPref val="3"/>
        </dgm:presLayoutVars>
      </dgm:prSet>
      <dgm:spPr/>
      <dgm:t>
        <a:bodyPr/>
        <a:lstStyle/>
        <a:p>
          <a:endParaRPr lang="fr-FR"/>
        </a:p>
      </dgm:t>
    </dgm:pt>
    <dgm:pt modelId="{A05F6C2D-21EC-4BC6-8C65-EDBA18D17318}" type="pres">
      <dgm:prSet presAssocID="{EB595CF9-B444-43EA-8CF2-7386F6718FB5}" presName="parTransTwo" presStyleCnt="0"/>
      <dgm:spPr/>
    </dgm:pt>
    <dgm:pt modelId="{CC017CC2-0488-468F-8028-AAC3AFAB8D77}" type="pres">
      <dgm:prSet presAssocID="{EB595CF9-B444-43EA-8CF2-7386F6718FB5}" presName="horzTwo" presStyleCnt="0"/>
      <dgm:spPr/>
    </dgm:pt>
    <dgm:pt modelId="{5865F74F-E13A-4CC2-B4CE-79278F9C0950}" type="pres">
      <dgm:prSet presAssocID="{7A7FEB08-E2A9-41CD-83A8-B1621076DE27}" presName="vertThree" presStyleCnt="0"/>
      <dgm:spPr/>
    </dgm:pt>
    <dgm:pt modelId="{1D049213-43F1-4056-8C04-356C68685E01}" type="pres">
      <dgm:prSet presAssocID="{7A7FEB08-E2A9-41CD-83A8-B1621076DE27}" presName="txThree" presStyleLbl="node3" presStyleIdx="2" presStyleCnt="4">
        <dgm:presLayoutVars>
          <dgm:chPref val="3"/>
        </dgm:presLayoutVars>
      </dgm:prSet>
      <dgm:spPr/>
      <dgm:t>
        <a:bodyPr/>
        <a:lstStyle/>
        <a:p>
          <a:endParaRPr lang="fr-FR"/>
        </a:p>
      </dgm:t>
    </dgm:pt>
    <dgm:pt modelId="{D70E6A98-3705-41CF-927A-CBFB07B7D668}" type="pres">
      <dgm:prSet presAssocID="{7A7FEB08-E2A9-41CD-83A8-B1621076DE27}" presName="parTransThree" presStyleCnt="0"/>
      <dgm:spPr/>
    </dgm:pt>
    <dgm:pt modelId="{DBB96727-A6FE-40EC-9EFE-B5E561C50EA8}" type="pres">
      <dgm:prSet presAssocID="{7A7FEB08-E2A9-41CD-83A8-B1621076DE27}" presName="horzThree" presStyleCnt="0"/>
      <dgm:spPr/>
    </dgm:pt>
    <dgm:pt modelId="{E20EDDE8-6E87-422C-8472-584BE6B115E7}" type="pres">
      <dgm:prSet presAssocID="{404AAE02-E528-458E-9D84-5A1DFCB9C3B2}" presName="vertFour" presStyleCnt="0">
        <dgm:presLayoutVars>
          <dgm:chPref val="3"/>
        </dgm:presLayoutVars>
      </dgm:prSet>
      <dgm:spPr/>
    </dgm:pt>
    <dgm:pt modelId="{5AFC9C39-0AFC-468A-BEEF-A50377DCCA1F}" type="pres">
      <dgm:prSet presAssocID="{404AAE02-E528-458E-9D84-5A1DFCB9C3B2}" presName="txFour" presStyleLbl="node4" presStyleIdx="7" presStyleCnt="14">
        <dgm:presLayoutVars>
          <dgm:chPref val="3"/>
        </dgm:presLayoutVars>
      </dgm:prSet>
      <dgm:spPr/>
      <dgm:t>
        <a:bodyPr/>
        <a:lstStyle/>
        <a:p>
          <a:endParaRPr lang="fr-FR"/>
        </a:p>
      </dgm:t>
    </dgm:pt>
    <dgm:pt modelId="{1ED69511-1B8E-40C5-84E5-4A69D6B84C14}" type="pres">
      <dgm:prSet presAssocID="{404AAE02-E528-458E-9D84-5A1DFCB9C3B2}" presName="parTransFour" presStyleCnt="0"/>
      <dgm:spPr/>
    </dgm:pt>
    <dgm:pt modelId="{34A75535-A847-4222-BD44-35BDF6C4E35D}" type="pres">
      <dgm:prSet presAssocID="{404AAE02-E528-458E-9D84-5A1DFCB9C3B2}" presName="horzFour" presStyleCnt="0"/>
      <dgm:spPr/>
    </dgm:pt>
    <dgm:pt modelId="{2E4BFF3F-4F38-4725-81C5-206DCDFDA2D6}" type="pres">
      <dgm:prSet presAssocID="{12BFD55A-029B-495C-8D67-19D692B42C41}" presName="vertFour" presStyleCnt="0">
        <dgm:presLayoutVars>
          <dgm:chPref val="3"/>
        </dgm:presLayoutVars>
      </dgm:prSet>
      <dgm:spPr/>
    </dgm:pt>
    <dgm:pt modelId="{312B1AA7-506C-46A0-8D97-FB78BFF63715}" type="pres">
      <dgm:prSet presAssocID="{12BFD55A-029B-495C-8D67-19D692B42C41}" presName="txFour" presStyleLbl="node4" presStyleIdx="8" presStyleCnt="14">
        <dgm:presLayoutVars>
          <dgm:chPref val="3"/>
        </dgm:presLayoutVars>
      </dgm:prSet>
      <dgm:spPr/>
      <dgm:t>
        <a:bodyPr/>
        <a:lstStyle/>
        <a:p>
          <a:endParaRPr lang="fr-FR"/>
        </a:p>
      </dgm:t>
    </dgm:pt>
    <dgm:pt modelId="{B70997AE-55D3-4C08-AA5B-F2DC2FDC07B7}" type="pres">
      <dgm:prSet presAssocID="{12BFD55A-029B-495C-8D67-19D692B42C41}" presName="horzFour" presStyleCnt="0"/>
      <dgm:spPr/>
    </dgm:pt>
    <dgm:pt modelId="{48F4F978-3886-42D5-A7EA-21D58276B80C}" type="pres">
      <dgm:prSet presAssocID="{60AD0FEA-341D-4C06-8EF1-B5E3F8DEED87}" presName="sibSpaceFour" presStyleCnt="0"/>
      <dgm:spPr/>
    </dgm:pt>
    <dgm:pt modelId="{EAE054AF-CF3C-49C0-8B8B-0A391D181A35}" type="pres">
      <dgm:prSet presAssocID="{79E24AC1-2C3A-4DB1-9D5D-84DB65CE9E59}" presName="vertFour" presStyleCnt="0">
        <dgm:presLayoutVars>
          <dgm:chPref val="3"/>
        </dgm:presLayoutVars>
      </dgm:prSet>
      <dgm:spPr/>
    </dgm:pt>
    <dgm:pt modelId="{4465051D-982F-445F-A35B-86EF7522E89C}" type="pres">
      <dgm:prSet presAssocID="{79E24AC1-2C3A-4DB1-9D5D-84DB65CE9E59}" presName="txFour" presStyleLbl="node4" presStyleIdx="9" presStyleCnt="14">
        <dgm:presLayoutVars>
          <dgm:chPref val="3"/>
        </dgm:presLayoutVars>
      </dgm:prSet>
      <dgm:spPr/>
      <dgm:t>
        <a:bodyPr/>
        <a:lstStyle/>
        <a:p>
          <a:endParaRPr lang="fr-FR"/>
        </a:p>
      </dgm:t>
    </dgm:pt>
    <dgm:pt modelId="{4FA528DF-2A47-4160-962E-59192A7940C2}" type="pres">
      <dgm:prSet presAssocID="{79E24AC1-2C3A-4DB1-9D5D-84DB65CE9E59}" presName="horzFour" presStyleCnt="0"/>
      <dgm:spPr/>
    </dgm:pt>
    <dgm:pt modelId="{F7918A06-808F-4B49-93FC-83B1972974E5}" type="pres">
      <dgm:prSet presAssocID="{08C61DFC-0DF5-4C72-950B-4110B8356773}" presName="sibSpaceFour" presStyleCnt="0"/>
      <dgm:spPr/>
    </dgm:pt>
    <dgm:pt modelId="{442A3098-7D64-464F-8D2A-2734483DDC39}" type="pres">
      <dgm:prSet presAssocID="{F1A4B543-5812-4D8F-A7B3-2AEF0BB6AA78}" presName="vertFour" presStyleCnt="0">
        <dgm:presLayoutVars>
          <dgm:chPref val="3"/>
        </dgm:presLayoutVars>
      </dgm:prSet>
      <dgm:spPr/>
    </dgm:pt>
    <dgm:pt modelId="{DA6703AE-125E-4C0F-ADBB-3F1FA37E693E}" type="pres">
      <dgm:prSet presAssocID="{F1A4B543-5812-4D8F-A7B3-2AEF0BB6AA78}" presName="txFour" presStyleLbl="node4" presStyleIdx="10" presStyleCnt="14">
        <dgm:presLayoutVars>
          <dgm:chPref val="3"/>
        </dgm:presLayoutVars>
      </dgm:prSet>
      <dgm:spPr/>
      <dgm:t>
        <a:bodyPr/>
        <a:lstStyle/>
        <a:p>
          <a:endParaRPr lang="fr-FR"/>
        </a:p>
      </dgm:t>
    </dgm:pt>
    <dgm:pt modelId="{8FB8447B-EB8A-4791-AC55-87FB7B5C5D01}" type="pres">
      <dgm:prSet presAssocID="{F1A4B543-5812-4D8F-A7B3-2AEF0BB6AA78}" presName="parTransFour" presStyleCnt="0"/>
      <dgm:spPr/>
    </dgm:pt>
    <dgm:pt modelId="{7F747451-B708-4C5F-996F-07B68BBC6399}" type="pres">
      <dgm:prSet presAssocID="{F1A4B543-5812-4D8F-A7B3-2AEF0BB6AA78}" presName="horzFour" presStyleCnt="0"/>
      <dgm:spPr/>
    </dgm:pt>
    <dgm:pt modelId="{B8CD1362-F46C-41B4-AD04-86871A496E4B}" type="pres">
      <dgm:prSet presAssocID="{1F2F96B3-E3AD-4C45-B916-B1BA318E24EA}" presName="vertFour" presStyleCnt="0">
        <dgm:presLayoutVars>
          <dgm:chPref val="3"/>
        </dgm:presLayoutVars>
      </dgm:prSet>
      <dgm:spPr/>
    </dgm:pt>
    <dgm:pt modelId="{387A8856-9C69-429D-BF56-4FA90AEDA17D}" type="pres">
      <dgm:prSet presAssocID="{1F2F96B3-E3AD-4C45-B916-B1BA318E24EA}" presName="txFour" presStyleLbl="node4" presStyleIdx="11" presStyleCnt="14">
        <dgm:presLayoutVars>
          <dgm:chPref val="3"/>
        </dgm:presLayoutVars>
      </dgm:prSet>
      <dgm:spPr/>
      <dgm:t>
        <a:bodyPr/>
        <a:lstStyle/>
        <a:p>
          <a:endParaRPr lang="fr-FR"/>
        </a:p>
      </dgm:t>
    </dgm:pt>
    <dgm:pt modelId="{43EFC4D9-136A-4CE2-95EE-4895665BDC96}" type="pres">
      <dgm:prSet presAssocID="{1F2F96B3-E3AD-4C45-B916-B1BA318E24EA}" presName="horzFour" presStyleCnt="0"/>
      <dgm:spPr/>
    </dgm:pt>
    <dgm:pt modelId="{B78A31F9-B6B3-440D-8D2C-2DC325A463A5}" type="pres">
      <dgm:prSet presAssocID="{1EAE7202-1FB3-4A5F-8084-FBF88D5949FE}" presName="sibSpaceThree" presStyleCnt="0"/>
      <dgm:spPr/>
    </dgm:pt>
    <dgm:pt modelId="{A7A4332A-0BB1-4EC2-9424-2777942A40F1}" type="pres">
      <dgm:prSet presAssocID="{4F2F3F2F-5270-4EBE-8968-536EB3F16CAD}" presName="vertThree" presStyleCnt="0"/>
      <dgm:spPr/>
    </dgm:pt>
    <dgm:pt modelId="{24049E45-EDE1-4434-BE45-7C1DFF1E7CB0}" type="pres">
      <dgm:prSet presAssocID="{4F2F3F2F-5270-4EBE-8968-536EB3F16CAD}" presName="txThree" presStyleLbl="node3" presStyleIdx="3" presStyleCnt="4">
        <dgm:presLayoutVars>
          <dgm:chPref val="3"/>
        </dgm:presLayoutVars>
      </dgm:prSet>
      <dgm:spPr/>
      <dgm:t>
        <a:bodyPr/>
        <a:lstStyle/>
        <a:p>
          <a:endParaRPr lang="fr-FR"/>
        </a:p>
      </dgm:t>
    </dgm:pt>
    <dgm:pt modelId="{B323EA6F-1840-4FE9-8269-4879378B09F4}" type="pres">
      <dgm:prSet presAssocID="{4F2F3F2F-5270-4EBE-8968-536EB3F16CAD}" presName="parTransThree" presStyleCnt="0"/>
      <dgm:spPr/>
    </dgm:pt>
    <dgm:pt modelId="{D8D38A0E-2308-44B8-A692-982A4878F0A8}" type="pres">
      <dgm:prSet presAssocID="{4F2F3F2F-5270-4EBE-8968-536EB3F16CAD}" presName="horzThree" presStyleCnt="0"/>
      <dgm:spPr/>
    </dgm:pt>
    <dgm:pt modelId="{248B0A96-421E-4E45-9CEE-ADF705AFFEB6}" type="pres">
      <dgm:prSet presAssocID="{97240A96-CA0A-4A14-9486-60D63DAB8F63}" presName="vertFour" presStyleCnt="0">
        <dgm:presLayoutVars>
          <dgm:chPref val="3"/>
        </dgm:presLayoutVars>
      </dgm:prSet>
      <dgm:spPr/>
    </dgm:pt>
    <dgm:pt modelId="{4F02C32D-A176-43EF-B770-74CAAC520981}" type="pres">
      <dgm:prSet presAssocID="{97240A96-CA0A-4A14-9486-60D63DAB8F63}" presName="txFour" presStyleLbl="node4" presStyleIdx="12" presStyleCnt="14">
        <dgm:presLayoutVars>
          <dgm:chPref val="3"/>
        </dgm:presLayoutVars>
      </dgm:prSet>
      <dgm:spPr/>
      <dgm:t>
        <a:bodyPr/>
        <a:lstStyle/>
        <a:p>
          <a:endParaRPr lang="fr-FR"/>
        </a:p>
      </dgm:t>
    </dgm:pt>
    <dgm:pt modelId="{5D8410EB-31D2-4220-B703-44CD86FCBA17}" type="pres">
      <dgm:prSet presAssocID="{97240A96-CA0A-4A14-9486-60D63DAB8F63}" presName="parTransFour" presStyleCnt="0"/>
      <dgm:spPr/>
    </dgm:pt>
    <dgm:pt modelId="{C3E33FFE-DDFB-4574-A70E-CE75E19B9708}" type="pres">
      <dgm:prSet presAssocID="{97240A96-CA0A-4A14-9486-60D63DAB8F63}" presName="horzFour" presStyleCnt="0"/>
      <dgm:spPr/>
    </dgm:pt>
    <dgm:pt modelId="{3DDA095B-001A-4B8A-B5C6-C5DC7A047062}" type="pres">
      <dgm:prSet presAssocID="{5AD49E01-F2EB-4E7A-AC60-F6CA5B506759}" presName="vertFour" presStyleCnt="0">
        <dgm:presLayoutVars>
          <dgm:chPref val="3"/>
        </dgm:presLayoutVars>
      </dgm:prSet>
      <dgm:spPr/>
    </dgm:pt>
    <dgm:pt modelId="{016ADADA-1477-4B3D-8231-5F5745C96E90}" type="pres">
      <dgm:prSet presAssocID="{5AD49E01-F2EB-4E7A-AC60-F6CA5B506759}" presName="txFour" presStyleLbl="node4" presStyleIdx="13" presStyleCnt="14">
        <dgm:presLayoutVars>
          <dgm:chPref val="3"/>
        </dgm:presLayoutVars>
      </dgm:prSet>
      <dgm:spPr/>
      <dgm:t>
        <a:bodyPr/>
        <a:lstStyle/>
        <a:p>
          <a:endParaRPr lang="fr-FR"/>
        </a:p>
      </dgm:t>
    </dgm:pt>
    <dgm:pt modelId="{41498F5E-65C0-4CC2-B1A0-46FE1D0F0D82}" type="pres">
      <dgm:prSet presAssocID="{5AD49E01-F2EB-4E7A-AC60-F6CA5B506759}" presName="horzFour" presStyleCnt="0"/>
      <dgm:spPr/>
    </dgm:pt>
  </dgm:ptLst>
  <dgm:cxnLst>
    <dgm:cxn modelId="{D1B7200A-23F6-4030-92C9-683427F852CD}" srcId="{50A32C38-5798-4975-8709-D635EDF2A8E2}" destId="{E45D2CD6-1F83-4A80-A594-CDAF88105537}" srcOrd="0" destOrd="0" parTransId="{10D49B6B-719D-4E2B-9428-62333DB1BD64}" sibTransId="{582A7495-967A-46F9-9365-A1E1E8759A9D}"/>
    <dgm:cxn modelId="{8F9C37BF-469D-4929-AD8B-FCC8998E1951}" srcId="{EB595CF9-B444-43EA-8CF2-7386F6718FB5}" destId="{4F2F3F2F-5270-4EBE-8968-536EB3F16CAD}" srcOrd="1" destOrd="0" parTransId="{7F9A9859-3EA9-4965-9798-A56EEB44F7DE}" sibTransId="{E44C769F-FB36-48A4-96C0-971EA1C61258}"/>
    <dgm:cxn modelId="{ADD0AFDE-D900-463C-A3E4-E6A0B5A11B04}" type="presOf" srcId="{5AD49E01-F2EB-4E7A-AC60-F6CA5B506759}" destId="{016ADADA-1477-4B3D-8231-5F5745C96E90}" srcOrd="0" destOrd="0" presId="urn:microsoft.com/office/officeart/2005/8/layout/hierarchy4"/>
    <dgm:cxn modelId="{20B164FA-F0E9-49F9-876E-40E691D629FA}" type="presOf" srcId="{88C3A616-3DA9-4BBF-93A2-B0DFF1D10213}" destId="{47B48961-1673-4B38-ADAE-323CEAD1EF9E}" srcOrd="0" destOrd="0" presId="urn:microsoft.com/office/officeart/2005/8/layout/hierarchy4"/>
    <dgm:cxn modelId="{60D18DAE-9F2C-4E14-843D-7F3FDD04F632}" srcId="{F1A4B543-5812-4D8F-A7B3-2AEF0BB6AA78}" destId="{1F2F96B3-E3AD-4C45-B916-B1BA318E24EA}" srcOrd="0" destOrd="0" parTransId="{FACBB36C-1022-42E2-B29B-E1B13AC1014F}" sibTransId="{2F08CDE0-3FD6-4717-A452-7D2D50AE03E0}"/>
    <dgm:cxn modelId="{8F475A4F-FB7C-4F8B-9EAE-32F24A9296A6}" type="presOf" srcId="{0876AEDC-E456-4D92-80CD-37E43253AF70}" destId="{6788BD6D-7474-44D0-9CF1-B466C57194FA}" srcOrd="0" destOrd="0" presId="urn:microsoft.com/office/officeart/2005/8/layout/hierarchy4"/>
    <dgm:cxn modelId="{1712CF70-F979-41F0-ACD3-F35A517F79FB}" srcId="{404AAE02-E528-458E-9D84-5A1DFCB9C3B2}" destId="{79E24AC1-2C3A-4DB1-9D5D-84DB65CE9E59}" srcOrd="1" destOrd="0" parTransId="{EAD561A8-3A17-4561-B960-FD9B34458CCC}" sibTransId="{2673EDC2-B3E4-4A1E-A115-0645B20759A9}"/>
    <dgm:cxn modelId="{7C8FF79B-C31D-4F54-8D1E-8BD7F19E4C4B}" type="presOf" srcId="{4102F1E9-7BDB-4D05-8A75-935F6263FFF9}" destId="{94EF6C08-F724-4CD1-8A61-9E9DBA42BAB1}" srcOrd="0" destOrd="0" presId="urn:microsoft.com/office/officeart/2005/8/layout/hierarchy4"/>
    <dgm:cxn modelId="{84C9D476-0634-4C53-97BB-A98CD2EEFE5B}" type="presOf" srcId="{79F17C6C-4E0F-41CD-BADC-78CE3874631B}" destId="{DD62049E-CA77-4029-8DA4-CD6F3CD62E4D}" srcOrd="0" destOrd="0" presId="urn:microsoft.com/office/officeart/2005/8/layout/hierarchy4"/>
    <dgm:cxn modelId="{09AFF71A-2C7B-42FD-B5AA-99D2F0790F88}" srcId="{58231189-4AAF-4E63-9E53-00AD89732317}" destId="{0876AEDC-E456-4D92-80CD-37E43253AF70}" srcOrd="0" destOrd="0" parTransId="{AC035D6A-A5E8-40B0-ACF3-4B83BBEA1D97}" sibTransId="{379BBD65-9695-434A-84F3-13B3306B2BAD}"/>
    <dgm:cxn modelId="{F8EE6E91-0985-4AC3-B544-58C600DF2180}" type="presOf" srcId="{74AFD519-100E-4E06-AD41-BEED0A74A0D7}" destId="{A098D25E-1C55-4C52-8141-059D4815EFBC}" srcOrd="0" destOrd="0" presId="urn:microsoft.com/office/officeart/2005/8/layout/hierarchy4"/>
    <dgm:cxn modelId="{F4DF29A5-87BE-4F0E-9AAA-D743A4EEDA00}" type="presOf" srcId="{C326DB4F-6D88-4E7B-909E-3067AA10B786}" destId="{33A161AA-0781-43EF-B6E1-EBB87BE9665B}" srcOrd="0" destOrd="0" presId="urn:microsoft.com/office/officeart/2005/8/layout/hierarchy4"/>
    <dgm:cxn modelId="{330CC1F8-1DC9-49E7-B2C5-44E07C86F6ED}" srcId="{7A7FEB08-E2A9-41CD-83A8-B1621076DE27}" destId="{F1A4B543-5812-4D8F-A7B3-2AEF0BB6AA78}" srcOrd="1" destOrd="0" parTransId="{B8144096-22F3-4622-A41C-9B60FB707CEC}" sibTransId="{43527248-0BC8-4489-9D0C-E8A217ABB5EA}"/>
    <dgm:cxn modelId="{04200C78-E38C-4379-9AF4-8C5EE82ECEF9}" srcId="{97240A96-CA0A-4A14-9486-60D63DAB8F63}" destId="{5AD49E01-F2EB-4E7A-AC60-F6CA5B506759}" srcOrd="0" destOrd="0" parTransId="{5BAF9232-C7D6-40B4-9747-34A07F6636A5}" sibTransId="{E50A6731-1DE9-450A-AE9C-662C4A62BE65}"/>
    <dgm:cxn modelId="{19024A4A-04A7-4A31-A54B-27B885D51263}" type="presOf" srcId="{58231189-4AAF-4E63-9E53-00AD89732317}" destId="{826977A9-F040-4D40-941D-F4370A6663E4}" srcOrd="0" destOrd="0" presId="urn:microsoft.com/office/officeart/2005/8/layout/hierarchy4"/>
    <dgm:cxn modelId="{320BBC25-60D0-4AAC-9806-730C909C9BE6}" srcId="{404AAE02-E528-458E-9D84-5A1DFCB9C3B2}" destId="{12BFD55A-029B-495C-8D67-19D692B42C41}" srcOrd="0" destOrd="0" parTransId="{837A2B97-3B3E-4C58-9D10-F75DBDE278A9}" sibTransId="{60AD0FEA-341D-4C06-8EF1-B5E3F8DEED87}"/>
    <dgm:cxn modelId="{4D16C684-8FD6-4286-AD10-0FAF46C1BC9B}" type="presOf" srcId="{12BFD55A-029B-495C-8D67-19D692B42C41}" destId="{312B1AA7-506C-46A0-8D97-FB78BFF63715}" srcOrd="0" destOrd="0" presId="urn:microsoft.com/office/officeart/2005/8/layout/hierarchy4"/>
    <dgm:cxn modelId="{888ADC54-2BA8-42D7-8FC4-9DA354EF2F43}" srcId="{0876AEDC-E456-4D92-80CD-37E43253AF70}" destId="{EB595CF9-B444-43EA-8CF2-7386F6718FB5}" srcOrd="1" destOrd="0" parTransId="{6874C9C5-5AFB-413C-833E-BF8F183DC0DB}" sibTransId="{CE269C40-2F2C-4B15-B1B7-36A8E04DE14F}"/>
    <dgm:cxn modelId="{6765CD6A-A6F2-4445-8633-91AFEBB630A3}" srcId="{50A32C38-5798-4975-8709-D635EDF2A8E2}" destId="{95FDCFB2-B371-4AFB-B117-DC8659467C76}" srcOrd="1" destOrd="0" parTransId="{7D295C11-EE58-43B6-8DF3-6FF714C47F67}" sibTransId="{A5B6D1C0-A91D-46AA-864A-8F4198973AF8}"/>
    <dgm:cxn modelId="{46D0C96A-0FB8-4619-BFB0-015F387CB55D}" type="presOf" srcId="{1F2F96B3-E3AD-4C45-B916-B1BA318E24EA}" destId="{387A8856-9C69-429D-BF56-4FA90AEDA17D}" srcOrd="0" destOrd="0" presId="urn:microsoft.com/office/officeart/2005/8/layout/hierarchy4"/>
    <dgm:cxn modelId="{1E7D0F0F-4B8B-4BFB-BEF1-76A34D81533E}" type="presOf" srcId="{50A32C38-5798-4975-8709-D635EDF2A8E2}" destId="{1596B784-A0F7-43B7-8B5F-ECE2A1198693}" srcOrd="0" destOrd="0" presId="urn:microsoft.com/office/officeart/2005/8/layout/hierarchy4"/>
    <dgm:cxn modelId="{34316709-88D2-4713-B0C4-949FDAF29C50}" type="presOf" srcId="{EB595CF9-B444-43EA-8CF2-7386F6718FB5}" destId="{922F7B21-94BF-4043-9185-088C22A0EDB9}" srcOrd="0" destOrd="0" presId="urn:microsoft.com/office/officeart/2005/8/layout/hierarchy4"/>
    <dgm:cxn modelId="{A4E958D5-689F-4E82-8C95-5BD604DC2C04}" srcId="{0876AEDC-E456-4D92-80CD-37E43253AF70}" destId="{C326DB4F-6D88-4E7B-909E-3067AA10B786}" srcOrd="0" destOrd="0" parTransId="{F9D04FA9-37EA-42B2-A73A-628EF67B39A1}" sibTransId="{74AB21D8-6EC0-48DD-9714-20AAAE91D632}"/>
    <dgm:cxn modelId="{0E106AC2-2B5B-400E-8C1E-FBE69BF4BF4C}" srcId="{E45D2CD6-1F83-4A80-A594-CDAF88105537}" destId="{5B9C5D56-E846-496C-BDC9-E91BE3744A41}" srcOrd="0" destOrd="0" parTransId="{45611E55-F5BF-4113-AD5B-831C72B8B4FF}" sibTransId="{4FDC1A2D-3473-401B-8657-D2E04DAC92EE}"/>
    <dgm:cxn modelId="{2EF0190F-B7DC-427A-8592-B2609E78EEC8}" srcId="{74AFD519-100E-4E06-AD41-BEED0A74A0D7}" destId="{88C3A616-3DA9-4BBF-93A2-B0DFF1D10213}" srcOrd="0" destOrd="0" parTransId="{028F3477-8E45-4FB7-9CB9-6BFB56D0BE13}" sibTransId="{606896F0-CEF5-408F-B3A0-8995149ABE71}"/>
    <dgm:cxn modelId="{8880B405-0C56-4FB3-991D-43F896517F08}" type="presOf" srcId="{E45D2CD6-1F83-4A80-A594-CDAF88105537}" destId="{1EB40870-FECE-4299-A932-EA4E971597E2}" srcOrd="0" destOrd="0" presId="urn:microsoft.com/office/officeart/2005/8/layout/hierarchy4"/>
    <dgm:cxn modelId="{DF92A8E5-6027-4A84-BC12-4E1107DD438D}" srcId="{95FDCFB2-B371-4AFB-B117-DC8659467C76}" destId="{4102F1E9-7BDB-4D05-8A75-935F6263FFF9}" srcOrd="0" destOrd="0" parTransId="{583C2082-D3E0-4EF3-A532-4E6C7565E1F8}" sibTransId="{C746CD3F-891F-4FDF-8545-34434307DF8B}"/>
    <dgm:cxn modelId="{82A336A9-EDAC-40BF-BA06-ADEAE07FF2FA}" srcId="{88C3A616-3DA9-4BBF-93A2-B0DFF1D10213}" destId="{79F17C6C-4E0F-41CD-BADC-78CE3874631B}" srcOrd="0" destOrd="0" parTransId="{E966C53B-AE58-494D-A56B-570910B31F09}" sibTransId="{67123033-720E-46DB-9261-2D651A5C13BE}"/>
    <dgm:cxn modelId="{764FC5B3-678B-4924-B6FD-3C232AB95610}" type="presOf" srcId="{F1A4B543-5812-4D8F-A7B3-2AEF0BB6AA78}" destId="{DA6703AE-125E-4C0F-ADBB-3F1FA37E693E}" srcOrd="0" destOrd="0" presId="urn:microsoft.com/office/officeart/2005/8/layout/hierarchy4"/>
    <dgm:cxn modelId="{EB85C484-71D2-4195-ABBF-A9F9F570169B}" type="presOf" srcId="{4F2F3F2F-5270-4EBE-8968-536EB3F16CAD}" destId="{24049E45-EDE1-4434-BE45-7C1DFF1E7CB0}" srcOrd="0" destOrd="0" presId="urn:microsoft.com/office/officeart/2005/8/layout/hierarchy4"/>
    <dgm:cxn modelId="{428A7077-F3A0-4E77-A3B1-C381F867AA15}" srcId="{E45D2CD6-1F83-4A80-A594-CDAF88105537}" destId="{F10D0335-4E68-485E-91B7-CCDF03095974}" srcOrd="1" destOrd="0" parTransId="{A4EF0874-0A01-497D-B0FB-51BB72EC21B7}" sibTransId="{3A36AC86-961A-4F05-84BF-5A84025CE75D}"/>
    <dgm:cxn modelId="{228C23B9-D6F2-49E2-B730-26CAB581381E}" type="presOf" srcId="{5B9C5D56-E846-496C-BDC9-E91BE3744A41}" destId="{C70B0188-3B7A-41FD-A83A-DD3BEA72F6BF}" srcOrd="0" destOrd="0" presId="urn:microsoft.com/office/officeart/2005/8/layout/hierarchy4"/>
    <dgm:cxn modelId="{6C8F3553-DD70-4D5D-91B9-3F053E77B061}" type="presOf" srcId="{7A7FEB08-E2A9-41CD-83A8-B1621076DE27}" destId="{1D049213-43F1-4056-8C04-356C68685E01}" srcOrd="0" destOrd="0" presId="urn:microsoft.com/office/officeart/2005/8/layout/hierarchy4"/>
    <dgm:cxn modelId="{6864EDA2-DB3C-4B00-850E-C35F5D7E2BBE}" type="presOf" srcId="{404AAE02-E528-458E-9D84-5A1DFCB9C3B2}" destId="{5AFC9C39-0AFC-468A-BEEF-A50377DCCA1F}" srcOrd="0" destOrd="0" presId="urn:microsoft.com/office/officeart/2005/8/layout/hierarchy4"/>
    <dgm:cxn modelId="{DB86F0B0-011F-491F-A5C0-8B338657E479}" srcId="{C326DB4F-6D88-4E7B-909E-3067AA10B786}" destId="{74AFD519-100E-4E06-AD41-BEED0A74A0D7}" srcOrd="1" destOrd="0" parTransId="{9FAFD1C0-A213-49F2-883F-5AF9A638E228}" sibTransId="{DB0B3823-6A48-41EB-8606-F3D2FA369FBE}"/>
    <dgm:cxn modelId="{7DC0DB90-7106-4FF7-A518-08F9A9CD2FDD}" srcId="{EB595CF9-B444-43EA-8CF2-7386F6718FB5}" destId="{7A7FEB08-E2A9-41CD-83A8-B1621076DE27}" srcOrd="0" destOrd="0" parTransId="{6067C85A-0120-4EDD-93CA-E3F5B97271AB}" sibTransId="{1EAE7202-1FB3-4A5F-8084-FBF88D5949FE}"/>
    <dgm:cxn modelId="{BA31C5C8-3B19-4AFB-9CC1-25C98885ABB6}" srcId="{7A7FEB08-E2A9-41CD-83A8-B1621076DE27}" destId="{404AAE02-E528-458E-9D84-5A1DFCB9C3B2}" srcOrd="0" destOrd="0" parTransId="{C644EB9D-A7C9-4903-B98F-E3BB8C277F31}" sibTransId="{08C61DFC-0DF5-4C72-950B-4110B8356773}"/>
    <dgm:cxn modelId="{E22CB17A-83C9-4746-8522-032570E29358}" srcId="{4F2F3F2F-5270-4EBE-8968-536EB3F16CAD}" destId="{97240A96-CA0A-4A14-9486-60D63DAB8F63}" srcOrd="0" destOrd="0" parTransId="{8121D3CF-0EDB-4554-8227-7636EE5A8EB1}" sibTransId="{B1ADD92C-7CCF-4D90-8FCD-9F0C276965C9}"/>
    <dgm:cxn modelId="{7BF2B45C-E867-4573-84C8-3501AC86B9A1}" type="presOf" srcId="{F10D0335-4E68-485E-91B7-CCDF03095974}" destId="{786AEB09-EBFF-4CCC-9531-AFAD3BE18035}" srcOrd="0" destOrd="0" presId="urn:microsoft.com/office/officeart/2005/8/layout/hierarchy4"/>
    <dgm:cxn modelId="{D8BE8FD2-5F5C-4691-BF44-85BCED163115}" srcId="{C326DB4F-6D88-4E7B-909E-3067AA10B786}" destId="{50A32C38-5798-4975-8709-D635EDF2A8E2}" srcOrd="0" destOrd="0" parTransId="{396A034F-B5E7-4011-8432-790E4328D162}" sibTransId="{E8617AF1-0019-49A6-A8E0-184C71E4CDC7}"/>
    <dgm:cxn modelId="{3BDC4730-9A61-412A-98E1-A3C426E7373F}" type="presOf" srcId="{95FDCFB2-B371-4AFB-B117-DC8659467C76}" destId="{EB34C0FF-B6D3-40B0-B264-A480A61866B4}" srcOrd="0" destOrd="0" presId="urn:microsoft.com/office/officeart/2005/8/layout/hierarchy4"/>
    <dgm:cxn modelId="{F4AB693F-386D-420E-8376-3CFF0355787F}" type="presOf" srcId="{97240A96-CA0A-4A14-9486-60D63DAB8F63}" destId="{4F02C32D-A176-43EF-B770-74CAAC520981}" srcOrd="0" destOrd="0" presId="urn:microsoft.com/office/officeart/2005/8/layout/hierarchy4"/>
    <dgm:cxn modelId="{D0296796-7122-49CE-BA17-881FF4E322E3}" type="presOf" srcId="{79E24AC1-2C3A-4DB1-9D5D-84DB65CE9E59}" destId="{4465051D-982F-445F-A35B-86EF7522E89C}" srcOrd="0" destOrd="0" presId="urn:microsoft.com/office/officeart/2005/8/layout/hierarchy4"/>
    <dgm:cxn modelId="{83655D2A-3C08-4D93-A3CC-3B892C857856}" type="presParOf" srcId="{826977A9-F040-4D40-941D-F4370A6663E4}" destId="{30F93CA5-E2FB-4DBF-BD13-60C635E9980A}" srcOrd="0" destOrd="0" presId="urn:microsoft.com/office/officeart/2005/8/layout/hierarchy4"/>
    <dgm:cxn modelId="{B0462C63-73E4-416D-88EB-8224DCD17A83}" type="presParOf" srcId="{30F93CA5-E2FB-4DBF-BD13-60C635E9980A}" destId="{6788BD6D-7474-44D0-9CF1-B466C57194FA}" srcOrd="0" destOrd="0" presId="urn:microsoft.com/office/officeart/2005/8/layout/hierarchy4"/>
    <dgm:cxn modelId="{816942AD-CDBC-4A9B-BF35-1CC5197A0B16}" type="presParOf" srcId="{30F93CA5-E2FB-4DBF-BD13-60C635E9980A}" destId="{3582C815-EC1A-4FE1-8E79-4EB77F3BD9EB}" srcOrd="1" destOrd="0" presId="urn:microsoft.com/office/officeart/2005/8/layout/hierarchy4"/>
    <dgm:cxn modelId="{A3A14629-6C4D-470C-9883-71E419C80A3B}" type="presParOf" srcId="{30F93CA5-E2FB-4DBF-BD13-60C635E9980A}" destId="{293E4D0D-A2DC-46C0-8566-11CB23556424}" srcOrd="2" destOrd="0" presId="urn:microsoft.com/office/officeart/2005/8/layout/hierarchy4"/>
    <dgm:cxn modelId="{7103A7B6-0FEE-41B8-B4E9-A81EC2DF67D2}" type="presParOf" srcId="{293E4D0D-A2DC-46C0-8566-11CB23556424}" destId="{CE7AD20D-4B5E-47E3-86D6-898226DE63FF}" srcOrd="0" destOrd="0" presId="urn:microsoft.com/office/officeart/2005/8/layout/hierarchy4"/>
    <dgm:cxn modelId="{9CE35671-5FEC-4905-82DC-11AA0E98922A}" type="presParOf" srcId="{CE7AD20D-4B5E-47E3-86D6-898226DE63FF}" destId="{33A161AA-0781-43EF-B6E1-EBB87BE9665B}" srcOrd="0" destOrd="0" presId="urn:microsoft.com/office/officeart/2005/8/layout/hierarchy4"/>
    <dgm:cxn modelId="{44F92202-AF90-4C1F-82AE-EE8DBB432D09}" type="presParOf" srcId="{CE7AD20D-4B5E-47E3-86D6-898226DE63FF}" destId="{EEC17495-77A6-41DC-B092-BDB46B0FF8E6}" srcOrd="1" destOrd="0" presId="urn:microsoft.com/office/officeart/2005/8/layout/hierarchy4"/>
    <dgm:cxn modelId="{3BBC8F44-21FE-4D9B-8927-2AB98CB86074}" type="presParOf" srcId="{CE7AD20D-4B5E-47E3-86D6-898226DE63FF}" destId="{33166B60-F254-4F55-9168-C90F650C6CAE}" srcOrd="2" destOrd="0" presId="urn:microsoft.com/office/officeart/2005/8/layout/hierarchy4"/>
    <dgm:cxn modelId="{AAAEEBFA-BFB8-41C3-AF2D-5332BF7E7413}" type="presParOf" srcId="{33166B60-F254-4F55-9168-C90F650C6CAE}" destId="{F2BA9F3D-9B6C-419F-83E7-E21E0D0123D9}" srcOrd="0" destOrd="0" presId="urn:microsoft.com/office/officeart/2005/8/layout/hierarchy4"/>
    <dgm:cxn modelId="{F2CC9711-7B02-42A2-9AE2-DAFB9D938C3F}" type="presParOf" srcId="{F2BA9F3D-9B6C-419F-83E7-E21E0D0123D9}" destId="{1596B784-A0F7-43B7-8B5F-ECE2A1198693}" srcOrd="0" destOrd="0" presId="urn:microsoft.com/office/officeart/2005/8/layout/hierarchy4"/>
    <dgm:cxn modelId="{BB85BD90-0E4B-43A0-9710-271C4372D3D1}" type="presParOf" srcId="{F2BA9F3D-9B6C-419F-83E7-E21E0D0123D9}" destId="{A5BB3E7A-500B-454B-952A-D67ED77E68D3}" srcOrd="1" destOrd="0" presId="urn:microsoft.com/office/officeart/2005/8/layout/hierarchy4"/>
    <dgm:cxn modelId="{A7E7A95F-B488-453D-AD5C-DFE0C5317890}" type="presParOf" srcId="{F2BA9F3D-9B6C-419F-83E7-E21E0D0123D9}" destId="{F8400382-B030-4656-AF39-04D079FC6796}" srcOrd="2" destOrd="0" presId="urn:microsoft.com/office/officeart/2005/8/layout/hierarchy4"/>
    <dgm:cxn modelId="{296E1F29-89A9-4ADF-B8D0-6639955D5E71}" type="presParOf" srcId="{F8400382-B030-4656-AF39-04D079FC6796}" destId="{51DCD140-4644-43A8-A0D3-F127DB1F4650}" srcOrd="0" destOrd="0" presId="urn:microsoft.com/office/officeart/2005/8/layout/hierarchy4"/>
    <dgm:cxn modelId="{7C2C1328-6020-48D6-B8AE-3B3966CB9D15}" type="presParOf" srcId="{51DCD140-4644-43A8-A0D3-F127DB1F4650}" destId="{1EB40870-FECE-4299-A932-EA4E971597E2}" srcOrd="0" destOrd="0" presId="urn:microsoft.com/office/officeart/2005/8/layout/hierarchy4"/>
    <dgm:cxn modelId="{91ED4861-7086-4BC1-823E-4FB0E9379B0F}" type="presParOf" srcId="{51DCD140-4644-43A8-A0D3-F127DB1F4650}" destId="{EBB7DC4D-BE83-4039-B61B-F43FF38F47CA}" srcOrd="1" destOrd="0" presId="urn:microsoft.com/office/officeart/2005/8/layout/hierarchy4"/>
    <dgm:cxn modelId="{155ECBDD-0459-4896-86BA-BE90D5755B44}" type="presParOf" srcId="{51DCD140-4644-43A8-A0D3-F127DB1F4650}" destId="{1175C13D-FAFF-4191-A5BA-A257D6C845C7}" srcOrd="2" destOrd="0" presId="urn:microsoft.com/office/officeart/2005/8/layout/hierarchy4"/>
    <dgm:cxn modelId="{2B74DA4B-2D6F-459E-9400-6209DBCC337B}" type="presParOf" srcId="{1175C13D-FAFF-4191-A5BA-A257D6C845C7}" destId="{9C73EB2C-D943-4E36-B06F-E030A9F97886}" srcOrd="0" destOrd="0" presId="urn:microsoft.com/office/officeart/2005/8/layout/hierarchy4"/>
    <dgm:cxn modelId="{2DFC0F24-3092-4B92-AEB0-4DDEB81EDDA3}" type="presParOf" srcId="{9C73EB2C-D943-4E36-B06F-E030A9F97886}" destId="{C70B0188-3B7A-41FD-A83A-DD3BEA72F6BF}" srcOrd="0" destOrd="0" presId="urn:microsoft.com/office/officeart/2005/8/layout/hierarchy4"/>
    <dgm:cxn modelId="{BE63E53F-CC2B-477B-904D-D79F0054E8F1}" type="presParOf" srcId="{9C73EB2C-D943-4E36-B06F-E030A9F97886}" destId="{A7ABEACD-AF1B-4955-8A82-53B7B1B85DB6}" srcOrd="1" destOrd="0" presId="urn:microsoft.com/office/officeart/2005/8/layout/hierarchy4"/>
    <dgm:cxn modelId="{B384B05A-3059-4F2F-B799-2A82EC941625}" type="presParOf" srcId="{1175C13D-FAFF-4191-A5BA-A257D6C845C7}" destId="{248F5B82-E1F2-4EA3-96FE-34C6AEED018D}" srcOrd="1" destOrd="0" presId="urn:microsoft.com/office/officeart/2005/8/layout/hierarchy4"/>
    <dgm:cxn modelId="{918DE070-082F-4B2B-B13B-E24199017D38}" type="presParOf" srcId="{1175C13D-FAFF-4191-A5BA-A257D6C845C7}" destId="{01E32DD5-036F-48A2-BF73-EA3F42034D77}" srcOrd="2" destOrd="0" presId="urn:microsoft.com/office/officeart/2005/8/layout/hierarchy4"/>
    <dgm:cxn modelId="{59A80A42-C4C0-4A02-A07C-D53BBB055DFE}" type="presParOf" srcId="{01E32DD5-036F-48A2-BF73-EA3F42034D77}" destId="{786AEB09-EBFF-4CCC-9531-AFAD3BE18035}" srcOrd="0" destOrd="0" presId="urn:microsoft.com/office/officeart/2005/8/layout/hierarchy4"/>
    <dgm:cxn modelId="{912A63E1-AB02-425E-B320-A9B57C66AB1E}" type="presParOf" srcId="{01E32DD5-036F-48A2-BF73-EA3F42034D77}" destId="{904E6F94-D48D-4CA7-BFF2-06ADD7BD9374}" srcOrd="1" destOrd="0" presId="urn:microsoft.com/office/officeart/2005/8/layout/hierarchy4"/>
    <dgm:cxn modelId="{6DA4074C-E204-49A1-B209-34AABCD3C535}" type="presParOf" srcId="{F8400382-B030-4656-AF39-04D079FC6796}" destId="{1915EFA6-185C-4B4E-A47F-F04B553E7AB8}" srcOrd="1" destOrd="0" presId="urn:microsoft.com/office/officeart/2005/8/layout/hierarchy4"/>
    <dgm:cxn modelId="{6B3CE622-F2C8-4E0C-8A3F-C66B774BC466}" type="presParOf" srcId="{F8400382-B030-4656-AF39-04D079FC6796}" destId="{08982B27-2E8C-4B13-B008-E85BE2423B99}" srcOrd="2" destOrd="0" presId="urn:microsoft.com/office/officeart/2005/8/layout/hierarchy4"/>
    <dgm:cxn modelId="{B51764B1-C961-4F4C-9902-D6193EB4BA78}" type="presParOf" srcId="{08982B27-2E8C-4B13-B008-E85BE2423B99}" destId="{EB34C0FF-B6D3-40B0-B264-A480A61866B4}" srcOrd="0" destOrd="0" presId="urn:microsoft.com/office/officeart/2005/8/layout/hierarchy4"/>
    <dgm:cxn modelId="{9AF8EC51-85D0-439B-873B-2CD564B15A62}" type="presParOf" srcId="{08982B27-2E8C-4B13-B008-E85BE2423B99}" destId="{0BEAE74B-8A5D-4D38-BF85-17BA72CE1726}" srcOrd="1" destOrd="0" presId="urn:microsoft.com/office/officeart/2005/8/layout/hierarchy4"/>
    <dgm:cxn modelId="{4AB3BEC0-4650-4FA2-BF65-6A91D239B100}" type="presParOf" srcId="{08982B27-2E8C-4B13-B008-E85BE2423B99}" destId="{C2FE1954-C622-40A4-908F-9AEDF4C2B1BC}" srcOrd="2" destOrd="0" presId="urn:microsoft.com/office/officeart/2005/8/layout/hierarchy4"/>
    <dgm:cxn modelId="{1E062E6A-E2C0-415A-A727-B7FCB310EB4A}" type="presParOf" srcId="{C2FE1954-C622-40A4-908F-9AEDF4C2B1BC}" destId="{D16C8731-56EE-4895-B961-C1D211C71468}" srcOrd="0" destOrd="0" presId="urn:microsoft.com/office/officeart/2005/8/layout/hierarchy4"/>
    <dgm:cxn modelId="{D9252D8E-D24E-47FD-AF88-93136EEC27B9}" type="presParOf" srcId="{D16C8731-56EE-4895-B961-C1D211C71468}" destId="{94EF6C08-F724-4CD1-8A61-9E9DBA42BAB1}" srcOrd="0" destOrd="0" presId="urn:microsoft.com/office/officeart/2005/8/layout/hierarchy4"/>
    <dgm:cxn modelId="{F9F938DB-4EA6-4D43-B373-0A212D68EAD3}" type="presParOf" srcId="{D16C8731-56EE-4895-B961-C1D211C71468}" destId="{8D27D06C-1D5C-48BF-B620-1EC2CC21505D}" srcOrd="1" destOrd="0" presId="urn:microsoft.com/office/officeart/2005/8/layout/hierarchy4"/>
    <dgm:cxn modelId="{A242F6F6-F8EE-488A-90D8-1100AA629182}" type="presParOf" srcId="{33166B60-F254-4F55-9168-C90F650C6CAE}" destId="{88718BF5-8A43-4702-8E3D-9209CF88E411}" srcOrd="1" destOrd="0" presId="urn:microsoft.com/office/officeart/2005/8/layout/hierarchy4"/>
    <dgm:cxn modelId="{68C56677-752B-49DF-B67B-597FA75F7C88}" type="presParOf" srcId="{33166B60-F254-4F55-9168-C90F650C6CAE}" destId="{B8793535-11D2-41BE-A30C-8C5C2977A7A0}" srcOrd="2" destOrd="0" presId="urn:microsoft.com/office/officeart/2005/8/layout/hierarchy4"/>
    <dgm:cxn modelId="{297AD317-43E8-4422-A199-061C983AE0CB}" type="presParOf" srcId="{B8793535-11D2-41BE-A30C-8C5C2977A7A0}" destId="{A098D25E-1C55-4C52-8141-059D4815EFBC}" srcOrd="0" destOrd="0" presId="urn:microsoft.com/office/officeart/2005/8/layout/hierarchy4"/>
    <dgm:cxn modelId="{024D6AA9-59D3-487E-877B-CFD7F3F19D20}" type="presParOf" srcId="{B8793535-11D2-41BE-A30C-8C5C2977A7A0}" destId="{478FD7F5-4219-4B79-8CA3-216A5EAF6548}" srcOrd="1" destOrd="0" presId="urn:microsoft.com/office/officeart/2005/8/layout/hierarchy4"/>
    <dgm:cxn modelId="{A93AB4EC-8517-4D49-8C82-F7044731FE71}" type="presParOf" srcId="{B8793535-11D2-41BE-A30C-8C5C2977A7A0}" destId="{596C8DDE-674B-4775-B39A-16CA9E534614}" srcOrd="2" destOrd="0" presId="urn:microsoft.com/office/officeart/2005/8/layout/hierarchy4"/>
    <dgm:cxn modelId="{083768EE-24E1-4A6D-85C1-23BDE2654A17}" type="presParOf" srcId="{596C8DDE-674B-4775-B39A-16CA9E534614}" destId="{3639843B-7C3A-49F4-8847-7E261DC398C3}" srcOrd="0" destOrd="0" presId="urn:microsoft.com/office/officeart/2005/8/layout/hierarchy4"/>
    <dgm:cxn modelId="{5FF1FFFC-C26E-4E56-A716-AC5D82A17695}" type="presParOf" srcId="{3639843B-7C3A-49F4-8847-7E261DC398C3}" destId="{47B48961-1673-4B38-ADAE-323CEAD1EF9E}" srcOrd="0" destOrd="0" presId="urn:microsoft.com/office/officeart/2005/8/layout/hierarchy4"/>
    <dgm:cxn modelId="{53680C0E-27AA-45B9-8729-9B52B89A1105}" type="presParOf" srcId="{3639843B-7C3A-49F4-8847-7E261DC398C3}" destId="{610C4D51-3EF7-4540-9D96-ED3B0C8A678C}" srcOrd="1" destOrd="0" presId="urn:microsoft.com/office/officeart/2005/8/layout/hierarchy4"/>
    <dgm:cxn modelId="{776A778C-653D-447A-88D7-FCE5EBCD4958}" type="presParOf" srcId="{3639843B-7C3A-49F4-8847-7E261DC398C3}" destId="{FDF1028B-9095-478D-8937-E509D2F55081}" srcOrd="2" destOrd="0" presId="urn:microsoft.com/office/officeart/2005/8/layout/hierarchy4"/>
    <dgm:cxn modelId="{D8C99FAE-AD81-46A0-ADE3-83D5EB793244}" type="presParOf" srcId="{FDF1028B-9095-478D-8937-E509D2F55081}" destId="{C282DA65-D95A-495E-8A5E-A781DD8AE6AD}" srcOrd="0" destOrd="0" presId="urn:microsoft.com/office/officeart/2005/8/layout/hierarchy4"/>
    <dgm:cxn modelId="{1C84E71C-FC13-4E56-B36A-B09742EAE528}" type="presParOf" srcId="{C282DA65-D95A-495E-8A5E-A781DD8AE6AD}" destId="{DD62049E-CA77-4029-8DA4-CD6F3CD62E4D}" srcOrd="0" destOrd="0" presId="urn:microsoft.com/office/officeart/2005/8/layout/hierarchy4"/>
    <dgm:cxn modelId="{974A4A33-E98E-4879-A476-FAB13E8E38FE}" type="presParOf" srcId="{C282DA65-D95A-495E-8A5E-A781DD8AE6AD}" destId="{60EB8730-D89F-4DB3-87AE-C297957822BD}" srcOrd="1" destOrd="0" presId="urn:microsoft.com/office/officeart/2005/8/layout/hierarchy4"/>
    <dgm:cxn modelId="{BB895F7A-36ED-49E8-9EE7-BAC8026412A4}" type="presParOf" srcId="{293E4D0D-A2DC-46C0-8566-11CB23556424}" destId="{53ACFBED-A89A-4B81-B749-F251D375C9B6}" srcOrd="1" destOrd="0" presId="urn:microsoft.com/office/officeart/2005/8/layout/hierarchy4"/>
    <dgm:cxn modelId="{DB40D7F1-C403-48DD-B77B-CCE3FF9B9FCF}" type="presParOf" srcId="{293E4D0D-A2DC-46C0-8566-11CB23556424}" destId="{84DDDAC2-4C25-4BAE-9CE8-BA6F113E3F46}" srcOrd="2" destOrd="0" presId="urn:microsoft.com/office/officeart/2005/8/layout/hierarchy4"/>
    <dgm:cxn modelId="{AAFBD7F3-3AB9-4B23-ACE7-EB5DBF165A94}" type="presParOf" srcId="{84DDDAC2-4C25-4BAE-9CE8-BA6F113E3F46}" destId="{922F7B21-94BF-4043-9185-088C22A0EDB9}" srcOrd="0" destOrd="0" presId="urn:microsoft.com/office/officeart/2005/8/layout/hierarchy4"/>
    <dgm:cxn modelId="{1E7DB041-341C-4B18-ABDF-4D76B144A4AB}" type="presParOf" srcId="{84DDDAC2-4C25-4BAE-9CE8-BA6F113E3F46}" destId="{A05F6C2D-21EC-4BC6-8C65-EDBA18D17318}" srcOrd="1" destOrd="0" presId="urn:microsoft.com/office/officeart/2005/8/layout/hierarchy4"/>
    <dgm:cxn modelId="{3D5F1C53-EF97-4174-B0DC-CD64730F48BB}" type="presParOf" srcId="{84DDDAC2-4C25-4BAE-9CE8-BA6F113E3F46}" destId="{CC017CC2-0488-468F-8028-AAC3AFAB8D77}" srcOrd="2" destOrd="0" presId="urn:microsoft.com/office/officeart/2005/8/layout/hierarchy4"/>
    <dgm:cxn modelId="{F3462078-FCD1-458C-9F44-FF28C1C760BF}" type="presParOf" srcId="{CC017CC2-0488-468F-8028-AAC3AFAB8D77}" destId="{5865F74F-E13A-4CC2-B4CE-79278F9C0950}" srcOrd="0" destOrd="0" presId="urn:microsoft.com/office/officeart/2005/8/layout/hierarchy4"/>
    <dgm:cxn modelId="{B2BC8CC6-5ED3-400E-B3C3-B3158D14D119}" type="presParOf" srcId="{5865F74F-E13A-4CC2-B4CE-79278F9C0950}" destId="{1D049213-43F1-4056-8C04-356C68685E01}" srcOrd="0" destOrd="0" presId="urn:microsoft.com/office/officeart/2005/8/layout/hierarchy4"/>
    <dgm:cxn modelId="{C3A18807-F3C2-41D6-B5EC-BA185DA0196D}" type="presParOf" srcId="{5865F74F-E13A-4CC2-B4CE-79278F9C0950}" destId="{D70E6A98-3705-41CF-927A-CBFB07B7D668}" srcOrd="1" destOrd="0" presId="urn:microsoft.com/office/officeart/2005/8/layout/hierarchy4"/>
    <dgm:cxn modelId="{44EA372D-7A65-4351-81E3-AF4CEB4C28E1}" type="presParOf" srcId="{5865F74F-E13A-4CC2-B4CE-79278F9C0950}" destId="{DBB96727-A6FE-40EC-9EFE-B5E561C50EA8}" srcOrd="2" destOrd="0" presId="urn:microsoft.com/office/officeart/2005/8/layout/hierarchy4"/>
    <dgm:cxn modelId="{45C2991D-3A9B-445F-AB4F-262F4207E105}" type="presParOf" srcId="{DBB96727-A6FE-40EC-9EFE-B5E561C50EA8}" destId="{E20EDDE8-6E87-422C-8472-584BE6B115E7}" srcOrd="0" destOrd="0" presId="urn:microsoft.com/office/officeart/2005/8/layout/hierarchy4"/>
    <dgm:cxn modelId="{1DD0D67B-AFA7-4B74-95CE-DD651E106235}" type="presParOf" srcId="{E20EDDE8-6E87-422C-8472-584BE6B115E7}" destId="{5AFC9C39-0AFC-468A-BEEF-A50377DCCA1F}" srcOrd="0" destOrd="0" presId="urn:microsoft.com/office/officeart/2005/8/layout/hierarchy4"/>
    <dgm:cxn modelId="{12491E8D-C435-473F-8F6A-A8A50B70D26E}" type="presParOf" srcId="{E20EDDE8-6E87-422C-8472-584BE6B115E7}" destId="{1ED69511-1B8E-40C5-84E5-4A69D6B84C14}" srcOrd="1" destOrd="0" presId="urn:microsoft.com/office/officeart/2005/8/layout/hierarchy4"/>
    <dgm:cxn modelId="{49F7DBDF-95D8-4616-9467-C89789328620}" type="presParOf" srcId="{E20EDDE8-6E87-422C-8472-584BE6B115E7}" destId="{34A75535-A847-4222-BD44-35BDF6C4E35D}" srcOrd="2" destOrd="0" presId="urn:microsoft.com/office/officeart/2005/8/layout/hierarchy4"/>
    <dgm:cxn modelId="{CF7B070B-6396-4EB3-BCA4-71A1CB0587E9}" type="presParOf" srcId="{34A75535-A847-4222-BD44-35BDF6C4E35D}" destId="{2E4BFF3F-4F38-4725-81C5-206DCDFDA2D6}" srcOrd="0" destOrd="0" presId="urn:microsoft.com/office/officeart/2005/8/layout/hierarchy4"/>
    <dgm:cxn modelId="{8EA730AB-A46B-4807-8077-AF33A307C400}" type="presParOf" srcId="{2E4BFF3F-4F38-4725-81C5-206DCDFDA2D6}" destId="{312B1AA7-506C-46A0-8D97-FB78BFF63715}" srcOrd="0" destOrd="0" presId="urn:microsoft.com/office/officeart/2005/8/layout/hierarchy4"/>
    <dgm:cxn modelId="{365D8E9B-BC66-4D4C-87A3-8FD460B3555B}" type="presParOf" srcId="{2E4BFF3F-4F38-4725-81C5-206DCDFDA2D6}" destId="{B70997AE-55D3-4C08-AA5B-F2DC2FDC07B7}" srcOrd="1" destOrd="0" presId="urn:microsoft.com/office/officeart/2005/8/layout/hierarchy4"/>
    <dgm:cxn modelId="{169892F1-EA76-49FD-B74C-B742E4D29D4A}" type="presParOf" srcId="{34A75535-A847-4222-BD44-35BDF6C4E35D}" destId="{48F4F978-3886-42D5-A7EA-21D58276B80C}" srcOrd="1" destOrd="0" presId="urn:microsoft.com/office/officeart/2005/8/layout/hierarchy4"/>
    <dgm:cxn modelId="{E1437B19-1742-44E5-B1C5-5EE224C16BF8}" type="presParOf" srcId="{34A75535-A847-4222-BD44-35BDF6C4E35D}" destId="{EAE054AF-CF3C-49C0-8B8B-0A391D181A35}" srcOrd="2" destOrd="0" presId="urn:microsoft.com/office/officeart/2005/8/layout/hierarchy4"/>
    <dgm:cxn modelId="{F30F57FE-CE4F-4BBA-8E5F-4E92107CF73C}" type="presParOf" srcId="{EAE054AF-CF3C-49C0-8B8B-0A391D181A35}" destId="{4465051D-982F-445F-A35B-86EF7522E89C}" srcOrd="0" destOrd="0" presId="urn:microsoft.com/office/officeart/2005/8/layout/hierarchy4"/>
    <dgm:cxn modelId="{D9A9F34C-6843-438A-B65D-B0DD1F1A750A}" type="presParOf" srcId="{EAE054AF-CF3C-49C0-8B8B-0A391D181A35}" destId="{4FA528DF-2A47-4160-962E-59192A7940C2}" srcOrd="1" destOrd="0" presId="urn:microsoft.com/office/officeart/2005/8/layout/hierarchy4"/>
    <dgm:cxn modelId="{855AB675-7B66-43BD-A92F-AD2EFDC591FE}" type="presParOf" srcId="{DBB96727-A6FE-40EC-9EFE-B5E561C50EA8}" destId="{F7918A06-808F-4B49-93FC-83B1972974E5}" srcOrd="1" destOrd="0" presId="urn:microsoft.com/office/officeart/2005/8/layout/hierarchy4"/>
    <dgm:cxn modelId="{781F9304-275D-4A6B-BE05-C1F78E706BA3}" type="presParOf" srcId="{DBB96727-A6FE-40EC-9EFE-B5E561C50EA8}" destId="{442A3098-7D64-464F-8D2A-2734483DDC39}" srcOrd="2" destOrd="0" presId="urn:microsoft.com/office/officeart/2005/8/layout/hierarchy4"/>
    <dgm:cxn modelId="{527E68FF-0496-4BF4-BC9B-4945E8EF6A9E}" type="presParOf" srcId="{442A3098-7D64-464F-8D2A-2734483DDC39}" destId="{DA6703AE-125E-4C0F-ADBB-3F1FA37E693E}" srcOrd="0" destOrd="0" presId="urn:microsoft.com/office/officeart/2005/8/layout/hierarchy4"/>
    <dgm:cxn modelId="{C918C97D-5CCB-4BC2-AC6B-419A446F1A23}" type="presParOf" srcId="{442A3098-7D64-464F-8D2A-2734483DDC39}" destId="{8FB8447B-EB8A-4791-AC55-87FB7B5C5D01}" srcOrd="1" destOrd="0" presId="urn:microsoft.com/office/officeart/2005/8/layout/hierarchy4"/>
    <dgm:cxn modelId="{E8D375D9-D3EB-4412-A6EE-9220D940A5D6}" type="presParOf" srcId="{442A3098-7D64-464F-8D2A-2734483DDC39}" destId="{7F747451-B708-4C5F-996F-07B68BBC6399}" srcOrd="2" destOrd="0" presId="urn:microsoft.com/office/officeart/2005/8/layout/hierarchy4"/>
    <dgm:cxn modelId="{F3E713F3-D6BC-48B3-9782-127D04B780F6}" type="presParOf" srcId="{7F747451-B708-4C5F-996F-07B68BBC6399}" destId="{B8CD1362-F46C-41B4-AD04-86871A496E4B}" srcOrd="0" destOrd="0" presId="urn:microsoft.com/office/officeart/2005/8/layout/hierarchy4"/>
    <dgm:cxn modelId="{DEC6AD5C-0A16-4CF2-AC91-B5D52732939D}" type="presParOf" srcId="{B8CD1362-F46C-41B4-AD04-86871A496E4B}" destId="{387A8856-9C69-429D-BF56-4FA90AEDA17D}" srcOrd="0" destOrd="0" presId="urn:microsoft.com/office/officeart/2005/8/layout/hierarchy4"/>
    <dgm:cxn modelId="{0D14F6F3-055D-441F-B986-AC3B8B903704}" type="presParOf" srcId="{B8CD1362-F46C-41B4-AD04-86871A496E4B}" destId="{43EFC4D9-136A-4CE2-95EE-4895665BDC96}" srcOrd="1" destOrd="0" presId="urn:microsoft.com/office/officeart/2005/8/layout/hierarchy4"/>
    <dgm:cxn modelId="{088592F4-AA5C-47DD-A65A-584D63C94480}" type="presParOf" srcId="{CC017CC2-0488-468F-8028-AAC3AFAB8D77}" destId="{B78A31F9-B6B3-440D-8D2C-2DC325A463A5}" srcOrd="1" destOrd="0" presId="urn:microsoft.com/office/officeart/2005/8/layout/hierarchy4"/>
    <dgm:cxn modelId="{3482409E-6A0A-48D8-950B-56A18869765D}" type="presParOf" srcId="{CC017CC2-0488-468F-8028-AAC3AFAB8D77}" destId="{A7A4332A-0BB1-4EC2-9424-2777942A40F1}" srcOrd="2" destOrd="0" presId="urn:microsoft.com/office/officeart/2005/8/layout/hierarchy4"/>
    <dgm:cxn modelId="{6CCBC508-55C9-410A-B057-765517043718}" type="presParOf" srcId="{A7A4332A-0BB1-4EC2-9424-2777942A40F1}" destId="{24049E45-EDE1-4434-BE45-7C1DFF1E7CB0}" srcOrd="0" destOrd="0" presId="urn:microsoft.com/office/officeart/2005/8/layout/hierarchy4"/>
    <dgm:cxn modelId="{7E3DFAB8-36EF-4421-9627-BCCC263E2549}" type="presParOf" srcId="{A7A4332A-0BB1-4EC2-9424-2777942A40F1}" destId="{B323EA6F-1840-4FE9-8269-4879378B09F4}" srcOrd="1" destOrd="0" presId="urn:microsoft.com/office/officeart/2005/8/layout/hierarchy4"/>
    <dgm:cxn modelId="{1B6A5280-84FE-4224-8567-B9B13BB2268C}" type="presParOf" srcId="{A7A4332A-0BB1-4EC2-9424-2777942A40F1}" destId="{D8D38A0E-2308-44B8-A692-982A4878F0A8}" srcOrd="2" destOrd="0" presId="urn:microsoft.com/office/officeart/2005/8/layout/hierarchy4"/>
    <dgm:cxn modelId="{7984D5B5-9075-47E3-9E23-D1F2B5F169CE}" type="presParOf" srcId="{D8D38A0E-2308-44B8-A692-982A4878F0A8}" destId="{248B0A96-421E-4E45-9CEE-ADF705AFFEB6}" srcOrd="0" destOrd="0" presId="urn:microsoft.com/office/officeart/2005/8/layout/hierarchy4"/>
    <dgm:cxn modelId="{D02527F4-C8F9-40CD-9F15-53BDDC135A55}" type="presParOf" srcId="{248B0A96-421E-4E45-9CEE-ADF705AFFEB6}" destId="{4F02C32D-A176-43EF-B770-74CAAC520981}" srcOrd="0" destOrd="0" presId="urn:microsoft.com/office/officeart/2005/8/layout/hierarchy4"/>
    <dgm:cxn modelId="{19412FB2-282D-488C-A06E-AA688CE8BCCB}" type="presParOf" srcId="{248B0A96-421E-4E45-9CEE-ADF705AFFEB6}" destId="{5D8410EB-31D2-4220-B703-44CD86FCBA17}" srcOrd="1" destOrd="0" presId="urn:microsoft.com/office/officeart/2005/8/layout/hierarchy4"/>
    <dgm:cxn modelId="{A55C2688-898F-4196-83DA-4E11FB5E3617}" type="presParOf" srcId="{248B0A96-421E-4E45-9CEE-ADF705AFFEB6}" destId="{C3E33FFE-DDFB-4574-A70E-CE75E19B9708}" srcOrd="2" destOrd="0" presId="urn:microsoft.com/office/officeart/2005/8/layout/hierarchy4"/>
    <dgm:cxn modelId="{3DF7BD74-1346-4F6F-B9A3-133FD852520C}" type="presParOf" srcId="{C3E33FFE-DDFB-4574-A70E-CE75E19B9708}" destId="{3DDA095B-001A-4B8A-B5C6-C5DC7A047062}" srcOrd="0" destOrd="0" presId="urn:microsoft.com/office/officeart/2005/8/layout/hierarchy4"/>
    <dgm:cxn modelId="{3C8FB5A0-B2D6-45D6-92C9-72DDDDF103AF}" type="presParOf" srcId="{3DDA095B-001A-4B8A-B5C6-C5DC7A047062}" destId="{016ADADA-1477-4B3D-8231-5F5745C96E90}" srcOrd="0" destOrd="0" presId="urn:microsoft.com/office/officeart/2005/8/layout/hierarchy4"/>
    <dgm:cxn modelId="{EEF0FDF6-EEC2-4C21-B59A-F084F26D3A70}" type="presParOf" srcId="{3DDA095B-001A-4B8A-B5C6-C5DC7A047062}" destId="{41498F5E-65C0-4CC2-B1A0-46FE1D0F0D82}" srcOrd="1" destOrd="0" presId="urn:microsoft.com/office/officeart/2005/8/layout/hierarchy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88BD6D-7474-44D0-9CF1-B466C57194FA}">
      <dsp:nvSpPr>
        <dsp:cNvPr id="0" name=""/>
        <dsp:cNvSpPr/>
      </dsp:nvSpPr>
      <dsp:spPr>
        <a:xfrm>
          <a:off x="0" y="2177"/>
          <a:ext cx="6419059"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lvl="0" algn="ctr" defTabSz="1644650">
            <a:lnSpc>
              <a:spcPct val="90000"/>
            </a:lnSpc>
            <a:spcBef>
              <a:spcPct val="0"/>
            </a:spcBef>
            <a:spcAft>
              <a:spcPct val="35000"/>
            </a:spcAft>
          </a:pPr>
          <a:r>
            <a:rPr lang="fr-FR" sz="3700" b="1" kern="1200" dirty="0" smtClean="0"/>
            <a:t>Principe Directeur</a:t>
          </a:r>
          <a:endParaRPr lang="fr-FR" sz="3700" b="1" kern="1200" dirty="0"/>
        </a:p>
      </dsp:txBody>
      <dsp:txXfrm>
        <a:off x="25198" y="27375"/>
        <a:ext cx="6368663" cy="809927"/>
      </dsp:txXfrm>
    </dsp:sp>
    <dsp:sp modelId="{33A161AA-0781-43EF-B6E1-EBB87BE9665B}">
      <dsp:nvSpPr>
        <dsp:cNvPr id="0" name=""/>
        <dsp:cNvSpPr/>
      </dsp:nvSpPr>
      <dsp:spPr>
        <a:xfrm>
          <a:off x="2358" y="930126"/>
          <a:ext cx="3176858"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fr-FR" sz="3200" kern="1200" dirty="0" smtClean="0"/>
            <a:t>Finalité</a:t>
          </a:r>
          <a:endParaRPr lang="fr-FR" sz="3200" kern="1200" dirty="0"/>
        </a:p>
      </dsp:txBody>
      <dsp:txXfrm>
        <a:off x="27556" y="955324"/>
        <a:ext cx="3126462" cy="809927"/>
      </dsp:txXfrm>
    </dsp:sp>
    <dsp:sp modelId="{1596B784-A0F7-43B7-8B5F-ECE2A1198693}">
      <dsp:nvSpPr>
        <dsp:cNvPr id="0" name=""/>
        <dsp:cNvSpPr/>
      </dsp:nvSpPr>
      <dsp:spPr>
        <a:xfrm>
          <a:off x="2358" y="1858074"/>
          <a:ext cx="2366308"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76200" rIns="0" bIns="76200" numCol="1" spcCol="1270" anchor="ctr" anchorCtr="0">
          <a:noAutofit/>
        </a:bodyPr>
        <a:lstStyle/>
        <a:p>
          <a:pPr lvl="0" algn="ctr" defTabSz="889000">
            <a:lnSpc>
              <a:spcPct val="90000"/>
            </a:lnSpc>
            <a:spcBef>
              <a:spcPct val="0"/>
            </a:spcBef>
            <a:spcAft>
              <a:spcPct val="35000"/>
            </a:spcAft>
          </a:pPr>
          <a:r>
            <a:rPr lang="fr-FR" sz="2000" kern="1200" dirty="0" smtClean="0"/>
            <a:t>Critère</a:t>
          </a:r>
          <a:endParaRPr lang="fr-FR" sz="2000" kern="1200" dirty="0"/>
        </a:p>
      </dsp:txBody>
      <dsp:txXfrm>
        <a:off x="27556" y="1883272"/>
        <a:ext cx="2315912" cy="809927"/>
      </dsp:txXfrm>
    </dsp:sp>
    <dsp:sp modelId="{1EB40870-FECE-4299-A932-EA4E971597E2}">
      <dsp:nvSpPr>
        <dsp:cNvPr id="0" name=""/>
        <dsp:cNvSpPr/>
      </dsp:nvSpPr>
      <dsp:spPr>
        <a:xfrm>
          <a:off x="2358" y="2786023"/>
          <a:ext cx="1572093"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8580" rIns="0" bIns="68580" numCol="1" spcCol="1270" anchor="ctr" anchorCtr="0">
          <a:noAutofit/>
        </a:bodyPr>
        <a:lstStyle/>
        <a:p>
          <a:pPr lvl="0" algn="ctr" defTabSz="800100">
            <a:lnSpc>
              <a:spcPct val="90000"/>
            </a:lnSpc>
            <a:spcBef>
              <a:spcPct val="0"/>
            </a:spcBef>
            <a:spcAft>
              <a:spcPct val="35000"/>
            </a:spcAft>
          </a:pPr>
          <a:r>
            <a:rPr lang="fr-FR" sz="1800" kern="1200" dirty="0" smtClean="0"/>
            <a:t>Phase projet</a:t>
          </a:r>
          <a:endParaRPr lang="fr-FR" sz="1800" kern="1200" dirty="0"/>
        </a:p>
      </dsp:txBody>
      <dsp:txXfrm>
        <a:off x="27556" y="2811221"/>
        <a:ext cx="1521697" cy="809927"/>
      </dsp:txXfrm>
    </dsp:sp>
    <dsp:sp modelId="{C70B0188-3B7A-41FD-A83A-DD3BEA72F6BF}">
      <dsp:nvSpPr>
        <dsp:cNvPr id="0" name=""/>
        <dsp:cNvSpPr/>
      </dsp:nvSpPr>
      <dsp:spPr>
        <a:xfrm>
          <a:off x="2358" y="3713972"/>
          <a:ext cx="777879"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0960" rIns="0" bIns="60960" numCol="1" spcCol="1270" anchor="ctr" anchorCtr="0">
          <a:noAutofit/>
        </a:bodyPr>
        <a:lstStyle/>
        <a:p>
          <a:pPr lvl="0" algn="ctr" defTabSz="711200">
            <a:lnSpc>
              <a:spcPct val="90000"/>
            </a:lnSpc>
            <a:spcBef>
              <a:spcPct val="0"/>
            </a:spcBef>
            <a:spcAft>
              <a:spcPct val="35000"/>
            </a:spcAft>
          </a:pPr>
          <a:r>
            <a:rPr lang="fr-FR" sz="1600" kern="1200" dirty="0" smtClean="0"/>
            <a:t>Bonne pratique</a:t>
          </a:r>
          <a:endParaRPr lang="fr-FR" sz="1600" kern="1200" dirty="0"/>
        </a:p>
      </dsp:txBody>
      <dsp:txXfrm>
        <a:off x="25141" y="3736755"/>
        <a:ext cx="732313" cy="814757"/>
      </dsp:txXfrm>
    </dsp:sp>
    <dsp:sp modelId="{786AEB09-EBFF-4CCC-9531-AFAD3BE18035}">
      <dsp:nvSpPr>
        <dsp:cNvPr id="0" name=""/>
        <dsp:cNvSpPr/>
      </dsp:nvSpPr>
      <dsp:spPr>
        <a:xfrm>
          <a:off x="796573" y="3713972"/>
          <a:ext cx="777879"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0960" rIns="0" bIns="60960" numCol="1" spcCol="1270" anchor="ctr" anchorCtr="0">
          <a:noAutofit/>
        </a:bodyPr>
        <a:lstStyle/>
        <a:p>
          <a:pPr lvl="0" algn="ctr" defTabSz="711200">
            <a:lnSpc>
              <a:spcPct val="90000"/>
            </a:lnSpc>
            <a:spcBef>
              <a:spcPct val="0"/>
            </a:spcBef>
            <a:spcAft>
              <a:spcPct val="35000"/>
            </a:spcAft>
          </a:pPr>
          <a:r>
            <a:rPr lang="fr-FR" sz="1600" kern="1200" dirty="0" smtClean="0"/>
            <a:t>Bonne pratique</a:t>
          </a:r>
          <a:endParaRPr lang="fr-FR" sz="1600" kern="1200" dirty="0"/>
        </a:p>
      </dsp:txBody>
      <dsp:txXfrm>
        <a:off x="819356" y="3736755"/>
        <a:ext cx="732313" cy="814757"/>
      </dsp:txXfrm>
    </dsp:sp>
    <dsp:sp modelId="{EB34C0FF-B6D3-40B0-B264-A480A61866B4}">
      <dsp:nvSpPr>
        <dsp:cNvPr id="0" name=""/>
        <dsp:cNvSpPr/>
      </dsp:nvSpPr>
      <dsp:spPr>
        <a:xfrm>
          <a:off x="1590788" y="2786023"/>
          <a:ext cx="777879"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8580" rIns="0" bIns="68580" numCol="1" spcCol="1270" anchor="ctr" anchorCtr="0">
          <a:noAutofit/>
        </a:bodyPr>
        <a:lstStyle/>
        <a:p>
          <a:pPr lvl="0" algn="ctr" defTabSz="800100">
            <a:lnSpc>
              <a:spcPct val="90000"/>
            </a:lnSpc>
            <a:spcBef>
              <a:spcPct val="0"/>
            </a:spcBef>
            <a:spcAft>
              <a:spcPct val="35000"/>
            </a:spcAft>
          </a:pPr>
          <a:r>
            <a:rPr lang="fr-FR" sz="1800" kern="1200" dirty="0" smtClean="0"/>
            <a:t>Phase projet</a:t>
          </a:r>
          <a:endParaRPr lang="fr-FR" sz="1800" kern="1200" dirty="0"/>
        </a:p>
      </dsp:txBody>
      <dsp:txXfrm>
        <a:off x="1613571" y="2808806"/>
        <a:ext cx="732313" cy="814757"/>
      </dsp:txXfrm>
    </dsp:sp>
    <dsp:sp modelId="{94EF6C08-F724-4CD1-8A61-9E9DBA42BAB1}">
      <dsp:nvSpPr>
        <dsp:cNvPr id="0" name=""/>
        <dsp:cNvSpPr/>
      </dsp:nvSpPr>
      <dsp:spPr>
        <a:xfrm>
          <a:off x="1590788" y="3713972"/>
          <a:ext cx="777879"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0960" rIns="0" bIns="60960" numCol="1" spcCol="1270" anchor="ctr" anchorCtr="0">
          <a:noAutofit/>
        </a:bodyPr>
        <a:lstStyle/>
        <a:p>
          <a:pPr lvl="0" algn="ctr" defTabSz="711200">
            <a:lnSpc>
              <a:spcPct val="90000"/>
            </a:lnSpc>
            <a:spcBef>
              <a:spcPct val="0"/>
            </a:spcBef>
            <a:spcAft>
              <a:spcPct val="35000"/>
            </a:spcAft>
          </a:pPr>
          <a:r>
            <a:rPr lang="fr-FR" sz="1600" kern="1200" dirty="0" smtClean="0"/>
            <a:t>Bonne pratique</a:t>
          </a:r>
          <a:endParaRPr lang="fr-FR" sz="1600" kern="1200" dirty="0"/>
        </a:p>
      </dsp:txBody>
      <dsp:txXfrm>
        <a:off x="1613571" y="3736755"/>
        <a:ext cx="732313" cy="814757"/>
      </dsp:txXfrm>
    </dsp:sp>
    <dsp:sp modelId="{A098D25E-1C55-4C52-8141-059D4815EFBC}">
      <dsp:nvSpPr>
        <dsp:cNvPr id="0" name=""/>
        <dsp:cNvSpPr/>
      </dsp:nvSpPr>
      <dsp:spPr>
        <a:xfrm>
          <a:off x="2401338" y="1858074"/>
          <a:ext cx="777879"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76200" rIns="0" bIns="76200" numCol="1" spcCol="1270" anchor="ctr" anchorCtr="0">
          <a:noAutofit/>
        </a:bodyPr>
        <a:lstStyle/>
        <a:p>
          <a:pPr lvl="0" algn="ctr" defTabSz="889000">
            <a:lnSpc>
              <a:spcPct val="90000"/>
            </a:lnSpc>
            <a:spcBef>
              <a:spcPct val="0"/>
            </a:spcBef>
            <a:spcAft>
              <a:spcPct val="35000"/>
            </a:spcAft>
          </a:pPr>
          <a:r>
            <a:rPr lang="fr-FR" sz="2000" kern="1200" dirty="0" smtClean="0"/>
            <a:t>Critère</a:t>
          </a:r>
          <a:endParaRPr lang="fr-FR" sz="2000" kern="1200" dirty="0"/>
        </a:p>
      </dsp:txBody>
      <dsp:txXfrm>
        <a:off x="2424121" y="1880857"/>
        <a:ext cx="732313" cy="814757"/>
      </dsp:txXfrm>
    </dsp:sp>
    <dsp:sp modelId="{47B48961-1673-4B38-ADAE-323CEAD1EF9E}">
      <dsp:nvSpPr>
        <dsp:cNvPr id="0" name=""/>
        <dsp:cNvSpPr/>
      </dsp:nvSpPr>
      <dsp:spPr>
        <a:xfrm>
          <a:off x="2401338" y="2786023"/>
          <a:ext cx="777879"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8580" rIns="0" bIns="68580" numCol="1" spcCol="1270" anchor="ctr" anchorCtr="0">
          <a:noAutofit/>
        </a:bodyPr>
        <a:lstStyle/>
        <a:p>
          <a:pPr lvl="0" algn="ctr" defTabSz="800100">
            <a:lnSpc>
              <a:spcPct val="90000"/>
            </a:lnSpc>
            <a:spcBef>
              <a:spcPct val="0"/>
            </a:spcBef>
            <a:spcAft>
              <a:spcPct val="35000"/>
            </a:spcAft>
          </a:pPr>
          <a:r>
            <a:rPr lang="fr-FR" sz="1800" kern="1200" dirty="0" smtClean="0"/>
            <a:t>Phase projet</a:t>
          </a:r>
          <a:endParaRPr lang="fr-FR" sz="1800" kern="1200" dirty="0"/>
        </a:p>
      </dsp:txBody>
      <dsp:txXfrm>
        <a:off x="2424121" y="2808806"/>
        <a:ext cx="732313" cy="814757"/>
      </dsp:txXfrm>
    </dsp:sp>
    <dsp:sp modelId="{DD62049E-CA77-4029-8DA4-CD6F3CD62E4D}">
      <dsp:nvSpPr>
        <dsp:cNvPr id="0" name=""/>
        <dsp:cNvSpPr/>
      </dsp:nvSpPr>
      <dsp:spPr>
        <a:xfrm>
          <a:off x="2401338" y="3713972"/>
          <a:ext cx="777879"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0960" rIns="0" bIns="60960" numCol="1" spcCol="1270" anchor="ctr" anchorCtr="0">
          <a:noAutofit/>
        </a:bodyPr>
        <a:lstStyle/>
        <a:p>
          <a:pPr lvl="0" algn="ctr" defTabSz="711200">
            <a:lnSpc>
              <a:spcPct val="90000"/>
            </a:lnSpc>
            <a:spcBef>
              <a:spcPct val="0"/>
            </a:spcBef>
            <a:spcAft>
              <a:spcPct val="35000"/>
            </a:spcAft>
          </a:pPr>
          <a:r>
            <a:rPr lang="fr-FR" sz="1600" kern="1200" dirty="0" smtClean="0"/>
            <a:t>Bonne pratique</a:t>
          </a:r>
          <a:endParaRPr lang="fr-FR" sz="1600" kern="1200" dirty="0"/>
        </a:p>
      </dsp:txBody>
      <dsp:txXfrm>
        <a:off x="2424121" y="3736755"/>
        <a:ext cx="732313" cy="814757"/>
      </dsp:txXfrm>
    </dsp:sp>
    <dsp:sp modelId="{922F7B21-94BF-4043-9185-088C22A0EDB9}">
      <dsp:nvSpPr>
        <dsp:cNvPr id="0" name=""/>
        <dsp:cNvSpPr/>
      </dsp:nvSpPr>
      <dsp:spPr>
        <a:xfrm>
          <a:off x="3244559" y="930126"/>
          <a:ext cx="3176858"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fr-FR" sz="3200" kern="1200" dirty="0" smtClean="0"/>
            <a:t>Finalité</a:t>
          </a:r>
          <a:endParaRPr lang="fr-FR" sz="3200" kern="1200" dirty="0"/>
        </a:p>
      </dsp:txBody>
      <dsp:txXfrm>
        <a:off x="3269757" y="955324"/>
        <a:ext cx="3126462" cy="809927"/>
      </dsp:txXfrm>
    </dsp:sp>
    <dsp:sp modelId="{1D049213-43F1-4056-8C04-356C68685E01}">
      <dsp:nvSpPr>
        <dsp:cNvPr id="0" name=""/>
        <dsp:cNvSpPr/>
      </dsp:nvSpPr>
      <dsp:spPr>
        <a:xfrm>
          <a:off x="3244559" y="1858074"/>
          <a:ext cx="2366308"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76200" rIns="0" bIns="76200" numCol="1" spcCol="1270" anchor="ctr" anchorCtr="0">
          <a:noAutofit/>
        </a:bodyPr>
        <a:lstStyle/>
        <a:p>
          <a:pPr lvl="0" algn="ctr" defTabSz="889000">
            <a:lnSpc>
              <a:spcPct val="90000"/>
            </a:lnSpc>
            <a:spcBef>
              <a:spcPct val="0"/>
            </a:spcBef>
            <a:spcAft>
              <a:spcPct val="35000"/>
            </a:spcAft>
          </a:pPr>
          <a:r>
            <a:rPr lang="fr-FR" sz="2000" kern="1200" dirty="0" smtClean="0"/>
            <a:t>Critère</a:t>
          </a:r>
          <a:endParaRPr lang="fr-FR" sz="2000" kern="1200" dirty="0"/>
        </a:p>
      </dsp:txBody>
      <dsp:txXfrm>
        <a:off x="3269757" y="1883272"/>
        <a:ext cx="2315912" cy="809927"/>
      </dsp:txXfrm>
    </dsp:sp>
    <dsp:sp modelId="{5AFC9C39-0AFC-468A-BEEF-A50377DCCA1F}">
      <dsp:nvSpPr>
        <dsp:cNvPr id="0" name=""/>
        <dsp:cNvSpPr/>
      </dsp:nvSpPr>
      <dsp:spPr>
        <a:xfrm>
          <a:off x="3244559" y="2786023"/>
          <a:ext cx="1572093"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8580" rIns="0" bIns="68580" numCol="1" spcCol="1270" anchor="ctr" anchorCtr="0">
          <a:noAutofit/>
        </a:bodyPr>
        <a:lstStyle/>
        <a:p>
          <a:pPr lvl="0" algn="ctr" defTabSz="800100">
            <a:lnSpc>
              <a:spcPct val="90000"/>
            </a:lnSpc>
            <a:spcBef>
              <a:spcPct val="0"/>
            </a:spcBef>
            <a:spcAft>
              <a:spcPct val="35000"/>
            </a:spcAft>
          </a:pPr>
          <a:r>
            <a:rPr lang="fr-FR" sz="1800" kern="1200" dirty="0" smtClean="0"/>
            <a:t>Phase projet</a:t>
          </a:r>
          <a:endParaRPr lang="fr-FR" sz="1800" kern="1200" dirty="0"/>
        </a:p>
      </dsp:txBody>
      <dsp:txXfrm>
        <a:off x="3269757" y="2811221"/>
        <a:ext cx="1521697" cy="809927"/>
      </dsp:txXfrm>
    </dsp:sp>
    <dsp:sp modelId="{312B1AA7-506C-46A0-8D97-FB78BFF63715}">
      <dsp:nvSpPr>
        <dsp:cNvPr id="0" name=""/>
        <dsp:cNvSpPr/>
      </dsp:nvSpPr>
      <dsp:spPr>
        <a:xfrm>
          <a:off x="3244559" y="3713972"/>
          <a:ext cx="777879"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0960" rIns="0" bIns="60960" numCol="1" spcCol="1270" anchor="ctr" anchorCtr="0">
          <a:noAutofit/>
        </a:bodyPr>
        <a:lstStyle/>
        <a:p>
          <a:pPr lvl="0" algn="ctr" defTabSz="711200">
            <a:lnSpc>
              <a:spcPct val="90000"/>
            </a:lnSpc>
            <a:spcBef>
              <a:spcPct val="0"/>
            </a:spcBef>
            <a:spcAft>
              <a:spcPct val="35000"/>
            </a:spcAft>
          </a:pPr>
          <a:r>
            <a:rPr lang="fr-FR" sz="1600" kern="1200" dirty="0" smtClean="0"/>
            <a:t>Bonne pratique</a:t>
          </a:r>
          <a:endParaRPr lang="fr-FR" sz="1600" kern="1200" dirty="0"/>
        </a:p>
      </dsp:txBody>
      <dsp:txXfrm>
        <a:off x="3267342" y="3736755"/>
        <a:ext cx="732313" cy="814757"/>
      </dsp:txXfrm>
    </dsp:sp>
    <dsp:sp modelId="{4465051D-982F-445F-A35B-86EF7522E89C}">
      <dsp:nvSpPr>
        <dsp:cNvPr id="0" name=""/>
        <dsp:cNvSpPr/>
      </dsp:nvSpPr>
      <dsp:spPr>
        <a:xfrm>
          <a:off x="4038774" y="3713972"/>
          <a:ext cx="777879"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0960" rIns="0" bIns="60960" numCol="1" spcCol="1270" anchor="ctr" anchorCtr="0">
          <a:noAutofit/>
        </a:bodyPr>
        <a:lstStyle/>
        <a:p>
          <a:pPr lvl="0" algn="ctr" defTabSz="711200">
            <a:lnSpc>
              <a:spcPct val="90000"/>
            </a:lnSpc>
            <a:spcBef>
              <a:spcPct val="0"/>
            </a:spcBef>
            <a:spcAft>
              <a:spcPct val="35000"/>
            </a:spcAft>
          </a:pPr>
          <a:r>
            <a:rPr lang="fr-FR" sz="1600" kern="1200" dirty="0" smtClean="0"/>
            <a:t>Bonne pratique</a:t>
          </a:r>
          <a:endParaRPr lang="fr-FR" sz="1600" kern="1200" dirty="0"/>
        </a:p>
      </dsp:txBody>
      <dsp:txXfrm>
        <a:off x="4061557" y="3736755"/>
        <a:ext cx="732313" cy="814757"/>
      </dsp:txXfrm>
    </dsp:sp>
    <dsp:sp modelId="{DA6703AE-125E-4C0F-ADBB-3F1FA37E693E}">
      <dsp:nvSpPr>
        <dsp:cNvPr id="0" name=""/>
        <dsp:cNvSpPr/>
      </dsp:nvSpPr>
      <dsp:spPr>
        <a:xfrm>
          <a:off x="4832988" y="2786023"/>
          <a:ext cx="777879"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8580" rIns="0" bIns="68580" numCol="1" spcCol="1270" anchor="ctr" anchorCtr="0">
          <a:noAutofit/>
        </a:bodyPr>
        <a:lstStyle/>
        <a:p>
          <a:pPr lvl="0" algn="ctr" defTabSz="800100">
            <a:lnSpc>
              <a:spcPct val="90000"/>
            </a:lnSpc>
            <a:spcBef>
              <a:spcPct val="0"/>
            </a:spcBef>
            <a:spcAft>
              <a:spcPct val="35000"/>
            </a:spcAft>
          </a:pPr>
          <a:r>
            <a:rPr lang="fr-FR" sz="1800" kern="1200" dirty="0" smtClean="0"/>
            <a:t>Phase projet</a:t>
          </a:r>
          <a:endParaRPr lang="fr-FR" sz="1800" kern="1200" dirty="0"/>
        </a:p>
      </dsp:txBody>
      <dsp:txXfrm>
        <a:off x="4855771" y="2808806"/>
        <a:ext cx="732313" cy="814757"/>
      </dsp:txXfrm>
    </dsp:sp>
    <dsp:sp modelId="{387A8856-9C69-429D-BF56-4FA90AEDA17D}">
      <dsp:nvSpPr>
        <dsp:cNvPr id="0" name=""/>
        <dsp:cNvSpPr/>
      </dsp:nvSpPr>
      <dsp:spPr>
        <a:xfrm>
          <a:off x="4832988" y="3713972"/>
          <a:ext cx="777879"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0960" rIns="0" bIns="60960" numCol="1" spcCol="1270" anchor="ctr" anchorCtr="0">
          <a:noAutofit/>
        </a:bodyPr>
        <a:lstStyle/>
        <a:p>
          <a:pPr lvl="0" algn="ctr" defTabSz="711200">
            <a:lnSpc>
              <a:spcPct val="90000"/>
            </a:lnSpc>
            <a:spcBef>
              <a:spcPct val="0"/>
            </a:spcBef>
            <a:spcAft>
              <a:spcPct val="35000"/>
            </a:spcAft>
          </a:pPr>
          <a:r>
            <a:rPr lang="fr-FR" sz="1600" kern="1200" dirty="0" smtClean="0"/>
            <a:t>Bonne pratique</a:t>
          </a:r>
          <a:endParaRPr lang="fr-FR" sz="1600" kern="1200" dirty="0"/>
        </a:p>
      </dsp:txBody>
      <dsp:txXfrm>
        <a:off x="4855771" y="3736755"/>
        <a:ext cx="732313" cy="814757"/>
      </dsp:txXfrm>
    </dsp:sp>
    <dsp:sp modelId="{24049E45-EDE1-4434-BE45-7C1DFF1E7CB0}">
      <dsp:nvSpPr>
        <dsp:cNvPr id="0" name=""/>
        <dsp:cNvSpPr/>
      </dsp:nvSpPr>
      <dsp:spPr>
        <a:xfrm>
          <a:off x="5643539" y="1858074"/>
          <a:ext cx="777879"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76200" rIns="0" bIns="76200" numCol="1" spcCol="1270" anchor="ctr" anchorCtr="0">
          <a:noAutofit/>
        </a:bodyPr>
        <a:lstStyle/>
        <a:p>
          <a:pPr lvl="0" algn="ctr" defTabSz="889000">
            <a:lnSpc>
              <a:spcPct val="90000"/>
            </a:lnSpc>
            <a:spcBef>
              <a:spcPct val="0"/>
            </a:spcBef>
            <a:spcAft>
              <a:spcPct val="35000"/>
            </a:spcAft>
          </a:pPr>
          <a:r>
            <a:rPr lang="fr-FR" sz="2000" kern="1200" dirty="0" smtClean="0"/>
            <a:t>Critère</a:t>
          </a:r>
          <a:endParaRPr lang="fr-FR" sz="2000" kern="1200" dirty="0"/>
        </a:p>
      </dsp:txBody>
      <dsp:txXfrm>
        <a:off x="5666322" y="1880857"/>
        <a:ext cx="732313" cy="814757"/>
      </dsp:txXfrm>
    </dsp:sp>
    <dsp:sp modelId="{4F02C32D-A176-43EF-B770-74CAAC520981}">
      <dsp:nvSpPr>
        <dsp:cNvPr id="0" name=""/>
        <dsp:cNvSpPr/>
      </dsp:nvSpPr>
      <dsp:spPr>
        <a:xfrm>
          <a:off x="5643539" y="2786023"/>
          <a:ext cx="777879"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8580" rIns="0" bIns="68580" numCol="1" spcCol="1270" anchor="ctr" anchorCtr="0">
          <a:noAutofit/>
        </a:bodyPr>
        <a:lstStyle/>
        <a:p>
          <a:pPr lvl="0" algn="ctr" defTabSz="800100">
            <a:lnSpc>
              <a:spcPct val="90000"/>
            </a:lnSpc>
            <a:spcBef>
              <a:spcPct val="0"/>
            </a:spcBef>
            <a:spcAft>
              <a:spcPct val="35000"/>
            </a:spcAft>
          </a:pPr>
          <a:r>
            <a:rPr lang="fr-FR" sz="1800" kern="1200" dirty="0" smtClean="0"/>
            <a:t>Phase projet</a:t>
          </a:r>
          <a:endParaRPr lang="fr-FR" sz="1800" kern="1200" dirty="0"/>
        </a:p>
      </dsp:txBody>
      <dsp:txXfrm>
        <a:off x="5666322" y="2808806"/>
        <a:ext cx="732313" cy="814757"/>
      </dsp:txXfrm>
    </dsp:sp>
    <dsp:sp modelId="{016ADADA-1477-4B3D-8231-5F5745C96E90}">
      <dsp:nvSpPr>
        <dsp:cNvPr id="0" name=""/>
        <dsp:cNvSpPr/>
      </dsp:nvSpPr>
      <dsp:spPr>
        <a:xfrm>
          <a:off x="5643539" y="3713972"/>
          <a:ext cx="777879" cy="8603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0960" rIns="0" bIns="60960" numCol="1" spcCol="1270" anchor="ctr" anchorCtr="0">
          <a:noAutofit/>
        </a:bodyPr>
        <a:lstStyle/>
        <a:p>
          <a:pPr lvl="0" algn="ctr" defTabSz="711200">
            <a:lnSpc>
              <a:spcPct val="90000"/>
            </a:lnSpc>
            <a:spcBef>
              <a:spcPct val="0"/>
            </a:spcBef>
            <a:spcAft>
              <a:spcPct val="35000"/>
            </a:spcAft>
          </a:pPr>
          <a:r>
            <a:rPr lang="fr-FR" sz="1600" kern="1200" dirty="0" smtClean="0"/>
            <a:t>Bonne pratique</a:t>
          </a:r>
          <a:endParaRPr lang="fr-FR" sz="1600" kern="1200" dirty="0"/>
        </a:p>
      </dsp:txBody>
      <dsp:txXfrm>
        <a:off x="5666322" y="3736755"/>
        <a:ext cx="732313" cy="81475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669D27-8EEB-41D9-8BCE-53FC3162F427}" type="datetimeFigureOut">
              <a:rPr lang="fr-FR" smtClean="0"/>
              <a:t>07/02/2025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C3910A-61B2-4A0B-9FF6-E9089D44FCDE}" type="slidenum">
              <a:rPr lang="fr-FR" smtClean="0"/>
              <a:t>‹N°›</a:t>
            </a:fld>
            <a:endParaRPr lang="fr-FR"/>
          </a:p>
        </p:txBody>
      </p:sp>
    </p:spTree>
    <p:extLst>
      <p:ext uri="{BB962C8B-B14F-4D97-AF65-F5344CB8AC3E}">
        <p14:creationId xmlns:p14="http://schemas.microsoft.com/office/powerpoint/2010/main" val="29986111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2</a:t>
            </a:fld>
            <a:endParaRPr lang="fr-FR"/>
          </a:p>
        </p:txBody>
      </p:sp>
    </p:spTree>
    <p:extLst>
      <p:ext uri="{BB962C8B-B14F-4D97-AF65-F5344CB8AC3E}">
        <p14:creationId xmlns:p14="http://schemas.microsoft.com/office/powerpoint/2010/main" val="35757508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4</a:t>
            </a:fld>
            <a:endParaRPr lang="fr-FR"/>
          </a:p>
        </p:txBody>
      </p:sp>
    </p:spTree>
    <p:extLst>
      <p:ext uri="{BB962C8B-B14F-4D97-AF65-F5344CB8AC3E}">
        <p14:creationId xmlns:p14="http://schemas.microsoft.com/office/powerpoint/2010/main" val="13902784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5</a:t>
            </a:fld>
            <a:endParaRPr lang="fr-FR"/>
          </a:p>
        </p:txBody>
      </p:sp>
    </p:spTree>
    <p:extLst>
      <p:ext uri="{BB962C8B-B14F-4D97-AF65-F5344CB8AC3E}">
        <p14:creationId xmlns:p14="http://schemas.microsoft.com/office/powerpoint/2010/main" val="37862937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7</a:t>
            </a:fld>
            <a:endParaRPr lang="fr-FR"/>
          </a:p>
        </p:txBody>
      </p:sp>
    </p:spTree>
    <p:extLst>
      <p:ext uri="{BB962C8B-B14F-4D97-AF65-F5344CB8AC3E}">
        <p14:creationId xmlns:p14="http://schemas.microsoft.com/office/powerpoint/2010/main" val="19405985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8</a:t>
            </a:fld>
            <a:endParaRPr lang="fr-FR"/>
          </a:p>
        </p:txBody>
      </p:sp>
    </p:spTree>
    <p:extLst>
      <p:ext uri="{BB962C8B-B14F-4D97-AF65-F5344CB8AC3E}">
        <p14:creationId xmlns:p14="http://schemas.microsoft.com/office/powerpoint/2010/main" val="3291064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9</a:t>
            </a:fld>
            <a:endParaRPr lang="fr-FR"/>
          </a:p>
        </p:txBody>
      </p:sp>
    </p:spTree>
    <p:extLst>
      <p:ext uri="{BB962C8B-B14F-4D97-AF65-F5344CB8AC3E}">
        <p14:creationId xmlns:p14="http://schemas.microsoft.com/office/powerpoint/2010/main" val="8984607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10</a:t>
            </a:fld>
            <a:endParaRPr lang="fr-FR"/>
          </a:p>
        </p:txBody>
      </p:sp>
    </p:spTree>
    <p:extLst>
      <p:ext uri="{BB962C8B-B14F-4D97-AF65-F5344CB8AC3E}">
        <p14:creationId xmlns:p14="http://schemas.microsoft.com/office/powerpoint/2010/main" val="9971625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11</a:t>
            </a:fld>
            <a:endParaRPr lang="fr-FR"/>
          </a:p>
        </p:txBody>
      </p:sp>
    </p:spTree>
    <p:extLst>
      <p:ext uri="{BB962C8B-B14F-4D97-AF65-F5344CB8AC3E}">
        <p14:creationId xmlns:p14="http://schemas.microsoft.com/office/powerpoint/2010/main" val="22625544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13</a:t>
            </a:fld>
            <a:endParaRPr lang="fr-FR"/>
          </a:p>
        </p:txBody>
      </p:sp>
    </p:spTree>
    <p:extLst>
      <p:ext uri="{BB962C8B-B14F-4D97-AF65-F5344CB8AC3E}">
        <p14:creationId xmlns:p14="http://schemas.microsoft.com/office/powerpoint/2010/main" val="35571018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14</a:t>
            </a:fld>
            <a:endParaRPr lang="fr-FR"/>
          </a:p>
        </p:txBody>
      </p:sp>
    </p:spTree>
    <p:extLst>
      <p:ext uri="{BB962C8B-B14F-4D97-AF65-F5344CB8AC3E}">
        <p14:creationId xmlns:p14="http://schemas.microsoft.com/office/powerpoint/2010/main" val="21836261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15</a:t>
            </a:fld>
            <a:endParaRPr lang="fr-FR"/>
          </a:p>
        </p:txBody>
      </p:sp>
    </p:spTree>
    <p:extLst>
      <p:ext uri="{BB962C8B-B14F-4D97-AF65-F5344CB8AC3E}">
        <p14:creationId xmlns:p14="http://schemas.microsoft.com/office/powerpoint/2010/main" val="10935908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16</a:t>
            </a:fld>
            <a:endParaRPr lang="fr-FR"/>
          </a:p>
        </p:txBody>
      </p:sp>
    </p:spTree>
    <p:extLst>
      <p:ext uri="{BB962C8B-B14F-4D97-AF65-F5344CB8AC3E}">
        <p14:creationId xmlns:p14="http://schemas.microsoft.com/office/powerpoint/2010/main" val="2113541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17</a:t>
            </a:fld>
            <a:endParaRPr lang="fr-FR"/>
          </a:p>
        </p:txBody>
      </p:sp>
    </p:spTree>
    <p:extLst>
      <p:ext uri="{BB962C8B-B14F-4D97-AF65-F5344CB8AC3E}">
        <p14:creationId xmlns:p14="http://schemas.microsoft.com/office/powerpoint/2010/main" val="4890778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18</a:t>
            </a:fld>
            <a:endParaRPr lang="fr-FR"/>
          </a:p>
        </p:txBody>
      </p:sp>
    </p:spTree>
    <p:extLst>
      <p:ext uri="{BB962C8B-B14F-4D97-AF65-F5344CB8AC3E}">
        <p14:creationId xmlns:p14="http://schemas.microsoft.com/office/powerpoint/2010/main" val="34011587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19</a:t>
            </a:fld>
            <a:endParaRPr lang="fr-FR"/>
          </a:p>
        </p:txBody>
      </p:sp>
    </p:spTree>
    <p:extLst>
      <p:ext uri="{BB962C8B-B14F-4D97-AF65-F5344CB8AC3E}">
        <p14:creationId xmlns:p14="http://schemas.microsoft.com/office/powerpoint/2010/main" val="8186772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20</a:t>
            </a:fld>
            <a:endParaRPr lang="fr-FR"/>
          </a:p>
        </p:txBody>
      </p:sp>
    </p:spTree>
    <p:extLst>
      <p:ext uri="{BB962C8B-B14F-4D97-AF65-F5344CB8AC3E}">
        <p14:creationId xmlns:p14="http://schemas.microsoft.com/office/powerpoint/2010/main" val="29110055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21</a:t>
            </a:fld>
            <a:endParaRPr lang="fr-FR"/>
          </a:p>
        </p:txBody>
      </p:sp>
    </p:spTree>
    <p:extLst>
      <p:ext uri="{BB962C8B-B14F-4D97-AF65-F5344CB8AC3E}">
        <p14:creationId xmlns:p14="http://schemas.microsoft.com/office/powerpoint/2010/main" val="37770818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22</a:t>
            </a:fld>
            <a:endParaRPr lang="fr-FR"/>
          </a:p>
        </p:txBody>
      </p:sp>
    </p:spTree>
    <p:extLst>
      <p:ext uri="{BB962C8B-B14F-4D97-AF65-F5344CB8AC3E}">
        <p14:creationId xmlns:p14="http://schemas.microsoft.com/office/powerpoint/2010/main" val="34555412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23</a:t>
            </a:fld>
            <a:endParaRPr lang="fr-FR"/>
          </a:p>
        </p:txBody>
      </p:sp>
    </p:spTree>
    <p:extLst>
      <p:ext uri="{BB962C8B-B14F-4D97-AF65-F5344CB8AC3E}">
        <p14:creationId xmlns:p14="http://schemas.microsoft.com/office/powerpoint/2010/main" val="2744825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24</a:t>
            </a:fld>
            <a:endParaRPr lang="fr-FR"/>
          </a:p>
        </p:txBody>
      </p:sp>
    </p:spTree>
    <p:extLst>
      <p:ext uri="{BB962C8B-B14F-4D97-AF65-F5344CB8AC3E}">
        <p14:creationId xmlns:p14="http://schemas.microsoft.com/office/powerpoint/2010/main" val="37664942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27</a:t>
            </a:fld>
            <a:endParaRPr lang="fr-FR"/>
          </a:p>
        </p:txBody>
      </p:sp>
    </p:spTree>
    <p:extLst>
      <p:ext uri="{BB962C8B-B14F-4D97-AF65-F5344CB8AC3E}">
        <p14:creationId xmlns:p14="http://schemas.microsoft.com/office/powerpoint/2010/main" val="33965301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29</a:t>
            </a:fld>
            <a:endParaRPr lang="fr-FR"/>
          </a:p>
        </p:txBody>
      </p:sp>
    </p:spTree>
    <p:extLst>
      <p:ext uri="{BB962C8B-B14F-4D97-AF65-F5344CB8AC3E}">
        <p14:creationId xmlns:p14="http://schemas.microsoft.com/office/powerpoint/2010/main" val="33510772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30</a:t>
            </a:fld>
            <a:endParaRPr lang="fr-FR"/>
          </a:p>
        </p:txBody>
      </p:sp>
    </p:spTree>
    <p:extLst>
      <p:ext uri="{BB962C8B-B14F-4D97-AF65-F5344CB8AC3E}">
        <p14:creationId xmlns:p14="http://schemas.microsoft.com/office/powerpoint/2010/main" val="41901412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32</a:t>
            </a:fld>
            <a:endParaRPr lang="fr-FR"/>
          </a:p>
        </p:txBody>
      </p:sp>
    </p:spTree>
    <p:extLst>
      <p:ext uri="{BB962C8B-B14F-4D97-AF65-F5344CB8AC3E}">
        <p14:creationId xmlns:p14="http://schemas.microsoft.com/office/powerpoint/2010/main" val="7740701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33</a:t>
            </a:fld>
            <a:endParaRPr lang="fr-FR"/>
          </a:p>
        </p:txBody>
      </p:sp>
    </p:spTree>
    <p:extLst>
      <p:ext uri="{BB962C8B-B14F-4D97-AF65-F5344CB8AC3E}">
        <p14:creationId xmlns:p14="http://schemas.microsoft.com/office/powerpoint/2010/main" val="7692187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35</a:t>
            </a:fld>
            <a:endParaRPr lang="fr-FR"/>
          </a:p>
        </p:txBody>
      </p:sp>
    </p:spTree>
    <p:extLst>
      <p:ext uri="{BB962C8B-B14F-4D97-AF65-F5344CB8AC3E}">
        <p14:creationId xmlns:p14="http://schemas.microsoft.com/office/powerpoint/2010/main" val="28809847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36</a:t>
            </a:fld>
            <a:endParaRPr lang="fr-FR"/>
          </a:p>
        </p:txBody>
      </p:sp>
    </p:spTree>
    <p:extLst>
      <p:ext uri="{BB962C8B-B14F-4D97-AF65-F5344CB8AC3E}">
        <p14:creationId xmlns:p14="http://schemas.microsoft.com/office/powerpoint/2010/main" val="17507125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38</a:t>
            </a:fld>
            <a:endParaRPr lang="fr-FR"/>
          </a:p>
        </p:txBody>
      </p:sp>
    </p:spTree>
    <p:extLst>
      <p:ext uri="{BB962C8B-B14F-4D97-AF65-F5344CB8AC3E}">
        <p14:creationId xmlns:p14="http://schemas.microsoft.com/office/powerpoint/2010/main" val="39095834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39</a:t>
            </a:fld>
            <a:endParaRPr lang="fr-FR"/>
          </a:p>
        </p:txBody>
      </p:sp>
    </p:spTree>
    <p:extLst>
      <p:ext uri="{BB962C8B-B14F-4D97-AF65-F5344CB8AC3E}">
        <p14:creationId xmlns:p14="http://schemas.microsoft.com/office/powerpoint/2010/main" val="21705438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40</a:t>
            </a:fld>
            <a:endParaRPr lang="fr-FR"/>
          </a:p>
        </p:txBody>
      </p:sp>
    </p:spTree>
    <p:extLst>
      <p:ext uri="{BB962C8B-B14F-4D97-AF65-F5344CB8AC3E}">
        <p14:creationId xmlns:p14="http://schemas.microsoft.com/office/powerpoint/2010/main" val="1818407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41</a:t>
            </a:fld>
            <a:endParaRPr lang="fr-FR"/>
          </a:p>
        </p:txBody>
      </p:sp>
    </p:spTree>
    <p:extLst>
      <p:ext uri="{BB962C8B-B14F-4D97-AF65-F5344CB8AC3E}">
        <p14:creationId xmlns:p14="http://schemas.microsoft.com/office/powerpoint/2010/main" val="17655548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42</a:t>
            </a:fld>
            <a:endParaRPr lang="fr-FR"/>
          </a:p>
        </p:txBody>
      </p:sp>
    </p:spTree>
    <p:extLst>
      <p:ext uri="{BB962C8B-B14F-4D97-AF65-F5344CB8AC3E}">
        <p14:creationId xmlns:p14="http://schemas.microsoft.com/office/powerpoint/2010/main" val="19867832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43</a:t>
            </a:fld>
            <a:endParaRPr lang="fr-FR"/>
          </a:p>
        </p:txBody>
      </p:sp>
    </p:spTree>
    <p:extLst>
      <p:ext uri="{BB962C8B-B14F-4D97-AF65-F5344CB8AC3E}">
        <p14:creationId xmlns:p14="http://schemas.microsoft.com/office/powerpoint/2010/main" val="33239753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44</a:t>
            </a:fld>
            <a:endParaRPr lang="fr-FR"/>
          </a:p>
        </p:txBody>
      </p:sp>
    </p:spTree>
    <p:extLst>
      <p:ext uri="{BB962C8B-B14F-4D97-AF65-F5344CB8AC3E}">
        <p14:creationId xmlns:p14="http://schemas.microsoft.com/office/powerpoint/2010/main" val="13878670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46</a:t>
            </a:fld>
            <a:endParaRPr lang="fr-FR"/>
          </a:p>
        </p:txBody>
      </p:sp>
    </p:spTree>
    <p:extLst>
      <p:ext uri="{BB962C8B-B14F-4D97-AF65-F5344CB8AC3E}">
        <p14:creationId xmlns:p14="http://schemas.microsoft.com/office/powerpoint/2010/main" val="19330766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47</a:t>
            </a:fld>
            <a:endParaRPr lang="fr-FR"/>
          </a:p>
        </p:txBody>
      </p:sp>
    </p:spTree>
    <p:extLst>
      <p:ext uri="{BB962C8B-B14F-4D97-AF65-F5344CB8AC3E}">
        <p14:creationId xmlns:p14="http://schemas.microsoft.com/office/powerpoint/2010/main" val="19518457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48</a:t>
            </a:fld>
            <a:endParaRPr lang="fr-FR"/>
          </a:p>
        </p:txBody>
      </p:sp>
    </p:spTree>
    <p:extLst>
      <p:ext uri="{BB962C8B-B14F-4D97-AF65-F5344CB8AC3E}">
        <p14:creationId xmlns:p14="http://schemas.microsoft.com/office/powerpoint/2010/main" val="3001973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50</a:t>
            </a:fld>
            <a:endParaRPr lang="fr-FR"/>
          </a:p>
        </p:txBody>
      </p:sp>
    </p:spTree>
    <p:extLst>
      <p:ext uri="{BB962C8B-B14F-4D97-AF65-F5344CB8AC3E}">
        <p14:creationId xmlns:p14="http://schemas.microsoft.com/office/powerpoint/2010/main" val="2456173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51</a:t>
            </a:fld>
            <a:endParaRPr lang="fr-FR"/>
          </a:p>
        </p:txBody>
      </p:sp>
    </p:spTree>
    <p:extLst>
      <p:ext uri="{BB962C8B-B14F-4D97-AF65-F5344CB8AC3E}">
        <p14:creationId xmlns:p14="http://schemas.microsoft.com/office/powerpoint/2010/main" val="26659209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52</a:t>
            </a:fld>
            <a:endParaRPr lang="fr-FR"/>
          </a:p>
        </p:txBody>
      </p:sp>
    </p:spTree>
    <p:extLst>
      <p:ext uri="{BB962C8B-B14F-4D97-AF65-F5344CB8AC3E}">
        <p14:creationId xmlns:p14="http://schemas.microsoft.com/office/powerpoint/2010/main" val="3402348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54</a:t>
            </a:fld>
            <a:endParaRPr lang="fr-FR"/>
          </a:p>
        </p:txBody>
      </p:sp>
    </p:spTree>
    <p:extLst>
      <p:ext uri="{BB962C8B-B14F-4D97-AF65-F5344CB8AC3E}">
        <p14:creationId xmlns:p14="http://schemas.microsoft.com/office/powerpoint/2010/main" val="174720300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55</a:t>
            </a:fld>
            <a:endParaRPr lang="fr-FR"/>
          </a:p>
        </p:txBody>
      </p:sp>
    </p:spTree>
    <p:extLst>
      <p:ext uri="{BB962C8B-B14F-4D97-AF65-F5344CB8AC3E}">
        <p14:creationId xmlns:p14="http://schemas.microsoft.com/office/powerpoint/2010/main" val="37602766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57</a:t>
            </a:fld>
            <a:endParaRPr lang="fr-FR"/>
          </a:p>
        </p:txBody>
      </p:sp>
    </p:spTree>
    <p:extLst>
      <p:ext uri="{BB962C8B-B14F-4D97-AF65-F5344CB8AC3E}">
        <p14:creationId xmlns:p14="http://schemas.microsoft.com/office/powerpoint/2010/main" val="21630651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58</a:t>
            </a:fld>
            <a:endParaRPr lang="fr-FR"/>
          </a:p>
        </p:txBody>
      </p:sp>
    </p:spTree>
    <p:extLst>
      <p:ext uri="{BB962C8B-B14F-4D97-AF65-F5344CB8AC3E}">
        <p14:creationId xmlns:p14="http://schemas.microsoft.com/office/powerpoint/2010/main" val="204706516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60</a:t>
            </a:fld>
            <a:endParaRPr lang="fr-FR"/>
          </a:p>
        </p:txBody>
      </p:sp>
    </p:spTree>
    <p:extLst>
      <p:ext uri="{BB962C8B-B14F-4D97-AF65-F5344CB8AC3E}">
        <p14:creationId xmlns:p14="http://schemas.microsoft.com/office/powerpoint/2010/main" val="332551278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61</a:t>
            </a:fld>
            <a:endParaRPr lang="fr-FR"/>
          </a:p>
        </p:txBody>
      </p:sp>
    </p:spTree>
    <p:extLst>
      <p:ext uri="{BB962C8B-B14F-4D97-AF65-F5344CB8AC3E}">
        <p14:creationId xmlns:p14="http://schemas.microsoft.com/office/powerpoint/2010/main" val="298074372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63</a:t>
            </a:fld>
            <a:endParaRPr lang="fr-FR"/>
          </a:p>
        </p:txBody>
      </p:sp>
    </p:spTree>
    <p:extLst>
      <p:ext uri="{BB962C8B-B14F-4D97-AF65-F5344CB8AC3E}">
        <p14:creationId xmlns:p14="http://schemas.microsoft.com/office/powerpoint/2010/main" val="318196495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65</a:t>
            </a:fld>
            <a:endParaRPr lang="fr-FR"/>
          </a:p>
        </p:txBody>
      </p:sp>
    </p:spTree>
    <p:extLst>
      <p:ext uri="{BB962C8B-B14F-4D97-AF65-F5344CB8AC3E}">
        <p14:creationId xmlns:p14="http://schemas.microsoft.com/office/powerpoint/2010/main" val="266515835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67</a:t>
            </a:fld>
            <a:endParaRPr lang="fr-FR"/>
          </a:p>
        </p:txBody>
      </p:sp>
    </p:spTree>
    <p:extLst>
      <p:ext uri="{BB962C8B-B14F-4D97-AF65-F5344CB8AC3E}">
        <p14:creationId xmlns:p14="http://schemas.microsoft.com/office/powerpoint/2010/main" val="10590789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69</a:t>
            </a:fld>
            <a:endParaRPr lang="fr-FR"/>
          </a:p>
        </p:txBody>
      </p:sp>
    </p:spTree>
    <p:extLst>
      <p:ext uri="{BB962C8B-B14F-4D97-AF65-F5344CB8AC3E}">
        <p14:creationId xmlns:p14="http://schemas.microsoft.com/office/powerpoint/2010/main" val="169869225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70</a:t>
            </a:fld>
            <a:endParaRPr lang="fr-FR"/>
          </a:p>
        </p:txBody>
      </p:sp>
    </p:spTree>
    <p:extLst>
      <p:ext uri="{BB962C8B-B14F-4D97-AF65-F5344CB8AC3E}">
        <p14:creationId xmlns:p14="http://schemas.microsoft.com/office/powerpoint/2010/main" val="182380956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72</a:t>
            </a:fld>
            <a:endParaRPr lang="fr-FR"/>
          </a:p>
        </p:txBody>
      </p:sp>
    </p:spTree>
    <p:extLst>
      <p:ext uri="{BB962C8B-B14F-4D97-AF65-F5344CB8AC3E}">
        <p14:creationId xmlns:p14="http://schemas.microsoft.com/office/powerpoint/2010/main" val="277235718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73</a:t>
            </a:fld>
            <a:endParaRPr lang="fr-FR"/>
          </a:p>
        </p:txBody>
      </p:sp>
    </p:spTree>
    <p:extLst>
      <p:ext uri="{BB962C8B-B14F-4D97-AF65-F5344CB8AC3E}">
        <p14:creationId xmlns:p14="http://schemas.microsoft.com/office/powerpoint/2010/main" val="4668411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74</a:t>
            </a:fld>
            <a:endParaRPr lang="fr-FR"/>
          </a:p>
        </p:txBody>
      </p:sp>
    </p:spTree>
    <p:extLst>
      <p:ext uri="{BB962C8B-B14F-4D97-AF65-F5344CB8AC3E}">
        <p14:creationId xmlns:p14="http://schemas.microsoft.com/office/powerpoint/2010/main" val="104664698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75</a:t>
            </a:fld>
            <a:endParaRPr lang="fr-FR"/>
          </a:p>
        </p:txBody>
      </p:sp>
    </p:spTree>
    <p:extLst>
      <p:ext uri="{BB962C8B-B14F-4D97-AF65-F5344CB8AC3E}">
        <p14:creationId xmlns:p14="http://schemas.microsoft.com/office/powerpoint/2010/main" val="94826770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77</a:t>
            </a:fld>
            <a:endParaRPr lang="fr-FR"/>
          </a:p>
        </p:txBody>
      </p:sp>
    </p:spTree>
    <p:extLst>
      <p:ext uri="{BB962C8B-B14F-4D97-AF65-F5344CB8AC3E}">
        <p14:creationId xmlns:p14="http://schemas.microsoft.com/office/powerpoint/2010/main" val="86660645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78</a:t>
            </a:fld>
            <a:endParaRPr lang="fr-FR"/>
          </a:p>
        </p:txBody>
      </p:sp>
    </p:spTree>
    <p:extLst>
      <p:ext uri="{BB962C8B-B14F-4D97-AF65-F5344CB8AC3E}">
        <p14:creationId xmlns:p14="http://schemas.microsoft.com/office/powerpoint/2010/main" val="44136303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79</a:t>
            </a:fld>
            <a:endParaRPr lang="fr-FR"/>
          </a:p>
        </p:txBody>
      </p:sp>
    </p:spTree>
    <p:extLst>
      <p:ext uri="{BB962C8B-B14F-4D97-AF65-F5344CB8AC3E}">
        <p14:creationId xmlns:p14="http://schemas.microsoft.com/office/powerpoint/2010/main" val="152788991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80</a:t>
            </a:fld>
            <a:endParaRPr lang="fr-FR"/>
          </a:p>
        </p:txBody>
      </p:sp>
    </p:spTree>
    <p:extLst>
      <p:ext uri="{BB962C8B-B14F-4D97-AF65-F5344CB8AC3E}">
        <p14:creationId xmlns:p14="http://schemas.microsoft.com/office/powerpoint/2010/main" val="34773167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81</a:t>
            </a:fld>
            <a:endParaRPr lang="fr-FR"/>
          </a:p>
        </p:txBody>
      </p:sp>
    </p:spTree>
    <p:extLst>
      <p:ext uri="{BB962C8B-B14F-4D97-AF65-F5344CB8AC3E}">
        <p14:creationId xmlns:p14="http://schemas.microsoft.com/office/powerpoint/2010/main" val="376825552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82</a:t>
            </a:fld>
            <a:endParaRPr lang="fr-FR"/>
          </a:p>
        </p:txBody>
      </p:sp>
    </p:spTree>
    <p:extLst>
      <p:ext uri="{BB962C8B-B14F-4D97-AF65-F5344CB8AC3E}">
        <p14:creationId xmlns:p14="http://schemas.microsoft.com/office/powerpoint/2010/main" val="145258066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84</a:t>
            </a:fld>
            <a:endParaRPr lang="fr-FR"/>
          </a:p>
        </p:txBody>
      </p:sp>
    </p:spTree>
    <p:extLst>
      <p:ext uri="{BB962C8B-B14F-4D97-AF65-F5344CB8AC3E}">
        <p14:creationId xmlns:p14="http://schemas.microsoft.com/office/powerpoint/2010/main" val="19882335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85</a:t>
            </a:fld>
            <a:endParaRPr lang="fr-FR"/>
          </a:p>
        </p:txBody>
      </p:sp>
    </p:spTree>
    <p:extLst>
      <p:ext uri="{BB962C8B-B14F-4D97-AF65-F5344CB8AC3E}">
        <p14:creationId xmlns:p14="http://schemas.microsoft.com/office/powerpoint/2010/main" val="34023875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86</a:t>
            </a:fld>
            <a:endParaRPr lang="fr-FR"/>
          </a:p>
        </p:txBody>
      </p:sp>
    </p:spTree>
    <p:extLst>
      <p:ext uri="{BB962C8B-B14F-4D97-AF65-F5344CB8AC3E}">
        <p14:creationId xmlns:p14="http://schemas.microsoft.com/office/powerpoint/2010/main" val="285469473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87</a:t>
            </a:fld>
            <a:endParaRPr lang="fr-FR"/>
          </a:p>
        </p:txBody>
      </p:sp>
    </p:spTree>
    <p:extLst>
      <p:ext uri="{BB962C8B-B14F-4D97-AF65-F5344CB8AC3E}">
        <p14:creationId xmlns:p14="http://schemas.microsoft.com/office/powerpoint/2010/main" val="370675445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88</a:t>
            </a:fld>
            <a:endParaRPr lang="fr-FR"/>
          </a:p>
        </p:txBody>
      </p:sp>
    </p:spTree>
    <p:extLst>
      <p:ext uri="{BB962C8B-B14F-4D97-AF65-F5344CB8AC3E}">
        <p14:creationId xmlns:p14="http://schemas.microsoft.com/office/powerpoint/2010/main" val="376387674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89</a:t>
            </a:fld>
            <a:endParaRPr lang="fr-FR"/>
          </a:p>
        </p:txBody>
      </p:sp>
    </p:spTree>
    <p:extLst>
      <p:ext uri="{BB962C8B-B14F-4D97-AF65-F5344CB8AC3E}">
        <p14:creationId xmlns:p14="http://schemas.microsoft.com/office/powerpoint/2010/main" val="261596904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90</a:t>
            </a:fld>
            <a:endParaRPr lang="fr-FR"/>
          </a:p>
        </p:txBody>
      </p:sp>
    </p:spTree>
    <p:extLst>
      <p:ext uri="{BB962C8B-B14F-4D97-AF65-F5344CB8AC3E}">
        <p14:creationId xmlns:p14="http://schemas.microsoft.com/office/powerpoint/2010/main" val="115362369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91</a:t>
            </a:fld>
            <a:endParaRPr lang="fr-FR"/>
          </a:p>
        </p:txBody>
      </p:sp>
    </p:spTree>
    <p:extLst>
      <p:ext uri="{BB962C8B-B14F-4D97-AF65-F5344CB8AC3E}">
        <p14:creationId xmlns:p14="http://schemas.microsoft.com/office/powerpoint/2010/main" val="107197926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92</a:t>
            </a:fld>
            <a:endParaRPr lang="fr-FR"/>
          </a:p>
        </p:txBody>
      </p:sp>
    </p:spTree>
    <p:extLst>
      <p:ext uri="{BB962C8B-B14F-4D97-AF65-F5344CB8AC3E}">
        <p14:creationId xmlns:p14="http://schemas.microsoft.com/office/powerpoint/2010/main" val="364934588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94</a:t>
            </a:fld>
            <a:endParaRPr lang="fr-FR"/>
          </a:p>
        </p:txBody>
      </p:sp>
    </p:spTree>
    <p:extLst>
      <p:ext uri="{BB962C8B-B14F-4D97-AF65-F5344CB8AC3E}">
        <p14:creationId xmlns:p14="http://schemas.microsoft.com/office/powerpoint/2010/main" val="381619447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95</a:t>
            </a:fld>
            <a:endParaRPr lang="fr-FR"/>
          </a:p>
        </p:txBody>
      </p:sp>
    </p:spTree>
    <p:extLst>
      <p:ext uri="{BB962C8B-B14F-4D97-AF65-F5344CB8AC3E}">
        <p14:creationId xmlns:p14="http://schemas.microsoft.com/office/powerpoint/2010/main" val="260227492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96</a:t>
            </a:fld>
            <a:endParaRPr lang="fr-FR"/>
          </a:p>
        </p:txBody>
      </p:sp>
    </p:spTree>
    <p:extLst>
      <p:ext uri="{BB962C8B-B14F-4D97-AF65-F5344CB8AC3E}">
        <p14:creationId xmlns:p14="http://schemas.microsoft.com/office/powerpoint/2010/main" val="207142732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97</a:t>
            </a:fld>
            <a:endParaRPr lang="fr-FR"/>
          </a:p>
        </p:txBody>
      </p:sp>
    </p:spTree>
    <p:extLst>
      <p:ext uri="{BB962C8B-B14F-4D97-AF65-F5344CB8AC3E}">
        <p14:creationId xmlns:p14="http://schemas.microsoft.com/office/powerpoint/2010/main" val="138000048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98</a:t>
            </a:fld>
            <a:endParaRPr lang="fr-FR"/>
          </a:p>
        </p:txBody>
      </p:sp>
    </p:spTree>
    <p:extLst>
      <p:ext uri="{BB962C8B-B14F-4D97-AF65-F5344CB8AC3E}">
        <p14:creationId xmlns:p14="http://schemas.microsoft.com/office/powerpoint/2010/main" val="36519765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100</a:t>
            </a:fld>
            <a:endParaRPr lang="fr-FR"/>
          </a:p>
        </p:txBody>
      </p:sp>
    </p:spTree>
    <p:extLst>
      <p:ext uri="{BB962C8B-B14F-4D97-AF65-F5344CB8AC3E}">
        <p14:creationId xmlns:p14="http://schemas.microsoft.com/office/powerpoint/2010/main" val="320731460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102</a:t>
            </a:fld>
            <a:endParaRPr lang="fr-FR"/>
          </a:p>
        </p:txBody>
      </p:sp>
    </p:spTree>
    <p:extLst>
      <p:ext uri="{BB962C8B-B14F-4D97-AF65-F5344CB8AC3E}">
        <p14:creationId xmlns:p14="http://schemas.microsoft.com/office/powerpoint/2010/main" val="9355483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1CF93C08-BAC9-442E-8F2A-207858EA9378}" type="slidenum">
              <a:rPr lang="fr-FR"/>
              <a:t>104</a:t>
            </a:fld>
            <a:endParaRPr lang="fr-FR"/>
          </a:p>
        </p:txBody>
      </p:sp>
    </p:spTree>
    <p:extLst>
      <p:ext uri="{BB962C8B-B14F-4D97-AF65-F5344CB8AC3E}">
        <p14:creationId xmlns:p14="http://schemas.microsoft.com/office/powerpoint/2010/main" val="50324156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106</a:t>
            </a:fld>
            <a:endParaRPr lang="fr-FR"/>
          </a:p>
        </p:txBody>
      </p:sp>
    </p:spTree>
    <p:extLst>
      <p:ext uri="{BB962C8B-B14F-4D97-AF65-F5344CB8AC3E}">
        <p14:creationId xmlns:p14="http://schemas.microsoft.com/office/powerpoint/2010/main" val="197489609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107</a:t>
            </a:fld>
            <a:endParaRPr lang="fr-FR"/>
          </a:p>
        </p:txBody>
      </p:sp>
    </p:spTree>
    <p:extLst>
      <p:ext uri="{BB962C8B-B14F-4D97-AF65-F5344CB8AC3E}">
        <p14:creationId xmlns:p14="http://schemas.microsoft.com/office/powerpoint/2010/main" val="177257832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108</a:t>
            </a:fld>
            <a:endParaRPr lang="fr-FR"/>
          </a:p>
        </p:txBody>
      </p:sp>
    </p:spTree>
    <p:extLst>
      <p:ext uri="{BB962C8B-B14F-4D97-AF65-F5344CB8AC3E}">
        <p14:creationId xmlns:p14="http://schemas.microsoft.com/office/powerpoint/2010/main" val="82770183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109</a:t>
            </a:fld>
            <a:endParaRPr lang="fr-FR"/>
          </a:p>
        </p:txBody>
      </p:sp>
    </p:spTree>
    <p:extLst>
      <p:ext uri="{BB962C8B-B14F-4D97-AF65-F5344CB8AC3E}">
        <p14:creationId xmlns:p14="http://schemas.microsoft.com/office/powerpoint/2010/main" val="280289697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110</a:t>
            </a:fld>
            <a:endParaRPr lang="fr-FR"/>
          </a:p>
        </p:txBody>
      </p:sp>
    </p:spTree>
    <p:extLst>
      <p:ext uri="{BB962C8B-B14F-4D97-AF65-F5344CB8AC3E}">
        <p14:creationId xmlns:p14="http://schemas.microsoft.com/office/powerpoint/2010/main" val="347616041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111</a:t>
            </a:fld>
            <a:endParaRPr lang="fr-FR"/>
          </a:p>
        </p:txBody>
      </p:sp>
    </p:spTree>
    <p:extLst>
      <p:ext uri="{BB962C8B-B14F-4D97-AF65-F5344CB8AC3E}">
        <p14:creationId xmlns:p14="http://schemas.microsoft.com/office/powerpoint/2010/main" val="53109690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112</a:t>
            </a:fld>
            <a:endParaRPr lang="fr-FR"/>
          </a:p>
        </p:txBody>
      </p:sp>
    </p:spTree>
    <p:extLst>
      <p:ext uri="{BB962C8B-B14F-4D97-AF65-F5344CB8AC3E}">
        <p14:creationId xmlns:p14="http://schemas.microsoft.com/office/powerpoint/2010/main" val="275992417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113</a:t>
            </a:fld>
            <a:endParaRPr lang="fr-FR"/>
          </a:p>
        </p:txBody>
      </p:sp>
    </p:spTree>
    <p:extLst>
      <p:ext uri="{BB962C8B-B14F-4D97-AF65-F5344CB8AC3E}">
        <p14:creationId xmlns:p14="http://schemas.microsoft.com/office/powerpoint/2010/main" val="70621153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114</a:t>
            </a:fld>
            <a:endParaRPr lang="fr-FR"/>
          </a:p>
        </p:txBody>
      </p:sp>
    </p:spTree>
    <p:extLst>
      <p:ext uri="{BB962C8B-B14F-4D97-AF65-F5344CB8AC3E}">
        <p14:creationId xmlns:p14="http://schemas.microsoft.com/office/powerpoint/2010/main" val="380142454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115</a:t>
            </a:fld>
            <a:endParaRPr lang="fr-FR"/>
          </a:p>
        </p:txBody>
      </p:sp>
    </p:spTree>
    <p:extLst>
      <p:ext uri="{BB962C8B-B14F-4D97-AF65-F5344CB8AC3E}">
        <p14:creationId xmlns:p14="http://schemas.microsoft.com/office/powerpoint/2010/main" val="235475602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116</a:t>
            </a:fld>
            <a:endParaRPr lang="fr-FR"/>
          </a:p>
        </p:txBody>
      </p:sp>
    </p:spTree>
    <p:extLst>
      <p:ext uri="{BB962C8B-B14F-4D97-AF65-F5344CB8AC3E}">
        <p14:creationId xmlns:p14="http://schemas.microsoft.com/office/powerpoint/2010/main" val="123456757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117</a:t>
            </a:fld>
            <a:endParaRPr lang="fr-FR"/>
          </a:p>
        </p:txBody>
      </p:sp>
    </p:spTree>
    <p:extLst>
      <p:ext uri="{BB962C8B-B14F-4D97-AF65-F5344CB8AC3E}">
        <p14:creationId xmlns:p14="http://schemas.microsoft.com/office/powerpoint/2010/main" val="20221103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118</a:t>
            </a:fld>
            <a:endParaRPr lang="fr-FR"/>
          </a:p>
        </p:txBody>
      </p:sp>
    </p:spTree>
    <p:extLst>
      <p:ext uri="{BB962C8B-B14F-4D97-AF65-F5344CB8AC3E}">
        <p14:creationId xmlns:p14="http://schemas.microsoft.com/office/powerpoint/2010/main" val="9633239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119</a:t>
            </a:fld>
            <a:endParaRPr lang="fr-FR"/>
          </a:p>
        </p:txBody>
      </p:sp>
    </p:spTree>
    <p:extLst>
      <p:ext uri="{BB962C8B-B14F-4D97-AF65-F5344CB8AC3E}">
        <p14:creationId xmlns:p14="http://schemas.microsoft.com/office/powerpoint/2010/main" val="1927372004"/>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120</a:t>
            </a:fld>
            <a:endParaRPr lang="fr-FR"/>
          </a:p>
        </p:txBody>
      </p:sp>
    </p:spTree>
    <p:extLst>
      <p:ext uri="{BB962C8B-B14F-4D97-AF65-F5344CB8AC3E}">
        <p14:creationId xmlns:p14="http://schemas.microsoft.com/office/powerpoint/2010/main" val="293106863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121</a:t>
            </a:fld>
            <a:endParaRPr lang="fr-FR"/>
          </a:p>
        </p:txBody>
      </p:sp>
    </p:spTree>
    <p:extLst>
      <p:ext uri="{BB962C8B-B14F-4D97-AF65-F5344CB8AC3E}">
        <p14:creationId xmlns:p14="http://schemas.microsoft.com/office/powerpoint/2010/main" val="220902437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122</a:t>
            </a:fld>
            <a:endParaRPr lang="fr-FR"/>
          </a:p>
        </p:txBody>
      </p:sp>
    </p:spTree>
    <p:extLst>
      <p:ext uri="{BB962C8B-B14F-4D97-AF65-F5344CB8AC3E}">
        <p14:creationId xmlns:p14="http://schemas.microsoft.com/office/powerpoint/2010/main" val="604101030"/>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123</a:t>
            </a:fld>
            <a:endParaRPr lang="fr-FR"/>
          </a:p>
        </p:txBody>
      </p:sp>
    </p:spTree>
    <p:extLst>
      <p:ext uri="{BB962C8B-B14F-4D97-AF65-F5344CB8AC3E}">
        <p14:creationId xmlns:p14="http://schemas.microsoft.com/office/powerpoint/2010/main" val="827055944"/>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136</a:t>
            </a:fld>
            <a:endParaRPr lang="fr-FR"/>
          </a:p>
        </p:txBody>
      </p:sp>
    </p:spTree>
    <p:extLst>
      <p:ext uri="{BB962C8B-B14F-4D97-AF65-F5344CB8AC3E}">
        <p14:creationId xmlns:p14="http://schemas.microsoft.com/office/powerpoint/2010/main" val="4138637253"/>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228</a:t>
            </a:fld>
            <a:endParaRPr lang="fr-FR"/>
          </a:p>
        </p:txBody>
      </p:sp>
    </p:spTree>
    <p:extLst>
      <p:ext uri="{BB962C8B-B14F-4D97-AF65-F5344CB8AC3E}">
        <p14:creationId xmlns:p14="http://schemas.microsoft.com/office/powerpoint/2010/main" val="1884326079"/>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229</a:t>
            </a:fld>
            <a:endParaRPr lang="fr-FR"/>
          </a:p>
        </p:txBody>
      </p:sp>
    </p:spTree>
    <p:extLst>
      <p:ext uri="{BB962C8B-B14F-4D97-AF65-F5344CB8AC3E}">
        <p14:creationId xmlns:p14="http://schemas.microsoft.com/office/powerpoint/2010/main" val="84926147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230</a:t>
            </a:fld>
            <a:endParaRPr lang="fr-FR"/>
          </a:p>
        </p:txBody>
      </p:sp>
    </p:spTree>
    <p:extLst>
      <p:ext uri="{BB962C8B-B14F-4D97-AF65-F5344CB8AC3E}">
        <p14:creationId xmlns:p14="http://schemas.microsoft.com/office/powerpoint/2010/main" val="3343173970"/>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231</a:t>
            </a:fld>
            <a:endParaRPr lang="fr-FR"/>
          </a:p>
        </p:txBody>
      </p:sp>
    </p:spTree>
    <p:extLst>
      <p:ext uri="{BB962C8B-B14F-4D97-AF65-F5344CB8AC3E}">
        <p14:creationId xmlns:p14="http://schemas.microsoft.com/office/powerpoint/2010/main" val="730045324"/>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4C3910A-61B2-4A0B-9FF6-E9089D44FCDE}" type="slidenum">
              <a:rPr lang="fr-FR" smtClean="0"/>
              <a:t>232</a:t>
            </a:fld>
            <a:endParaRPr lang="fr-FR"/>
          </a:p>
        </p:txBody>
      </p:sp>
    </p:spTree>
    <p:extLst>
      <p:ext uri="{BB962C8B-B14F-4D97-AF65-F5344CB8AC3E}">
        <p14:creationId xmlns:p14="http://schemas.microsoft.com/office/powerpoint/2010/main" val="1346596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fr-FR"/>
          </a:p>
        </p:txBody>
      </p:sp>
      <p:sp>
        <p:nvSpPr>
          <p:cNvPr id="4" name="Espace réservé de la date 3"/>
          <p:cNvSpPr>
            <a:spLocks noGrp="1"/>
          </p:cNvSpPr>
          <p:nvPr>
            <p:ph type="dt" sz="half" idx="10"/>
          </p:nvPr>
        </p:nvSpPr>
        <p:spPr/>
        <p:txBody>
          <a:bodyPr/>
          <a:lstStyle/>
          <a:p>
            <a:fld id="{0DBE4FA1-077F-4CA0-9E97-1589D100EB13}" type="datetimeFigureOut">
              <a:rPr lang="fr-FR" smtClean="0"/>
              <a:t>07/02/2025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20EF12B-8D3A-4009-AECF-E05B8A5DBE5F}" type="slidenum">
              <a:rPr lang="fr-FR" smtClean="0"/>
              <a:t>‹N°›</a:t>
            </a:fld>
            <a:endParaRPr lang="fr-FR"/>
          </a:p>
        </p:txBody>
      </p:sp>
    </p:spTree>
    <p:extLst>
      <p:ext uri="{BB962C8B-B14F-4D97-AF65-F5344CB8AC3E}">
        <p14:creationId xmlns:p14="http://schemas.microsoft.com/office/powerpoint/2010/main" val="3225410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0DBE4FA1-077F-4CA0-9E97-1589D100EB13}" type="datetimeFigureOut">
              <a:rPr lang="fr-FR" smtClean="0"/>
              <a:t>07/02/2025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20EF12B-8D3A-4009-AECF-E05B8A5DBE5F}" type="slidenum">
              <a:rPr lang="fr-FR" smtClean="0"/>
              <a:t>‹N°›</a:t>
            </a:fld>
            <a:endParaRPr lang="fr-FR"/>
          </a:p>
        </p:txBody>
      </p:sp>
    </p:spTree>
    <p:extLst>
      <p:ext uri="{BB962C8B-B14F-4D97-AF65-F5344CB8AC3E}">
        <p14:creationId xmlns:p14="http://schemas.microsoft.com/office/powerpoint/2010/main" val="1158349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p:txBody>
          <a:bodyPr/>
          <a:lstStyle/>
          <a:p>
            <a:fld id="{0DBE4FA1-077F-4CA0-9E97-1589D100EB13}" type="datetimeFigureOut">
              <a:rPr lang="fr-FR" smtClean="0"/>
              <a:t>07/02/2025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20EF12B-8D3A-4009-AECF-E05B8A5DBE5F}" type="slidenum">
              <a:rPr lang="fr-FR" smtClean="0"/>
              <a:t>‹N°›</a:t>
            </a:fld>
            <a:endParaRPr lang="fr-FR"/>
          </a:p>
        </p:txBody>
      </p:sp>
    </p:spTree>
    <p:extLst>
      <p:ext uri="{BB962C8B-B14F-4D97-AF65-F5344CB8AC3E}">
        <p14:creationId xmlns:p14="http://schemas.microsoft.com/office/powerpoint/2010/main" val="2794501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0DBE4FA1-077F-4CA0-9E97-1589D100EB13}" type="datetimeFigureOut">
              <a:rPr lang="fr-FR" smtClean="0"/>
              <a:t>07/02/2025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20EF12B-8D3A-4009-AECF-E05B8A5DBE5F}" type="slidenum">
              <a:rPr lang="fr-FR" smtClean="0"/>
              <a:t>‹N°›</a:t>
            </a:fld>
            <a:endParaRPr lang="fr-FR"/>
          </a:p>
        </p:txBody>
      </p:sp>
    </p:spTree>
    <p:extLst>
      <p:ext uri="{BB962C8B-B14F-4D97-AF65-F5344CB8AC3E}">
        <p14:creationId xmlns:p14="http://schemas.microsoft.com/office/powerpoint/2010/main" val="692861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0DBE4FA1-077F-4CA0-9E97-1589D100EB13}" type="datetimeFigureOut">
              <a:rPr lang="fr-FR" smtClean="0"/>
              <a:t>07/02/2025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820EF12B-8D3A-4009-AECF-E05B8A5DBE5F}" type="slidenum">
              <a:rPr lang="fr-FR" smtClean="0"/>
              <a:t>‹N°›</a:t>
            </a:fld>
            <a:endParaRPr lang="fr-FR"/>
          </a:p>
        </p:txBody>
      </p:sp>
    </p:spTree>
    <p:extLst>
      <p:ext uri="{BB962C8B-B14F-4D97-AF65-F5344CB8AC3E}">
        <p14:creationId xmlns:p14="http://schemas.microsoft.com/office/powerpoint/2010/main" val="3979648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0DBE4FA1-077F-4CA0-9E97-1589D100EB13}" type="datetimeFigureOut">
              <a:rPr lang="fr-FR" smtClean="0"/>
              <a:t>07/02/2025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820EF12B-8D3A-4009-AECF-E05B8A5DBE5F}" type="slidenum">
              <a:rPr lang="fr-FR" smtClean="0"/>
              <a:t>‹N°›</a:t>
            </a:fld>
            <a:endParaRPr lang="fr-FR"/>
          </a:p>
        </p:txBody>
      </p:sp>
    </p:spTree>
    <p:extLst>
      <p:ext uri="{BB962C8B-B14F-4D97-AF65-F5344CB8AC3E}">
        <p14:creationId xmlns:p14="http://schemas.microsoft.com/office/powerpoint/2010/main" val="90120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0DBE4FA1-077F-4CA0-9E97-1589D100EB13}" type="datetimeFigureOut">
              <a:rPr lang="fr-FR" smtClean="0"/>
              <a:t>07/02/2025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820EF12B-8D3A-4009-AECF-E05B8A5DBE5F}" type="slidenum">
              <a:rPr lang="fr-FR" smtClean="0"/>
              <a:t>‹N°›</a:t>
            </a:fld>
            <a:endParaRPr lang="fr-FR"/>
          </a:p>
        </p:txBody>
      </p:sp>
    </p:spTree>
    <p:extLst>
      <p:ext uri="{BB962C8B-B14F-4D97-AF65-F5344CB8AC3E}">
        <p14:creationId xmlns:p14="http://schemas.microsoft.com/office/powerpoint/2010/main" val="1631257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0DBE4FA1-077F-4CA0-9E97-1589D100EB13}" type="datetimeFigureOut">
              <a:rPr lang="fr-FR" smtClean="0"/>
              <a:t>07/02/2025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20EF12B-8D3A-4009-AECF-E05B8A5DBE5F}" type="slidenum">
              <a:rPr lang="fr-FR" smtClean="0"/>
              <a:t>‹N°›</a:t>
            </a:fld>
            <a:endParaRPr lang="fr-FR"/>
          </a:p>
        </p:txBody>
      </p:sp>
    </p:spTree>
    <p:extLst>
      <p:ext uri="{BB962C8B-B14F-4D97-AF65-F5344CB8AC3E}">
        <p14:creationId xmlns:p14="http://schemas.microsoft.com/office/powerpoint/2010/main" val="11948043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0DBE4FA1-077F-4CA0-9E97-1589D100EB13}" type="datetimeFigureOut">
              <a:rPr lang="fr-FR" smtClean="0"/>
              <a:t>07/02/2025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20EF12B-8D3A-4009-AECF-E05B8A5DBE5F}" type="slidenum">
              <a:rPr lang="fr-FR" smtClean="0"/>
              <a:t>‹N°›</a:t>
            </a:fld>
            <a:endParaRPr lang="fr-FR"/>
          </a:p>
        </p:txBody>
      </p:sp>
    </p:spTree>
    <p:extLst>
      <p:ext uri="{BB962C8B-B14F-4D97-AF65-F5344CB8AC3E}">
        <p14:creationId xmlns:p14="http://schemas.microsoft.com/office/powerpoint/2010/main" val="2490138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0DBE4FA1-077F-4CA0-9E97-1589D100EB13}" type="datetimeFigureOut">
              <a:rPr lang="fr-FR" smtClean="0"/>
              <a:t>07/02/2025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20EF12B-8D3A-4009-AECF-E05B8A5DBE5F}" type="slidenum">
              <a:rPr lang="fr-FR" smtClean="0"/>
              <a:t>‹N°›</a:t>
            </a:fld>
            <a:endParaRPr lang="fr-FR"/>
          </a:p>
        </p:txBody>
      </p:sp>
    </p:spTree>
    <p:extLst>
      <p:ext uri="{BB962C8B-B14F-4D97-AF65-F5344CB8AC3E}">
        <p14:creationId xmlns:p14="http://schemas.microsoft.com/office/powerpoint/2010/main" val="1033703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0DBE4FA1-077F-4CA0-9E97-1589D100EB13}" type="datetimeFigureOut">
              <a:rPr lang="fr-FR" smtClean="0"/>
              <a:t>07/02/2025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20EF12B-8D3A-4009-AECF-E05B8A5DBE5F}" type="slidenum">
              <a:rPr lang="fr-FR" smtClean="0"/>
              <a:t>‹N°›</a:t>
            </a:fld>
            <a:endParaRPr lang="fr-FR"/>
          </a:p>
        </p:txBody>
      </p:sp>
    </p:spTree>
    <p:extLst>
      <p:ext uri="{BB962C8B-B14F-4D97-AF65-F5344CB8AC3E}">
        <p14:creationId xmlns:p14="http://schemas.microsoft.com/office/powerpoint/2010/main" val="27274914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Ouverture de chapitre">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F5338D63-7F58-4C41-967C-A9B0AAD4A3EC}"/>
              </a:ext>
            </a:extLst>
          </p:cNvPr>
          <p:cNvSpPr>
            <a:spLocks noGrp="1"/>
          </p:cNvSpPr>
          <p:nvPr>
            <p:ph type="body" sz="quarter" idx="27" hasCustomPrompt="1"/>
          </p:nvPr>
        </p:nvSpPr>
        <p:spPr>
          <a:xfrm>
            <a:off x="504000" y="496800"/>
            <a:ext cx="11185200" cy="5272797"/>
          </a:xfrm>
          <a:solidFill>
            <a:schemeClr val="tx1"/>
          </a:solidFill>
        </p:spPr>
        <p:txBody>
          <a:bodyPr/>
          <a:lstStyle>
            <a:lvl1pPr marL="0" indent="0">
              <a:buNone/>
              <a:defRPr/>
            </a:lvl1pPr>
          </a:lstStyle>
          <a:p>
            <a:pPr lvl="0"/>
            <a:r>
              <a:rPr lang="fr-FR"/>
              <a:t> </a:t>
            </a:r>
          </a:p>
        </p:txBody>
      </p:sp>
      <p:sp>
        <p:nvSpPr>
          <p:cNvPr id="3" name="Espace réservé du texte 2">
            <a:extLst>
              <a:ext uri="{FF2B5EF4-FFF2-40B4-BE49-F238E27FC236}">
                <a16:creationId xmlns:a16="http://schemas.microsoft.com/office/drawing/2014/main" id="{31BF3A9F-5739-4B40-A377-C403E92DB704}"/>
              </a:ext>
            </a:extLst>
          </p:cNvPr>
          <p:cNvSpPr>
            <a:spLocks noGrp="1"/>
          </p:cNvSpPr>
          <p:nvPr>
            <p:ph type="body" idx="1" hasCustomPrompt="1"/>
          </p:nvPr>
        </p:nvSpPr>
        <p:spPr>
          <a:xfrm>
            <a:off x="1538560" y="1700171"/>
            <a:ext cx="2880000" cy="1299879"/>
          </a:xfrm>
        </p:spPr>
        <p:txBody>
          <a:bodyPr anchor="t"/>
          <a:lstStyle>
            <a:lvl1pPr marL="0" indent="0">
              <a:buNone/>
              <a:defRPr sz="88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NN.</a:t>
            </a:r>
          </a:p>
        </p:txBody>
      </p:sp>
      <p:sp>
        <p:nvSpPr>
          <p:cNvPr id="5" name="Espace réservé du texte 4">
            <a:extLst>
              <a:ext uri="{FF2B5EF4-FFF2-40B4-BE49-F238E27FC236}">
                <a16:creationId xmlns:a16="http://schemas.microsoft.com/office/drawing/2014/main" id="{AE34A377-C4E7-474E-AF9C-C0C1512C4B48}"/>
              </a:ext>
            </a:extLst>
          </p:cNvPr>
          <p:cNvSpPr>
            <a:spLocks noGrp="1"/>
          </p:cNvSpPr>
          <p:nvPr>
            <p:ph type="body" sz="quarter" idx="3" hasCustomPrompt="1"/>
          </p:nvPr>
        </p:nvSpPr>
        <p:spPr>
          <a:xfrm>
            <a:off x="1538558" y="3000049"/>
            <a:ext cx="7560000" cy="1692000"/>
          </a:xfrm>
        </p:spPr>
        <p:txBody>
          <a:bodyPr anchor="t"/>
          <a:lstStyle>
            <a:lvl1pPr marL="0" indent="0">
              <a:lnSpc>
                <a:spcPct val="120000"/>
              </a:lnSpc>
              <a:buNone/>
              <a:defRPr sz="3800" b="1" cap="all"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TITRE DU CHAPITRE sur plusieurs lignes</a:t>
            </a:r>
          </a:p>
        </p:txBody>
      </p:sp>
      <p:sp>
        <p:nvSpPr>
          <p:cNvPr id="14" name="Espace réservé du texte 6">
            <a:extLst>
              <a:ext uri="{FF2B5EF4-FFF2-40B4-BE49-F238E27FC236}">
                <a16:creationId xmlns:a16="http://schemas.microsoft.com/office/drawing/2014/main" id="{73D67ACB-3E0F-4ED7-8607-B138A3FD73A3}"/>
              </a:ext>
            </a:extLst>
          </p:cNvPr>
          <p:cNvSpPr>
            <a:spLocks noGrp="1"/>
          </p:cNvSpPr>
          <p:nvPr>
            <p:ph type="body" sz="quarter" idx="28" hasCustomPrompt="1"/>
          </p:nvPr>
        </p:nvSpPr>
        <p:spPr>
          <a:xfrm>
            <a:off x="1347961" y="2283861"/>
            <a:ext cx="28800" cy="2422800"/>
          </a:xfrm>
          <a:solidFill>
            <a:schemeClr val="bg1"/>
          </a:solidFill>
          <a:ln>
            <a:noFill/>
          </a:ln>
        </p:spPr>
        <p:txBody>
          <a:bodyPr lIns="0" tIns="0" rIns="0" bIns="0"/>
          <a:lstStyle>
            <a:lvl1pPr marL="0" indent="0">
              <a:buNone/>
              <a:defRPr sz="500"/>
            </a:lvl1pPr>
          </a:lstStyle>
          <a:p>
            <a:pPr lvl="0"/>
            <a:r>
              <a:rPr lang="fr-FR"/>
              <a:t> </a:t>
            </a:r>
          </a:p>
        </p:txBody>
      </p:sp>
      <p:sp>
        <p:nvSpPr>
          <p:cNvPr id="8" name="Espace réservé de la date 3">
            <a:extLst>
              <a:ext uri="{FF2B5EF4-FFF2-40B4-BE49-F238E27FC236}">
                <a16:creationId xmlns:a16="http://schemas.microsoft.com/office/drawing/2014/main" id="{823990D1-D918-4E80-AE90-EC70C52F3455}"/>
              </a:ext>
            </a:extLst>
          </p:cNvPr>
          <p:cNvSpPr>
            <a:spLocks noGrp="1"/>
          </p:cNvSpPr>
          <p:nvPr>
            <p:ph type="dt" sz="half" idx="2"/>
          </p:nvPr>
        </p:nvSpPr>
        <p:spPr>
          <a:xfrm>
            <a:off x="1237756" y="6411886"/>
            <a:ext cx="1800000" cy="288000"/>
          </a:xfrm>
          <a:prstGeom prst="rect">
            <a:avLst/>
          </a:prstGeom>
        </p:spPr>
        <p:txBody>
          <a:bodyPr vert="horz" lIns="91440" tIns="45720" rIns="0" bIns="45720" rtlCol="0" anchor="ctr">
            <a:noAutofit/>
          </a:bodyPr>
          <a:lstStyle>
            <a:lvl1pPr algn="r">
              <a:defRPr sz="1200">
                <a:solidFill>
                  <a:schemeClr val="tx1"/>
                </a:solidFill>
              </a:defRPr>
            </a:lvl1pPr>
          </a:lstStyle>
          <a:p>
            <a:fld id="{2FB47D8B-ABE4-2443-A575-1F65DFA84D98}" type="datetime1">
              <a:rPr lang="fr-FR" smtClean="0"/>
              <a:t>07/02/2025</a:t>
            </a:fld>
            <a:endParaRPr lang="fr-FR"/>
          </a:p>
        </p:txBody>
      </p:sp>
      <p:sp>
        <p:nvSpPr>
          <p:cNvPr id="9" name="Espace réservé du numéro de diapositive 5">
            <a:extLst>
              <a:ext uri="{FF2B5EF4-FFF2-40B4-BE49-F238E27FC236}">
                <a16:creationId xmlns:a16="http://schemas.microsoft.com/office/drawing/2014/main" id="{DF306725-2112-4C54-8EBE-248622B6C0C3}"/>
              </a:ext>
            </a:extLst>
          </p:cNvPr>
          <p:cNvSpPr>
            <a:spLocks noGrp="1"/>
          </p:cNvSpPr>
          <p:nvPr>
            <p:ph type="sldNum" sz="quarter" idx="4"/>
          </p:nvPr>
        </p:nvSpPr>
        <p:spPr>
          <a:xfrm>
            <a:off x="368215" y="6413881"/>
            <a:ext cx="720000" cy="288000"/>
          </a:xfrm>
          <a:prstGeom prst="rect">
            <a:avLst/>
          </a:prstGeom>
        </p:spPr>
        <p:txBody>
          <a:bodyPr vert="horz" lIns="91440" tIns="45720" rIns="91440" bIns="45720" rtlCol="0" anchor="ctr">
            <a:noAutofit/>
          </a:bodyPr>
          <a:lstStyle>
            <a:lvl1pPr algn="l">
              <a:defRPr sz="1200">
                <a:solidFill>
                  <a:schemeClr val="tx1"/>
                </a:solidFill>
              </a:defRPr>
            </a:lvl1pPr>
          </a:lstStyle>
          <a:p>
            <a:fld id="{975A587B-5814-4D9B-9598-FE9CB954CB01}" type="slidenum">
              <a:rPr lang="fr-FR" smtClean="0"/>
              <a:pPr/>
              <a:t>‹N°›</a:t>
            </a:fld>
            <a:endParaRPr lang="fr-FR"/>
          </a:p>
        </p:txBody>
      </p:sp>
      <p:sp>
        <p:nvSpPr>
          <p:cNvPr id="10" name="Espace réservé du pied de page 1">
            <a:extLst>
              <a:ext uri="{FF2B5EF4-FFF2-40B4-BE49-F238E27FC236}">
                <a16:creationId xmlns:a16="http://schemas.microsoft.com/office/drawing/2014/main" id="{5F54C101-3615-4F9D-8B97-ED4E9EF5ADAC}"/>
              </a:ext>
            </a:extLst>
          </p:cNvPr>
          <p:cNvSpPr>
            <a:spLocks noGrp="1"/>
          </p:cNvSpPr>
          <p:nvPr>
            <p:ph type="ftr" sz="quarter" idx="29"/>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FR"/>
              <a:t>Principes Directeurs - Revue principes Sobriété</a:t>
            </a:r>
          </a:p>
        </p:txBody>
      </p:sp>
    </p:spTree>
    <p:extLst>
      <p:ext uri="{BB962C8B-B14F-4D97-AF65-F5344CB8AC3E}">
        <p14:creationId xmlns:p14="http://schemas.microsoft.com/office/powerpoint/2010/main" val="15638417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exte">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fr-FR" dirty="0" smtClean="0"/>
              <a:t>Cliquez pour ajouter un titre</a:t>
            </a:r>
            <a:endParaRPr lang="fr-FR" dirty="0"/>
          </a:p>
        </p:txBody>
      </p:sp>
      <p:sp>
        <p:nvSpPr>
          <p:cNvPr id="3" name="Espace réservé du numéro de diapositive 2"/>
          <p:cNvSpPr>
            <a:spLocks noGrp="1"/>
          </p:cNvSpPr>
          <p:nvPr>
            <p:ph type="sldNum" sz="quarter" idx="10"/>
          </p:nvPr>
        </p:nvSpPr>
        <p:spPr/>
        <p:txBody>
          <a:bodyPr/>
          <a:lstStyle/>
          <a:p>
            <a:fld id="{975A587B-5814-4D9B-9598-FE9CB954CB01}" type="slidenum">
              <a:rPr lang="fr-FR" smtClean="0"/>
              <a:pPr/>
              <a:t>‹N°›</a:t>
            </a:fld>
            <a:endParaRPr lang="fr-FR" dirty="0"/>
          </a:p>
        </p:txBody>
      </p:sp>
      <p:sp>
        <p:nvSpPr>
          <p:cNvPr id="4" name="Espace réservé du texte 4">
            <a:extLst>
              <a:ext uri="{FF2B5EF4-FFF2-40B4-BE49-F238E27FC236}">
                <a16:creationId xmlns:a16="http://schemas.microsoft.com/office/drawing/2014/main" id="{2B4DC679-F54F-4846-9912-E80DB1F86B4D}"/>
              </a:ext>
            </a:extLst>
          </p:cNvPr>
          <p:cNvSpPr>
            <a:spLocks noGrp="1"/>
          </p:cNvSpPr>
          <p:nvPr>
            <p:ph type="body" sz="quarter" idx="16"/>
          </p:nvPr>
        </p:nvSpPr>
        <p:spPr>
          <a:xfrm>
            <a:off x="1273094" y="2087563"/>
            <a:ext cx="10422019" cy="3767137"/>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dirty="0"/>
          </a:p>
        </p:txBody>
      </p:sp>
    </p:spTree>
    <p:extLst>
      <p:ext uri="{BB962C8B-B14F-4D97-AF65-F5344CB8AC3E}">
        <p14:creationId xmlns:p14="http://schemas.microsoft.com/office/powerpoint/2010/main" val="1592063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BE4FA1-077F-4CA0-9E97-1589D100EB13}" type="datetimeFigureOut">
              <a:rPr lang="fr-FR" smtClean="0"/>
              <a:t>07/02/2025</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0EF12B-8D3A-4009-AECF-E05B8A5DBE5F}" type="slidenum">
              <a:rPr lang="fr-FR" smtClean="0"/>
              <a:t>‹N°›</a:t>
            </a:fld>
            <a:endParaRPr lang="fr-FR"/>
          </a:p>
        </p:txBody>
      </p:sp>
    </p:spTree>
    <p:extLst>
      <p:ext uri="{BB962C8B-B14F-4D97-AF65-F5344CB8AC3E}">
        <p14:creationId xmlns:p14="http://schemas.microsoft.com/office/powerpoint/2010/main" val="11048318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informatique.msa.fr/" TargetMode="External"/><Relationship Id="rId2" Type="http://schemas.openxmlformats.org/officeDocument/2006/relationships/hyperlink" Target="http://ameli.fr/" TargetMode="Externa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slide" Target="slide125.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slide" Target="slide111.xml"/><Relationship Id="rId5" Type="http://schemas.openxmlformats.org/officeDocument/2006/relationships/slide" Target="slide110.xml"/><Relationship Id="rId4" Type="http://schemas.openxmlformats.org/officeDocument/2006/relationships/slide" Target="slide108.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8" Type="http://schemas.openxmlformats.org/officeDocument/2006/relationships/slide" Target="slide110.xml"/><Relationship Id="rId3" Type="http://schemas.openxmlformats.org/officeDocument/2006/relationships/image" Target="../media/image1.png"/><Relationship Id="rId7" Type="http://schemas.openxmlformats.org/officeDocument/2006/relationships/slide" Target="slide109.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slide" Target="slide131.xml"/><Relationship Id="rId5" Type="http://schemas.openxmlformats.org/officeDocument/2006/relationships/slide" Target="slide126.xml"/><Relationship Id="rId4" Type="http://schemas.openxmlformats.org/officeDocument/2006/relationships/slide" Target="slide130.xml"/><Relationship Id="rId9" Type="http://schemas.openxmlformats.org/officeDocument/2006/relationships/slide" Target="slide11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8" Type="http://schemas.openxmlformats.org/officeDocument/2006/relationships/slide" Target="slide112.xml"/><Relationship Id="rId13" Type="http://schemas.openxmlformats.org/officeDocument/2006/relationships/slide" Target="slide122.xml"/><Relationship Id="rId18" Type="http://schemas.openxmlformats.org/officeDocument/2006/relationships/slide" Target="slide148.xml"/><Relationship Id="rId3" Type="http://schemas.openxmlformats.org/officeDocument/2006/relationships/image" Target="../media/image1.png"/><Relationship Id="rId21" Type="http://schemas.openxmlformats.org/officeDocument/2006/relationships/slide" Target="slide158.xml"/><Relationship Id="rId7" Type="http://schemas.openxmlformats.org/officeDocument/2006/relationships/slide" Target="slide119.xml"/><Relationship Id="rId12" Type="http://schemas.openxmlformats.org/officeDocument/2006/relationships/slide" Target="slide121.xml"/><Relationship Id="rId17" Type="http://schemas.openxmlformats.org/officeDocument/2006/relationships/slide" Target="slide123.xml"/><Relationship Id="rId2" Type="http://schemas.openxmlformats.org/officeDocument/2006/relationships/notesSlide" Target="../notesSlides/notesSlide26.xml"/><Relationship Id="rId16" Type="http://schemas.openxmlformats.org/officeDocument/2006/relationships/slide" Target="slide147.xml"/><Relationship Id="rId20" Type="http://schemas.openxmlformats.org/officeDocument/2006/relationships/slide" Target="slide152.xml"/><Relationship Id="rId1" Type="http://schemas.openxmlformats.org/officeDocument/2006/relationships/slideLayout" Target="../slideLayouts/slideLayout2.xml"/><Relationship Id="rId6" Type="http://schemas.openxmlformats.org/officeDocument/2006/relationships/slide" Target="slide126.xml"/><Relationship Id="rId11" Type="http://schemas.openxmlformats.org/officeDocument/2006/relationships/slide" Target="slide116.xml"/><Relationship Id="rId5" Type="http://schemas.openxmlformats.org/officeDocument/2006/relationships/slide" Target="slide115.xml"/><Relationship Id="rId15" Type="http://schemas.openxmlformats.org/officeDocument/2006/relationships/slide" Target="slide117.xml"/><Relationship Id="rId10" Type="http://schemas.openxmlformats.org/officeDocument/2006/relationships/slide" Target="slide108.xml"/><Relationship Id="rId19" Type="http://schemas.openxmlformats.org/officeDocument/2006/relationships/slide" Target="slide151.xml"/><Relationship Id="rId4" Type="http://schemas.openxmlformats.org/officeDocument/2006/relationships/slide" Target="slide107.xml"/><Relationship Id="rId9" Type="http://schemas.openxmlformats.org/officeDocument/2006/relationships/slide" Target="slide118.xml"/><Relationship Id="rId14" Type="http://schemas.openxmlformats.org/officeDocument/2006/relationships/slide" Target="slide120.xml"/><Relationship Id="rId22" Type="http://schemas.openxmlformats.org/officeDocument/2006/relationships/slide" Target="slide159.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8" Type="http://schemas.openxmlformats.org/officeDocument/2006/relationships/slide" Target="slide131.xml"/><Relationship Id="rId13" Type="http://schemas.openxmlformats.org/officeDocument/2006/relationships/slide" Target="slide196.xml"/><Relationship Id="rId18" Type="http://schemas.openxmlformats.org/officeDocument/2006/relationships/slide" Target="slide200.xml"/><Relationship Id="rId26" Type="http://schemas.openxmlformats.org/officeDocument/2006/relationships/slide" Target="slide198.xml"/><Relationship Id="rId3" Type="http://schemas.openxmlformats.org/officeDocument/2006/relationships/image" Target="../media/image1.png"/><Relationship Id="rId21" Type="http://schemas.openxmlformats.org/officeDocument/2006/relationships/slide" Target="slide202.xml"/><Relationship Id="rId7" Type="http://schemas.openxmlformats.org/officeDocument/2006/relationships/slide" Target="slide195.xml"/><Relationship Id="rId12" Type="http://schemas.openxmlformats.org/officeDocument/2006/relationships/slide" Target="slide132.xml"/><Relationship Id="rId17" Type="http://schemas.openxmlformats.org/officeDocument/2006/relationships/slide" Target="slide138.xml"/><Relationship Id="rId25" Type="http://schemas.openxmlformats.org/officeDocument/2006/relationships/slide" Target="slide203.xml"/><Relationship Id="rId2" Type="http://schemas.openxmlformats.org/officeDocument/2006/relationships/notesSlide" Target="../notesSlides/notesSlide28.xml"/><Relationship Id="rId16" Type="http://schemas.openxmlformats.org/officeDocument/2006/relationships/slide" Target="slide208.xml"/><Relationship Id="rId20" Type="http://schemas.openxmlformats.org/officeDocument/2006/relationships/slide" Target="slide143.xml"/><Relationship Id="rId29" Type="http://schemas.openxmlformats.org/officeDocument/2006/relationships/slide" Target="slide183.xml"/><Relationship Id="rId1" Type="http://schemas.openxmlformats.org/officeDocument/2006/relationships/slideLayout" Target="../slideLayouts/slideLayout2.xml"/><Relationship Id="rId6" Type="http://schemas.openxmlformats.org/officeDocument/2006/relationships/slide" Target="slide123.xml"/><Relationship Id="rId11" Type="http://schemas.openxmlformats.org/officeDocument/2006/relationships/slide" Target="slide168.xml"/><Relationship Id="rId24" Type="http://schemas.openxmlformats.org/officeDocument/2006/relationships/slide" Target="slide180.xml"/><Relationship Id="rId5" Type="http://schemas.openxmlformats.org/officeDocument/2006/relationships/slide" Target="slide119.xml"/><Relationship Id="rId15" Type="http://schemas.openxmlformats.org/officeDocument/2006/relationships/slide" Target="slide130.xml"/><Relationship Id="rId23" Type="http://schemas.openxmlformats.org/officeDocument/2006/relationships/slide" Target="slide115.xml"/><Relationship Id="rId28" Type="http://schemas.openxmlformats.org/officeDocument/2006/relationships/slide" Target="slide182.xml"/><Relationship Id="rId10" Type="http://schemas.openxmlformats.org/officeDocument/2006/relationships/slide" Target="slide129.xml"/><Relationship Id="rId19" Type="http://schemas.openxmlformats.org/officeDocument/2006/relationships/slide" Target="slide167.xml"/><Relationship Id="rId4" Type="http://schemas.openxmlformats.org/officeDocument/2006/relationships/slide" Target="slide114.xml"/><Relationship Id="rId9" Type="http://schemas.openxmlformats.org/officeDocument/2006/relationships/slide" Target="slide117.xml"/><Relationship Id="rId14" Type="http://schemas.openxmlformats.org/officeDocument/2006/relationships/slide" Target="slide136.xml"/><Relationship Id="rId22" Type="http://schemas.openxmlformats.org/officeDocument/2006/relationships/slide" Target="slide197.xml"/><Relationship Id="rId27" Type="http://schemas.openxmlformats.org/officeDocument/2006/relationships/slide" Target="slide116.xml"/><Relationship Id="rId30" Type="http://schemas.openxmlformats.org/officeDocument/2006/relationships/slide" Target="slide140.xml"/></Relationships>
</file>

<file path=ppt/slides/_rels/slide39.xml.rels><?xml version="1.0" encoding="UTF-8" standalone="yes"?>
<Relationships xmlns="http://schemas.openxmlformats.org/package/2006/relationships"><Relationship Id="rId8" Type="http://schemas.openxmlformats.org/officeDocument/2006/relationships/slide" Target="slide143.xml"/><Relationship Id="rId3" Type="http://schemas.openxmlformats.org/officeDocument/2006/relationships/image" Target="../media/image1.png"/><Relationship Id="rId7" Type="http://schemas.openxmlformats.org/officeDocument/2006/relationships/slide" Target="slide130.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slide" Target="slide120.xml"/><Relationship Id="rId5" Type="http://schemas.openxmlformats.org/officeDocument/2006/relationships/slide" Target="slide200.xml"/><Relationship Id="rId4" Type="http://schemas.openxmlformats.org/officeDocument/2006/relationships/slide" Target="slide138.xml"/><Relationship Id="rId9" Type="http://schemas.openxmlformats.org/officeDocument/2006/relationships/slide" Target="slide180.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slide" Target="slide130.xml"/><Relationship Id="rId4" Type="http://schemas.openxmlformats.org/officeDocument/2006/relationships/slide" Target="slide120.xml"/></Relationships>
</file>

<file path=ppt/slides/_rels/slide41.xml.rels><?xml version="1.0" encoding="UTF-8" standalone="yes"?>
<Relationships xmlns="http://schemas.openxmlformats.org/package/2006/relationships"><Relationship Id="rId8" Type="http://schemas.openxmlformats.org/officeDocument/2006/relationships/slide" Target="slide130.xml"/><Relationship Id="rId13" Type="http://schemas.openxmlformats.org/officeDocument/2006/relationships/slide" Target="slide123.xml"/><Relationship Id="rId3" Type="http://schemas.openxmlformats.org/officeDocument/2006/relationships/image" Target="../media/image1.png"/><Relationship Id="rId7" Type="http://schemas.openxmlformats.org/officeDocument/2006/relationships/slide" Target="slide125.xml"/><Relationship Id="rId12" Type="http://schemas.openxmlformats.org/officeDocument/2006/relationships/slide" Target="slide117.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slide" Target="slide129.xml"/><Relationship Id="rId11" Type="http://schemas.openxmlformats.org/officeDocument/2006/relationships/slide" Target="slide116.xml"/><Relationship Id="rId5" Type="http://schemas.openxmlformats.org/officeDocument/2006/relationships/slide" Target="slide225.xml"/><Relationship Id="rId10" Type="http://schemas.openxmlformats.org/officeDocument/2006/relationships/slide" Target="slide115.xml"/><Relationship Id="rId4" Type="http://schemas.openxmlformats.org/officeDocument/2006/relationships/slide" Target="slide114.xml"/><Relationship Id="rId9" Type="http://schemas.openxmlformats.org/officeDocument/2006/relationships/slide" Target="slide131.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slide" Target="slide212.xml"/><Relationship Id="rId4" Type="http://schemas.openxmlformats.org/officeDocument/2006/relationships/slide" Target="slide125.xml"/></Relationships>
</file>

<file path=ppt/slides/_rels/slide43.xml.rels><?xml version="1.0" encoding="UTF-8" standalone="yes"?>
<Relationships xmlns="http://schemas.openxmlformats.org/package/2006/relationships"><Relationship Id="rId8" Type="http://schemas.openxmlformats.org/officeDocument/2006/relationships/slide" Target="slide114.xml"/><Relationship Id="rId3" Type="http://schemas.openxmlformats.org/officeDocument/2006/relationships/image" Target="../media/image1.png"/><Relationship Id="rId7" Type="http://schemas.openxmlformats.org/officeDocument/2006/relationships/slide" Target="slide131.xml"/><Relationship Id="rId12" Type="http://schemas.openxmlformats.org/officeDocument/2006/relationships/slide" Target="slide121.xm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slide" Target="slide184.xml"/><Relationship Id="rId11" Type="http://schemas.openxmlformats.org/officeDocument/2006/relationships/slide" Target="slide197.xml"/><Relationship Id="rId5" Type="http://schemas.openxmlformats.org/officeDocument/2006/relationships/slide" Target="slide119.xml"/><Relationship Id="rId10" Type="http://schemas.openxmlformats.org/officeDocument/2006/relationships/slide" Target="slide115.xml"/><Relationship Id="rId4" Type="http://schemas.openxmlformats.org/officeDocument/2006/relationships/slide" Target="slide113.xml"/><Relationship Id="rId9" Type="http://schemas.openxmlformats.org/officeDocument/2006/relationships/slide" Target="slide136.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71.xml"/><Relationship Id="rId4" Type="http://schemas.openxmlformats.org/officeDocument/2006/relationships/slide" Target="slide150.xml"/></Relationships>
</file>

<file path=ppt/slides/_rels/slide47.xml.rels><?xml version="1.0" encoding="UTF-8" standalone="yes"?>
<Relationships xmlns="http://schemas.openxmlformats.org/package/2006/relationships"><Relationship Id="rId8" Type="http://schemas.openxmlformats.org/officeDocument/2006/relationships/slide" Target="slide161.xml"/><Relationship Id="rId13" Type="http://schemas.openxmlformats.org/officeDocument/2006/relationships/slide" Target="slide166.xml"/><Relationship Id="rId18" Type="http://schemas.openxmlformats.org/officeDocument/2006/relationships/slide" Target="slide155.xml"/><Relationship Id="rId26" Type="http://schemas.openxmlformats.org/officeDocument/2006/relationships/slide" Target="slide159.xml"/><Relationship Id="rId3" Type="http://schemas.openxmlformats.org/officeDocument/2006/relationships/image" Target="../media/image1.png"/><Relationship Id="rId21" Type="http://schemas.openxmlformats.org/officeDocument/2006/relationships/slide" Target="slide151.xml"/><Relationship Id="rId7" Type="http://schemas.openxmlformats.org/officeDocument/2006/relationships/slide" Target="slide154.xml"/><Relationship Id="rId12" Type="http://schemas.openxmlformats.org/officeDocument/2006/relationships/slide" Target="slide165.xml"/><Relationship Id="rId17" Type="http://schemas.openxmlformats.org/officeDocument/2006/relationships/slide" Target="slide146.xml"/><Relationship Id="rId25" Type="http://schemas.openxmlformats.org/officeDocument/2006/relationships/slide" Target="slide158.xml"/><Relationship Id="rId2" Type="http://schemas.openxmlformats.org/officeDocument/2006/relationships/notesSlide" Target="../notesSlides/notesSlide36.xml"/><Relationship Id="rId16" Type="http://schemas.openxmlformats.org/officeDocument/2006/relationships/slide" Target="slide140.xml"/><Relationship Id="rId20" Type="http://schemas.openxmlformats.org/officeDocument/2006/relationships/slide" Target="slide148.xml"/><Relationship Id="rId1" Type="http://schemas.openxmlformats.org/officeDocument/2006/relationships/slideLayout" Target="../slideLayouts/slideLayout2.xml"/><Relationship Id="rId6" Type="http://schemas.openxmlformats.org/officeDocument/2006/relationships/slide" Target="slide153.xml"/><Relationship Id="rId11" Type="http://schemas.openxmlformats.org/officeDocument/2006/relationships/slide" Target="slide164.xml"/><Relationship Id="rId24" Type="http://schemas.openxmlformats.org/officeDocument/2006/relationships/slide" Target="slide157.xml"/><Relationship Id="rId5" Type="http://schemas.openxmlformats.org/officeDocument/2006/relationships/slide" Target="slide145.xml"/><Relationship Id="rId15" Type="http://schemas.openxmlformats.org/officeDocument/2006/relationships/slide" Target="slide127.xml"/><Relationship Id="rId23" Type="http://schemas.openxmlformats.org/officeDocument/2006/relationships/slide" Target="slide156.xml"/><Relationship Id="rId28" Type="http://schemas.openxmlformats.org/officeDocument/2006/relationships/slide" Target="slide205.xml"/><Relationship Id="rId10" Type="http://schemas.openxmlformats.org/officeDocument/2006/relationships/slide" Target="slide163.xml"/><Relationship Id="rId19" Type="http://schemas.openxmlformats.org/officeDocument/2006/relationships/slide" Target="slide147.xml"/><Relationship Id="rId4" Type="http://schemas.openxmlformats.org/officeDocument/2006/relationships/slide" Target="slide149.xml"/><Relationship Id="rId9" Type="http://schemas.openxmlformats.org/officeDocument/2006/relationships/slide" Target="slide162.xml"/><Relationship Id="rId14" Type="http://schemas.openxmlformats.org/officeDocument/2006/relationships/slide" Target="slide167.xml"/><Relationship Id="rId22" Type="http://schemas.openxmlformats.org/officeDocument/2006/relationships/slide" Target="slide152.xml"/><Relationship Id="rId27" Type="http://schemas.openxmlformats.org/officeDocument/2006/relationships/slide" Target="slide160.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8" Type="http://schemas.openxmlformats.org/officeDocument/2006/relationships/slide" Target="slide115.xml"/><Relationship Id="rId3" Type="http://schemas.openxmlformats.org/officeDocument/2006/relationships/image" Target="../media/image1.png"/><Relationship Id="rId7" Type="http://schemas.openxmlformats.org/officeDocument/2006/relationships/slide" Target="slide228.xml"/><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slide" Target="slide129.xml"/><Relationship Id="rId11" Type="http://schemas.openxmlformats.org/officeDocument/2006/relationships/slide" Target="slide121.xml"/><Relationship Id="rId5" Type="http://schemas.openxmlformats.org/officeDocument/2006/relationships/slide" Target="slide125.xml"/><Relationship Id="rId10" Type="http://schemas.openxmlformats.org/officeDocument/2006/relationships/slide" Target="slide149.xml"/><Relationship Id="rId4" Type="http://schemas.openxmlformats.org/officeDocument/2006/relationships/slide" Target="slide114.xml"/><Relationship Id="rId9" Type="http://schemas.openxmlformats.org/officeDocument/2006/relationships/slide" Target="slide116.xml"/></Relationships>
</file>

<file path=ppt/slides/_rels/slide51.xml.rels><?xml version="1.0" encoding="UTF-8" standalone="yes"?>
<Relationships xmlns="http://schemas.openxmlformats.org/package/2006/relationships"><Relationship Id="rId8" Type="http://schemas.openxmlformats.org/officeDocument/2006/relationships/slide" Target="slide193.xml"/><Relationship Id="rId13" Type="http://schemas.openxmlformats.org/officeDocument/2006/relationships/slide" Target="slide169.xml"/><Relationship Id="rId18" Type="http://schemas.openxmlformats.org/officeDocument/2006/relationships/slide" Target="slide124.xml"/><Relationship Id="rId3" Type="http://schemas.openxmlformats.org/officeDocument/2006/relationships/image" Target="../media/image1.png"/><Relationship Id="rId21" Type="http://schemas.openxmlformats.org/officeDocument/2006/relationships/slide" Target="slide138.xml"/><Relationship Id="rId7" Type="http://schemas.openxmlformats.org/officeDocument/2006/relationships/slide" Target="slide149.xml"/><Relationship Id="rId12" Type="http://schemas.openxmlformats.org/officeDocument/2006/relationships/slide" Target="slide195.xml"/><Relationship Id="rId17" Type="http://schemas.openxmlformats.org/officeDocument/2006/relationships/slide" Target="slide186.xml"/><Relationship Id="rId25" Type="http://schemas.openxmlformats.org/officeDocument/2006/relationships/slide" Target="slide181.xml"/><Relationship Id="rId2" Type="http://schemas.openxmlformats.org/officeDocument/2006/relationships/notesSlide" Target="../notesSlides/notesSlide39.xml"/><Relationship Id="rId16" Type="http://schemas.openxmlformats.org/officeDocument/2006/relationships/slide" Target="slide188.xml"/><Relationship Id="rId20" Type="http://schemas.openxmlformats.org/officeDocument/2006/relationships/slide" Target="slide189.xml"/><Relationship Id="rId1" Type="http://schemas.openxmlformats.org/officeDocument/2006/relationships/slideLayout" Target="../slideLayouts/slideLayout2.xml"/><Relationship Id="rId6" Type="http://schemas.openxmlformats.org/officeDocument/2006/relationships/slide" Target="slide174.xml"/><Relationship Id="rId11" Type="http://schemas.openxmlformats.org/officeDocument/2006/relationships/slide" Target="slide171.xml"/><Relationship Id="rId24" Type="http://schemas.openxmlformats.org/officeDocument/2006/relationships/slide" Target="slide192.xml"/><Relationship Id="rId5" Type="http://schemas.openxmlformats.org/officeDocument/2006/relationships/slide" Target="slide142.xml"/><Relationship Id="rId15" Type="http://schemas.openxmlformats.org/officeDocument/2006/relationships/slide" Target="slide170.xml"/><Relationship Id="rId23" Type="http://schemas.openxmlformats.org/officeDocument/2006/relationships/slide" Target="slide143.xml"/><Relationship Id="rId10" Type="http://schemas.openxmlformats.org/officeDocument/2006/relationships/slide" Target="slide176.xml"/><Relationship Id="rId19" Type="http://schemas.openxmlformats.org/officeDocument/2006/relationships/slide" Target="slide184.xml"/><Relationship Id="rId4" Type="http://schemas.openxmlformats.org/officeDocument/2006/relationships/slide" Target="slide173.xml"/><Relationship Id="rId9" Type="http://schemas.openxmlformats.org/officeDocument/2006/relationships/slide" Target="slide185.xml"/><Relationship Id="rId14" Type="http://schemas.openxmlformats.org/officeDocument/2006/relationships/slide" Target="slide141.xml"/><Relationship Id="rId22" Type="http://schemas.openxmlformats.org/officeDocument/2006/relationships/slide" Target="slide191.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8" Type="http://schemas.openxmlformats.org/officeDocument/2006/relationships/slide" Target="slide228.xml"/><Relationship Id="rId13" Type="http://schemas.openxmlformats.org/officeDocument/2006/relationships/slide" Target="slide196.xml"/><Relationship Id="rId3" Type="http://schemas.openxmlformats.org/officeDocument/2006/relationships/image" Target="../media/image1.png"/><Relationship Id="rId7" Type="http://schemas.openxmlformats.org/officeDocument/2006/relationships/slide" Target="slide198.xml"/><Relationship Id="rId12" Type="http://schemas.openxmlformats.org/officeDocument/2006/relationships/slide" Target="slide144.xml"/><Relationship Id="rId17" Type="http://schemas.openxmlformats.org/officeDocument/2006/relationships/slide" Target="slide203.xml"/><Relationship Id="rId2" Type="http://schemas.openxmlformats.org/officeDocument/2006/relationships/notesSlide" Target="../notesSlides/notesSlide41.xml"/><Relationship Id="rId16" Type="http://schemas.openxmlformats.org/officeDocument/2006/relationships/slide" Target="slide202.xml"/><Relationship Id="rId1" Type="http://schemas.openxmlformats.org/officeDocument/2006/relationships/slideLayout" Target="../slideLayouts/slideLayout2.xml"/><Relationship Id="rId6" Type="http://schemas.openxmlformats.org/officeDocument/2006/relationships/slide" Target="slide185.xml"/><Relationship Id="rId11" Type="http://schemas.openxmlformats.org/officeDocument/2006/relationships/slide" Target="slide197.xml"/><Relationship Id="rId5" Type="http://schemas.openxmlformats.org/officeDocument/2006/relationships/slide" Target="slide200.xml"/><Relationship Id="rId15" Type="http://schemas.openxmlformats.org/officeDocument/2006/relationships/slide" Target="slide201.xml"/><Relationship Id="rId10" Type="http://schemas.openxmlformats.org/officeDocument/2006/relationships/slide" Target="slide199.xml"/><Relationship Id="rId4" Type="http://schemas.openxmlformats.org/officeDocument/2006/relationships/slide" Target="slide124.xml"/><Relationship Id="rId9" Type="http://schemas.openxmlformats.org/officeDocument/2006/relationships/slide" Target="slide184.xml"/><Relationship Id="rId14" Type="http://schemas.openxmlformats.org/officeDocument/2006/relationships/slide" Target="slide149.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8" Type="http://schemas.openxmlformats.org/officeDocument/2006/relationships/slide" Target="slide225.xml"/><Relationship Id="rId13" Type="http://schemas.openxmlformats.org/officeDocument/2006/relationships/slide" Target="slide215.xml"/><Relationship Id="rId18" Type="http://schemas.openxmlformats.org/officeDocument/2006/relationships/slide" Target="slide216.xml"/><Relationship Id="rId3" Type="http://schemas.openxmlformats.org/officeDocument/2006/relationships/image" Target="../media/image1.png"/><Relationship Id="rId7" Type="http://schemas.openxmlformats.org/officeDocument/2006/relationships/slide" Target="slide210.xml"/><Relationship Id="rId12" Type="http://schemas.openxmlformats.org/officeDocument/2006/relationships/slide" Target="slide230.xml"/><Relationship Id="rId17" Type="http://schemas.openxmlformats.org/officeDocument/2006/relationships/slide" Target="slide214.xml"/><Relationship Id="rId2" Type="http://schemas.openxmlformats.org/officeDocument/2006/relationships/notesSlide" Target="../notesSlides/notesSlide43.xml"/><Relationship Id="rId16" Type="http://schemas.openxmlformats.org/officeDocument/2006/relationships/slide" Target="slide206.xml"/><Relationship Id="rId1" Type="http://schemas.openxmlformats.org/officeDocument/2006/relationships/slideLayout" Target="../slideLayouts/slideLayout2.xml"/><Relationship Id="rId6" Type="http://schemas.openxmlformats.org/officeDocument/2006/relationships/slide" Target="slide207.xml"/><Relationship Id="rId11" Type="http://schemas.openxmlformats.org/officeDocument/2006/relationships/slide" Target="slide222.xml"/><Relationship Id="rId5" Type="http://schemas.openxmlformats.org/officeDocument/2006/relationships/slide" Target="slide224.xml"/><Relationship Id="rId15" Type="http://schemas.openxmlformats.org/officeDocument/2006/relationships/slide" Target="slide209.xml"/><Relationship Id="rId10" Type="http://schemas.openxmlformats.org/officeDocument/2006/relationships/slide" Target="slide217.xml"/><Relationship Id="rId19" Type="http://schemas.openxmlformats.org/officeDocument/2006/relationships/slide" Target="slide213.xml"/><Relationship Id="rId4" Type="http://schemas.openxmlformats.org/officeDocument/2006/relationships/slide" Target="slide212.xml"/><Relationship Id="rId9" Type="http://schemas.openxmlformats.org/officeDocument/2006/relationships/slide" Target="slide208.xml"/><Relationship Id="rId14" Type="http://schemas.openxmlformats.org/officeDocument/2006/relationships/slide" Target="slide211.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8" Type="http://schemas.openxmlformats.org/officeDocument/2006/relationships/slide" Target="slide232.xml"/><Relationship Id="rId3" Type="http://schemas.openxmlformats.org/officeDocument/2006/relationships/image" Target="../media/image1.png"/><Relationship Id="rId7" Type="http://schemas.openxmlformats.org/officeDocument/2006/relationships/slide" Target="slide226.xml"/><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slide" Target="slide225.xml"/><Relationship Id="rId5" Type="http://schemas.openxmlformats.org/officeDocument/2006/relationships/slide" Target="slide231.xml"/><Relationship Id="rId4" Type="http://schemas.openxmlformats.org/officeDocument/2006/relationships/slide" Target="slide224.xml"/><Relationship Id="rId9" Type="http://schemas.openxmlformats.org/officeDocument/2006/relationships/slide" Target="slide227.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slide" Target="slide223.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slide" Target="slide120.xml"/><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slide" Target="slide108.xml"/><Relationship Id="rId5" Type="http://schemas.openxmlformats.org/officeDocument/2006/relationships/slide" Target="slide113.xml"/><Relationship Id="rId4" Type="http://schemas.openxmlformats.org/officeDocument/2006/relationships/slide" Target="slide107.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slide" Target="slide131.xml"/><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slide" Target="slide130.xml"/><Relationship Id="rId5" Type="http://schemas.openxmlformats.org/officeDocument/2006/relationships/slide" Target="slide114.xml"/><Relationship Id="rId4" Type="http://schemas.openxmlformats.org/officeDocument/2006/relationships/slide" Target="slide129.xml"/></Relationships>
</file>

<file path=ppt/slides/_rels/slide70.xml.rels><?xml version="1.0" encoding="UTF-8" standalone="yes"?>
<Relationships xmlns="http://schemas.openxmlformats.org/package/2006/relationships"><Relationship Id="rId8" Type="http://schemas.openxmlformats.org/officeDocument/2006/relationships/slide" Target="slide117.xml"/><Relationship Id="rId3" Type="http://schemas.openxmlformats.org/officeDocument/2006/relationships/image" Target="../media/image1.png"/><Relationship Id="rId7" Type="http://schemas.openxmlformats.org/officeDocument/2006/relationships/slide" Target="slide116.xml"/><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slide" Target="slide114.xml"/><Relationship Id="rId5" Type="http://schemas.openxmlformats.org/officeDocument/2006/relationships/slide" Target="slide149.xml"/><Relationship Id="rId10" Type="http://schemas.openxmlformats.org/officeDocument/2006/relationships/slide" Target="slide121.xml"/><Relationship Id="rId4" Type="http://schemas.openxmlformats.org/officeDocument/2006/relationships/slide" Target="slide115.xml"/><Relationship Id="rId9" Type="http://schemas.openxmlformats.org/officeDocument/2006/relationships/slide" Target="slide123.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8" Type="http://schemas.openxmlformats.org/officeDocument/2006/relationships/slide" Target="slide224.xml"/><Relationship Id="rId3" Type="http://schemas.openxmlformats.org/officeDocument/2006/relationships/image" Target="../media/image1.png"/><Relationship Id="rId7" Type="http://schemas.openxmlformats.org/officeDocument/2006/relationships/slide" Target="slide124.xml"/><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slide" Target="slide125.xml"/><Relationship Id="rId5" Type="http://schemas.openxmlformats.org/officeDocument/2006/relationships/slide" Target="slide108.xml"/><Relationship Id="rId10" Type="http://schemas.openxmlformats.org/officeDocument/2006/relationships/slide" Target="slide110.xml"/><Relationship Id="rId4" Type="http://schemas.openxmlformats.org/officeDocument/2006/relationships/slide" Target="slide109.xml"/><Relationship Id="rId9" Type="http://schemas.openxmlformats.org/officeDocument/2006/relationships/slide" Target="slide111.xml"/></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slide" Target="slide126.xml"/></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slide" Target="slide212.xml"/></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slide" Target="slide226.xml"/><Relationship Id="rId4" Type="http://schemas.openxmlformats.org/officeDocument/2006/relationships/slide" Target="slide228.xml"/></Relationships>
</file>

<file path=ppt/slides/_rels/slide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8" Type="http://schemas.openxmlformats.org/officeDocument/2006/relationships/slide" Target="slide175.xml"/><Relationship Id="rId3" Type="http://schemas.openxmlformats.org/officeDocument/2006/relationships/image" Target="../media/image1.png"/><Relationship Id="rId7" Type="http://schemas.openxmlformats.org/officeDocument/2006/relationships/slide" Target="slide186.xml"/><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slide" Target="slide174.xml"/><Relationship Id="rId5" Type="http://schemas.openxmlformats.org/officeDocument/2006/relationships/slide" Target="slide149.xml"/><Relationship Id="rId4" Type="http://schemas.openxmlformats.org/officeDocument/2006/relationships/slide" Target="slide119.xml"/><Relationship Id="rId9" Type="http://schemas.openxmlformats.org/officeDocument/2006/relationships/slide" Target="slide194.xml"/></Relationships>
</file>

<file path=ppt/slides/_rels/slide78.xml.rels><?xml version="1.0" encoding="UTF-8" standalone="yes"?>
<Relationships xmlns="http://schemas.openxmlformats.org/package/2006/relationships"><Relationship Id="rId8" Type="http://schemas.openxmlformats.org/officeDocument/2006/relationships/slide" Target="slide191.xml"/><Relationship Id="rId3" Type="http://schemas.openxmlformats.org/officeDocument/2006/relationships/image" Target="../media/image1.png"/><Relationship Id="rId7" Type="http://schemas.openxmlformats.org/officeDocument/2006/relationships/slide" Target="slide182.xml"/><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slide" Target="slide180.xml"/><Relationship Id="rId5" Type="http://schemas.openxmlformats.org/officeDocument/2006/relationships/slide" Target="slide179.xml"/><Relationship Id="rId4" Type="http://schemas.openxmlformats.org/officeDocument/2006/relationships/slide" Target="slide177.xml"/></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slide" Target="slide169.xml"/></Relationships>
</file>

<file path=ppt/slides/_rels/slide80.xml.rels><?xml version="1.0" encoding="UTF-8" standalone="yes"?>
<Relationships xmlns="http://schemas.openxmlformats.org/package/2006/relationships"><Relationship Id="rId8" Type="http://schemas.openxmlformats.org/officeDocument/2006/relationships/slide" Target="slide164.xml"/><Relationship Id="rId13" Type="http://schemas.openxmlformats.org/officeDocument/2006/relationships/slide" Target="slide153.xml"/><Relationship Id="rId3" Type="http://schemas.openxmlformats.org/officeDocument/2006/relationships/image" Target="../media/image1.png"/><Relationship Id="rId7" Type="http://schemas.openxmlformats.org/officeDocument/2006/relationships/slide" Target="slide163.xml"/><Relationship Id="rId12" Type="http://schemas.openxmlformats.org/officeDocument/2006/relationships/slide" Target="slide145.xml"/><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slide" Target="slide162.xml"/><Relationship Id="rId11" Type="http://schemas.openxmlformats.org/officeDocument/2006/relationships/slide" Target="slide167.xml"/><Relationship Id="rId5" Type="http://schemas.openxmlformats.org/officeDocument/2006/relationships/slide" Target="slide172.xml"/><Relationship Id="rId10" Type="http://schemas.openxmlformats.org/officeDocument/2006/relationships/slide" Target="slide166.xml"/><Relationship Id="rId4" Type="http://schemas.openxmlformats.org/officeDocument/2006/relationships/slide" Target="slide161.xml"/><Relationship Id="rId9" Type="http://schemas.openxmlformats.org/officeDocument/2006/relationships/slide" Target="slide165.xml"/><Relationship Id="rId14" Type="http://schemas.openxmlformats.org/officeDocument/2006/relationships/slide" Target="slide154.xml"/></Relationships>
</file>

<file path=ppt/slides/_rels/slide81.xml.rels><?xml version="1.0" encoding="UTF-8" standalone="yes"?>
<Relationships xmlns="http://schemas.openxmlformats.org/package/2006/relationships"><Relationship Id="rId8" Type="http://schemas.openxmlformats.org/officeDocument/2006/relationships/slide" Target="slide171.xml"/><Relationship Id="rId13" Type="http://schemas.openxmlformats.org/officeDocument/2006/relationships/slide" Target="slide190.xml"/><Relationship Id="rId3" Type="http://schemas.openxmlformats.org/officeDocument/2006/relationships/image" Target="../media/image1.png"/><Relationship Id="rId7" Type="http://schemas.openxmlformats.org/officeDocument/2006/relationships/slide" Target="slide146.xml"/><Relationship Id="rId12" Type="http://schemas.openxmlformats.org/officeDocument/2006/relationships/slide" Target="slide189.xml"/><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slide" Target="slide204.xml"/><Relationship Id="rId11" Type="http://schemas.openxmlformats.org/officeDocument/2006/relationships/slide" Target="slide140.xml"/><Relationship Id="rId5" Type="http://schemas.openxmlformats.org/officeDocument/2006/relationships/slide" Target="slide170.xml"/><Relationship Id="rId15" Type="http://schemas.openxmlformats.org/officeDocument/2006/relationships/slide" Target="slide193.xml"/><Relationship Id="rId10" Type="http://schemas.openxmlformats.org/officeDocument/2006/relationships/slide" Target="slide187.xml"/><Relationship Id="rId4" Type="http://schemas.openxmlformats.org/officeDocument/2006/relationships/slide" Target="slide127.xml"/><Relationship Id="rId9" Type="http://schemas.openxmlformats.org/officeDocument/2006/relationships/slide" Target="slide155.xml"/><Relationship Id="rId14" Type="http://schemas.openxmlformats.org/officeDocument/2006/relationships/slide" Target="slide192.xml"/></Relationships>
</file>

<file path=ppt/slides/_rels/slide82.xml.rels><?xml version="1.0" encoding="UTF-8" standalone="yes"?>
<Relationships xmlns="http://schemas.openxmlformats.org/package/2006/relationships"><Relationship Id="rId8" Type="http://schemas.openxmlformats.org/officeDocument/2006/relationships/slide" Target="slide200.xml"/><Relationship Id="rId13" Type="http://schemas.openxmlformats.org/officeDocument/2006/relationships/slide" Target="slide152.xml"/><Relationship Id="rId3" Type="http://schemas.openxmlformats.org/officeDocument/2006/relationships/image" Target="../media/image1.png"/><Relationship Id="rId7" Type="http://schemas.openxmlformats.org/officeDocument/2006/relationships/slide" Target="slide160.xml"/><Relationship Id="rId12" Type="http://schemas.openxmlformats.org/officeDocument/2006/relationships/slide" Target="slide205.xml"/><Relationship Id="rId17" Type="http://schemas.openxmlformats.org/officeDocument/2006/relationships/slide" Target="slide159.xml"/><Relationship Id="rId2" Type="http://schemas.openxmlformats.org/officeDocument/2006/relationships/notesSlide" Target="../notesSlides/notesSlide61.xml"/><Relationship Id="rId16" Type="http://schemas.openxmlformats.org/officeDocument/2006/relationships/slide" Target="slide157.xml"/><Relationship Id="rId1" Type="http://schemas.openxmlformats.org/officeDocument/2006/relationships/slideLayout" Target="../slideLayouts/slideLayout2.xml"/><Relationship Id="rId6" Type="http://schemas.openxmlformats.org/officeDocument/2006/relationships/slide" Target="slide161.xml"/><Relationship Id="rId11" Type="http://schemas.openxmlformats.org/officeDocument/2006/relationships/slide" Target="slide151.xml"/><Relationship Id="rId5" Type="http://schemas.openxmlformats.org/officeDocument/2006/relationships/slide" Target="slide147.xml"/><Relationship Id="rId15" Type="http://schemas.openxmlformats.org/officeDocument/2006/relationships/slide" Target="slide158.xml"/><Relationship Id="rId10" Type="http://schemas.openxmlformats.org/officeDocument/2006/relationships/slide" Target="slide162.xml"/><Relationship Id="rId4" Type="http://schemas.openxmlformats.org/officeDocument/2006/relationships/slide" Target="slide121.xml"/><Relationship Id="rId9" Type="http://schemas.openxmlformats.org/officeDocument/2006/relationships/slide" Target="slide148.xml"/><Relationship Id="rId14" Type="http://schemas.openxmlformats.org/officeDocument/2006/relationships/slide" Target="slide208.xml"/></Relationships>
</file>

<file path=ppt/slides/_rels/slide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8" Type="http://schemas.openxmlformats.org/officeDocument/2006/relationships/slide" Target="slide195.xml"/><Relationship Id="rId3" Type="http://schemas.openxmlformats.org/officeDocument/2006/relationships/image" Target="../media/image1.png"/><Relationship Id="rId7" Type="http://schemas.openxmlformats.org/officeDocument/2006/relationships/slide" Target="slide176.xml"/><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slide" Target="slide173.xml"/><Relationship Id="rId5" Type="http://schemas.openxmlformats.org/officeDocument/2006/relationships/slide" Target="slide149.xml"/><Relationship Id="rId4" Type="http://schemas.openxmlformats.org/officeDocument/2006/relationships/slide" Target="slide142.xml"/></Relationships>
</file>

<file path=ppt/slides/_rels/slide85.xml.rels><?xml version="1.0" encoding="UTF-8" standalone="yes"?>
<Relationships xmlns="http://schemas.openxmlformats.org/package/2006/relationships"><Relationship Id="rId8" Type="http://schemas.openxmlformats.org/officeDocument/2006/relationships/slide" Target="slide188.xml"/><Relationship Id="rId3" Type="http://schemas.openxmlformats.org/officeDocument/2006/relationships/image" Target="../media/image1.png"/><Relationship Id="rId7" Type="http://schemas.openxmlformats.org/officeDocument/2006/relationships/slide" Target="slide185.xml"/><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slide" Target="slide141.xml"/><Relationship Id="rId5" Type="http://schemas.openxmlformats.org/officeDocument/2006/relationships/slide" Target="slide133.xml"/><Relationship Id="rId4" Type="http://schemas.openxmlformats.org/officeDocument/2006/relationships/slide" Target="slide124.xml"/><Relationship Id="rId9" Type="http://schemas.openxmlformats.org/officeDocument/2006/relationships/slide" Target="slide183.xml"/></Relationships>
</file>

<file path=ppt/slides/_rels/slide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slide" Target="slide184.xml"/></Relationships>
</file>

<file path=ppt/slides/_rels/slide8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2.xml"/><Relationship Id="rId5" Type="http://schemas.openxmlformats.org/officeDocument/2006/relationships/slide" Target="slide143.xml"/><Relationship Id="rId4" Type="http://schemas.openxmlformats.org/officeDocument/2006/relationships/slide" Target="slide138.xml"/></Relationships>
</file>

<file path=ppt/slides/_rels/slide8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slide" Target="slide223.xml"/></Relationships>
</file>

<file path=ppt/slides/_rels/slide8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2.xml"/><Relationship Id="rId5" Type="http://schemas.openxmlformats.org/officeDocument/2006/relationships/slide" Target="slide181.xml"/><Relationship Id="rId4" Type="http://schemas.openxmlformats.org/officeDocument/2006/relationships/slide" Target="slide139.xml"/></Relationships>
</file>

<file path=ppt/slides/_rels/slide90.xml.rels><?xml version="1.0" encoding="UTF-8" standalone="yes"?>
<Relationships xmlns="http://schemas.openxmlformats.org/package/2006/relationships"><Relationship Id="rId8" Type="http://schemas.openxmlformats.org/officeDocument/2006/relationships/slide" Target="slide203.xml"/><Relationship Id="rId3" Type="http://schemas.openxmlformats.org/officeDocument/2006/relationships/image" Target="../media/image1.png"/><Relationship Id="rId7" Type="http://schemas.openxmlformats.org/officeDocument/2006/relationships/slide" Target="slide201.xml"/><Relationship Id="rId2" Type="http://schemas.openxmlformats.org/officeDocument/2006/relationships/notesSlide" Target="../notesSlides/notesSlide68.xml"/><Relationship Id="rId1" Type="http://schemas.openxmlformats.org/officeDocument/2006/relationships/slideLayout" Target="../slideLayouts/slideLayout2.xml"/><Relationship Id="rId6" Type="http://schemas.openxmlformats.org/officeDocument/2006/relationships/slide" Target="slide149.xml"/><Relationship Id="rId5" Type="http://schemas.openxmlformats.org/officeDocument/2006/relationships/slide" Target="slide196.xml"/><Relationship Id="rId4" Type="http://schemas.openxmlformats.org/officeDocument/2006/relationships/slide" Target="slide144.xml"/><Relationship Id="rId9" Type="http://schemas.openxmlformats.org/officeDocument/2006/relationships/slide" Target="slide202.xml"/></Relationships>
</file>

<file path=ppt/slides/_rels/slide91.xml.rels><?xml version="1.0" encoding="UTF-8" standalone="yes"?>
<Relationships xmlns="http://schemas.openxmlformats.org/package/2006/relationships"><Relationship Id="rId8" Type="http://schemas.openxmlformats.org/officeDocument/2006/relationships/slide" Target="slide216.xml"/><Relationship Id="rId3" Type="http://schemas.openxmlformats.org/officeDocument/2006/relationships/image" Target="../media/image1.png"/><Relationship Id="rId7" Type="http://schemas.openxmlformats.org/officeDocument/2006/relationships/slide" Target="slide219.xml"/><Relationship Id="rId2" Type="http://schemas.openxmlformats.org/officeDocument/2006/relationships/notesSlide" Target="../notesSlides/notesSlide69.xml"/><Relationship Id="rId1" Type="http://schemas.openxmlformats.org/officeDocument/2006/relationships/slideLayout" Target="../slideLayouts/slideLayout2.xml"/><Relationship Id="rId6" Type="http://schemas.openxmlformats.org/officeDocument/2006/relationships/slide" Target="slide218.xml"/><Relationship Id="rId5" Type="http://schemas.openxmlformats.org/officeDocument/2006/relationships/slide" Target="slide223.xml"/><Relationship Id="rId4" Type="http://schemas.openxmlformats.org/officeDocument/2006/relationships/slide" Target="slide221.xml"/></Relationships>
</file>

<file path=ppt/slides/_rels/slide9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slide" Target="slide197.xml"/></Relationships>
</file>

<file path=ppt/slides/_rels/slide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8" Type="http://schemas.openxmlformats.org/officeDocument/2006/relationships/slide" Target="slide211.xml"/><Relationship Id="rId3" Type="http://schemas.openxmlformats.org/officeDocument/2006/relationships/image" Target="../media/image1.png"/><Relationship Id="rId7" Type="http://schemas.openxmlformats.org/officeDocument/2006/relationships/slide" Target="slide198.xml"/><Relationship Id="rId2" Type="http://schemas.openxmlformats.org/officeDocument/2006/relationships/notesSlide" Target="../notesSlides/notesSlide71.xml"/><Relationship Id="rId1" Type="http://schemas.openxmlformats.org/officeDocument/2006/relationships/slideLayout" Target="../slideLayouts/slideLayout2.xml"/><Relationship Id="rId6" Type="http://schemas.openxmlformats.org/officeDocument/2006/relationships/slide" Target="slide168.xml"/><Relationship Id="rId5" Type="http://schemas.openxmlformats.org/officeDocument/2006/relationships/slide" Target="slide132.xml"/><Relationship Id="rId10" Type="http://schemas.openxmlformats.org/officeDocument/2006/relationships/slide" Target="slide199.xml"/><Relationship Id="rId4" Type="http://schemas.openxmlformats.org/officeDocument/2006/relationships/slide" Target="slide112.xml"/><Relationship Id="rId9" Type="http://schemas.openxmlformats.org/officeDocument/2006/relationships/slide" Target="slide137.xml"/></Relationships>
</file>

<file path=ppt/slides/_rels/slide95.xml.rels><?xml version="1.0" encoding="UTF-8" standalone="yes"?>
<Relationships xmlns="http://schemas.openxmlformats.org/package/2006/relationships"><Relationship Id="rId8" Type="http://schemas.openxmlformats.org/officeDocument/2006/relationships/slide" Target="slide208.xml"/><Relationship Id="rId3" Type="http://schemas.openxmlformats.org/officeDocument/2006/relationships/image" Target="../media/image1.png"/><Relationship Id="rId7" Type="http://schemas.openxmlformats.org/officeDocument/2006/relationships/slide" Target="slide128.xml"/><Relationship Id="rId2" Type="http://schemas.openxmlformats.org/officeDocument/2006/relationships/notesSlide" Target="../notesSlides/notesSlide72.xml"/><Relationship Id="rId1" Type="http://schemas.openxmlformats.org/officeDocument/2006/relationships/slideLayout" Target="../slideLayouts/slideLayout2.xml"/><Relationship Id="rId6" Type="http://schemas.openxmlformats.org/officeDocument/2006/relationships/slide" Target="slide231.xml"/><Relationship Id="rId5" Type="http://schemas.openxmlformats.org/officeDocument/2006/relationships/slide" Target="slide207.xml"/><Relationship Id="rId10" Type="http://schemas.openxmlformats.org/officeDocument/2006/relationships/slide" Target="slide230.xml"/><Relationship Id="rId4" Type="http://schemas.openxmlformats.org/officeDocument/2006/relationships/slide" Target="slide228.xml"/><Relationship Id="rId9" Type="http://schemas.openxmlformats.org/officeDocument/2006/relationships/slide" Target="slide232.xml"/></Relationships>
</file>

<file path=ppt/slides/_rels/slide9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slide" Target="slide136.xml"/><Relationship Id="rId2" Type="http://schemas.openxmlformats.org/officeDocument/2006/relationships/notesSlide" Target="../notesSlides/notesSlide73.xml"/><Relationship Id="rId1" Type="http://schemas.openxmlformats.org/officeDocument/2006/relationships/slideLayout" Target="../slideLayouts/slideLayout2.xml"/><Relationship Id="rId6" Type="http://schemas.openxmlformats.org/officeDocument/2006/relationships/slide" Target="slide135.xml"/><Relationship Id="rId5" Type="http://schemas.openxmlformats.org/officeDocument/2006/relationships/slide" Target="slide215.xml"/><Relationship Id="rId4" Type="http://schemas.openxmlformats.org/officeDocument/2006/relationships/slide" Target="slide134.xml"/></Relationships>
</file>

<file path=ppt/slides/_rels/slide9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slide" Target="slide209.xml"/></Relationships>
</file>

<file path=ppt/slides/_rels/slide9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slide" Target="slide213.xml"/><Relationship Id="rId2" Type="http://schemas.openxmlformats.org/officeDocument/2006/relationships/notesSlide" Target="../notesSlides/notesSlide75.xml"/><Relationship Id="rId1" Type="http://schemas.openxmlformats.org/officeDocument/2006/relationships/slideLayout" Target="../slideLayouts/slideLayout2.xml"/><Relationship Id="rId6" Type="http://schemas.openxmlformats.org/officeDocument/2006/relationships/slide" Target="slide214.xml"/><Relationship Id="rId5" Type="http://schemas.openxmlformats.org/officeDocument/2006/relationships/slide" Target="slide206.xml"/><Relationship Id="rId4" Type="http://schemas.openxmlformats.org/officeDocument/2006/relationships/slide" Target="slide216.xml"/></Relationships>
</file>

<file path=ppt/slides/_rels/slide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2.xml"/><Relationship Id="rId6" Type="http://schemas.openxmlformats.org/officeDocument/2006/relationships/slide" Target="slide227.xml"/><Relationship Id="rId5" Type="http://schemas.openxmlformats.org/officeDocument/2006/relationships/slide" Target="slide225.xml"/><Relationship Id="rId4" Type="http://schemas.openxmlformats.org/officeDocument/2006/relationships/slide" Target="slide118.xml"/></Relationships>
</file>

<file path=ppt/slides/_rels/slide1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7.xml"/><Relationship Id="rId1" Type="http://schemas.openxmlformats.org/officeDocument/2006/relationships/slideLayout" Target="../slideLayouts/slideLayout2.xml"/><Relationship Id="rId6" Type="http://schemas.openxmlformats.org/officeDocument/2006/relationships/slide" Target="slide222.xml"/><Relationship Id="rId5" Type="http://schemas.openxmlformats.org/officeDocument/2006/relationships/slide" Target="slide217.xml"/><Relationship Id="rId4" Type="http://schemas.openxmlformats.org/officeDocument/2006/relationships/slide" Target="slide210.xml"/></Relationships>
</file>

<file path=ppt/slides/_rels/slide1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9.xml"/><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1.xml"/><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2.xml"/><Relationship Id="rId1" Type="http://schemas.openxmlformats.org/officeDocument/2006/relationships/slideLayout" Target="../slideLayouts/slideLayout6.xml"/></Relationships>
</file>

<file path=ppt/slides/_rels/slide1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3.xml"/><Relationship Id="rId1" Type="http://schemas.openxmlformats.org/officeDocument/2006/relationships/slideLayout" Target="../slideLayouts/slideLayout6.xml"/></Relationships>
</file>

<file path=ppt/slides/_rels/slide1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4.xml"/><Relationship Id="rId1" Type="http://schemas.openxmlformats.org/officeDocument/2006/relationships/slideLayout" Target="../slideLayouts/slideLayout6.xml"/></Relationships>
</file>

<file path=ppt/slides/_rels/slide1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5.xml"/><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6.xml"/><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7.xml"/><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8.xml"/><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9.xml"/><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0.xml"/><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1.xml"/><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2.xml"/><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3.xml"/><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4.xml"/><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5.xml"/><Relationship Id="rId1" Type="http://schemas.openxmlformats.org/officeDocument/2006/relationships/slideLayout" Target="../slideLayouts/slideLayout6.xml"/></Relationships>
</file>

<file path=ppt/slides/_rels/slide1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6.xml"/><Relationship Id="rId1" Type="http://schemas.openxmlformats.org/officeDocument/2006/relationships/slideLayout" Target="../slideLayouts/slideLayout6.xml"/></Relationships>
</file>

<file path=ppt/slides/_rels/slide1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7.xml"/><Relationship Id="rId1" Type="http://schemas.openxmlformats.org/officeDocument/2006/relationships/slideLayout" Target="../slideLayouts/slideLayout6.xml"/></Relationships>
</file>

<file path=ppt/slides/_rels/slide1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8.xml"/><Relationship Id="rId1" Type="http://schemas.openxmlformats.org/officeDocument/2006/relationships/slideLayout" Target="../slideLayouts/slideLayout6.xml"/></Relationships>
</file>

<file path=ppt/slides/_rels/slide2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9.xml"/><Relationship Id="rId1" Type="http://schemas.openxmlformats.org/officeDocument/2006/relationships/slideLayout" Target="../slideLayouts/slideLayout6.xml"/></Relationships>
</file>

<file path=ppt/slides/_rels/slide2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0.xml"/><Relationship Id="rId1" Type="http://schemas.openxmlformats.org/officeDocument/2006/relationships/slideLayout" Target="../slideLayouts/slideLayout6.xml"/></Relationships>
</file>

<file path=ppt/slides/_rels/slide2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1.xml"/><Relationship Id="rId1" Type="http://schemas.openxmlformats.org/officeDocument/2006/relationships/slideLayout" Target="../slideLayouts/slideLayout6.xml"/></Relationships>
</file>

<file path=ppt/slides/_rels/slide2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a:bodyPr>
          <a:lstStyle/>
          <a:p>
            <a:r>
              <a:rPr lang="fr-FR" sz="4400" dirty="0" smtClean="0"/>
              <a:t>introduction</a:t>
            </a:r>
            <a:endParaRPr lang="fr-FR" sz="4400" dirty="0"/>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80309138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smtClean="0">
                <a:solidFill>
                  <a:schemeClr val="bg1"/>
                </a:solidFill>
              </a:rPr>
              <a:t>Historique des mises à jour</a:t>
            </a:r>
            <a:endParaRPr lang="fr-FR" b="1" dirty="0">
              <a:solidFill>
                <a:schemeClr val="bg1"/>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6" name="Tableau 5"/>
          <p:cNvGraphicFramePr>
            <a:graphicFrameLocks noGrp="1"/>
          </p:cNvGraphicFramePr>
          <p:nvPr>
            <p:extLst>
              <p:ext uri="{D42A27DB-BD31-4B8C-83A1-F6EECF244321}">
                <p14:modId xmlns:p14="http://schemas.microsoft.com/office/powerpoint/2010/main" val="1476897583"/>
              </p:ext>
            </p:extLst>
          </p:nvPr>
        </p:nvGraphicFramePr>
        <p:xfrm>
          <a:off x="159131" y="1645083"/>
          <a:ext cx="11986572" cy="1483360"/>
        </p:xfrm>
        <a:graphic>
          <a:graphicData uri="http://schemas.openxmlformats.org/drawingml/2006/table">
            <a:tbl>
              <a:tblPr firstRow="1" bandRow="1">
                <a:tableStyleId>{5C22544A-7EE6-4342-B048-85BDC9FD1C3A}</a:tableStyleId>
              </a:tblPr>
              <a:tblGrid>
                <a:gridCol w="1350180">
                  <a:extLst>
                    <a:ext uri="{9D8B030D-6E8A-4147-A177-3AD203B41FA5}">
                      <a16:colId xmlns:a16="http://schemas.microsoft.com/office/drawing/2014/main" val="3941080284"/>
                    </a:ext>
                  </a:extLst>
                </a:gridCol>
                <a:gridCol w="1983036">
                  <a:extLst>
                    <a:ext uri="{9D8B030D-6E8A-4147-A177-3AD203B41FA5}">
                      <a16:colId xmlns:a16="http://schemas.microsoft.com/office/drawing/2014/main" val="4269426329"/>
                    </a:ext>
                  </a:extLst>
                </a:gridCol>
                <a:gridCol w="3789802">
                  <a:extLst>
                    <a:ext uri="{9D8B030D-6E8A-4147-A177-3AD203B41FA5}">
                      <a16:colId xmlns:a16="http://schemas.microsoft.com/office/drawing/2014/main" val="137697105"/>
                    </a:ext>
                  </a:extLst>
                </a:gridCol>
                <a:gridCol w="4863554">
                  <a:extLst>
                    <a:ext uri="{9D8B030D-6E8A-4147-A177-3AD203B41FA5}">
                      <a16:colId xmlns:a16="http://schemas.microsoft.com/office/drawing/2014/main" val="3043773251"/>
                    </a:ext>
                  </a:extLst>
                </a:gridCol>
              </a:tblGrid>
              <a:tr h="370840">
                <a:tc>
                  <a:txBody>
                    <a:bodyPr/>
                    <a:lstStyle/>
                    <a:p>
                      <a:r>
                        <a:rPr lang="fr-FR" dirty="0" smtClean="0"/>
                        <a:t>Version</a:t>
                      </a:r>
                      <a:endParaRPr lang="fr-FR" dirty="0"/>
                    </a:p>
                  </a:txBody>
                  <a:tcPr/>
                </a:tc>
                <a:tc>
                  <a:txBody>
                    <a:bodyPr/>
                    <a:lstStyle/>
                    <a:p>
                      <a:r>
                        <a:rPr lang="fr-FR" dirty="0" smtClean="0"/>
                        <a:t>Date</a:t>
                      </a:r>
                      <a:endParaRPr lang="fr-FR" dirty="0"/>
                    </a:p>
                  </a:txBody>
                  <a:tcPr/>
                </a:tc>
                <a:tc>
                  <a:txBody>
                    <a:bodyPr/>
                    <a:lstStyle/>
                    <a:p>
                      <a:r>
                        <a:rPr lang="fr-FR" dirty="0" smtClean="0"/>
                        <a:t>Acteur</a:t>
                      </a:r>
                      <a:endParaRPr lang="fr-FR" dirty="0"/>
                    </a:p>
                  </a:txBody>
                  <a:tcPr/>
                </a:tc>
                <a:tc>
                  <a:txBody>
                    <a:bodyPr/>
                    <a:lstStyle/>
                    <a:p>
                      <a:r>
                        <a:rPr lang="fr-FR" dirty="0" smtClean="0"/>
                        <a:t>Commentaire</a:t>
                      </a:r>
                      <a:endParaRPr lang="fr-FR" dirty="0"/>
                    </a:p>
                  </a:txBody>
                  <a:tcPr/>
                </a:tc>
                <a:extLst>
                  <a:ext uri="{0D108BD9-81ED-4DB2-BD59-A6C34878D82A}">
                    <a16:rowId xmlns:a16="http://schemas.microsoft.com/office/drawing/2014/main" val="3657617808"/>
                  </a:ext>
                </a:extLst>
              </a:tr>
              <a:tr h="370840">
                <a:tc>
                  <a:txBody>
                    <a:bodyPr/>
                    <a:lstStyle/>
                    <a:p>
                      <a:r>
                        <a:rPr lang="fr-FR" sz="1600" dirty="0" smtClean="0"/>
                        <a:t>1.0</a:t>
                      </a:r>
                      <a:endParaRPr lang="fr-FR" sz="1600" dirty="0"/>
                    </a:p>
                  </a:txBody>
                  <a:tcPr/>
                </a:tc>
                <a:tc>
                  <a:txBody>
                    <a:bodyPr/>
                    <a:lstStyle/>
                    <a:p>
                      <a:r>
                        <a:rPr lang="fr-FR" sz="1600" dirty="0" smtClean="0"/>
                        <a:t>15/01/2025</a:t>
                      </a:r>
                      <a:endParaRPr lang="fr-FR" sz="1600" dirty="0"/>
                    </a:p>
                  </a:txBody>
                  <a:tcPr/>
                </a:tc>
                <a:tc>
                  <a:txBody>
                    <a:bodyPr/>
                    <a:lstStyle/>
                    <a:p>
                      <a:r>
                        <a:rPr lang="fr-FR" sz="1600" dirty="0" smtClean="0"/>
                        <a:t> Dylan Moreau / F. Kammerlocher</a:t>
                      </a:r>
                      <a:endParaRPr lang="fr-FR" sz="1600" dirty="0"/>
                    </a:p>
                  </a:txBody>
                  <a:tcPr/>
                </a:tc>
                <a:tc>
                  <a:txBody>
                    <a:bodyPr/>
                    <a:lstStyle/>
                    <a:p>
                      <a:endParaRPr lang="fr-FR" sz="1600"/>
                    </a:p>
                  </a:txBody>
                  <a:tcPr/>
                </a:tc>
                <a:extLst>
                  <a:ext uri="{0D108BD9-81ED-4DB2-BD59-A6C34878D82A}">
                    <a16:rowId xmlns:a16="http://schemas.microsoft.com/office/drawing/2014/main" val="2321519570"/>
                  </a:ext>
                </a:extLst>
              </a:tr>
              <a:tr h="370840">
                <a:tc>
                  <a:txBody>
                    <a:bodyPr/>
                    <a:lstStyle/>
                    <a:p>
                      <a:r>
                        <a:rPr lang="fr-FR" sz="1600" dirty="0" smtClean="0"/>
                        <a:t>1.1</a:t>
                      </a:r>
                      <a:endParaRPr lang="fr-FR" sz="1600" dirty="0"/>
                    </a:p>
                  </a:txBody>
                  <a:tcPr/>
                </a:tc>
                <a:tc>
                  <a:txBody>
                    <a:bodyPr/>
                    <a:lstStyle/>
                    <a:p>
                      <a:r>
                        <a:rPr lang="fr-FR" sz="1600" dirty="0" smtClean="0"/>
                        <a:t>07/02/2025</a:t>
                      </a:r>
                      <a:endParaRPr lang="fr-FR"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smtClean="0"/>
                        <a:t>F. Kammerlocher</a:t>
                      </a:r>
                    </a:p>
                  </a:txBody>
                  <a:tcPr/>
                </a:tc>
                <a:tc>
                  <a:txBody>
                    <a:bodyPr/>
                    <a:lstStyle/>
                    <a:p>
                      <a:r>
                        <a:rPr lang="fr-FR" sz="1600" dirty="0" err="1" smtClean="0"/>
                        <a:t>Modif</a:t>
                      </a:r>
                      <a:r>
                        <a:rPr lang="fr-FR" sz="1600" dirty="0" smtClean="0"/>
                        <a:t>. Planche Mesure</a:t>
                      </a:r>
                      <a:endParaRPr lang="fr-FR" sz="1600" dirty="0"/>
                    </a:p>
                  </a:txBody>
                  <a:tcPr/>
                </a:tc>
                <a:extLst>
                  <a:ext uri="{0D108BD9-81ED-4DB2-BD59-A6C34878D82A}">
                    <a16:rowId xmlns:a16="http://schemas.microsoft.com/office/drawing/2014/main" val="165214573"/>
                  </a:ext>
                </a:extLst>
              </a:tr>
              <a:tr h="370840">
                <a:tc>
                  <a:txBody>
                    <a:bodyPr/>
                    <a:lstStyle/>
                    <a:p>
                      <a:endParaRPr lang="fr-FR" sz="1600"/>
                    </a:p>
                  </a:txBody>
                  <a:tcPr/>
                </a:tc>
                <a:tc>
                  <a:txBody>
                    <a:bodyPr/>
                    <a:lstStyle/>
                    <a:p>
                      <a:endParaRPr lang="fr-FR" sz="1600" dirty="0"/>
                    </a:p>
                  </a:txBody>
                  <a:tcPr/>
                </a:tc>
                <a:tc>
                  <a:txBody>
                    <a:bodyPr/>
                    <a:lstStyle/>
                    <a:p>
                      <a:endParaRPr lang="fr-FR" sz="1600"/>
                    </a:p>
                  </a:txBody>
                  <a:tcPr/>
                </a:tc>
                <a:tc>
                  <a:txBody>
                    <a:bodyPr/>
                    <a:lstStyle/>
                    <a:p>
                      <a:endParaRPr lang="fr-FR" sz="1600" dirty="0"/>
                    </a:p>
                  </a:txBody>
                  <a:tcPr/>
                </a:tc>
                <a:extLst>
                  <a:ext uri="{0D108BD9-81ED-4DB2-BD59-A6C34878D82A}">
                    <a16:rowId xmlns:a16="http://schemas.microsoft.com/office/drawing/2014/main" val="629682987"/>
                  </a:ext>
                </a:extLst>
              </a:tr>
            </a:tbl>
          </a:graphicData>
        </a:graphic>
      </p:graphicFrame>
    </p:spTree>
    <p:extLst>
      <p:ext uri="{BB962C8B-B14F-4D97-AF65-F5344CB8AC3E}">
        <p14:creationId xmlns:p14="http://schemas.microsoft.com/office/powerpoint/2010/main" val="28948843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Espace réservé du numéro de diapositive 10"/>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fr-FR" sz="1200" b="0" i="0" u="none" strike="noStrike" kern="1200" cap="none" spc="0" normalizeH="0" baseline="0" noProof="0" smtClean="0">
                <a:ln>
                  <a:noFill/>
                </a:ln>
                <a:solidFill>
                  <a:srgbClr val="0C419A"/>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fr-FR" sz="1200" b="0" i="0" u="none" strike="noStrike" kern="1200" cap="none" spc="0" normalizeH="0" baseline="0" noProof="0" dirty="0">
              <a:ln>
                <a:noFill/>
              </a:ln>
              <a:solidFill>
                <a:srgbClr val="0C419A"/>
              </a:solidFill>
              <a:effectLst/>
              <a:uLnTx/>
              <a:uFillTx/>
              <a:latin typeface="Arial" panose="020B0604020202020204"/>
              <a:ea typeface="+mn-ea"/>
              <a:cs typeface="+mn-cs"/>
            </a:endParaRPr>
          </a:p>
        </p:txBody>
      </p:sp>
      <p:sp>
        <p:nvSpPr>
          <p:cNvPr id="50" name="Espace réservé du numéro de diapositive 10"/>
          <p:cNvSpPr>
            <a:spLocks noGrp="1"/>
          </p:cNvSpPr>
          <p:nvPr>
            <p:ph type="sldNum" sz="quarter" idx="4294967295"/>
          </p:nvPr>
        </p:nvSpPr>
        <p:spPr>
          <a:xfrm>
            <a:off x="395469" y="6229647"/>
            <a:ext cx="720000" cy="28800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fr-FR" sz="1200" b="0" i="0" u="none" strike="noStrike" kern="1200" cap="none" spc="0" normalizeH="0" baseline="0" noProof="0" smtClean="0">
                <a:ln>
                  <a:noFill/>
                </a:ln>
                <a:solidFill>
                  <a:srgbClr val="0C419A"/>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fr-FR" sz="1200" b="0" i="0" u="none" strike="noStrike" kern="1200" cap="none" spc="0" normalizeH="0" baseline="0" noProof="0" dirty="0">
              <a:ln>
                <a:noFill/>
              </a:ln>
              <a:solidFill>
                <a:srgbClr val="0C419A"/>
              </a:solidFill>
              <a:effectLst/>
              <a:uLnTx/>
              <a:uFillTx/>
              <a:latin typeface="Arial" panose="020B0604020202020204"/>
              <a:ea typeface="+mn-ea"/>
              <a:cs typeface="+mn-cs"/>
            </a:endParaRPr>
          </a:p>
        </p:txBody>
      </p:sp>
      <p:sp>
        <p:nvSpPr>
          <p:cNvPr id="6" name="ZoneTexte 5"/>
          <p:cNvSpPr txBox="1"/>
          <p:nvPr/>
        </p:nvSpPr>
        <p:spPr>
          <a:xfrm>
            <a:off x="2204" y="1359454"/>
            <a:ext cx="6005339" cy="1754326"/>
          </a:xfrm>
          <a:prstGeom prst="rect">
            <a:avLst/>
          </a:prstGeom>
          <a:solidFill>
            <a:srgbClr val="5E74B8">
              <a:lumMod val="20000"/>
              <a:lumOff val="80000"/>
            </a:srgbClr>
          </a:solidFill>
        </p:spPr>
        <p:txBody>
          <a:bodyPr wrap="square" rIns="252000" rtlCol="0">
            <a:spAutoFit/>
          </a:bodyPr>
          <a:lstStyle/>
          <a:p>
            <a:pPr marL="0" marR="0" lvl="0" indent="0" defTabSz="914126" eaLnBrk="1" fontAlgn="auto" latinLnBrk="0" hangingPunct="1">
              <a:lnSpc>
                <a:spcPct val="100000"/>
              </a:lnSpc>
              <a:spcBef>
                <a:spcPts val="0"/>
              </a:spcBef>
              <a:spcAft>
                <a:spcPts val="0"/>
              </a:spcAft>
              <a:buClrTx/>
              <a:buSzTx/>
              <a:buFontTx/>
              <a:buNone/>
              <a:tabLst/>
              <a:defRPr/>
            </a:pPr>
            <a:r>
              <a:rPr kumimoji="0" lang="fr-FR" sz="1800" b="1" i="0" u="sng" strike="noStrike" kern="0" cap="none" spc="0" normalizeH="0" baseline="0" noProof="0" dirty="0" smtClean="0">
                <a:ln>
                  <a:noFill/>
                </a:ln>
                <a:solidFill>
                  <a:srgbClr val="4472C4">
                    <a:lumMod val="75000"/>
                  </a:srgbClr>
                </a:solidFill>
                <a:effectLst/>
                <a:uLnTx/>
                <a:uFillTx/>
                <a:latin typeface="Calibri" panose="020F0502020204030204"/>
              </a:rPr>
              <a:t>C’est quoi ?</a:t>
            </a:r>
          </a:p>
          <a:p>
            <a:pPr marL="0" marR="0" lvl="0" indent="0" defTabSz="914126"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dirty="0" smtClean="0">
                <a:ln>
                  <a:noFill/>
                </a:ln>
                <a:solidFill>
                  <a:srgbClr val="4472C4">
                    <a:lumMod val="75000"/>
                  </a:srgbClr>
                </a:solidFill>
                <a:effectLst/>
                <a:uLnTx/>
                <a:uFillTx/>
                <a:latin typeface="Calibri" panose="020F0502020204030204"/>
              </a:rPr>
              <a:t>Intégrer des </a:t>
            </a:r>
            <a:r>
              <a:rPr kumimoji="0" lang="fr-FR" sz="1800" b="1" i="0" u="none" strike="noStrike" kern="0" cap="none" spc="0" normalizeH="0" baseline="0" noProof="0" dirty="0" smtClean="0">
                <a:ln>
                  <a:noFill/>
                </a:ln>
                <a:solidFill>
                  <a:srgbClr val="4472C4">
                    <a:lumMod val="75000"/>
                  </a:srgbClr>
                </a:solidFill>
                <a:effectLst/>
                <a:uLnTx/>
                <a:uFillTx/>
                <a:latin typeface="Calibri" panose="020F0502020204030204"/>
              </a:rPr>
              <a:t>pratiques respectueuses de l'environnement dès la conception d’un produit ou service numérique et tout au long de son cycle de vie</a:t>
            </a:r>
            <a:r>
              <a:rPr kumimoji="0" lang="fr-FR" sz="1800" b="0" i="0" u="none" strike="noStrike" kern="0" cap="none" spc="0" normalizeH="0" baseline="0" noProof="0" dirty="0" smtClean="0">
                <a:ln>
                  <a:noFill/>
                </a:ln>
                <a:solidFill>
                  <a:srgbClr val="4472C4">
                    <a:lumMod val="75000"/>
                  </a:srgbClr>
                </a:solidFill>
                <a:effectLst/>
                <a:uLnTx/>
                <a:uFillTx/>
                <a:latin typeface="Calibri" panose="020F0502020204030204"/>
              </a:rPr>
              <a:t>, et ceci, sur le volet Fonctionnel - définition du produit - et sur le volet Technique – achat et fabrication du produit –  …</a:t>
            </a:r>
            <a:endParaRPr kumimoji="0" lang="fr-FR" sz="900" b="1" i="0" u="sng" strike="noStrike" kern="0" cap="none" spc="0" normalizeH="0" baseline="0" noProof="0" dirty="0" smtClean="0">
              <a:ln>
                <a:noFill/>
              </a:ln>
              <a:solidFill>
                <a:srgbClr val="4472C4">
                  <a:lumMod val="75000"/>
                </a:srgbClr>
              </a:solidFill>
              <a:effectLst/>
              <a:uLnTx/>
              <a:uFillTx/>
              <a:latin typeface="Calibri" panose="020F0502020204030204"/>
            </a:endParaRPr>
          </a:p>
        </p:txBody>
      </p:sp>
      <p:sp>
        <p:nvSpPr>
          <p:cNvPr id="7" name="ZoneTexte 6"/>
          <p:cNvSpPr txBox="1"/>
          <p:nvPr/>
        </p:nvSpPr>
        <p:spPr>
          <a:xfrm>
            <a:off x="2206" y="3120626"/>
            <a:ext cx="4804759" cy="2000607"/>
          </a:xfrm>
          <a:prstGeom prst="rect">
            <a:avLst/>
          </a:prstGeom>
          <a:solidFill>
            <a:srgbClr val="0C419A">
              <a:lumMod val="20000"/>
              <a:lumOff val="80000"/>
            </a:srgbClr>
          </a:solidFill>
        </p:spPr>
        <p:txBody>
          <a:bodyPr wrap="square" rtlCol="0" anchor="ctr">
            <a:noAutofit/>
          </a:bodyPr>
          <a:lstStyle/>
          <a:p>
            <a:pPr marL="0" marR="0" lvl="0" indent="0" defTabSz="914126" eaLnBrk="1" fontAlgn="auto" latinLnBrk="0" hangingPunct="1">
              <a:lnSpc>
                <a:spcPct val="100000"/>
              </a:lnSpc>
              <a:spcBef>
                <a:spcPts val="0"/>
              </a:spcBef>
              <a:spcAft>
                <a:spcPts val="0"/>
              </a:spcAft>
              <a:buClrTx/>
              <a:buSzTx/>
              <a:buFontTx/>
              <a:buNone/>
              <a:tabLst/>
              <a:defRPr/>
            </a:pPr>
            <a:r>
              <a:rPr kumimoji="0" lang="fr-FR" sz="1800" b="1" i="0" u="sng" strike="noStrike" kern="0" cap="none" spc="0" normalizeH="0" baseline="0" noProof="0" dirty="0" smtClean="0">
                <a:ln>
                  <a:noFill/>
                </a:ln>
                <a:solidFill>
                  <a:srgbClr val="4472C4">
                    <a:lumMod val="75000"/>
                  </a:srgbClr>
                </a:solidFill>
                <a:effectLst/>
                <a:uLnTx/>
                <a:uFillTx/>
                <a:latin typeface="Calibri" panose="020F0502020204030204"/>
              </a:rPr>
              <a:t>Comment ?</a:t>
            </a:r>
          </a:p>
          <a:p>
            <a:pPr marL="0" marR="0" lvl="0" indent="0" defTabSz="914126" eaLnBrk="1" fontAlgn="auto" latinLnBrk="0" hangingPunct="1">
              <a:lnSpc>
                <a:spcPct val="100000"/>
              </a:lnSpc>
              <a:spcBef>
                <a:spcPts val="0"/>
              </a:spcBef>
              <a:spcAft>
                <a:spcPts val="0"/>
              </a:spcAft>
              <a:buClrTx/>
              <a:buSzTx/>
              <a:buFontTx/>
              <a:buNone/>
              <a:tabLst/>
              <a:defRPr/>
            </a:pPr>
            <a:endParaRPr kumimoji="0" lang="fr-FR" sz="900" b="1" i="0" u="sng" strike="noStrike" kern="0" cap="none" spc="0" normalizeH="0" baseline="0" noProof="0" dirty="0" smtClean="0">
              <a:ln>
                <a:noFill/>
              </a:ln>
              <a:solidFill>
                <a:srgbClr val="4472C4">
                  <a:lumMod val="75000"/>
                </a:srgbClr>
              </a:solidFill>
              <a:effectLst/>
              <a:uLnTx/>
              <a:uFillTx/>
              <a:latin typeface="Calibri" panose="020F0502020204030204"/>
            </a:endParaRPr>
          </a:p>
          <a:p>
            <a:pPr marL="360000" marR="0" lvl="1" indent="0" defTabSz="914126"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dirty="0" smtClean="0">
                <a:ln>
                  <a:noFill/>
                </a:ln>
                <a:solidFill>
                  <a:srgbClr val="4472C4">
                    <a:lumMod val="75000"/>
                  </a:srgbClr>
                </a:solidFill>
                <a:effectLst/>
                <a:uLnTx/>
                <a:uFillTx/>
                <a:latin typeface="Calibri" panose="020F0502020204030204"/>
              </a:rPr>
              <a:t>... </a:t>
            </a:r>
            <a:r>
              <a:rPr kumimoji="0" lang="fr-FR" sz="1800" b="1" i="0" u="none" strike="noStrike" kern="0" cap="none" spc="0" normalizeH="0" baseline="0" noProof="0" dirty="0" smtClean="0">
                <a:ln>
                  <a:noFill/>
                </a:ln>
                <a:solidFill>
                  <a:srgbClr val="4472C4">
                    <a:lumMod val="75000"/>
                  </a:srgbClr>
                </a:solidFill>
                <a:effectLst/>
                <a:uLnTx/>
                <a:uFillTx/>
                <a:latin typeface="Calibri" panose="020F0502020204030204"/>
              </a:rPr>
              <a:t>en suivant diverses recommandations </a:t>
            </a:r>
            <a:r>
              <a:rPr kumimoji="0" lang="fr-FR" sz="1800" b="0" i="0" u="none" strike="noStrike" kern="0" cap="none" spc="0" normalizeH="0" baseline="0" noProof="0" dirty="0" smtClean="0">
                <a:ln>
                  <a:noFill/>
                </a:ln>
                <a:solidFill>
                  <a:srgbClr val="4472C4">
                    <a:lumMod val="75000"/>
                  </a:srgbClr>
                </a:solidFill>
                <a:effectLst/>
                <a:uLnTx/>
                <a:uFillTx/>
                <a:latin typeface="Calibri" panose="020F0502020204030204"/>
              </a:rPr>
              <a:t>comme : </a:t>
            </a:r>
            <a:r>
              <a:rPr kumimoji="0" lang="fr-FR" sz="1600" b="0" i="0" u="none" strike="noStrike" kern="0" cap="none" spc="0" normalizeH="0" baseline="0" noProof="0" dirty="0" smtClean="0">
                <a:ln>
                  <a:noFill/>
                </a:ln>
                <a:solidFill>
                  <a:srgbClr val="4472C4">
                    <a:lumMod val="75000"/>
                  </a:srgbClr>
                </a:solidFill>
                <a:effectLst/>
                <a:uLnTx/>
                <a:uFillTx/>
                <a:latin typeface="Calibri" panose="020F0502020204030204"/>
              </a:rPr>
              <a:t>un challenge et une quantification des attentes utilisateurs, une optimisation du design et du code, ou une adaptation des quantités de ressources IT nécessaire, …</a:t>
            </a:r>
          </a:p>
        </p:txBody>
      </p:sp>
      <p:sp>
        <p:nvSpPr>
          <p:cNvPr id="8" name="ZoneTexte 7"/>
          <p:cNvSpPr txBox="1"/>
          <p:nvPr/>
        </p:nvSpPr>
        <p:spPr>
          <a:xfrm>
            <a:off x="6007542" y="1359454"/>
            <a:ext cx="6182254" cy="1754326"/>
          </a:xfrm>
          <a:prstGeom prst="rect">
            <a:avLst/>
          </a:prstGeom>
          <a:solidFill>
            <a:srgbClr val="007FAD">
              <a:lumMod val="20000"/>
              <a:lumOff val="80000"/>
            </a:srgbClr>
          </a:solidFill>
        </p:spPr>
        <p:txBody>
          <a:bodyPr wrap="square" rIns="288000" rtlCol="0">
            <a:spAutoFit/>
          </a:bodyPr>
          <a:lstStyle/>
          <a:p>
            <a:pPr marL="0" marR="0" lvl="0" indent="0" defTabSz="914126" eaLnBrk="1" fontAlgn="auto" latinLnBrk="0" hangingPunct="1">
              <a:lnSpc>
                <a:spcPct val="100000"/>
              </a:lnSpc>
              <a:spcBef>
                <a:spcPts val="0"/>
              </a:spcBef>
              <a:spcAft>
                <a:spcPts val="0"/>
              </a:spcAft>
              <a:buClrTx/>
              <a:buSzTx/>
              <a:buFontTx/>
              <a:buNone/>
              <a:tabLst/>
              <a:defRPr/>
            </a:pPr>
            <a:r>
              <a:rPr kumimoji="0" lang="fr-FR" sz="1800" b="1" i="0" u="sng" strike="noStrike" kern="0" cap="none" spc="0" normalizeH="0" baseline="0" noProof="0" dirty="0" smtClean="0">
                <a:ln>
                  <a:noFill/>
                </a:ln>
                <a:solidFill>
                  <a:srgbClr val="4472C4">
                    <a:lumMod val="75000"/>
                  </a:srgbClr>
                </a:solidFill>
                <a:effectLst/>
                <a:uLnTx/>
                <a:uFillTx/>
                <a:latin typeface="Calibri" panose="020F0502020204030204"/>
              </a:rPr>
              <a:t>Pourquoi ?</a:t>
            </a:r>
          </a:p>
          <a:p>
            <a:pPr marL="457063" marR="0" lvl="1" indent="0" defTabSz="914126"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dirty="0" smtClean="0">
                <a:ln>
                  <a:noFill/>
                </a:ln>
                <a:solidFill>
                  <a:prstClr val="black"/>
                </a:solidFill>
                <a:effectLst/>
                <a:uLnTx/>
                <a:uFillTx/>
                <a:latin typeface="Calibri" panose="020F0502020204030204"/>
              </a:rPr>
              <a:t> </a:t>
            </a:r>
            <a:r>
              <a:rPr kumimoji="0" lang="fr-FR" sz="1800" b="0" i="0" u="none" strike="noStrike" kern="0" cap="none" spc="0" normalizeH="0" baseline="0" noProof="0" dirty="0" smtClean="0">
                <a:ln>
                  <a:noFill/>
                </a:ln>
                <a:solidFill>
                  <a:srgbClr val="4472C4">
                    <a:lumMod val="75000"/>
                  </a:srgbClr>
                </a:solidFill>
                <a:effectLst/>
                <a:uLnTx/>
                <a:uFillTx/>
                <a:latin typeface="Calibri" panose="020F0502020204030204"/>
              </a:rPr>
              <a:t>… afin de </a:t>
            </a:r>
            <a:r>
              <a:rPr kumimoji="0" lang="fr-FR" sz="1800" b="1" i="0" u="none" strike="noStrike" kern="0" cap="none" spc="0" normalizeH="0" baseline="0" noProof="0" dirty="0" smtClean="0">
                <a:ln>
                  <a:noFill/>
                </a:ln>
                <a:solidFill>
                  <a:srgbClr val="4472C4">
                    <a:lumMod val="75000"/>
                  </a:srgbClr>
                </a:solidFill>
                <a:effectLst/>
                <a:uLnTx/>
                <a:uFillTx/>
                <a:latin typeface="Calibri" panose="020F0502020204030204"/>
              </a:rPr>
              <a:t>réduire l’empreinte carbone du numérique </a:t>
            </a:r>
            <a:r>
              <a:rPr kumimoji="0" lang="fr-FR" sz="1800" b="0" i="0" u="none" strike="noStrike" kern="0" cap="none" spc="0" normalizeH="0" baseline="0" noProof="0" dirty="0" smtClean="0">
                <a:ln>
                  <a:noFill/>
                </a:ln>
                <a:solidFill>
                  <a:srgbClr val="4472C4">
                    <a:lumMod val="75000"/>
                  </a:srgbClr>
                </a:solidFill>
                <a:effectLst/>
                <a:uLnTx/>
                <a:uFillTx/>
                <a:latin typeface="Calibri" panose="020F0502020204030204"/>
              </a:rPr>
              <a:t>via une démarche d’amélioration continue, mais aussi de renforcer l’accessibilité, d’améliorer la qualité de service, de réduire les coûts d'hébergement et de maintenance, de renforcer l’image de marque  … </a:t>
            </a:r>
          </a:p>
        </p:txBody>
      </p:sp>
      <p:sp>
        <p:nvSpPr>
          <p:cNvPr id="9" name="ZoneTexte 8"/>
          <p:cNvSpPr txBox="1"/>
          <p:nvPr/>
        </p:nvSpPr>
        <p:spPr>
          <a:xfrm>
            <a:off x="5958" y="5111065"/>
            <a:ext cx="6001584" cy="1476794"/>
          </a:xfrm>
          <a:prstGeom prst="rect">
            <a:avLst/>
          </a:prstGeom>
          <a:solidFill>
            <a:srgbClr val="5E74B8">
              <a:lumMod val="40000"/>
              <a:lumOff val="60000"/>
            </a:srgbClr>
          </a:solidFill>
        </p:spPr>
        <p:txBody>
          <a:bodyPr wrap="square" rtlCol="0">
            <a:spAutoFit/>
          </a:bodyPr>
          <a:lstStyle/>
          <a:p>
            <a:pPr marL="0" marR="0" lvl="0" indent="0" defTabSz="914126" eaLnBrk="1" fontAlgn="base" latinLnBrk="0" hangingPunct="1">
              <a:lnSpc>
                <a:spcPct val="100000"/>
              </a:lnSpc>
              <a:spcBef>
                <a:spcPts val="0"/>
              </a:spcBef>
              <a:spcAft>
                <a:spcPts val="0"/>
              </a:spcAft>
              <a:buClrTx/>
              <a:buSzTx/>
              <a:buFontTx/>
              <a:buNone/>
              <a:tabLst/>
              <a:defRPr/>
            </a:pPr>
            <a:r>
              <a:rPr kumimoji="0" lang="fr-FR" sz="1800" b="1" i="0" u="sng" strike="noStrike" kern="0" cap="none" spc="0" normalizeH="0" baseline="0" noProof="0" dirty="0" smtClean="0">
                <a:ln>
                  <a:noFill/>
                </a:ln>
                <a:solidFill>
                  <a:srgbClr val="4472C4">
                    <a:lumMod val="75000"/>
                  </a:srgbClr>
                </a:solidFill>
                <a:effectLst/>
                <a:uLnTx/>
                <a:uFillTx/>
                <a:latin typeface="Calibri" panose="020F0502020204030204"/>
              </a:rPr>
              <a:t>Et les bénéfices ?</a:t>
            </a:r>
          </a:p>
          <a:p>
            <a:pPr marL="171399" marR="0" lvl="0" indent="-171399" defTabSz="914126"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fr-FR" sz="1800" b="0" i="0" u="none" strike="noStrike" kern="0" cap="none" spc="0" normalizeH="0" baseline="0" noProof="0" dirty="0" smtClean="0">
                <a:ln>
                  <a:noFill/>
                </a:ln>
                <a:solidFill>
                  <a:srgbClr val="4472C4">
                    <a:lumMod val="75000"/>
                  </a:srgbClr>
                </a:solidFill>
                <a:effectLst/>
                <a:uLnTx/>
                <a:uFillTx/>
                <a:latin typeface="Calibri" panose="020F0502020204030204"/>
              </a:rPr>
              <a:t>Diviser par 2 les besoins en ressources d’un serveur,</a:t>
            </a:r>
          </a:p>
          <a:p>
            <a:pPr marL="171399" marR="0" lvl="0" indent="-171399" defTabSz="914126"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fr-FR" sz="1800" b="0" i="0" u="none" strike="noStrike" kern="0" cap="none" spc="0" normalizeH="0" baseline="0" noProof="0" dirty="0" smtClean="0">
                <a:ln>
                  <a:noFill/>
                </a:ln>
                <a:solidFill>
                  <a:srgbClr val="4472C4">
                    <a:lumMod val="75000"/>
                  </a:srgbClr>
                </a:solidFill>
                <a:effectLst/>
                <a:uLnTx/>
                <a:uFillTx/>
                <a:latin typeface="Calibri" panose="020F0502020204030204"/>
              </a:rPr>
              <a:t>Réduire la quantité de données transmises de 20 %,</a:t>
            </a:r>
          </a:p>
          <a:p>
            <a:pPr marL="171399" marR="0" lvl="0" indent="-171399" defTabSz="914126"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fr-FR" sz="1800" b="0" i="0" u="none" strike="noStrike" kern="0" cap="none" spc="0" normalizeH="0" baseline="0" noProof="0" dirty="0" smtClean="0">
                <a:ln>
                  <a:noFill/>
                </a:ln>
                <a:solidFill>
                  <a:srgbClr val="4472C4">
                    <a:lumMod val="75000"/>
                  </a:srgbClr>
                </a:solidFill>
                <a:effectLst/>
                <a:uLnTx/>
                <a:uFillTx/>
                <a:latin typeface="Calibri" panose="020F0502020204030204"/>
              </a:rPr>
              <a:t>Augmenter de 30 % la durée de vie des équipements utilisateurs.</a:t>
            </a:r>
          </a:p>
        </p:txBody>
      </p:sp>
      <p:sp>
        <p:nvSpPr>
          <p:cNvPr id="10" name="ZoneTexte 9"/>
          <p:cNvSpPr txBox="1"/>
          <p:nvPr/>
        </p:nvSpPr>
        <p:spPr>
          <a:xfrm>
            <a:off x="7103877" y="3120626"/>
            <a:ext cx="5085917" cy="2042473"/>
          </a:xfrm>
          <a:prstGeom prst="rect">
            <a:avLst/>
          </a:prstGeom>
          <a:solidFill>
            <a:srgbClr val="007FAD">
              <a:lumMod val="40000"/>
              <a:lumOff val="60000"/>
            </a:srgbClr>
          </a:solidFill>
        </p:spPr>
        <p:txBody>
          <a:bodyPr wrap="square" lIns="72000" tIns="36000" rIns="72000" bIns="36000" rtlCol="0">
            <a:spAutoFit/>
          </a:bodyPr>
          <a:lstStyle/>
          <a:p>
            <a:pPr marL="0" marR="0" lvl="0" indent="0" defTabSz="914126" eaLnBrk="1" fontAlgn="auto" latinLnBrk="0" hangingPunct="1">
              <a:lnSpc>
                <a:spcPct val="100000"/>
              </a:lnSpc>
              <a:spcBef>
                <a:spcPts val="0"/>
              </a:spcBef>
              <a:spcAft>
                <a:spcPts val="0"/>
              </a:spcAft>
              <a:buClrTx/>
              <a:buSzTx/>
              <a:buFontTx/>
              <a:buNone/>
              <a:tabLst/>
              <a:defRPr/>
            </a:pPr>
            <a:r>
              <a:rPr kumimoji="0" lang="fr-FR" sz="1800" b="1" i="0" u="sng" strike="noStrike" kern="0" cap="none" spc="0" normalizeH="0" baseline="0" noProof="0" dirty="0" smtClean="0">
                <a:ln>
                  <a:noFill/>
                </a:ln>
                <a:solidFill>
                  <a:srgbClr val="4472C4">
                    <a:lumMod val="75000"/>
                  </a:srgbClr>
                </a:solidFill>
                <a:effectLst/>
                <a:uLnTx/>
                <a:uFillTx/>
                <a:latin typeface="Calibri" panose="020F0502020204030204"/>
              </a:rPr>
              <a:t>Avec quels outils ?</a:t>
            </a:r>
          </a:p>
          <a:p>
            <a:pPr marL="285664" marR="0" lvl="0" indent="-285664" defTabSz="914126"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400" b="1" i="0" u="none" strike="noStrike" kern="0" cap="none" spc="0" normalizeH="0" baseline="0" noProof="0" dirty="0" smtClean="0">
                <a:ln>
                  <a:noFill/>
                </a:ln>
                <a:solidFill>
                  <a:srgbClr val="4472C4">
                    <a:lumMod val="75000"/>
                  </a:srgbClr>
                </a:solidFill>
                <a:effectLst/>
                <a:uLnTx/>
                <a:uFillTx/>
                <a:latin typeface="Calibri" panose="020F0502020204030204"/>
              </a:rPr>
              <a:t>R</a:t>
            </a:r>
            <a:r>
              <a:rPr kumimoji="0" lang="fr-FR" sz="1400" b="0" i="0" u="none" strike="noStrike" kern="0" cap="none" spc="0" normalizeH="0" baseline="0" noProof="0" dirty="0" smtClean="0">
                <a:ln>
                  <a:noFill/>
                </a:ln>
                <a:solidFill>
                  <a:srgbClr val="4472C4">
                    <a:lumMod val="75000"/>
                  </a:srgbClr>
                </a:solidFill>
                <a:effectLst/>
                <a:uLnTx/>
                <a:uFillTx/>
                <a:latin typeface="Calibri" panose="020F0502020204030204"/>
              </a:rPr>
              <a:t>éférentiel </a:t>
            </a:r>
            <a:r>
              <a:rPr kumimoji="0" lang="fr-FR" sz="1400" b="1" i="0" u="none" strike="noStrike" kern="0" cap="none" spc="0" normalizeH="0" baseline="0" noProof="0" dirty="0" smtClean="0">
                <a:ln>
                  <a:noFill/>
                </a:ln>
                <a:solidFill>
                  <a:srgbClr val="4472C4">
                    <a:lumMod val="75000"/>
                  </a:srgbClr>
                </a:solidFill>
                <a:effectLst/>
                <a:uLnTx/>
                <a:uFillTx/>
                <a:latin typeface="Calibri" panose="020F0502020204030204"/>
              </a:rPr>
              <a:t>G</a:t>
            </a:r>
            <a:r>
              <a:rPr kumimoji="0" lang="fr-FR" sz="1400" b="0" i="0" u="none" strike="noStrike" kern="0" cap="none" spc="0" normalizeH="0" baseline="0" noProof="0" dirty="0" smtClean="0">
                <a:ln>
                  <a:noFill/>
                </a:ln>
                <a:solidFill>
                  <a:srgbClr val="4472C4">
                    <a:lumMod val="75000"/>
                  </a:srgbClr>
                </a:solidFill>
                <a:effectLst/>
                <a:uLnTx/>
                <a:uFillTx/>
                <a:latin typeface="Calibri" panose="020F0502020204030204"/>
              </a:rPr>
              <a:t>énéral d‘</a:t>
            </a:r>
            <a:r>
              <a:rPr kumimoji="0" lang="fr-FR" sz="1400" b="1" i="0" u="none" strike="noStrike" kern="0" cap="none" spc="0" normalizeH="0" baseline="0" noProof="0" dirty="0" smtClean="0">
                <a:ln>
                  <a:noFill/>
                </a:ln>
                <a:solidFill>
                  <a:srgbClr val="4472C4">
                    <a:lumMod val="75000"/>
                  </a:srgbClr>
                </a:solidFill>
                <a:effectLst/>
                <a:uLnTx/>
                <a:uFillTx/>
                <a:latin typeface="Calibri" panose="020F0502020204030204"/>
              </a:rPr>
              <a:t>E</a:t>
            </a:r>
            <a:r>
              <a:rPr kumimoji="0" lang="fr-FR" sz="1400" b="0" i="0" u="none" strike="noStrike" kern="0" cap="none" spc="0" normalizeH="0" baseline="0" noProof="0" dirty="0" smtClean="0">
                <a:ln>
                  <a:noFill/>
                </a:ln>
                <a:solidFill>
                  <a:srgbClr val="4472C4">
                    <a:lumMod val="75000"/>
                  </a:srgbClr>
                </a:solidFill>
                <a:effectLst/>
                <a:uLnTx/>
                <a:uFillTx/>
                <a:latin typeface="Calibri" panose="020F0502020204030204"/>
              </a:rPr>
              <a:t>coconception de </a:t>
            </a:r>
            <a:r>
              <a:rPr kumimoji="0" lang="fr-FR" sz="1400" b="1" i="0" u="none" strike="noStrike" kern="0" cap="none" spc="0" normalizeH="0" baseline="0" noProof="0" dirty="0" smtClean="0">
                <a:ln>
                  <a:noFill/>
                </a:ln>
                <a:solidFill>
                  <a:srgbClr val="4472C4">
                    <a:lumMod val="75000"/>
                  </a:srgbClr>
                </a:solidFill>
                <a:effectLst/>
                <a:uLnTx/>
                <a:uFillTx/>
                <a:latin typeface="Calibri" panose="020F0502020204030204"/>
              </a:rPr>
              <a:t>S</a:t>
            </a:r>
            <a:r>
              <a:rPr kumimoji="0" lang="fr-FR" sz="1400" b="0" i="0" u="none" strike="noStrike" kern="0" cap="none" spc="0" normalizeH="0" baseline="0" noProof="0" dirty="0" smtClean="0">
                <a:ln>
                  <a:noFill/>
                </a:ln>
                <a:solidFill>
                  <a:srgbClr val="4472C4">
                    <a:lumMod val="75000"/>
                  </a:srgbClr>
                </a:solidFill>
                <a:effectLst/>
                <a:uLnTx/>
                <a:uFillTx/>
                <a:latin typeface="Calibri" panose="020F0502020204030204"/>
              </a:rPr>
              <a:t>ervices </a:t>
            </a:r>
            <a:r>
              <a:rPr kumimoji="0" lang="fr-FR" sz="1400" b="1" i="0" u="none" strike="noStrike" kern="0" cap="none" spc="0" normalizeH="0" baseline="0" noProof="0" dirty="0" smtClean="0">
                <a:ln>
                  <a:noFill/>
                </a:ln>
                <a:solidFill>
                  <a:srgbClr val="4472C4">
                    <a:lumMod val="75000"/>
                  </a:srgbClr>
                </a:solidFill>
                <a:effectLst/>
                <a:uLnTx/>
                <a:uFillTx/>
                <a:latin typeface="Calibri" panose="020F0502020204030204"/>
              </a:rPr>
              <a:t>N</a:t>
            </a:r>
            <a:r>
              <a:rPr kumimoji="0" lang="fr-FR" sz="1400" b="0" i="0" u="none" strike="noStrike" kern="0" cap="none" spc="0" normalizeH="0" baseline="0" noProof="0" dirty="0" smtClean="0">
                <a:ln>
                  <a:noFill/>
                </a:ln>
                <a:solidFill>
                  <a:srgbClr val="4472C4">
                    <a:lumMod val="75000"/>
                  </a:srgbClr>
                </a:solidFill>
                <a:effectLst/>
                <a:uLnTx/>
                <a:uFillTx/>
                <a:latin typeface="Calibri" panose="020F0502020204030204"/>
              </a:rPr>
              <a:t>umériques </a:t>
            </a:r>
          </a:p>
          <a:p>
            <a:pPr marL="285664" marR="0" lvl="0" indent="-285664" defTabSz="914126"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400" b="0" i="0" u="none" strike="noStrike" kern="0" cap="none" spc="0" normalizeH="0" baseline="0" noProof="0" dirty="0" smtClean="0">
                <a:ln>
                  <a:noFill/>
                </a:ln>
                <a:solidFill>
                  <a:srgbClr val="4472C4">
                    <a:lumMod val="75000"/>
                  </a:srgbClr>
                </a:solidFill>
                <a:effectLst/>
                <a:uLnTx/>
                <a:uFillTx/>
                <a:latin typeface="Calibri" panose="020F0502020204030204"/>
              </a:rPr>
              <a:t>Le Guide de Référence de Conception Responsable de Services Numériques (GR491),</a:t>
            </a:r>
          </a:p>
          <a:p>
            <a:pPr marL="285664" marR="0" lvl="0" indent="-285664" defTabSz="914126"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400" b="0" i="0" u="none" strike="noStrike" kern="0" cap="none" spc="0" normalizeH="0" baseline="0" noProof="0" dirty="0" smtClean="0">
                <a:ln>
                  <a:noFill/>
                </a:ln>
                <a:solidFill>
                  <a:srgbClr val="4472C4">
                    <a:lumMod val="75000"/>
                  </a:srgbClr>
                </a:solidFill>
                <a:effectLst/>
                <a:uLnTx/>
                <a:uFillTx/>
                <a:latin typeface="Calibri" panose="020F0502020204030204"/>
              </a:rPr>
              <a:t>Ecoconception web : les 115 bonnes pratiques</a:t>
            </a:r>
          </a:p>
          <a:p>
            <a:pPr marL="285664" marR="0" lvl="0" indent="-285664" defTabSz="914126"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800" b="0" i="0" u="none" strike="noStrike" kern="0" cap="none" spc="0" normalizeH="0" baseline="0" noProof="0" dirty="0" smtClean="0">
                <a:ln>
                  <a:noFill/>
                </a:ln>
                <a:solidFill>
                  <a:srgbClr val="4472C4">
                    <a:lumMod val="75000"/>
                  </a:srgbClr>
                </a:solidFill>
                <a:effectLst/>
                <a:uLnTx/>
                <a:uFillTx/>
                <a:latin typeface="Calibri" panose="020F0502020204030204"/>
              </a:rPr>
              <a:t>Guide et processus interne Assurance Maladie (offre de service encours d’élaboration dans le cadre des « </a:t>
            </a:r>
            <a:r>
              <a:rPr kumimoji="0" lang="fr-FR" sz="1800" b="1" i="0" u="none" strike="noStrike" kern="0" cap="none" spc="0" normalizeH="0" baseline="0" noProof="0" dirty="0" smtClean="0">
                <a:ln>
                  <a:noFill/>
                </a:ln>
                <a:solidFill>
                  <a:srgbClr val="4472C4">
                    <a:lumMod val="75000"/>
                  </a:srgbClr>
                </a:solidFill>
                <a:effectLst/>
                <a:uLnTx/>
                <a:uFillTx/>
                <a:latin typeface="Calibri" panose="020F0502020204030204"/>
              </a:rPr>
              <a:t>Principes Directeurs SI</a:t>
            </a:r>
            <a:r>
              <a:rPr kumimoji="0" lang="fr-FR" sz="1800" b="0" i="0" u="none" strike="noStrike" kern="0" cap="none" spc="0" normalizeH="0" baseline="0" noProof="0" dirty="0" smtClean="0">
                <a:ln>
                  <a:noFill/>
                </a:ln>
                <a:solidFill>
                  <a:srgbClr val="4472C4">
                    <a:lumMod val="75000"/>
                  </a:srgbClr>
                </a:solidFill>
                <a:effectLst/>
                <a:uLnTx/>
                <a:uFillTx/>
                <a:latin typeface="Calibri" panose="020F0502020204030204"/>
              </a:rPr>
              <a:t> »)</a:t>
            </a:r>
          </a:p>
        </p:txBody>
      </p:sp>
      <p:sp>
        <p:nvSpPr>
          <p:cNvPr id="12" name="ZoneTexte 11"/>
          <p:cNvSpPr txBox="1"/>
          <p:nvPr/>
        </p:nvSpPr>
        <p:spPr>
          <a:xfrm>
            <a:off x="6007541" y="5110969"/>
            <a:ext cx="6182255" cy="1476890"/>
          </a:xfrm>
          <a:prstGeom prst="rect">
            <a:avLst/>
          </a:prstGeom>
          <a:solidFill>
            <a:srgbClr val="93B9F7"/>
          </a:solidFill>
        </p:spPr>
        <p:txBody>
          <a:bodyPr wrap="square" rtlCol="0">
            <a:noAutofit/>
          </a:bodyPr>
          <a:lstStyle/>
          <a:p>
            <a:pPr marL="0" marR="0" lvl="0" indent="0" defTabSz="914126" eaLnBrk="1" fontAlgn="base" latinLnBrk="0" hangingPunct="1">
              <a:lnSpc>
                <a:spcPct val="100000"/>
              </a:lnSpc>
              <a:spcBef>
                <a:spcPts val="0"/>
              </a:spcBef>
              <a:spcAft>
                <a:spcPts val="0"/>
              </a:spcAft>
              <a:buClrTx/>
              <a:buSzTx/>
              <a:buFontTx/>
              <a:buNone/>
              <a:tabLst/>
              <a:defRPr/>
            </a:pPr>
            <a:r>
              <a:rPr kumimoji="0" lang="fr-FR" sz="1800" b="1" i="0" u="sng" strike="noStrike" kern="0" cap="none" spc="0" normalizeH="0" baseline="0" noProof="0" dirty="0" smtClean="0">
                <a:ln>
                  <a:noFill/>
                </a:ln>
                <a:solidFill>
                  <a:srgbClr val="4472C4">
                    <a:lumMod val="75000"/>
                  </a:srgbClr>
                </a:solidFill>
                <a:effectLst/>
                <a:uLnTx/>
                <a:uFillTx/>
                <a:latin typeface="Calibri" panose="020F0502020204030204"/>
              </a:rPr>
              <a:t>Des exemples et perspectives </a:t>
            </a:r>
          </a:p>
          <a:p>
            <a:pPr marL="0" marR="0" lvl="0" indent="0" defTabSz="914126" eaLnBrk="1" fontAlgn="base" latinLnBrk="0" hangingPunct="1">
              <a:lnSpc>
                <a:spcPct val="100000"/>
              </a:lnSpc>
              <a:spcBef>
                <a:spcPts val="0"/>
              </a:spcBef>
              <a:spcAft>
                <a:spcPts val="0"/>
              </a:spcAft>
              <a:buClrTx/>
              <a:buSzTx/>
              <a:buFontTx/>
              <a:buNone/>
              <a:tabLst/>
              <a:defRPr/>
            </a:pPr>
            <a:endParaRPr kumimoji="0" lang="fr-FR" sz="1050" b="1" i="0" u="sng" strike="noStrike" kern="0" cap="none" spc="0" normalizeH="0" baseline="0" noProof="0" dirty="0" smtClean="0">
              <a:ln>
                <a:noFill/>
              </a:ln>
              <a:solidFill>
                <a:srgbClr val="4472C4">
                  <a:lumMod val="75000"/>
                </a:srgbClr>
              </a:solidFill>
              <a:effectLst/>
              <a:uLnTx/>
              <a:uFillTx/>
              <a:latin typeface="Calibri" panose="020F0502020204030204"/>
            </a:endParaRPr>
          </a:p>
          <a:p>
            <a:pPr marL="171399" marR="0" lvl="0" indent="-171399" defTabSz="914126"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fr-FR" sz="1800" b="0" i="0" u="none" strike="noStrike" kern="0" cap="none" spc="0" normalizeH="0" baseline="0" noProof="0" dirty="0" smtClean="0">
                <a:ln>
                  <a:noFill/>
                </a:ln>
                <a:solidFill>
                  <a:srgbClr val="4472C4">
                    <a:lumMod val="75000"/>
                  </a:srgbClr>
                </a:solidFill>
                <a:effectLst/>
                <a:uLnTx/>
                <a:uFillTx/>
                <a:latin typeface="Calibri" panose="020F0502020204030204"/>
              </a:rPr>
              <a:t>Le site </a:t>
            </a:r>
            <a:r>
              <a:rPr kumimoji="0" lang="fr-FR" sz="1800" b="0" i="0" u="sng" strike="noStrike" kern="0" cap="none" spc="0" normalizeH="0" baseline="0" noProof="0" dirty="0" smtClean="0">
                <a:ln>
                  <a:noFill/>
                </a:ln>
                <a:solidFill>
                  <a:srgbClr val="0000FF"/>
                </a:solidFill>
                <a:effectLst/>
                <a:uLnTx/>
                <a:uFillTx/>
                <a:ea typeface="Calibri" panose="020F0502020204030204" pitchFamily="34" charset="0"/>
                <a:hlinkClick r:id="rId2"/>
              </a:rPr>
              <a:t>ameli.fr</a:t>
            </a:r>
            <a:r>
              <a:rPr kumimoji="0" lang="fr-FR" sz="1800" b="0" i="0" u="none" strike="noStrike" kern="0" cap="none" spc="0" normalizeH="0" baseline="0" noProof="0" dirty="0" smtClean="0">
                <a:ln>
                  <a:noFill/>
                </a:ln>
                <a:solidFill>
                  <a:srgbClr val="0C419A"/>
                </a:solidFill>
                <a:effectLst/>
                <a:uLnTx/>
                <a:uFillTx/>
                <a:ea typeface="Calibri" panose="020F0502020204030204" pitchFamily="34" charset="0"/>
              </a:rPr>
              <a:t> </a:t>
            </a:r>
          </a:p>
          <a:p>
            <a:pPr marL="171399" marR="0" lvl="0" indent="-171399" defTabSz="914126"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fr-FR" sz="1800" b="0" i="0" u="none" strike="noStrike" kern="0" cap="none" spc="0" normalizeH="0" baseline="0" noProof="0" dirty="0" smtClean="0">
                <a:ln>
                  <a:noFill/>
                </a:ln>
                <a:solidFill>
                  <a:srgbClr val="4472C4">
                    <a:lumMod val="75000"/>
                  </a:srgbClr>
                </a:solidFill>
                <a:effectLst/>
                <a:uLnTx/>
                <a:uFillTx/>
                <a:latin typeface="Calibri" panose="020F0502020204030204"/>
              </a:rPr>
              <a:t>Le site </a:t>
            </a:r>
            <a:r>
              <a:rPr kumimoji="0" lang="fr-FR" sz="1800" b="0" i="0" u="none" strike="noStrike" kern="0" cap="none" spc="0" normalizeH="0" baseline="0" noProof="0" dirty="0" smtClean="0">
                <a:ln>
                  <a:noFill/>
                </a:ln>
                <a:solidFill>
                  <a:srgbClr val="4472C4">
                    <a:lumMod val="75000"/>
                  </a:srgbClr>
                </a:solidFill>
                <a:effectLst/>
                <a:uLnTx/>
                <a:uFillTx/>
              </a:rPr>
              <a:t>iMSA </a:t>
            </a:r>
            <a:r>
              <a:rPr kumimoji="0" lang="fr-FR" sz="1800" b="0" i="0" u="sng" strike="noStrike" kern="0" cap="none" spc="0" normalizeH="0" baseline="0" noProof="0" dirty="0" smtClean="0">
                <a:ln>
                  <a:noFill/>
                </a:ln>
                <a:solidFill>
                  <a:srgbClr val="0000FF"/>
                </a:solidFill>
                <a:effectLst/>
                <a:uLnTx/>
                <a:uFillTx/>
                <a:ea typeface="Calibri" panose="020F0502020204030204" pitchFamily="34" charset="0"/>
                <a:hlinkClick r:id="rId3"/>
              </a:rPr>
              <a:t>https://informatique.msa.fr/</a:t>
            </a:r>
            <a:r>
              <a:rPr kumimoji="0" lang="fr-FR" sz="1800" b="0" i="0" u="none" strike="noStrike" kern="0" cap="none" spc="0" normalizeH="0" baseline="0" noProof="0" dirty="0" smtClean="0">
                <a:ln>
                  <a:noFill/>
                </a:ln>
                <a:solidFill>
                  <a:srgbClr val="4472C4">
                    <a:lumMod val="75000"/>
                  </a:srgbClr>
                </a:solidFill>
                <a:effectLst/>
                <a:uLnTx/>
                <a:uFillTx/>
              </a:rPr>
              <a:t> </a:t>
            </a:r>
          </a:p>
          <a:p>
            <a:pPr marL="171399" marR="0" lvl="0" indent="-171399" defTabSz="914126"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fr-FR" sz="1800" b="0" i="0" u="none" strike="noStrike" kern="0" cap="none" spc="0" normalizeH="0" baseline="0" noProof="0" dirty="0" smtClean="0">
                <a:ln>
                  <a:noFill/>
                </a:ln>
                <a:solidFill>
                  <a:srgbClr val="4472C4">
                    <a:lumMod val="75000"/>
                  </a:srgbClr>
                </a:solidFill>
                <a:effectLst/>
                <a:uLnTx/>
                <a:uFillTx/>
                <a:latin typeface="Calibri" panose="020F0502020204030204"/>
              </a:rPr>
              <a:t>Applications en perspectives sur des nouveaux projets  </a:t>
            </a:r>
          </a:p>
        </p:txBody>
      </p:sp>
      <p:pic>
        <p:nvPicPr>
          <p:cNvPr id="13" name="Image 12"/>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806967" y="3130965"/>
            <a:ext cx="2317962" cy="1954759"/>
          </a:xfrm>
          <a:prstGeom prst="rect">
            <a:avLst/>
          </a:prstGeom>
        </p:spPr>
      </p:pic>
      <p:sp>
        <p:nvSpPr>
          <p:cNvPr id="15" name="Titre 1"/>
          <p:cNvSpPr>
            <a:spLocks noGrp="1"/>
          </p:cNvSpPr>
          <p:nvPr>
            <p:ph type="title"/>
          </p:nvPr>
        </p:nvSpPr>
        <p:spPr>
          <a:xfrm>
            <a:off x="0" y="0"/>
            <a:ext cx="12192000" cy="1325563"/>
          </a:xfrm>
          <a:solidFill>
            <a:srgbClr val="2F5597"/>
          </a:solidFill>
        </p:spPr>
        <p:txBody>
          <a:bodyPr/>
          <a:lstStyle/>
          <a:p>
            <a:pPr algn="ctr"/>
            <a:r>
              <a:rPr lang="fr-FR" b="1" dirty="0">
                <a:solidFill>
                  <a:schemeClr val="bg1"/>
                </a:solidFill>
              </a:rPr>
              <a:t>En résumé, </a:t>
            </a:r>
            <a:r>
              <a:rPr lang="fr-FR" b="1" dirty="0" smtClean="0">
                <a:solidFill>
                  <a:schemeClr val="bg1"/>
                </a:solidFill>
              </a:rPr>
              <a:t>qu’est ce que l’écoconception …</a:t>
            </a:r>
            <a:endParaRPr lang="fr-FR" b="1" dirty="0">
              <a:solidFill>
                <a:schemeClr val="bg1"/>
              </a:solidFill>
            </a:endParaRPr>
          </a:p>
        </p:txBody>
      </p:sp>
    </p:spTree>
    <p:extLst>
      <p:ext uri="{BB962C8B-B14F-4D97-AF65-F5344CB8AC3E}">
        <p14:creationId xmlns:p14="http://schemas.microsoft.com/office/powerpoint/2010/main" val="9735730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smtClean="0">
                <a:solidFill>
                  <a:schemeClr val="bg1"/>
                </a:solidFill>
              </a:rPr>
              <a:t>L’écoconception au cœur des projets CNAM</a:t>
            </a:r>
            <a:endParaRPr lang="fr-FR" b="1" dirty="0">
              <a:solidFill>
                <a:schemeClr val="bg1"/>
              </a:solidFill>
            </a:endParaRPr>
          </a:p>
        </p:txBody>
      </p:sp>
      <p:sp>
        <p:nvSpPr>
          <p:cNvPr id="3" name="Espace réservé du contenu 2"/>
          <p:cNvSpPr>
            <a:spLocks noGrp="1"/>
          </p:cNvSpPr>
          <p:nvPr>
            <p:ph idx="1"/>
          </p:nvPr>
        </p:nvSpPr>
        <p:spPr>
          <a:xfrm>
            <a:off x="0" y="1736946"/>
            <a:ext cx="12192000" cy="4351338"/>
          </a:xfrm>
        </p:spPr>
        <p:txBody>
          <a:bodyPr>
            <a:normAutofit fontScale="92500" lnSpcReduction="20000"/>
          </a:bodyPr>
          <a:lstStyle/>
          <a:p>
            <a:pPr marL="0" indent="0">
              <a:buNone/>
            </a:pPr>
            <a:r>
              <a:rPr lang="fr-FR" dirty="0" smtClean="0">
                <a:solidFill>
                  <a:schemeClr val="accent5">
                    <a:lumMod val="75000"/>
                  </a:schemeClr>
                </a:solidFill>
              </a:rPr>
              <a:t>L’</a:t>
            </a:r>
            <a:r>
              <a:rPr lang="fr-FR" dirty="0" err="1" smtClean="0">
                <a:solidFill>
                  <a:schemeClr val="accent5">
                    <a:lumMod val="75000"/>
                  </a:schemeClr>
                </a:solidFill>
              </a:rPr>
              <a:t>éco-conception</a:t>
            </a:r>
            <a:r>
              <a:rPr lang="fr-FR" dirty="0" smtClean="0">
                <a:solidFill>
                  <a:schemeClr val="accent5">
                    <a:lumMod val="75000"/>
                  </a:schemeClr>
                </a:solidFill>
              </a:rPr>
              <a:t> c’est le </a:t>
            </a:r>
            <a:r>
              <a:rPr lang="fr-FR" dirty="0">
                <a:solidFill>
                  <a:schemeClr val="accent5">
                    <a:lumMod val="75000"/>
                  </a:schemeClr>
                </a:solidFill>
              </a:rPr>
              <a:t>fait d’intégrer des </a:t>
            </a:r>
            <a:r>
              <a:rPr lang="fr-FR" b="1" dirty="0">
                <a:solidFill>
                  <a:schemeClr val="accent5">
                    <a:lumMod val="75000"/>
                  </a:schemeClr>
                </a:solidFill>
              </a:rPr>
              <a:t>pratiques respectueuses de l'environnem</a:t>
            </a:r>
            <a:r>
              <a:rPr lang="fr-FR" dirty="0">
                <a:solidFill>
                  <a:schemeClr val="accent5">
                    <a:lumMod val="75000"/>
                  </a:schemeClr>
                </a:solidFill>
              </a:rPr>
              <a:t>ent dès la conception d’un produit ou service et </a:t>
            </a:r>
            <a:r>
              <a:rPr lang="fr-FR" b="1" dirty="0">
                <a:solidFill>
                  <a:schemeClr val="accent5">
                    <a:lumMod val="75000"/>
                  </a:schemeClr>
                </a:solidFill>
              </a:rPr>
              <a:t>tout au long de son cycle de </a:t>
            </a:r>
            <a:r>
              <a:rPr lang="fr-FR" b="1" dirty="0" smtClean="0">
                <a:solidFill>
                  <a:schemeClr val="accent5">
                    <a:lumMod val="75000"/>
                  </a:schemeClr>
                </a:solidFill>
              </a:rPr>
              <a:t>vie</a:t>
            </a:r>
            <a:r>
              <a:rPr lang="fr-FR" dirty="0" smtClean="0">
                <a:solidFill>
                  <a:schemeClr val="accent5">
                    <a:lumMod val="75000"/>
                  </a:schemeClr>
                </a:solidFill>
              </a:rPr>
              <a:t>.</a:t>
            </a:r>
          </a:p>
          <a:p>
            <a:pPr marL="0" indent="0">
              <a:buNone/>
            </a:pPr>
            <a:endParaRPr lang="fr-FR" dirty="0" smtClean="0">
              <a:solidFill>
                <a:schemeClr val="accent5">
                  <a:lumMod val="75000"/>
                </a:schemeClr>
              </a:solidFill>
            </a:endParaRPr>
          </a:p>
          <a:p>
            <a:pPr marL="0" indent="0">
              <a:buNone/>
            </a:pPr>
            <a:r>
              <a:rPr lang="fr-FR" dirty="0" smtClean="0">
                <a:solidFill>
                  <a:schemeClr val="accent5">
                    <a:lumMod val="75000"/>
                  </a:schemeClr>
                </a:solidFill>
              </a:rPr>
              <a:t>Son objectif est de </a:t>
            </a:r>
            <a:r>
              <a:rPr lang="fr-FR" b="1" dirty="0">
                <a:solidFill>
                  <a:schemeClr val="accent5">
                    <a:lumMod val="75000"/>
                  </a:schemeClr>
                </a:solidFill>
              </a:rPr>
              <a:t>réduire la consommation de ressources informatiques et énergétiques et la contribution à l’obsolescence des équipements</a:t>
            </a:r>
            <a:r>
              <a:rPr lang="fr-FR" dirty="0">
                <a:solidFill>
                  <a:schemeClr val="accent5">
                    <a:lumMod val="75000"/>
                  </a:schemeClr>
                </a:solidFill>
              </a:rPr>
              <a:t>, qu’il s’agisse des équipements utilisateurs ou des équipements réseau ou serveur</a:t>
            </a:r>
            <a:r>
              <a:rPr lang="fr-FR" dirty="0" smtClean="0">
                <a:solidFill>
                  <a:schemeClr val="accent5">
                    <a:lumMod val="75000"/>
                  </a:schemeClr>
                </a:solidFill>
              </a:rPr>
              <a:t>. </a:t>
            </a:r>
          </a:p>
          <a:p>
            <a:pPr marL="0" indent="0">
              <a:buNone/>
            </a:pPr>
            <a:endParaRPr lang="fr-FR" dirty="0" smtClean="0">
              <a:solidFill>
                <a:schemeClr val="accent5">
                  <a:lumMod val="75000"/>
                </a:schemeClr>
              </a:solidFill>
            </a:endParaRPr>
          </a:p>
          <a:p>
            <a:pPr marL="0" indent="0">
              <a:buNone/>
            </a:pPr>
            <a:r>
              <a:rPr lang="fr-FR" dirty="0" smtClean="0">
                <a:solidFill>
                  <a:schemeClr val="accent5">
                    <a:lumMod val="75000"/>
                  </a:schemeClr>
                </a:solidFill>
              </a:rPr>
              <a:t>Pour cela, </a:t>
            </a:r>
            <a:r>
              <a:rPr lang="fr-FR" b="1" dirty="0" smtClean="0">
                <a:solidFill>
                  <a:schemeClr val="accent5">
                    <a:lumMod val="75000"/>
                  </a:schemeClr>
                </a:solidFill>
              </a:rPr>
              <a:t>une liste des bonnes pratiques par métier et en fonction de la phase du projet</a:t>
            </a:r>
            <a:r>
              <a:rPr lang="fr-FR" dirty="0" smtClean="0">
                <a:solidFill>
                  <a:schemeClr val="accent5">
                    <a:lumMod val="75000"/>
                  </a:schemeClr>
                </a:solidFill>
              </a:rPr>
              <a:t> a été réalisé à l’aide des 7 référentiels suivants : RGESN (v.2022 et 2024), GR491, Les 115 bonnes pratiques de l’écoconception, Bonnes pratiques numérique responsable pour les organisations, 74 bonnes pratiques clés pour un numérique plus responsable et </a:t>
            </a:r>
            <a:r>
              <a:rPr lang="fr-FR" dirty="0">
                <a:solidFill>
                  <a:schemeClr val="accent5">
                    <a:lumMod val="75000"/>
                  </a:schemeClr>
                </a:solidFill>
              </a:rPr>
              <a:t>Le guide d’écoconception de services </a:t>
            </a:r>
            <a:r>
              <a:rPr lang="fr-FR" dirty="0" smtClean="0">
                <a:solidFill>
                  <a:schemeClr val="accent5">
                    <a:lumMod val="75000"/>
                  </a:schemeClr>
                </a:solidFill>
              </a:rPr>
              <a:t>numériques.</a:t>
            </a:r>
            <a:endParaRPr lang="fr-FR" dirty="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13599906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smtClean="0">
                <a:solidFill>
                  <a:schemeClr val="bg1"/>
                </a:solidFill>
              </a:rPr>
              <a:t>L’écoconception au cœur des projets CNAM</a:t>
            </a:r>
            <a:endParaRPr lang="fr-FR" b="1" dirty="0">
              <a:solidFill>
                <a:schemeClr val="bg1"/>
              </a:solidFill>
            </a:endParaRPr>
          </a:p>
        </p:txBody>
      </p:sp>
      <p:sp>
        <p:nvSpPr>
          <p:cNvPr id="3" name="Espace réservé du contenu 2"/>
          <p:cNvSpPr>
            <a:spLocks noGrp="1"/>
          </p:cNvSpPr>
          <p:nvPr>
            <p:ph idx="1"/>
          </p:nvPr>
        </p:nvSpPr>
        <p:spPr>
          <a:xfrm>
            <a:off x="0" y="1802261"/>
            <a:ext cx="5460671" cy="4351338"/>
          </a:xfrm>
        </p:spPr>
        <p:txBody>
          <a:bodyPr/>
          <a:lstStyle/>
          <a:p>
            <a:pPr marL="0" indent="0" algn="just">
              <a:buNone/>
            </a:pPr>
            <a:r>
              <a:rPr lang="fr-FR" dirty="0" smtClean="0">
                <a:solidFill>
                  <a:schemeClr val="accent5">
                    <a:lumMod val="75000"/>
                  </a:schemeClr>
                </a:solidFill>
              </a:rPr>
              <a:t>Ces </a:t>
            </a:r>
            <a:r>
              <a:rPr lang="fr-FR" b="1" dirty="0" smtClean="0">
                <a:solidFill>
                  <a:schemeClr val="accent5">
                    <a:lumMod val="75000"/>
                  </a:schemeClr>
                </a:solidFill>
              </a:rPr>
              <a:t>bonnes pratiques </a:t>
            </a:r>
            <a:r>
              <a:rPr lang="fr-FR" dirty="0" smtClean="0">
                <a:solidFill>
                  <a:schemeClr val="accent5">
                    <a:lumMod val="75000"/>
                  </a:schemeClr>
                </a:solidFill>
              </a:rPr>
              <a:t>sont une réponse concrète aux </a:t>
            </a:r>
            <a:r>
              <a:rPr lang="fr-FR" b="1" dirty="0" smtClean="0">
                <a:solidFill>
                  <a:schemeClr val="accent5">
                    <a:lumMod val="75000"/>
                  </a:schemeClr>
                </a:solidFill>
              </a:rPr>
              <a:t>Principes Directeurs SI « Sobriété »</a:t>
            </a:r>
            <a:r>
              <a:rPr lang="fr-FR" dirty="0" smtClean="0">
                <a:solidFill>
                  <a:schemeClr val="accent5">
                    <a:lumMod val="75000"/>
                  </a:schemeClr>
                </a:solidFill>
              </a:rPr>
              <a:t>. </a:t>
            </a:r>
          </a:p>
          <a:p>
            <a:pPr marL="0" indent="0" algn="just">
              <a:buNone/>
            </a:pPr>
            <a:r>
              <a:rPr lang="fr-FR" dirty="0">
                <a:solidFill>
                  <a:schemeClr val="accent5">
                    <a:lumMod val="75000"/>
                  </a:schemeClr>
                </a:solidFill>
              </a:rPr>
              <a:t>Ces </a:t>
            </a:r>
            <a:r>
              <a:rPr lang="fr-FR" dirty="0" smtClean="0">
                <a:solidFill>
                  <a:schemeClr val="accent5">
                    <a:lumMod val="75000"/>
                  </a:schemeClr>
                </a:solidFill>
              </a:rPr>
              <a:t>pratiques ont été renseignés </a:t>
            </a:r>
            <a:r>
              <a:rPr lang="fr-FR" dirty="0">
                <a:solidFill>
                  <a:schemeClr val="accent5">
                    <a:lumMod val="75000"/>
                  </a:schemeClr>
                </a:solidFill>
              </a:rPr>
              <a:t>au sein de </a:t>
            </a:r>
            <a:r>
              <a:rPr lang="fr-FR" b="1" dirty="0">
                <a:solidFill>
                  <a:schemeClr val="accent5">
                    <a:lumMod val="75000"/>
                  </a:schemeClr>
                </a:solidFill>
              </a:rPr>
              <a:t>critères</a:t>
            </a:r>
            <a:r>
              <a:rPr lang="fr-FR" dirty="0">
                <a:solidFill>
                  <a:schemeClr val="accent5">
                    <a:lumMod val="75000"/>
                  </a:schemeClr>
                </a:solidFill>
              </a:rPr>
              <a:t> </a:t>
            </a:r>
            <a:r>
              <a:rPr lang="fr-FR" dirty="0" smtClean="0">
                <a:solidFill>
                  <a:schemeClr val="accent5">
                    <a:lumMod val="75000"/>
                  </a:schemeClr>
                </a:solidFill>
              </a:rPr>
              <a:t>répondant à des </a:t>
            </a:r>
            <a:r>
              <a:rPr lang="fr-FR" b="1" dirty="0" smtClean="0">
                <a:solidFill>
                  <a:schemeClr val="accent5">
                    <a:lumMod val="75000"/>
                  </a:schemeClr>
                </a:solidFill>
              </a:rPr>
              <a:t>finalités</a:t>
            </a:r>
            <a:r>
              <a:rPr lang="fr-FR" dirty="0" smtClean="0">
                <a:solidFill>
                  <a:schemeClr val="accent5">
                    <a:lumMod val="75000"/>
                  </a:schemeClr>
                </a:solidFill>
              </a:rPr>
              <a:t>.</a:t>
            </a:r>
            <a:endParaRPr lang="fr-FR" dirty="0">
              <a:solidFill>
                <a:schemeClr val="accent5">
                  <a:lumMod val="75000"/>
                </a:schemeClr>
              </a:solidFill>
            </a:endParaRPr>
          </a:p>
          <a:p>
            <a:pPr marL="0" indent="0" algn="just">
              <a:buNone/>
            </a:pPr>
            <a:r>
              <a:rPr lang="fr-FR" dirty="0" smtClean="0">
                <a:solidFill>
                  <a:schemeClr val="accent5">
                    <a:lumMod val="75000"/>
                  </a:schemeClr>
                </a:solidFill>
              </a:rPr>
              <a:t>Elles ont été organisées par </a:t>
            </a:r>
            <a:r>
              <a:rPr lang="fr-FR" b="1" dirty="0" smtClean="0">
                <a:solidFill>
                  <a:schemeClr val="accent5">
                    <a:lumMod val="75000"/>
                  </a:schemeClr>
                </a:solidFill>
              </a:rPr>
              <a:t>phase projet </a:t>
            </a:r>
            <a:r>
              <a:rPr lang="fr-FR" dirty="0" smtClean="0">
                <a:solidFill>
                  <a:schemeClr val="accent5">
                    <a:lumMod val="75000"/>
                  </a:schemeClr>
                </a:solidFill>
              </a:rPr>
              <a:t>en respectant au mieux la réalité de l’organisation à la CNAM.</a:t>
            </a:r>
          </a:p>
          <a:p>
            <a:pPr marL="0" indent="0" algn="just">
              <a:buNone/>
            </a:pPr>
            <a:endParaRPr lang="fr-FR" dirty="0" smtClean="0">
              <a:solidFill>
                <a:schemeClr val="accent5">
                  <a:lumMod val="75000"/>
                </a:schemeClr>
              </a:solidFill>
            </a:endParaRPr>
          </a:p>
          <a:p>
            <a:pPr marL="0" indent="0" algn="just">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8" name="Diagramme 7"/>
          <p:cNvGraphicFramePr/>
          <p:nvPr>
            <p:extLst>
              <p:ext uri="{D42A27DB-BD31-4B8C-83A1-F6EECF244321}">
                <p14:modId xmlns:p14="http://schemas.microsoft.com/office/powerpoint/2010/main" val="3671845984"/>
              </p:ext>
            </p:extLst>
          </p:nvPr>
        </p:nvGraphicFramePr>
        <p:xfrm>
          <a:off x="5591299" y="1533382"/>
          <a:ext cx="6423777" cy="457647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04715811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a:bodyPr>
          <a:lstStyle/>
          <a:p>
            <a:r>
              <a:rPr lang="fr-FR" sz="4400" dirty="0" smtClean="0"/>
              <a:t>Les finalités et les critères associés</a:t>
            </a:r>
            <a:endParaRPr lang="fr-FR" sz="4400" dirty="0"/>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262532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smtClean="0">
                <a:solidFill>
                  <a:schemeClr val="bg1"/>
                </a:solidFill>
              </a:rPr>
              <a:t>Liste des Finalités et Critères</a:t>
            </a:r>
            <a:endParaRPr lang="fr-FR" b="1" dirty="0">
              <a:solidFill>
                <a:schemeClr val="bg1"/>
              </a:solidFill>
            </a:endParaRPr>
          </a:p>
        </p:txBody>
      </p:sp>
      <p:sp>
        <p:nvSpPr>
          <p:cNvPr id="3" name="Espace réservé du contenu 2"/>
          <p:cNvSpPr>
            <a:spLocks noGrp="1"/>
          </p:cNvSpPr>
          <p:nvPr>
            <p:ph idx="1"/>
          </p:nvPr>
        </p:nvSpPr>
        <p:spPr>
          <a:xfrm>
            <a:off x="0" y="1736946"/>
            <a:ext cx="12192000" cy="4351338"/>
          </a:xfrm>
        </p:spPr>
        <p:txBody>
          <a:bodyPr/>
          <a:lstStyle/>
          <a:p>
            <a:pPr marL="0" indent="0">
              <a:buNone/>
            </a:pPr>
            <a:endParaRPr lang="fr-FR" dirty="0">
              <a:solidFill>
                <a:schemeClr val="accent5">
                  <a:lumMod val="75000"/>
                </a:schemeClr>
              </a:solidFill>
            </a:endParaRPr>
          </a:p>
          <a:p>
            <a:pPr marL="0" indent="0">
              <a:buNone/>
            </a:pPr>
            <a:endParaRPr lang="fr-FR" dirty="0" smtClean="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7" name="Espace réservé du contenu 6"/>
          <p:cNvGraphicFramePr>
            <a:graphicFrameLocks/>
          </p:cNvGraphicFramePr>
          <p:nvPr>
            <p:extLst>
              <p:ext uri="{D42A27DB-BD31-4B8C-83A1-F6EECF244321}">
                <p14:modId xmlns:p14="http://schemas.microsoft.com/office/powerpoint/2010/main" val="1914527757"/>
              </p:ext>
            </p:extLst>
          </p:nvPr>
        </p:nvGraphicFramePr>
        <p:xfrm>
          <a:off x="46296" y="1408253"/>
          <a:ext cx="12099409" cy="5326951"/>
        </p:xfrm>
        <a:graphic>
          <a:graphicData uri="http://schemas.openxmlformats.org/drawingml/2006/table">
            <a:tbl>
              <a:tblPr firstRow="1" bandRow="1">
                <a:tableStyleId>{5C22544A-7EE6-4342-B048-85BDC9FD1C3A}</a:tableStyleId>
              </a:tblPr>
              <a:tblGrid>
                <a:gridCol w="1922027">
                  <a:extLst>
                    <a:ext uri="{9D8B030D-6E8A-4147-A177-3AD203B41FA5}">
                      <a16:colId xmlns:a16="http://schemas.microsoft.com/office/drawing/2014/main" val="4232212402"/>
                    </a:ext>
                  </a:extLst>
                </a:gridCol>
                <a:gridCol w="4456079">
                  <a:extLst>
                    <a:ext uri="{9D8B030D-6E8A-4147-A177-3AD203B41FA5}">
                      <a16:colId xmlns:a16="http://schemas.microsoft.com/office/drawing/2014/main" val="1470227622"/>
                    </a:ext>
                  </a:extLst>
                </a:gridCol>
                <a:gridCol w="5721303">
                  <a:extLst>
                    <a:ext uri="{9D8B030D-6E8A-4147-A177-3AD203B41FA5}">
                      <a16:colId xmlns:a16="http://schemas.microsoft.com/office/drawing/2014/main" val="3972353255"/>
                    </a:ext>
                  </a:extLst>
                </a:gridCol>
              </a:tblGrid>
              <a:tr h="752482">
                <a:tc>
                  <a:txBody>
                    <a:bodyPr/>
                    <a:lstStyle/>
                    <a:p>
                      <a:pPr algn="ctr"/>
                      <a:r>
                        <a:rPr lang="fr-FR" sz="2400" dirty="0" smtClean="0"/>
                        <a:t>Principes Directeurs SI </a:t>
                      </a:r>
                      <a:endParaRPr lang="fr-FR" sz="2400" dirty="0"/>
                    </a:p>
                  </a:txBody>
                  <a:tcPr marL="6350" marR="6350" marT="6350" marB="0" anchor="ctr"/>
                </a:tc>
                <a:tc>
                  <a:txBody>
                    <a:bodyPr/>
                    <a:lstStyle/>
                    <a:p>
                      <a:pPr algn="ctr" fontAlgn="b"/>
                      <a:r>
                        <a:rPr lang="fr-FR" sz="2400" b="1" kern="1200" dirty="0" smtClean="0">
                          <a:solidFill>
                            <a:schemeClr val="lt1"/>
                          </a:solidFill>
                          <a:latin typeface="+mn-lt"/>
                          <a:ea typeface="+mn-ea"/>
                          <a:cs typeface="+mn-cs"/>
                        </a:rPr>
                        <a:t>Finalités</a:t>
                      </a:r>
                      <a:endParaRPr lang="fr-FR" sz="2400" b="1" kern="1200" dirty="0">
                        <a:solidFill>
                          <a:schemeClr val="lt1"/>
                        </a:solidFill>
                        <a:latin typeface="+mn-lt"/>
                        <a:ea typeface="+mn-ea"/>
                        <a:cs typeface="+mn-cs"/>
                      </a:endParaRPr>
                    </a:p>
                  </a:txBody>
                  <a:tcPr marL="6350" marR="6350" marT="6350" marB="0" anchor="ctr"/>
                </a:tc>
                <a:tc>
                  <a:txBody>
                    <a:bodyPr/>
                    <a:lstStyle/>
                    <a:p>
                      <a:pPr algn="ctr" fontAlgn="b"/>
                      <a:r>
                        <a:rPr lang="fr-FR" sz="2400" b="1" kern="1200" dirty="0" smtClean="0">
                          <a:solidFill>
                            <a:schemeClr val="lt1"/>
                          </a:solidFill>
                          <a:latin typeface="+mn-lt"/>
                          <a:ea typeface="+mn-ea"/>
                          <a:cs typeface="+mn-cs"/>
                        </a:rPr>
                        <a:t>Critères</a:t>
                      </a:r>
                      <a:endParaRPr lang="fr-FR" sz="2400" b="1" kern="1200" dirty="0">
                        <a:solidFill>
                          <a:schemeClr val="lt1"/>
                        </a:solidFill>
                        <a:latin typeface="+mn-lt"/>
                        <a:ea typeface="+mn-ea"/>
                        <a:cs typeface="+mn-cs"/>
                      </a:endParaRPr>
                    </a:p>
                  </a:txBody>
                  <a:tcPr marL="6350" marR="6350" marT="6350" marB="0" anchor="ctr"/>
                </a:tc>
                <a:extLst>
                  <a:ext uri="{0D108BD9-81ED-4DB2-BD59-A6C34878D82A}">
                    <a16:rowId xmlns:a16="http://schemas.microsoft.com/office/drawing/2014/main" val="2561629485"/>
                  </a:ext>
                </a:extLst>
              </a:tr>
              <a:tr h="1203194">
                <a:tc rowSpan="3">
                  <a:txBody>
                    <a:bodyPr/>
                    <a:lstStyle/>
                    <a:p>
                      <a:pPr marL="0" algn="ctr" defTabSz="914400" rtl="0" eaLnBrk="1" fontAlgn="b" latinLnBrk="0" hangingPunct="1">
                        <a:spcBef>
                          <a:spcPts val="300"/>
                        </a:spcBef>
                        <a:spcAft>
                          <a:spcPts val="300"/>
                        </a:spcAft>
                      </a:pPr>
                      <a:r>
                        <a:rPr lang="fr-FR" sz="1800" b="1" i="0" u="none" strike="noStrike" kern="1200" dirty="0" smtClean="0">
                          <a:solidFill>
                            <a:srgbClr val="000000"/>
                          </a:solidFill>
                          <a:effectLst/>
                          <a:latin typeface="Calibri" panose="020F0502020204030204" pitchFamily="34" charset="0"/>
                          <a:ea typeface="+mn-ea"/>
                          <a:cs typeface="+mn-cs"/>
                        </a:rPr>
                        <a:t>Evaluer et rationaliser les besoins fonctionnels et exigences </a:t>
                      </a:r>
                      <a:endParaRPr lang="fr-FR" sz="1800" b="1"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Service numérique utile :</a:t>
                      </a:r>
                    </a:p>
                    <a:p>
                      <a:pPr algn="ctr" fontAlgn="b">
                        <a:spcBef>
                          <a:spcPts val="300"/>
                        </a:spcBef>
                        <a:spcAft>
                          <a:spcPts val="300"/>
                        </a:spcAft>
                      </a:pPr>
                      <a:r>
                        <a:rPr lang="fr-FR" sz="1800" dirty="0" smtClean="0">
                          <a:solidFill>
                            <a:srgbClr val="284780"/>
                          </a:solidFill>
                        </a:rPr>
                        <a:t>Concevoir le service numérique avec des choix répondant à des réels besoins et non à des « envies »</a:t>
                      </a:r>
                      <a:endParaRPr lang="fr-FR" sz="1800" b="0" i="0" u="none" strike="noStrike" kern="1200" dirty="0" smtClean="0">
                        <a:solidFill>
                          <a:srgbClr val="284780"/>
                        </a:solidFill>
                        <a:effectLst/>
                        <a:latin typeface="Calibri" panose="020F0502020204030204" pitchFamily="34" charset="0"/>
                        <a:ea typeface="+mn-ea"/>
                        <a:cs typeface="+mn-cs"/>
                      </a:endParaRPr>
                    </a:p>
                  </a:txBody>
                  <a:tcPr marL="6350" marR="6350" marT="6350" marB="0"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S’assurer que ma solution répond aux besoins essentiels et qu'elle sera / est utilisée</a:t>
                      </a:r>
                    </a:p>
                  </a:txBody>
                  <a:tcPr marL="6350" marR="6350" marT="6350" marB="0" anchor="ctr"/>
                </a:tc>
                <a:extLst>
                  <a:ext uri="{0D108BD9-81ED-4DB2-BD59-A6C34878D82A}">
                    <a16:rowId xmlns:a16="http://schemas.microsoft.com/office/drawing/2014/main" val="700011447"/>
                  </a:ext>
                </a:extLst>
              </a:tr>
              <a:tr h="378184">
                <a:tc vMerge="1">
                  <a:txBody>
                    <a:bodyPr/>
                    <a:lstStyle/>
                    <a:p>
                      <a:pPr marL="0" algn="ctr" defTabSz="914400" rtl="0" eaLnBrk="1" fontAlgn="b" latinLnBrk="0" hangingPunct="1">
                        <a:spcBef>
                          <a:spcPts val="300"/>
                        </a:spcBef>
                        <a:spcAft>
                          <a:spcPts val="300"/>
                        </a:spcAft>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rowSpan="2">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Service numérique utilisable :</a:t>
                      </a:r>
                    </a:p>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Service numérique utilisable sur un parc matériel le plus large possible (coté terminaux utilisateur et coté serveur) et ceci de façon pérenne.</a:t>
                      </a:r>
                    </a:p>
                  </a:txBody>
                  <a:tcPr marL="6350" marR="6350" marT="6350" marB="0"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Etre au plus près des technologies et versions "standards"</a:t>
                      </a:r>
                    </a:p>
                  </a:txBody>
                  <a:tcPr marL="6350" marR="6350" marT="6350" marB="0" anchor="ctr"/>
                </a:tc>
                <a:extLst>
                  <a:ext uri="{0D108BD9-81ED-4DB2-BD59-A6C34878D82A}">
                    <a16:rowId xmlns:a16="http://schemas.microsoft.com/office/drawing/2014/main" val="248222350"/>
                  </a:ext>
                </a:extLst>
              </a:tr>
              <a:tr h="1104763">
                <a:tc vMerge="1">
                  <a:txBody>
                    <a:bodyPr/>
                    <a:lstStyle/>
                    <a:p>
                      <a:pPr marL="0" algn="ctr" defTabSz="914400" rtl="0" eaLnBrk="1" fontAlgn="b" latinLnBrk="0" hangingPunct="1">
                        <a:spcBef>
                          <a:spcPts val="300"/>
                        </a:spcBef>
                        <a:spcAft>
                          <a:spcPts val="300"/>
                        </a:spcAft>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algn="ctr" fontAlgn="b">
                        <a:spcBef>
                          <a:spcPts val="300"/>
                        </a:spcBef>
                        <a:spcAft>
                          <a:spcPts val="300"/>
                        </a:spcAft>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S’assurer que ma solution est utilisable (simple et accessible), et minimise les contraintes sur les terminaux et matériel utilisé</a:t>
                      </a:r>
                    </a:p>
                  </a:txBody>
                  <a:tcPr marL="6350" marR="6350" marT="6350" marB="0" anchor="ctr"/>
                </a:tc>
                <a:extLst>
                  <a:ext uri="{0D108BD9-81ED-4DB2-BD59-A6C34878D82A}">
                    <a16:rowId xmlns:a16="http://schemas.microsoft.com/office/drawing/2014/main" val="3070538064"/>
                  </a:ext>
                </a:extLst>
              </a:tr>
              <a:tr h="565980">
                <a:tc rowSpan="4">
                  <a:txBody>
                    <a:bodyPr/>
                    <a:lstStyle/>
                    <a:p>
                      <a:pPr marL="0" algn="ctr" defTabSz="914400" rtl="0" eaLnBrk="1" fontAlgn="b" latinLnBrk="0" hangingPunct="1">
                        <a:spcBef>
                          <a:spcPts val="300"/>
                        </a:spcBef>
                        <a:spcAft>
                          <a:spcPts val="300"/>
                        </a:spcAft>
                      </a:pPr>
                      <a:r>
                        <a:rPr lang="fr-FR" sz="1800" b="1" i="0" u="none" strike="noStrike" kern="1200" dirty="0" smtClean="0">
                          <a:solidFill>
                            <a:srgbClr val="000000"/>
                          </a:solidFill>
                          <a:effectLst/>
                          <a:latin typeface="Calibri" panose="020F0502020204030204" pitchFamily="34" charset="0"/>
                          <a:ea typeface="+mn-ea"/>
                          <a:cs typeface="+mn-cs"/>
                        </a:rPr>
                        <a:t>Piloter l'empreinte environnementale des projets </a:t>
                      </a:r>
                    </a:p>
                  </a:txBody>
                  <a:tcPr marL="6350" marR="6350" marT="6350" marB="0" anchor="ctr"/>
                </a:tc>
                <a:tc rowSpan="4">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r>
                        <a:rPr lang="fr-FR" sz="1800" dirty="0" smtClean="0">
                          <a:solidFill>
                            <a:srgbClr val="284780"/>
                          </a:solidFill>
                        </a:rPr>
                        <a:t>Méthodologie facilitant l'écoconception :</a:t>
                      </a:r>
                    </a:p>
                    <a:p>
                      <a:pPr marL="0" marR="0" lvl="0" indent="0" algn="ctr" defTabSz="914400" rtl="0" eaLnBrk="1" fontAlgn="b" latinLnBrk="0" hangingPunct="1">
                        <a:lnSpc>
                          <a:spcPct val="100000"/>
                        </a:lnSpc>
                        <a:spcBef>
                          <a:spcPts val="300"/>
                        </a:spcBef>
                        <a:spcAft>
                          <a:spcPts val="300"/>
                        </a:spcAft>
                        <a:buClrTx/>
                        <a:buSzTx/>
                        <a:buFontTx/>
                        <a:buNone/>
                        <a:tabLst/>
                        <a:defRPr/>
                      </a:pPr>
                      <a:r>
                        <a:rPr lang="fr-FR" sz="1800" dirty="0" smtClean="0">
                          <a:solidFill>
                            <a:srgbClr val="284780"/>
                          </a:solidFill>
                        </a:rPr>
                        <a:t>Appliquer des méthodes facilitant la prise en compte de l'</a:t>
                      </a:r>
                      <a:r>
                        <a:rPr lang="fr-FR" sz="1800" dirty="0" err="1" smtClean="0">
                          <a:solidFill>
                            <a:srgbClr val="284780"/>
                          </a:solidFill>
                        </a:rPr>
                        <a:t>eco-conception</a:t>
                      </a:r>
                      <a:r>
                        <a:rPr lang="fr-FR" sz="1800" dirty="0" smtClean="0">
                          <a:solidFill>
                            <a:srgbClr val="284780"/>
                          </a:solidFill>
                        </a:rPr>
                        <a:t> dans les projets.</a:t>
                      </a:r>
                    </a:p>
                  </a:txBody>
                  <a:tcPr marL="6350" marR="6350" marT="6350" marB="0"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Appliquer des méthodes d’écoconception dans la méthodologie projet</a:t>
                      </a:r>
                    </a:p>
                  </a:txBody>
                  <a:tcPr marL="6350" marR="6350" marT="6350" marB="0" anchor="ctr"/>
                </a:tc>
                <a:extLst>
                  <a:ext uri="{0D108BD9-81ED-4DB2-BD59-A6C34878D82A}">
                    <a16:rowId xmlns:a16="http://schemas.microsoft.com/office/drawing/2014/main" val="3637794750"/>
                  </a:ext>
                </a:extLst>
              </a:tr>
              <a:tr h="565980">
                <a:tc vMerge="1">
                  <a:txBody>
                    <a:bodyPr/>
                    <a:lstStyle/>
                    <a:p>
                      <a:pPr marL="0" algn="ctr" defTabSz="914400" rtl="0" eaLnBrk="1" fontAlgn="b" latinLnBrk="0" hangingPunct="1">
                        <a:spcBef>
                          <a:spcPts val="300"/>
                        </a:spcBef>
                        <a:spcAft>
                          <a:spcPts val="300"/>
                        </a:spcAft>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algn="ctr" fontAlgn="b">
                        <a:spcBef>
                          <a:spcPts val="300"/>
                        </a:spcBef>
                        <a:spcAft>
                          <a:spcPts val="300"/>
                        </a:spcAft>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Imposer aux fournisseurs et/ou partenaires participant à l'élaboration du service une démarche environnementale</a:t>
                      </a:r>
                    </a:p>
                  </a:txBody>
                  <a:tcPr marL="6350" marR="6350" marT="6350" marB="0" anchor="ctr"/>
                </a:tc>
                <a:extLst>
                  <a:ext uri="{0D108BD9-81ED-4DB2-BD59-A6C34878D82A}">
                    <a16:rowId xmlns:a16="http://schemas.microsoft.com/office/drawing/2014/main" val="1633694268"/>
                  </a:ext>
                </a:extLst>
              </a:tr>
              <a:tr h="378184">
                <a:tc vMerge="1">
                  <a:txBody>
                    <a:bodyPr/>
                    <a:lstStyle/>
                    <a:p>
                      <a:pPr marL="0" algn="ctr" defTabSz="914400" rtl="0" eaLnBrk="1" fontAlgn="b" latinLnBrk="0" hangingPunct="1">
                        <a:spcBef>
                          <a:spcPts val="300"/>
                        </a:spcBef>
                        <a:spcAft>
                          <a:spcPts val="300"/>
                        </a:spcAft>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algn="ctr" fontAlgn="b">
                        <a:spcBef>
                          <a:spcPts val="300"/>
                        </a:spcBef>
                        <a:spcAft>
                          <a:spcPts val="300"/>
                        </a:spcAft>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Suivre les impacts coté Datacenters</a:t>
                      </a:r>
                    </a:p>
                  </a:txBody>
                  <a:tcPr marL="6350" marR="6350" marT="6350" marB="0" anchor="ctr"/>
                </a:tc>
                <a:extLst>
                  <a:ext uri="{0D108BD9-81ED-4DB2-BD59-A6C34878D82A}">
                    <a16:rowId xmlns:a16="http://schemas.microsoft.com/office/drawing/2014/main" val="1604592697"/>
                  </a:ext>
                </a:extLst>
              </a:tr>
              <a:tr h="378184">
                <a:tc vMerge="1">
                  <a:txBody>
                    <a:bodyPr/>
                    <a:lstStyle/>
                    <a:p>
                      <a:pPr marL="0" algn="ctr" defTabSz="914400" rtl="0" eaLnBrk="1" fontAlgn="b" latinLnBrk="0" hangingPunct="1">
                        <a:spcBef>
                          <a:spcPts val="300"/>
                        </a:spcBef>
                        <a:spcAft>
                          <a:spcPts val="300"/>
                        </a:spcAft>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algn="ctr" fontAlgn="b">
                        <a:spcBef>
                          <a:spcPts val="300"/>
                        </a:spcBef>
                        <a:spcAft>
                          <a:spcPts val="300"/>
                        </a:spcAft>
                      </a:pPr>
                      <a:endParaRPr lang="fr-FR"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Suivre les impacts du service numérique</a:t>
                      </a:r>
                    </a:p>
                  </a:txBody>
                  <a:tcPr marL="6350" marR="6350" marT="6350" marB="0" anchor="ctr"/>
                </a:tc>
                <a:extLst>
                  <a:ext uri="{0D108BD9-81ED-4DB2-BD59-A6C34878D82A}">
                    <a16:rowId xmlns:a16="http://schemas.microsoft.com/office/drawing/2014/main" val="3101724828"/>
                  </a:ext>
                </a:extLst>
              </a:tr>
            </a:tbl>
          </a:graphicData>
        </a:graphic>
      </p:graphicFrame>
    </p:spTree>
    <p:extLst>
      <p:ext uri="{BB962C8B-B14F-4D97-AF65-F5344CB8AC3E}">
        <p14:creationId xmlns:p14="http://schemas.microsoft.com/office/powerpoint/2010/main" val="1556771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smtClean="0">
                <a:solidFill>
                  <a:schemeClr val="bg1"/>
                </a:solidFill>
              </a:rPr>
              <a:t>Liste des Finalités et Critères</a:t>
            </a:r>
            <a:endParaRPr lang="fr-FR" b="1" dirty="0">
              <a:solidFill>
                <a:schemeClr val="bg1"/>
              </a:solidFill>
            </a:endParaRPr>
          </a:p>
        </p:txBody>
      </p:sp>
      <p:sp>
        <p:nvSpPr>
          <p:cNvPr id="3" name="Espace réservé du contenu 2"/>
          <p:cNvSpPr>
            <a:spLocks noGrp="1"/>
          </p:cNvSpPr>
          <p:nvPr>
            <p:ph idx="1"/>
          </p:nvPr>
        </p:nvSpPr>
        <p:spPr>
          <a:xfrm>
            <a:off x="0" y="1736946"/>
            <a:ext cx="12192000" cy="4351338"/>
          </a:xfrm>
        </p:spPr>
        <p:txBody>
          <a:bodyPr/>
          <a:lstStyle/>
          <a:p>
            <a:pPr marL="0" indent="0">
              <a:buNone/>
            </a:pPr>
            <a:endParaRPr lang="fr-FR" dirty="0">
              <a:solidFill>
                <a:schemeClr val="accent5">
                  <a:lumMod val="75000"/>
                </a:schemeClr>
              </a:solidFill>
            </a:endParaRPr>
          </a:p>
          <a:p>
            <a:pPr marL="0" indent="0">
              <a:buNone/>
            </a:pPr>
            <a:endParaRPr lang="fr-FR" dirty="0" smtClean="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7" name="Espace réservé du contenu 6"/>
          <p:cNvGraphicFramePr>
            <a:graphicFrameLocks/>
          </p:cNvGraphicFramePr>
          <p:nvPr>
            <p:extLst/>
          </p:nvPr>
        </p:nvGraphicFramePr>
        <p:xfrm>
          <a:off x="46296" y="1408251"/>
          <a:ext cx="12099409" cy="4173398"/>
        </p:xfrm>
        <a:graphic>
          <a:graphicData uri="http://schemas.openxmlformats.org/drawingml/2006/table">
            <a:tbl>
              <a:tblPr firstRow="1" bandRow="1">
                <a:tableStyleId>{5C22544A-7EE6-4342-B048-85BDC9FD1C3A}</a:tableStyleId>
              </a:tblPr>
              <a:tblGrid>
                <a:gridCol w="1922027">
                  <a:extLst>
                    <a:ext uri="{9D8B030D-6E8A-4147-A177-3AD203B41FA5}">
                      <a16:colId xmlns:a16="http://schemas.microsoft.com/office/drawing/2014/main" val="4232212402"/>
                    </a:ext>
                  </a:extLst>
                </a:gridCol>
                <a:gridCol w="4456079">
                  <a:extLst>
                    <a:ext uri="{9D8B030D-6E8A-4147-A177-3AD203B41FA5}">
                      <a16:colId xmlns:a16="http://schemas.microsoft.com/office/drawing/2014/main" val="1470227622"/>
                    </a:ext>
                  </a:extLst>
                </a:gridCol>
                <a:gridCol w="5721303">
                  <a:extLst>
                    <a:ext uri="{9D8B030D-6E8A-4147-A177-3AD203B41FA5}">
                      <a16:colId xmlns:a16="http://schemas.microsoft.com/office/drawing/2014/main" val="3972353255"/>
                    </a:ext>
                  </a:extLst>
                </a:gridCol>
              </a:tblGrid>
              <a:tr h="924416">
                <a:tc>
                  <a:txBody>
                    <a:bodyPr/>
                    <a:lstStyle/>
                    <a:p>
                      <a:pPr algn="ctr"/>
                      <a:r>
                        <a:rPr lang="fr-FR" sz="2400" dirty="0" smtClean="0"/>
                        <a:t>Principes Directeurs SI </a:t>
                      </a:r>
                      <a:endParaRPr lang="fr-FR" sz="2400" dirty="0"/>
                    </a:p>
                  </a:txBody>
                  <a:tcPr marL="6350" marR="6350" marT="6350" marB="0" anchor="ctr"/>
                </a:tc>
                <a:tc>
                  <a:txBody>
                    <a:bodyPr/>
                    <a:lstStyle/>
                    <a:p>
                      <a:pPr algn="ctr" fontAlgn="b"/>
                      <a:r>
                        <a:rPr lang="fr-FR" sz="2400" b="1" kern="1200" dirty="0" smtClean="0">
                          <a:solidFill>
                            <a:schemeClr val="lt1"/>
                          </a:solidFill>
                          <a:latin typeface="+mn-lt"/>
                          <a:ea typeface="+mn-ea"/>
                          <a:cs typeface="+mn-cs"/>
                        </a:rPr>
                        <a:t>Finalités</a:t>
                      </a:r>
                      <a:endParaRPr lang="fr-FR" sz="2400" b="1" kern="1200" dirty="0">
                        <a:solidFill>
                          <a:schemeClr val="lt1"/>
                        </a:solidFill>
                        <a:latin typeface="+mn-lt"/>
                        <a:ea typeface="+mn-ea"/>
                        <a:cs typeface="+mn-cs"/>
                      </a:endParaRPr>
                    </a:p>
                  </a:txBody>
                  <a:tcPr marL="6350" marR="6350" marT="6350" marB="0" anchor="ctr"/>
                </a:tc>
                <a:tc>
                  <a:txBody>
                    <a:bodyPr/>
                    <a:lstStyle/>
                    <a:p>
                      <a:pPr algn="ctr" fontAlgn="b"/>
                      <a:r>
                        <a:rPr lang="fr-FR" sz="2400" b="1" kern="1200" dirty="0" smtClean="0">
                          <a:solidFill>
                            <a:schemeClr val="lt1"/>
                          </a:solidFill>
                          <a:latin typeface="+mn-lt"/>
                          <a:ea typeface="+mn-ea"/>
                          <a:cs typeface="+mn-cs"/>
                        </a:rPr>
                        <a:t>Critères</a:t>
                      </a:r>
                      <a:endParaRPr lang="fr-FR" sz="2400" b="1" kern="1200" dirty="0">
                        <a:solidFill>
                          <a:schemeClr val="lt1"/>
                        </a:solidFill>
                        <a:latin typeface="+mn-lt"/>
                        <a:ea typeface="+mn-ea"/>
                        <a:cs typeface="+mn-cs"/>
                      </a:endParaRPr>
                    </a:p>
                  </a:txBody>
                  <a:tcPr marL="6350" marR="6350" marT="6350" marB="0" anchor="ctr"/>
                </a:tc>
                <a:extLst>
                  <a:ext uri="{0D108BD9-81ED-4DB2-BD59-A6C34878D82A}">
                    <a16:rowId xmlns:a16="http://schemas.microsoft.com/office/drawing/2014/main" val="2561629485"/>
                  </a:ext>
                </a:extLst>
              </a:tr>
              <a:tr h="695301">
                <a:tc rowSpan="6">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r>
                        <a:rPr lang="fr-FR" sz="1800" b="1" i="0" u="none" strike="noStrike" kern="1200" dirty="0" smtClean="0">
                          <a:solidFill>
                            <a:srgbClr val="000000"/>
                          </a:solidFill>
                          <a:effectLst/>
                          <a:latin typeface="Calibri" panose="020F0502020204030204" pitchFamily="34" charset="0"/>
                          <a:ea typeface="+mn-ea"/>
                          <a:cs typeface="+mn-cs"/>
                        </a:rPr>
                        <a:t>Optimisation de l'Expérience et de l'Interface Utilisateur</a:t>
                      </a:r>
                    </a:p>
                  </a:txBody>
                  <a:tcPr marL="6350" marR="6350" marT="6350" marB="0" anchor="ctr"/>
                </a:tc>
                <a:tc rowSpan="6">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Réduire la consommation de ressources : Optimisation de l'Expérience et de l'Interface Utilisateur </a:t>
                      </a:r>
                    </a:p>
                  </a:txBody>
                  <a:tcPr marL="6350" marR="6350" marT="6350" marB="0"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Eviter le recours à des ressources inutiles coté terminal utilisateur</a:t>
                      </a:r>
                    </a:p>
                  </a:txBody>
                  <a:tcPr marL="6350" marR="6350" marT="6350" marB="0" anchor="ctr"/>
                </a:tc>
                <a:extLst>
                  <a:ext uri="{0D108BD9-81ED-4DB2-BD59-A6C34878D82A}">
                    <a16:rowId xmlns:a16="http://schemas.microsoft.com/office/drawing/2014/main" val="4007288421"/>
                  </a:ext>
                </a:extLst>
              </a:tr>
              <a:tr h="464595">
                <a:tc vMerge="1">
                  <a:txBody>
                    <a:bodyPr/>
                    <a:lstStyle/>
                    <a:p>
                      <a:pPr marL="0" algn="ctr" defTabSz="914400" rtl="0" eaLnBrk="1" fontAlgn="b" latinLnBrk="0" hangingPunct="1">
                        <a:spcBef>
                          <a:spcPts val="300"/>
                        </a:spcBef>
                        <a:spcAft>
                          <a:spcPts val="300"/>
                        </a:spcAft>
                      </a:pPr>
                      <a:endParaRPr lang="fr-FR" sz="1800" b="0" i="0" u="none" strike="noStrike" kern="1200" dirty="0" smtClean="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dirty="0" smtClean="0"/>
                    </a:p>
                  </a:txBody>
                  <a:tcPr marL="6350" marR="6350" marT="6350" marB="0"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Favoriser le bon fonctionnement des navigateurs</a:t>
                      </a:r>
                    </a:p>
                  </a:txBody>
                  <a:tcPr marL="6350" marR="6350" marT="6350" marB="0" anchor="ctr"/>
                </a:tc>
                <a:extLst>
                  <a:ext uri="{0D108BD9-81ED-4DB2-BD59-A6C34878D82A}">
                    <a16:rowId xmlns:a16="http://schemas.microsoft.com/office/drawing/2014/main" val="1147863079"/>
                  </a:ext>
                </a:extLst>
              </a:tr>
              <a:tr h="464595">
                <a:tc vMerge="1">
                  <a:txBody>
                    <a:bodyPr/>
                    <a:lstStyle/>
                    <a:p>
                      <a:pPr marL="0" algn="ctr" defTabSz="914400" rtl="0" eaLnBrk="1" fontAlgn="b" latinLnBrk="0" hangingPunct="1">
                        <a:spcBef>
                          <a:spcPts val="300"/>
                        </a:spcBef>
                        <a:spcAft>
                          <a:spcPts val="300"/>
                        </a:spcAft>
                      </a:pPr>
                      <a:endParaRPr lang="fr-FR" sz="1800" b="0" i="0" u="none" strike="noStrike" kern="1200" dirty="0" smtClean="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dirty="0" smtClean="0"/>
                    </a:p>
                  </a:txBody>
                  <a:tcPr marL="6350" marR="6350" marT="6350" marB="0"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Limiter le poids par écran</a:t>
                      </a:r>
                    </a:p>
                  </a:txBody>
                  <a:tcPr marL="6350" marR="6350" marT="6350" marB="0" anchor="ctr"/>
                </a:tc>
                <a:extLst>
                  <a:ext uri="{0D108BD9-81ED-4DB2-BD59-A6C34878D82A}">
                    <a16:rowId xmlns:a16="http://schemas.microsoft.com/office/drawing/2014/main" val="3389086062"/>
                  </a:ext>
                </a:extLst>
              </a:tr>
              <a:tr h="464595">
                <a:tc vMerge="1">
                  <a:txBody>
                    <a:bodyPr/>
                    <a:lstStyle/>
                    <a:p>
                      <a:pPr marL="0" algn="ctr" defTabSz="914400" rtl="0" eaLnBrk="1" fontAlgn="b" latinLnBrk="0" hangingPunct="1">
                        <a:spcBef>
                          <a:spcPts val="300"/>
                        </a:spcBef>
                        <a:spcAft>
                          <a:spcPts val="300"/>
                        </a:spcAft>
                      </a:pPr>
                      <a:endParaRPr lang="fr-FR" sz="1800" b="0" i="0" u="none" strike="noStrike" kern="1200" dirty="0" smtClean="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dirty="0" smtClean="0"/>
                    </a:p>
                  </a:txBody>
                  <a:tcPr marL="6350" marR="6350" marT="6350" marB="0"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Optimiser les contenus </a:t>
                      </a:r>
                      <a:r>
                        <a:rPr lang="fr-FR" sz="1800" b="0" i="0" u="none" strike="noStrike" kern="1200" dirty="0" err="1" smtClean="0">
                          <a:solidFill>
                            <a:srgbClr val="284780"/>
                          </a:solidFill>
                          <a:effectLst/>
                          <a:latin typeface="Calibri" panose="020F0502020204030204" pitchFamily="34" charset="0"/>
                          <a:ea typeface="+mn-ea"/>
                          <a:cs typeface="+mn-cs"/>
                        </a:rPr>
                        <a:t>multi-média</a:t>
                      </a:r>
                      <a:endParaRPr lang="fr-FR" sz="1800" b="0" i="0" u="none" strike="noStrike" kern="1200" dirty="0" smtClean="0">
                        <a:solidFill>
                          <a:srgbClr val="284780"/>
                        </a:solidFill>
                        <a:effectLst/>
                        <a:latin typeface="Calibri" panose="020F0502020204030204" pitchFamily="34" charset="0"/>
                        <a:ea typeface="+mn-ea"/>
                        <a:cs typeface="+mn-cs"/>
                      </a:endParaRPr>
                    </a:p>
                  </a:txBody>
                  <a:tcPr marL="6350" marR="6350" marT="6350" marB="0" anchor="ctr"/>
                </a:tc>
                <a:extLst>
                  <a:ext uri="{0D108BD9-81ED-4DB2-BD59-A6C34878D82A}">
                    <a16:rowId xmlns:a16="http://schemas.microsoft.com/office/drawing/2014/main" val="2104063928"/>
                  </a:ext>
                </a:extLst>
              </a:tr>
              <a:tr h="464595">
                <a:tc vMerge="1">
                  <a:txBody>
                    <a:bodyPr/>
                    <a:lstStyle/>
                    <a:p>
                      <a:pPr marL="0" algn="ctr" defTabSz="914400" rtl="0" eaLnBrk="1" fontAlgn="b" latinLnBrk="0" hangingPunct="1">
                        <a:spcBef>
                          <a:spcPts val="300"/>
                        </a:spcBef>
                        <a:spcAft>
                          <a:spcPts val="300"/>
                        </a:spcAft>
                      </a:pPr>
                      <a:endParaRPr lang="fr-FR" sz="1800" b="0" i="0" u="none" strike="noStrike" kern="1200" dirty="0" smtClean="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dirty="0" smtClean="0"/>
                    </a:p>
                  </a:txBody>
                  <a:tcPr marL="6350" marR="6350" marT="6350" marB="0"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Optimiser les ressources d'Interface Utilisateur</a:t>
                      </a:r>
                    </a:p>
                  </a:txBody>
                  <a:tcPr marL="6350" marR="6350" marT="6350" marB="0" anchor="ctr"/>
                </a:tc>
                <a:extLst>
                  <a:ext uri="{0D108BD9-81ED-4DB2-BD59-A6C34878D82A}">
                    <a16:rowId xmlns:a16="http://schemas.microsoft.com/office/drawing/2014/main" val="1777704913"/>
                  </a:ext>
                </a:extLst>
              </a:tr>
              <a:tr h="695301">
                <a:tc vMerge="1">
                  <a:txBody>
                    <a:bodyPr/>
                    <a:lstStyle/>
                    <a:p>
                      <a:pPr marL="0" algn="ctr" defTabSz="914400" rtl="0" eaLnBrk="1" fontAlgn="b" latinLnBrk="0" hangingPunct="1">
                        <a:spcBef>
                          <a:spcPts val="300"/>
                        </a:spcBef>
                        <a:spcAft>
                          <a:spcPts val="300"/>
                        </a:spcAft>
                      </a:pPr>
                      <a:endParaRPr lang="fr-FR" sz="1800" b="0" i="0" u="none" strike="noStrike" kern="1200" dirty="0" smtClean="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dirty="0" smtClean="0"/>
                    </a:p>
                  </a:txBody>
                  <a:tcPr marL="6350" marR="6350" marT="6350" marB="0"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Optimiser l'</a:t>
                      </a:r>
                      <a:r>
                        <a:rPr lang="fr-FR" sz="1800" b="0" i="0" u="none" strike="noStrike" kern="1200" dirty="0" err="1" smtClean="0">
                          <a:solidFill>
                            <a:srgbClr val="284780"/>
                          </a:solidFill>
                          <a:effectLst/>
                          <a:latin typeface="Calibri" panose="020F0502020204030204" pitchFamily="34" charset="0"/>
                          <a:ea typeface="+mn-ea"/>
                          <a:cs typeface="+mn-cs"/>
                        </a:rPr>
                        <a:t>intéraction</a:t>
                      </a:r>
                      <a:r>
                        <a:rPr lang="fr-FR" sz="1800" b="0" i="0" u="none" strike="noStrike" kern="1200" dirty="0" smtClean="0">
                          <a:solidFill>
                            <a:srgbClr val="284780"/>
                          </a:solidFill>
                          <a:effectLst/>
                          <a:latin typeface="Calibri" panose="020F0502020204030204" pitchFamily="34" charset="0"/>
                          <a:ea typeface="+mn-ea"/>
                          <a:cs typeface="+mn-cs"/>
                        </a:rPr>
                        <a:t> avec l'utilisateur pour minimiser le temps passé sur son terminal et les échanges client/serveur</a:t>
                      </a:r>
                    </a:p>
                  </a:txBody>
                  <a:tcPr marL="6350" marR="6350" marT="6350" marB="0" anchor="ctr"/>
                </a:tc>
                <a:extLst>
                  <a:ext uri="{0D108BD9-81ED-4DB2-BD59-A6C34878D82A}">
                    <a16:rowId xmlns:a16="http://schemas.microsoft.com/office/drawing/2014/main" val="2422056253"/>
                  </a:ext>
                </a:extLst>
              </a:tr>
            </a:tbl>
          </a:graphicData>
        </a:graphic>
      </p:graphicFrame>
    </p:spTree>
    <p:extLst>
      <p:ext uri="{BB962C8B-B14F-4D97-AF65-F5344CB8AC3E}">
        <p14:creationId xmlns:p14="http://schemas.microsoft.com/office/powerpoint/2010/main" val="38984387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smtClean="0">
                <a:solidFill>
                  <a:schemeClr val="bg1"/>
                </a:solidFill>
              </a:rPr>
              <a:t>Liste des Finalités et Critères</a:t>
            </a:r>
            <a:endParaRPr lang="fr-FR" b="1" dirty="0">
              <a:solidFill>
                <a:schemeClr val="bg1"/>
              </a:solidFill>
            </a:endParaRPr>
          </a:p>
        </p:txBody>
      </p:sp>
      <p:sp>
        <p:nvSpPr>
          <p:cNvPr id="3" name="Espace réservé du contenu 2"/>
          <p:cNvSpPr>
            <a:spLocks noGrp="1"/>
          </p:cNvSpPr>
          <p:nvPr>
            <p:ph idx="1"/>
          </p:nvPr>
        </p:nvSpPr>
        <p:spPr>
          <a:xfrm>
            <a:off x="0" y="1736946"/>
            <a:ext cx="12192000" cy="4351338"/>
          </a:xfrm>
        </p:spPr>
        <p:txBody>
          <a:bodyPr/>
          <a:lstStyle/>
          <a:p>
            <a:pPr marL="0" indent="0">
              <a:buNone/>
            </a:pPr>
            <a:endParaRPr lang="fr-FR" dirty="0">
              <a:solidFill>
                <a:schemeClr val="accent5">
                  <a:lumMod val="75000"/>
                </a:schemeClr>
              </a:solidFill>
            </a:endParaRPr>
          </a:p>
          <a:p>
            <a:pPr marL="0" indent="0">
              <a:buNone/>
            </a:pPr>
            <a:endParaRPr lang="fr-FR" dirty="0" smtClean="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7" name="Espace réservé du contenu 6"/>
          <p:cNvGraphicFramePr>
            <a:graphicFrameLocks/>
          </p:cNvGraphicFramePr>
          <p:nvPr>
            <p:extLst/>
          </p:nvPr>
        </p:nvGraphicFramePr>
        <p:xfrm>
          <a:off x="46296" y="1408253"/>
          <a:ext cx="12099409" cy="4924532"/>
        </p:xfrm>
        <a:graphic>
          <a:graphicData uri="http://schemas.openxmlformats.org/drawingml/2006/table">
            <a:tbl>
              <a:tblPr firstRow="1" bandRow="1">
                <a:tableStyleId>{5C22544A-7EE6-4342-B048-85BDC9FD1C3A}</a:tableStyleId>
              </a:tblPr>
              <a:tblGrid>
                <a:gridCol w="1922027">
                  <a:extLst>
                    <a:ext uri="{9D8B030D-6E8A-4147-A177-3AD203B41FA5}">
                      <a16:colId xmlns:a16="http://schemas.microsoft.com/office/drawing/2014/main" val="4232212402"/>
                    </a:ext>
                  </a:extLst>
                </a:gridCol>
                <a:gridCol w="4456079">
                  <a:extLst>
                    <a:ext uri="{9D8B030D-6E8A-4147-A177-3AD203B41FA5}">
                      <a16:colId xmlns:a16="http://schemas.microsoft.com/office/drawing/2014/main" val="1470227622"/>
                    </a:ext>
                  </a:extLst>
                </a:gridCol>
                <a:gridCol w="5721303">
                  <a:extLst>
                    <a:ext uri="{9D8B030D-6E8A-4147-A177-3AD203B41FA5}">
                      <a16:colId xmlns:a16="http://schemas.microsoft.com/office/drawing/2014/main" val="3972353255"/>
                    </a:ext>
                  </a:extLst>
                </a:gridCol>
              </a:tblGrid>
              <a:tr h="780899">
                <a:tc>
                  <a:txBody>
                    <a:bodyPr/>
                    <a:lstStyle/>
                    <a:p>
                      <a:pPr algn="ctr"/>
                      <a:r>
                        <a:rPr lang="fr-FR" sz="2400" dirty="0" smtClean="0"/>
                        <a:t>Principes Directeurs SI </a:t>
                      </a:r>
                      <a:endParaRPr lang="fr-FR" sz="2400" dirty="0"/>
                    </a:p>
                  </a:txBody>
                  <a:tcPr marL="6350" marR="6350" marT="6350" marB="0" anchor="ctr"/>
                </a:tc>
                <a:tc>
                  <a:txBody>
                    <a:bodyPr/>
                    <a:lstStyle/>
                    <a:p>
                      <a:pPr algn="ctr" fontAlgn="b"/>
                      <a:r>
                        <a:rPr lang="fr-FR" sz="2400" b="1" kern="1200" dirty="0" smtClean="0">
                          <a:solidFill>
                            <a:schemeClr val="lt1"/>
                          </a:solidFill>
                          <a:latin typeface="+mn-lt"/>
                          <a:ea typeface="+mn-ea"/>
                          <a:cs typeface="+mn-cs"/>
                        </a:rPr>
                        <a:t>Finalités</a:t>
                      </a:r>
                      <a:endParaRPr lang="fr-FR" sz="2400" b="1" kern="1200" dirty="0">
                        <a:solidFill>
                          <a:schemeClr val="lt1"/>
                        </a:solidFill>
                        <a:latin typeface="+mn-lt"/>
                        <a:ea typeface="+mn-ea"/>
                        <a:cs typeface="+mn-cs"/>
                      </a:endParaRPr>
                    </a:p>
                  </a:txBody>
                  <a:tcPr marL="6350" marR="6350" marT="6350" marB="0" anchor="ctr"/>
                </a:tc>
                <a:tc>
                  <a:txBody>
                    <a:bodyPr/>
                    <a:lstStyle/>
                    <a:p>
                      <a:pPr algn="ctr" fontAlgn="b"/>
                      <a:r>
                        <a:rPr lang="fr-FR" sz="2400" b="1" kern="1200" dirty="0" smtClean="0">
                          <a:solidFill>
                            <a:schemeClr val="lt1"/>
                          </a:solidFill>
                          <a:latin typeface="+mn-lt"/>
                          <a:ea typeface="+mn-ea"/>
                          <a:cs typeface="+mn-cs"/>
                        </a:rPr>
                        <a:t>Critères</a:t>
                      </a:r>
                      <a:endParaRPr lang="fr-FR" sz="2400" b="1" kern="1200" dirty="0">
                        <a:solidFill>
                          <a:schemeClr val="lt1"/>
                        </a:solidFill>
                        <a:latin typeface="+mn-lt"/>
                        <a:ea typeface="+mn-ea"/>
                        <a:cs typeface="+mn-cs"/>
                      </a:endParaRPr>
                    </a:p>
                  </a:txBody>
                  <a:tcPr marL="6350" marR="6350" marT="6350" marB="0" anchor="ctr"/>
                </a:tc>
                <a:extLst>
                  <a:ext uri="{0D108BD9-81ED-4DB2-BD59-A6C34878D82A}">
                    <a16:rowId xmlns:a16="http://schemas.microsoft.com/office/drawing/2014/main" val="2561629485"/>
                  </a:ext>
                </a:extLst>
              </a:tr>
              <a:tr h="958315">
                <a:tc rowSpan="8">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r>
                        <a:rPr lang="fr-FR" sz="1800" b="1" i="0" u="none" strike="noStrike" kern="1200" dirty="0" smtClean="0">
                          <a:solidFill>
                            <a:srgbClr val="000000"/>
                          </a:solidFill>
                          <a:effectLst/>
                          <a:latin typeface="Calibri" panose="020F0502020204030204" pitchFamily="34" charset="0"/>
                          <a:ea typeface="+mn-ea"/>
                          <a:cs typeface="+mn-cs"/>
                        </a:rPr>
                        <a:t>La solution intègre des pratiques d'écoconception</a:t>
                      </a:r>
                    </a:p>
                  </a:txBody>
                  <a:tcPr marL="6350" marR="6350" marT="6350" marB="0" anchor="ctr"/>
                </a:tc>
                <a:tc rowSpan="8">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r>
                        <a:rPr lang="fr-FR" sz="1800" dirty="0" smtClean="0">
                          <a:solidFill>
                            <a:srgbClr val="284780"/>
                          </a:solidFill>
                        </a:rPr>
                        <a:t>Réduire la consommation de ressources : Minimiser la consommation de ressources  terminal utilisateur, réseau et  serveur pour ce service numérique</a:t>
                      </a:r>
                    </a:p>
                  </a:txBody>
                  <a:tcPr marL="6350" marR="6350" marT="6350" marB="0"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Optimiser les traitements "lourds" coté terminal utilisateur</a:t>
                      </a:r>
                    </a:p>
                  </a:txBody>
                  <a:tcPr marL="6350" marR="6350" marT="6350" marB="0" anchor="ctr"/>
                </a:tc>
                <a:extLst>
                  <a:ext uri="{0D108BD9-81ED-4DB2-BD59-A6C34878D82A}">
                    <a16:rowId xmlns:a16="http://schemas.microsoft.com/office/drawing/2014/main" val="4007288421"/>
                  </a:ext>
                </a:extLst>
              </a:tr>
              <a:tr h="392466">
                <a:tc vMerge="1">
                  <a:txBody>
                    <a:bodyPr/>
                    <a:lstStyle/>
                    <a:p>
                      <a:pPr marL="0" algn="ctr" defTabSz="914400" rtl="0" eaLnBrk="1" fontAlgn="b" latinLnBrk="0" hangingPunct="1">
                        <a:spcBef>
                          <a:spcPts val="300"/>
                        </a:spcBef>
                        <a:spcAft>
                          <a:spcPts val="300"/>
                        </a:spcAft>
                      </a:pPr>
                      <a:endParaRPr lang="fr-FR" sz="1800" b="0" i="0" u="none" strike="noStrike" kern="1200" dirty="0" smtClean="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dirty="0" smtClean="0">
                        <a:solidFill>
                          <a:srgbClr val="284780"/>
                        </a:solidFill>
                      </a:endParaRPr>
                    </a:p>
                  </a:txBody>
                  <a:tcPr marL="6350" marR="6350" marT="6350" marB="0"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Limiter le nombre de requête distante</a:t>
                      </a:r>
                    </a:p>
                  </a:txBody>
                  <a:tcPr marL="6350" marR="6350" marT="6350" marB="0" anchor="ctr"/>
                </a:tc>
                <a:extLst>
                  <a:ext uri="{0D108BD9-81ED-4DB2-BD59-A6C34878D82A}">
                    <a16:rowId xmlns:a16="http://schemas.microsoft.com/office/drawing/2014/main" val="1147863079"/>
                  </a:ext>
                </a:extLst>
              </a:tr>
              <a:tr h="392466">
                <a:tc vMerge="1">
                  <a:txBody>
                    <a:bodyPr/>
                    <a:lstStyle/>
                    <a:p>
                      <a:pPr marL="0" algn="ctr" defTabSz="914400" rtl="0" eaLnBrk="1" fontAlgn="b" latinLnBrk="0" hangingPunct="1">
                        <a:spcBef>
                          <a:spcPts val="300"/>
                        </a:spcBef>
                        <a:spcAft>
                          <a:spcPts val="300"/>
                        </a:spcAft>
                      </a:pPr>
                      <a:endParaRPr lang="fr-FR" sz="1800" b="0" i="0" u="none" strike="noStrike" kern="1200" dirty="0" smtClean="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dirty="0" smtClean="0"/>
                    </a:p>
                  </a:txBody>
                  <a:tcPr marL="6350" marR="6350" marT="6350" marB="0"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Optimiser la gestion des erreurs pour empêcher qu'elles se reproduisent.</a:t>
                      </a:r>
                    </a:p>
                  </a:txBody>
                  <a:tcPr marL="6350" marR="6350" marT="6350" marB="0" anchor="ctr"/>
                </a:tc>
                <a:extLst>
                  <a:ext uri="{0D108BD9-81ED-4DB2-BD59-A6C34878D82A}">
                    <a16:rowId xmlns:a16="http://schemas.microsoft.com/office/drawing/2014/main" val="3389086062"/>
                  </a:ext>
                </a:extLst>
              </a:tr>
              <a:tr h="392466">
                <a:tc vMerge="1">
                  <a:txBody>
                    <a:bodyPr/>
                    <a:lstStyle/>
                    <a:p>
                      <a:pPr marL="0" algn="ctr" defTabSz="914400" rtl="0" eaLnBrk="1" fontAlgn="b" latinLnBrk="0" hangingPunct="1">
                        <a:spcBef>
                          <a:spcPts val="300"/>
                        </a:spcBef>
                        <a:spcAft>
                          <a:spcPts val="300"/>
                        </a:spcAft>
                      </a:pPr>
                      <a:endParaRPr lang="fr-FR" sz="1800" b="0" i="0" u="none" strike="noStrike" kern="1200" dirty="0" smtClean="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dirty="0" smtClean="0"/>
                    </a:p>
                  </a:txBody>
                  <a:tcPr marL="6350" marR="6350" marT="6350" marB="0"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Optimiser le poids des échanges "client/serveur"</a:t>
                      </a:r>
                    </a:p>
                  </a:txBody>
                  <a:tcPr marL="6350" marR="6350" marT="6350" marB="0" anchor="ctr"/>
                </a:tc>
                <a:extLst>
                  <a:ext uri="{0D108BD9-81ED-4DB2-BD59-A6C34878D82A}">
                    <a16:rowId xmlns:a16="http://schemas.microsoft.com/office/drawing/2014/main" val="2104063928"/>
                  </a:ext>
                </a:extLst>
              </a:tr>
              <a:tr h="667998">
                <a:tc vMerge="1">
                  <a:txBody>
                    <a:bodyPr/>
                    <a:lstStyle/>
                    <a:p>
                      <a:pPr marL="0" algn="ctr" defTabSz="914400" rtl="0" eaLnBrk="1" fontAlgn="b" latinLnBrk="0" hangingPunct="1">
                        <a:spcBef>
                          <a:spcPts val="300"/>
                        </a:spcBef>
                        <a:spcAft>
                          <a:spcPts val="300"/>
                        </a:spcAft>
                      </a:pPr>
                      <a:endParaRPr lang="fr-FR" sz="1800" b="0" i="0" u="none" strike="noStrike" kern="1200" dirty="0" smtClean="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dirty="0" smtClean="0">
                        <a:solidFill>
                          <a:srgbClr val="284780"/>
                        </a:solidFill>
                      </a:endParaRPr>
                    </a:p>
                  </a:txBody>
                  <a:tcPr marL="6350" marR="6350" marT="6350" marB="0"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Eviter un usage non justifié et déraisonné d’une phase</a:t>
                      </a:r>
                    </a:p>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d’entraînement</a:t>
                      </a:r>
                    </a:p>
                  </a:txBody>
                  <a:tcPr marL="6350" marR="6350" marT="6350" marB="0" anchor="ctr"/>
                </a:tc>
                <a:extLst>
                  <a:ext uri="{0D108BD9-81ED-4DB2-BD59-A6C34878D82A}">
                    <a16:rowId xmlns:a16="http://schemas.microsoft.com/office/drawing/2014/main" val="2422056253"/>
                  </a:ext>
                </a:extLst>
              </a:tr>
              <a:tr h="392466">
                <a:tc vMerge="1">
                  <a:txBody>
                    <a:bodyPr/>
                    <a:lstStyle/>
                    <a:p>
                      <a:pPr marL="0" algn="ctr" defTabSz="914400" rtl="0" eaLnBrk="1" fontAlgn="b" latinLnBrk="0" hangingPunct="1">
                        <a:spcBef>
                          <a:spcPts val="300"/>
                        </a:spcBef>
                        <a:spcAft>
                          <a:spcPts val="300"/>
                        </a:spcAft>
                      </a:pPr>
                      <a:endParaRPr lang="fr-FR" sz="1800" b="0" i="0" u="none" strike="noStrike" kern="1200" dirty="0" smtClean="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dirty="0" smtClean="0"/>
                    </a:p>
                  </a:txBody>
                  <a:tcPr marL="6350" marR="6350" marT="6350" marB="0"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Favoriser les traitements asynchrones</a:t>
                      </a:r>
                    </a:p>
                  </a:txBody>
                  <a:tcPr marL="6350" marR="6350" marT="6350" marB="0" anchor="ctr"/>
                </a:tc>
                <a:extLst>
                  <a:ext uri="{0D108BD9-81ED-4DB2-BD59-A6C34878D82A}">
                    <a16:rowId xmlns:a16="http://schemas.microsoft.com/office/drawing/2014/main" val="2035545092"/>
                  </a:ext>
                </a:extLst>
              </a:tr>
              <a:tr h="392466">
                <a:tc vMerge="1">
                  <a:txBody>
                    <a:bodyPr/>
                    <a:lstStyle/>
                    <a:p>
                      <a:pPr marL="0" algn="ctr" defTabSz="914400" rtl="0" eaLnBrk="1" fontAlgn="b" latinLnBrk="0" hangingPunct="1">
                        <a:spcBef>
                          <a:spcPts val="300"/>
                        </a:spcBef>
                        <a:spcAft>
                          <a:spcPts val="300"/>
                        </a:spcAft>
                      </a:pPr>
                      <a:endParaRPr lang="fr-FR" sz="1800" b="0" i="0" u="none" strike="noStrike" kern="1200" dirty="0" smtClean="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dirty="0" smtClean="0"/>
                    </a:p>
                  </a:txBody>
                  <a:tcPr marL="6350" marR="6350" marT="6350" marB="0"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Optimiser les traitements "lourds" coté serveur</a:t>
                      </a:r>
                    </a:p>
                  </a:txBody>
                  <a:tcPr marL="6350" marR="6350" marT="6350" marB="0" anchor="ctr"/>
                </a:tc>
                <a:extLst>
                  <a:ext uri="{0D108BD9-81ED-4DB2-BD59-A6C34878D82A}">
                    <a16:rowId xmlns:a16="http://schemas.microsoft.com/office/drawing/2014/main" val="700118418"/>
                  </a:ext>
                </a:extLst>
              </a:tr>
              <a:tr h="392466">
                <a:tc vMerge="1">
                  <a:txBody>
                    <a:bodyPr/>
                    <a:lstStyle/>
                    <a:p>
                      <a:pPr marL="0" algn="ctr" defTabSz="914400" rtl="0" eaLnBrk="1" fontAlgn="b" latinLnBrk="0" hangingPunct="1">
                        <a:spcBef>
                          <a:spcPts val="300"/>
                        </a:spcBef>
                        <a:spcAft>
                          <a:spcPts val="300"/>
                        </a:spcAft>
                      </a:pPr>
                      <a:endParaRPr lang="fr-FR" sz="1800" b="0" i="0" u="none" strike="noStrike" kern="1200" dirty="0" smtClean="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dirty="0" smtClean="0"/>
                    </a:p>
                  </a:txBody>
                  <a:tcPr marL="6350" marR="6350" marT="6350" marB="0"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Paramétrer de manière optimal coté serveur</a:t>
                      </a:r>
                    </a:p>
                  </a:txBody>
                  <a:tcPr marL="6350" marR="6350" marT="6350" marB="0" anchor="ctr"/>
                </a:tc>
                <a:extLst>
                  <a:ext uri="{0D108BD9-81ED-4DB2-BD59-A6C34878D82A}">
                    <a16:rowId xmlns:a16="http://schemas.microsoft.com/office/drawing/2014/main" val="4237476104"/>
                  </a:ext>
                </a:extLst>
              </a:tr>
            </a:tbl>
          </a:graphicData>
        </a:graphic>
      </p:graphicFrame>
    </p:spTree>
    <p:extLst>
      <p:ext uri="{BB962C8B-B14F-4D97-AF65-F5344CB8AC3E}">
        <p14:creationId xmlns:p14="http://schemas.microsoft.com/office/powerpoint/2010/main" val="343751045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smtClean="0">
                <a:solidFill>
                  <a:schemeClr val="bg1"/>
                </a:solidFill>
              </a:rPr>
              <a:t>Liste des Finalités et Critères</a:t>
            </a:r>
            <a:endParaRPr lang="fr-FR" b="1" dirty="0">
              <a:solidFill>
                <a:schemeClr val="bg1"/>
              </a:solidFill>
            </a:endParaRPr>
          </a:p>
        </p:txBody>
      </p:sp>
      <p:sp>
        <p:nvSpPr>
          <p:cNvPr id="3" name="Espace réservé du contenu 2"/>
          <p:cNvSpPr>
            <a:spLocks noGrp="1"/>
          </p:cNvSpPr>
          <p:nvPr>
            <p:ph idx="1"/>
          </p:nvPr>
        </p:nvSpPr>
        <p:spPr>
          <a:xfrm>
            <a:off x="0" y="1736946"/>
            <a:ext cx="12192000" cy="4351338"/>
          </a:xfrm>
        </p:spPr>
        <p:txBody>
          <a:bodyPr/>
          <a:lstStyle/>
          <a:p>
            <a:pPr marL="0" indent="0">
              <a:buNone/>
            </a:pPr>
            <a:endParaRPr lang="fr-FR" dirty="0">
              <a:solidFill>
                <a:schemeClr val="accent5">
                  <a:lumMod val="75000"/>
                </a:schemeClr>
              </a:solidFill>
            </a:endParaRPr>
          </a:p>
          <a:p>
            <a:pPr marL="0" indent="0">
              <a:buNone/>
            </a:pPr>
            <a:endParaRPr lang="fr-FR" dirty="0" smtClean="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7" name="Espace réservé du contenu 6"/>
          <p:cNvGraphicFramePr>
            <a:graphicFrameLocks/>
          </p:cNvGraphicFramePr>
          <p:nvPr>
            <p:extLst>
              <p:ext uri="{D42A27DB-BD31-4B8C-83A1-F6EECF244321}">
                <p14:modId xmlns:p14="http://schemas.microsoft.com/office/powerpoint/2010/main" val="2701735222"/>
              </p:ext>
            </p:extLst>
          </p:nvPr>
        </p:nvGraphicFramePr>
        <p:xfrm>
          <a:off x="46296" y="1408253"/>
          <a:ext cx="12099409" cy="4268646"/>
        </p:xfrm>
        <a:graphic>
          <a:graphicData uri="http://schemas.openxmlformats.org/drawingml/2006/table">
            <a:tbl>
              <a:tblPr firstRow="1" bandRow="1">
                <a:tableStyleId>{5C22544A-7EE6-4342-B048-85BDC9FD1C3A}</a:tableStyleId>
              </a:tblPr>
              <a:tblGrid>
                <a:gridCol w="1922027">
                  <a:extLst>
                    <a:ext uri="{9D8B030D-6E8A-4147-A177-3AD203B41FA5}">
                      <a16:colId xmlns:a16="http://schemas.microsoft.com/office/drawing/2014/main" val="4232212402"/>
                    </a:ext>
                  </a:extLst>
                </a:gridCol>
                <a:gridCol w="4456079">
                  <a:extLst>
                    <a:ext uri="{9D8B030D-6E8A-4147-A177-3AD203B41FA5}">
                      <a16:colId xmlns:a16="http://schemas.microsoft.com/office/drawing/2014/main" val="1470227622"/>
                    </a:ext>
                  </a:extLst>
                </a:gridCol>
                <a:gridCol w="5721303">
                  <a:extLst>
                    <a:ext uri="{9D8B030D-6E8A-4147-A177-3AD203B41FA5}">
                      <a16:colId xmlns:a16="http://schemas.microsoft.com/office/drawing/2014/main" val="3972353255"/>
                    </a:ext>
                  </a:extLst>
                </a:gridCol>
              </a:tblGrid>
              <a:tr h="895337">
                <a:tc>
                  <a:txBody>
                    <a:bodyPr/>
                    <a:lstStyle/>
                    <a:p>
                      <a:pPr algn="ctr"/>
                      <a:r>
                        <a:rPr lang="fr-FR" sz="2400" dirty="0" smtClean="0"/>
                        <a:t>Principes Directeurs SI </a:t>
                      </a:r>
                      <a:endParaRPr lang="fr-FR" sz="2400" dirty="0"/>
                    </a:p>
                  </a:txBody>
                  <a:tcPr marL="6350" marR="6350" marT="6350" marB="0" anchor="ctr"/>
                </a:tc>
                <a:tc>
                  <a:txBody>
                    <a:bodyPr/>
                    <a:lstStyle/>
                    <a:p>
                      <a:pPr algn="ctr" fontAlgn="b"/>
                      <a:r>
                        <a:rPr lang="fr-FR" sz="2400" b="1" kern="1200" dirty="0" smtClean="0">
                          <a:solidFill>
                            <a:schemeClr val="lt1"/>
                          </a:solidFill>
                          <a:latin typeface="+mn-lt"/>
                          <a:ea typeface="+mn-ea"/>
                          <a:cs typeface="+mn-cs"/>
                        </a:rPr>
                        <a:t>Finalités</a:t>
                      </a:r>
                      <a:endParaRPr lang="fr-FR" sz="2400" b="1" kern="1200" dirty="0">
                        <a:solidFill>
                          <a:schemeClr val="lt1"/>
                        </a:solidFill>
                        <a:latin typeface="+mn-lt"/>
                        <a:ea typeface="+mn-ea"/>
                        <a:cs typeface="+mn-cs"/>
                      </a:endParaRPr>
                    </a:p>
                  </a:txBody>
                  <a:tcPr marL="6350" marR="6350" marT="6350" marB="0" anchor="ctr"/>
                </a:tc>
                <a:tc>
                  <a:txBody>
                    <a:bodyPr/>
                    <a:lstStyle/>
                    <a:p>
                      <a:pPr algn="ctr" fontAlgn="b"/>
                      <a:r>
                        <a:rPr lang="fr-FR" sz="2400" b="1" kern="1200" dirty="0" smtClean="0">
                          <a:solidFill>
                            <a:schemeClr val="lt1"/>
                          </a:solidFill>
                          <a:latin typeface="+mn-lt"/>
                          <a:ea typeface="+mn-ea"/>
                          <a:cs typeface="+mn-cs"/>
                        </a:rPr>
                        <a:t>Critères</a:t>
                      </a:r>
                      <a:endParaRPr lang="fr-FR" sz="2400" b="1" kern="1200" dirty="0">
                        <a:solidFill>
                          <a:schemeClr val="lt1"/>
                        </a:solidFill>
                        <a:latin typeface="+mn-lt"/>
                        <a:ea typeface="+mn-ea"/>
                        <a:cs typeface="+mn-cs"/>
                      </a:endParaRPr>
                    </a:p>
                  </a:txBody>
                  <a:tcPr marL="6350" marR="6350" marT="6350" marB="0" anchor="ctr"/>
                </a:tc>
                <a:extLst>
                  <a:ext uri="{0D108BD9-81ED-4DB2-BD59-A6C34878D82A}">
                    <a16:rowId xmlns:a16="http://schemas.microsoft.com/office/drawing/2014/main" val="2561629485"/>
                  </a:ext>
                </a:extLst>
              </a:tr>
              <a:tr h="673429">
                <a:tc rowSpan="7">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r>
                        <a:rPr lang="fr-FR" sz="1800" b="1" i="0" u="none" strike="noStrike" kern="1200" dirty="0" smtClean="0">
                          <a:solidFill>
                            <a:srgbClr val="000000"/>
                          </a:solidFill>
                          <a:effectLst/>
                          <a:latin typeface="Calibri" panose="020F0502020204030204" pitchFamily="34" charset="0"/>
                          <a:ea typeface="+mn-ea"/>
                          <a:cs typeface="+mn-cs"/>
                        </a:rPr>
                        <a:t>Utilisation optimisée des ressources d'hébergement</a:t>
                      </a:r>
                    </a:p>
                  </a:txBody>
                  <a:tcPr marL="6350" marR="6350" marT="6350" marB="0" anchor="ctr"/>
                </a:tc>
                <a:tc rowSpan="5">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r>
                        <a:rPr lang="fr-FR" sz="1800" dirty="0" smtClean="0">
                          <a:solidFill>
                            <a:srgbClr val="284780"/>
                          </a:solidFill>
                        </a:rPr>
                        <a:t>Moins d'infrastructure IT nécessaire</a:t>
                      </a:r>
                    </a:p>
                  </a:txBody>
                  <a:tcPr marL="6350" marR="6350" marT="6350" marB="0"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Ajuster tout au long du cycle de vie le dimensionnement les ressources IT au juste besoin</a:t>
                      </a:r>
                    </a:p>
                  </a:txBody>
                  <a:tcPr marL="6350" marR="6350" marT="6350" marB="0" anchor="ctr"/>
                </a:tc>
                <a:extLst>
                  <a:ext uri="{0D108BD9-81ED-4DB2-BD59-A6C34878D82A}">
                    <a16:rowId xmlns:a16="http://schemas.microsoft.com/office/drawing/2014/main" val="75864573"/>
                  </a:ext>
                </a:extLst>
              </a:tr>
              <a:tr h="449980">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b="0" i="0" u="none" strike="noStrike" kern="1200" dirty="0" smtClean="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dirty="0" smtClean="0"/>
                    </a:p>
                  </a:txBody>
                  <a:tcPr marL="6350" marR="6350" marT="6350" marB="0"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Eviter la duplication d'infra (machine/stockage)</a:t>
                      </a:r>
                    </a:p>
                  </a:txBody>
                  <a:tcPr marL="6350" marR="6350" marT="6350" marB="0" anchor="ctr"/>
                </a:tc>
                <a:extLst>
                  <a:ext uri="{0D108BD9-81ED-4DB2-BD59-A6C34878D82A}">
                    <a16:rowId xmlns:a16="http://schemas.microsoft.com/office/drawing/2014/main" val="3813822882"/>
                  </a:ext>
                </a:extLst>
              </a:tr>
              <a:tr h="449980">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b="0" i="0" u="none" strike="noStrike" kern="1200" dirty="0" smtClean="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dirty="0" smtClean="0"/>
                    </a:p>
                  </a:txBody>
                  <a:tcPr marL="6350" marR="6350" marT="6350" marB="0"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Minimiser le besoin en terme de stockage de données</a:t>
                      </a:r>
                    </a:p>
                  </a:txBody>
                  <a:tcPr marL="6350" marR="6350" marT="6350" marB="0" anchor="ctr"/>
                </a:tc>
                <a:extLst>
                  <a:ext uri="{0D108BD9-81ED-4DB2-BD59-A6C34878D82A}">
                    <a16:rowId xmlns:a16="http://schemas.microsoft.com/office/drawing/2014/main" val="402378752"/>
                  </a:ext>
                </a:extLst>
              </a:tr>
              <a:tr h="449980">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b="0" i="0" u="none" strike="noStrike" kern="1200" dirty="0" smtClean="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dirty="0" smtClean="0"/>
                    </a:p>
                  </a:txBody>
                  <a:tcPr marL="6350" marR="6350" marT="6350" marB="0"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Optimiser le parc physique IT</a:t>
                      </a:r>
                    </a:p>
                  </a:txBody>
                  <a:tcPr marL="6350" marR="6350" marT="6350" marB="0" anchor="ctr"/>
                </a:tc>
                <a:extLst>
                  <a:ext uri="{0D108BD9-81ED-4DB2-BD59-A6C34878D82A}">
                    <a16:rowId xmlns:a16="http://schemas.microsoft.com/office/drawing/2014/main" val="34261203"/>
                  </a:ext>
                </a:extLst>
              </a:tr>
              <a:tr h="449980">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b="0" i="0" u="none" strike="noStrike" kern="1200" dirty="0" smtClean="0">
                        <a:solidFill>
                          <a:srgbClr val="000000"/>
                        </a:solidFill>
                        <a:effectLst/>
                        <a:latin typeface="Calibri" panose="020F0502020204030204" pitchFamily="34" charset="0"/>
                        <a:ea typeface="+mn-ea"/>
                        <a:cs typeface="+mn-cs"/>
                      </a:endParaRPr>
                    </a:p>
                  </a:txBody>
                  <a:tcPr marL="6350" marR="6350" marT="6350" marB="0" anchor="ctr"/>
                </a:tc>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dirty="0" smtClean="0"/>
                    </a:p>
                  </a:txBody>
                  <a:tcPr marL="6350" marR="6350" marT="6350" marB="0"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S’assurer de limiter le besoin en infra</a:t>
                      </a:r>
                    </a:p>
                  </a:txBody>
                  <a:tcPr marL="6350" marR="6350" marT="6350" marB="0" anchor="ctr"/>
                </a:tc>
                <a:extLst>
                  <a:ext uri="{0D108BD9-81ED-4DB2-BD59-A6C34878D82A}">
                    <a16:rowId xmlns:a16="http://schemas.microsoft.com/office/drawing/2014/main" val="4024095657"/>
                  </a:ext>
                </a:extLst>
              </a:tr>
              <a:tr h="449980">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b="0" i="0" u="none" strike="noStrike" kern="1200" dirty="0" smtClean="0">
                        <a:solidFill>
                          <a:srgbClr val="000000"/>
                        </a:solidFill>
                        <a:effectLst/>
                        <a:latin typeface="Calibri" panose="020F0502020204030204" pitchFamily="34" charset="0"/>
                        <a:ea typeface="+mn-ea"/>
                        <a:cs typeface="+mn-cs"/>
                      </a:endParaRPr>
                    </a:p>
                  </a:txBody>
                  <a:tcPr marL="6350" marR="6350" marT="6350" marB="0" anchor="ctr"/>
                </a:tc>
                <a:tc>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r>
                        <a:rPr lang="fr-FR" sz="1800" dirty="0" smtClean="0">
                          <a:solidFill>
                            <a:srgbClr val="284780"/>
                          </a:solidFill>
                        </a:rPr>
                        <a:t>Libérer ressources IT</a:t>
                      </a:r>
                    </a:p>
                  </a:txBody>
                  <a:tcPr marL="6350" marR="6350" marT="6350" marB="0"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Décommissionner</a:t>
                      </a:r>
                    </a:p>
                  </a:txBody>
                  <a:tcPr marL="6350" marR="6350" marT="6350" marB="0" anchor="ctr"/>
                </a:tc>
                <a:extLst>
                  <a:ext uri="{0D108BD9-81ED-4DB2-BD59-A6C34878D82A}">
                    <a16:rowId xmlns:a16="http://schemas.microsoft.com/office/drawing/2014/main" val="1750553793"/>
                  </a:ext>
                </a:extLst>
              </a:tr>
              <a:tr h="449980">
                <a:tc vMerge="1">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endParaRPr lang="fr-FR" sz="1800" b="0" i="0" u="none" strike="noStrike" kern="1200" dirty="0" smtClean="0">
                        <a:solidFill>
                          <a:srgbClr val="000000"/>
                        </a:solidFill>
                        <a:effectLst/>
                        <a:latin typeface="Calibri" panose="020F0502020204030204" pitchFamily="34" charset="0"/>
                        <a:ea typeface="+mn-ea"/>
                        <a:cs typeface="+mn-cs"/>
                      </a:endParaRPr>
                    </a:p>
                  </a:txBody>
                  <a:tcPr marL="6350" marR="6350" marT="6350" marB="0" anchor="ctr"/>
                </a:tc>
                <a:tc>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r>
                        <a:rPr lang="fr-FR" sz="1800" dirty="0" smtClean="0">
                          <a:solidFill>
                            <a:srgbClr val="284780"/>
                          </a:solidFill>
                        </a:rPr>
                        <a:t>Réduire la consommation d'énergie</a:t>
                      </a:r>
                    </a:p>
                  </a:txBody>
                  <a:tcPr marL="6350" marR="6350" marT="6350" marB="0"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Optimiser la consommation d'énergie au niveau IT</a:t>
                      </a:r>
                    </a:p>
                  </a:txBody>
                  <a:tcPr marL="6350" marR="6350" marT="6350" marB="0" anchor="ctr"/>
                </a:tc>
                <a:extLst>
                  <a:ext uri="{0D108BD9-81ED-4DB2-BD59-A6C34878D82A}">
                    <a16:rowId xmlns:a16="http://schemas.microsoft.com/office/drawing/2014/main" val="2724115950"/>
                  </a:ext>
                </a:extLst>
              </a:tr>
            </a:tbl>
          </a:graphicData>
        </a:graphic>
      </p:graphicFrame>
    </p:spTree>
    <p:extLst>
      <p:ext uri="{BB962C8B-B14F-4D97-AF65-F5344CB8AC3E}">
        <p14:creationId xmlns:p14="http://schemas.microsoft.com/office/powerpoint/2010/main" val="335231795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smtClean="0">
                <a:solidFill>
                  <a:schemeClr val="bg1"/>
                </a:solidFill>
              </a:rPr>
              <a:t>Les phases projets concernées avec leurs acteurs</a:t>
            </a:r>
            <a:endParaRPr lang="fr-FR" b="1" dirty="0">
              <a:solidFill>
                <a:schemeClr val="bg1"/>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7" name="Espace réservé du contenu 6"/>
          <p:cNvGraphicFramePr>
            <a:graphicFrameLocks noGrp="1"/>
          </p:cNvGraphicFramePr>
          <p:nvPr>
            <p:ph idx="1"/>
            <p:extLst>
              <p:ext uri="{D42A27DB-BD31-4B8C-83A1-F6EECF244321}">
                <p14:modId xmlns:p14="http://schemas.microsoft.com/office/powerpoint/2010/main" val="2283082839"/>
              </p:ext>
            </p:extLst>
          </p:nvPr>
        </p:nvGraphicFramePr>
        <p:xfrm>
          <a:off x="0" y="1424226"/>
          <a:ext cx="12192000" cy="4664057"/>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4232212402"/>
                    </a:ext>
                  </a:extLst>
                </a:gridCol>
                <a:gridCol w="6096000">
                  <a:extLst>
                    <a:ext uri="{9D8B030D-6E8A-4147-A177-3AD203B41FA5}">
                      <a16:colId xmlns:a16="http://schemas.microsoft.com/office/drawing/2014/main" val="1470227622"/>
                    </a:ext>
                  </a:extLst>
                </a:gridCol>
              </a:tblGrid>
              <a:tr h="452784">
                <a:tc>
                  <a:txBody>
                    <a:bodyPr/>
                    <a:lstStyle/>
                    <a:p>
                      <a:pPr algn="ctr"/>
                      <a:r>
                        <a:rPr lang="fr-FR" sz="1600" dirty="0" smtClean="0"/>
                        <a:t>Phases métiers</a:t>
                      </a:r>
                      <a:endParaRPr lang="fr-FR" sz="1600" dirty="0"/>
                    </a:p>
                  </a:txBody>
                  <a:tcPr marL="6350" marR="6350" marT="6350" marB="0" anchor="ctr"/>
                </a:tc>
                <a:tc>
                  <a:txBody>
                    <a:bodyPr/>
                    <a:lstStyle/>
                    <a:p>
                      <a:pPr algn="ctr" fontAlgn="b"/>
                      <a:r>
                        <a:rPr lang="fr-FR" sz="1600" b="1" kern="1200" dirty="0" smtClean="0">
                          <a:solidFill>
                            <a:schemeClr val="lt1"/>
                          </a:solidFill>
                          <a:latin typeface="+mn-lt"/>
                          <a:ea typeface="+mn-ea"/>
                          <a:cs typeface="+mn-cs"/>
                        </a:rPr>
                        <a:t>Acteurs</a:t>
                      </a:r>
                      <a:endParaRPr lang="fr-FR" sz="1600" b="1" kern="1200" dirty="0">
                        <a:solidFill>
                          <a:schemeClr val="lt1"/>
                        </a:solidFill>
                        <a:latin typeface="+mn-lt"/>
                        <a:ea typeface="+mn-ea"/>
                        <a:cs typeface="+mn-cs"/>
                      </a:endParaRPr>
                    </a:p>
                  </a:txBody>
                  <a:tcPr marL="6350" marR="6350" marT="6350" marB="0" anchor="ctr"/>
                </a:tc>
                <a:extLst>
                  <a:ext uri="{0D108BD9-81ED-4DB2-BD59-A6C34878D82A}">
                    <a16:rowId xmlns:a16="http://schemas.microsoft.com/office/drawing/2014/main" val="2561629485"/>
                  </a:ext>
                </a:extLst>
              </a:tr>
              <a:tr h="344355">
                <a:tc>
                  <a:txBody>
                    <a:bodyPr/>
                    <a:lstStyle/>
                    <a:p>
                      <a:pPr algn="ctr" fontAlgn="b">
                        <a:spcBef>
                          <a:spcPts val="300"/>
                        </a:spcBef>
                        <a:spcAft>
                          <a:spcPts val="300"/>
                        </a:spcAft>
                      </a:pPr>
                      <a:r>
                        <a:rPr lang="fr-FR" sz="1600" b="1" i="0" u="none" strike="noStrike" kern="1200" dirty="0" smtClean="0">
                          <a:solidFill>
                            <a:srgbClr val="000000"/>
                          </a:solidFill>
                          <a:effectLst/>
                          <a:latin typeface="Calibri" panose="020F0502020204030204" pitchFamily="34" charset="0"/>
                          <a:ea typeface="+mn-ea"/>
                          <a:cs typeface="+mn-cs"/>
                        </a:rPr>
                        <a:t>Gouvernance/Stratégie </a:t>
                      </a:r>
                      <a:r>
                        <a:rPr lang="fr-FR" sz="1600" b="1" i="0" u="none" strike="noStrike" kern="1200" dirty="0">
                          <a:solidFill>
                            <a:srgbClr val="000000"/>
                          </a:solidFill>
                          <a:effectLst/>
                          <a:latin typeface="Calibri" panose="020F0502020204030204" pitchFamily="34" charset="0"/>
                          <a:ea typeface="+mn-ea"/>
                          <a:cs typeface="+mn-cs"/>
                        </a:rPr>
                        <a:t>SI</a:t>
                      </a:r>
                    </a:p>
                  </a:txBody>
                  <a:tcPr marL="6350" marR="6350" marT="6350" marB="0" anchor="ctr"/>
                </a:tc>
                <a:tc>
                  <a:txBody>
                    <a:bodyPr/>
                    <a:lstStyle/>
                    <a:p>
                      <a:pPr algn="ctr" fontAlgn="b">
                        <a:spcBef>
                          <a:spcPts val="300"/>
                        </a:spcBef>
                        <a:spcAft>
                          <a:spcPts val="300"/>
                        </a:spcAft>
                      </a:pPr>
                      <a:r>
                        <a:rPr lang="fr-FR" sz="1600" b="0" i="0" u="none" strike="noStrike" kern="1200" dirty="0">
                          <a:solidFill>
                            <a:srgbClr val="000000"/>
                          </a:solidFill>
                          <a:effectLst/>
                          <a:latin typeface="Calibri" panose="020F0502020204030204" pitchFamily="34" charset="0"/>
                          <a:ea typeface="+mn-ea"/>
                          <a:cs typeface="+mn-cs"/>
                        </a:rPr>
                        <a:t> CODIR SI</a:t>
                      </a:r>
                    </a:p>
                  </a:txBody>
                  <a:tcPr marL="6350" marR="6350" marT="6350" marB="0" anchor="ctr"/>
                </a:tc>
                <a:extLst>
                  <a:ext uri="{0D108BD9-81ED-4DB2-BD59-A6C34878D82A}">
                    <a16:rowId xmlns:a16="http://schemas.microsoft.com/office/drawing/2014/main" val="700011447"/>
                  </a:ext>
                </a:extLst>
              </a:tr>
              <a:tr h="344355">
                <a:tc>
                  <a:txBody>
                    <a:bodyPr/>
                    <a:lstStyle/>
                    <a:p>
                      <a:pPr algn="ctr" fontAlgn="b">
                        <a:spcBef>
                          <a:spcPts val="300"/>
                        </a:spcBef>
                        <a:spcAft>
                          <a:spcPts val="300"/>
                        </a:spcAft>
                      </a:pPr>
                      <a:r>
                        <a:rPr lang="fr-FR" sz="1600" b="1" i="0" u="none" strike="noStrike" kern="1200" dirty="0" smtClean="0">
                          <a:solidFill>
                            <a:srgbClr val="000000"/>
                          </a:solidFill>
                          <a:effectLst/>
                          <a:latin typeface="Calibri" panose="020F0502020204030204" pitchFamily="34" charset="0"/>
                          <a:ea typeface="+mn-ea"/>
                          <a:cs typeface="+mn-cs"/>
                        </a:rPr>
                        <a:t>Gestion </a:t>
                      </a:r>
                      <a:r>
                        <a:rPr lang="fr-FR" sz="1600" b="1" i="0" u="none" strike="noStrike" kern="1200" dirty="0">
                          <a:solidFill>
                            <a:srgbClr val="000000"/>
                          </a:solidFill>
                          <a:effectLst/>
                          <a:latin typeface="Calibri" panose="020F0502020204030204" pitchFamily="34" charset="0"/>
                          <a:ea typeface="+mn-ea"/>
                          <a:cs typeface="+mn-cs"/>
                        </a:rPr>
                        <a:t>projet</a:t>
                      </a:r>
                    </a:p>
                  </a:txBody>
                  <a:tcPr marL="6350" marR="6350" marT="6350" marB="0" anchor="ctr"/>
                </a:tc>
                <a:tc>
                  <a:txBody>
                    <a:bodyPr/>
                    <a:lstStyle/>
                    <a:p>
                      <a:pPr algn="ctr" fontAlgn="b">
                        <a:spcBef>
                          <a:spcPts val="300"/>
                        </a:spcBef>
                        <a:spcAft>
                          <a:spcPts val="300"/>
                        </a:spcAft>
                      </a:pPr>
                      <a:r>
                        <a:rPr lang="fr-FR" sz="1600" b="0" i="0" u="none" strike="noStrike" kern="1200" dirty="0" smtClean="0">
                          <a:solidFill>
                            <a:srgbClr val="000000"/>
                          </a:solidFill>
                          <a:effectLst/>
                          <a:latin typeface="Calibri" panose="020F0502020204030204" pitchFamily="34" charset="0"/>
                          <a:ea typeface="+mn-ea"/>
                          <a:cs typeface="+mn-cs"/>
                        </a:rPr>
                        <a:t>DP / CP</a:t>
                      </a:r>
                      <a:endParaRPr lang="fr-FR" sz="16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extLst>
                  <a:ext uri="{0D108BD9-81ED-4DB2-BD59-A6C34878D82A}">
                    <a16:rowId xmlns:a16="http://schemas.microsoft.com/office/drawing/2014/main" val="248222350"/>
                  </a:ext>
                </a:extLst>
              </a:tr>
              <a:tr h="344355">
                <a:tc>
                  <a:txBody>
                    <a:bodyPr/>
                    <a:lstStyle/>
                    <a:p>
                      <a:pPr algn="ctr" fontAlgn="b">
                        <a:spcBef>
                          <a:spcPts val="300"/>
                        </a:spcBef>
                        <a:spcAft>
                          <a:spcPts val="300"/>
                        </a:spcAft>
                      </a:pPr>
                      <a:r>
                        <a:rPr lang="fr-FR" sz="1600" b="1" i="0" u="none" strike="noStrike" kern="1200" dirty="0" smtClean="0">
                          <a:solidFill>
                            <a:srgbClr val="000000"/>
                          </a:solidFill>
                          <a:effectLst/>
                          <a:latin typeface="Calibri" panose="020F0502020204030204" pitchFamily="34" charset="0"/>
                          <a:ea typeface="+mn-ea"/>
                          <a:cs typeface="+mn-cs"/>
                        </a:rPr>
                        <a:t>Cadrage </a:t>
                      </a:r>
                      <a:r>
                        <a:rPr lang="fr-FR" sz="1600" b="1" i="0" u="none" strike="noStrike" kern="1200" dirty="0">
                          <a:solidFill>
                            <a:srgbClr val="000000"/>
                          </a:solidFill>
                          <a:effectLst/>
                          <a:latin typeface="Calibri" panose="020F0502020204030204" pitchFamily="34" charset="0"/>
                          <a:ea typeface="+mn-ea"/>
                          <a:cs typeface="+mn-cs"/>
                        </a:rPr>
                        <a:t>: CDC/</a:t>
                      </a:r>
                      <a:r>
                        <a:rPr lang="fr-FR" sz="1600" b="1" i="0" u="none" strike="noStrike" kern="1200" dirty="0" err="1">
                          <a:solidFill>
                            <a:srgbClr val="000000"/>
                          </a:solidFill>
                          <a:effectLst/>
                          <a:latin typeface="Calibri" panose="020F0502020204030204" pitchFamily="34" charset="0"/>
                          <a:ea typeface="+mn-ea"/>
                          <a:cs typeface="+mn-cs"/>
                        </a:rPr>
                        <a:t>Spec</a:t>
                      </a:r>
                      <a:r>
                        <a:rPr lang="fr-FR" sz="1600" b="1" i="0" u="none" strike="noStrike" kern="1200" dirty="0">
                          <a:solidFill>
                            <a:srgbClr val="000000"/>
                          </a:solidFill>
                          <a:effectLst/>
                          <a:latin typeface="Calibri" panose="020F0502020204030204" pitchFamily="34" charset="0"/>
                          <a:ea typeface="+mn-ea"/>
                          <a:cs typeface="+mn-cs"/>
                        </a:rPr>
                        <a:t> </a:t>
                      </a:r>
                    </a:p>
                  </a:txBody>
                  <a:tcPr marL="6350" marR="6350" marT="6350" marB="0" anchor="ctr"/>
                </a:tc>
                <a:tc>
                  <a:txBody>
                    <a:bodyPr/>
                    <a:lstStyle/>
                    <a:p>
                      <a:pPr algn="ctr" fontAlgn="b">
                        <a:spcBef>
                          <a:spcPts val="300"/>
                        </a:spcBef>
                        <a:spcAft>
                          <a:spcPts val="300"/>
                        </a:spcAft>
                      </a:pPr>
                      <a:r>
                        <a:rPr lang="fr-FR" sz="1600" b="0" i="0" u="none" strike="noStrike" kern="1200" dirty="0" smtClean="0">
                          <a:solidFill>
                            <a:srgbClr val="000000"/>
                          </a:solidFill>
                          <a:effectLst/>
                          <a:latin typeface="Calibri" panose="020F0502020204030204" pitchFamily="34" charset="0"/>
                          <a:ea typeface="+mn-ea"/>
                          <a:cs typeface="+mn-cs"/>
                        </a:rPr>
                        <a:t>MOA  / PO / PPO</a:t>
                      </a:r>
                      <a:endParaRPr lang="fr-FR" sz="16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extLst>
                  <a:ext uri="{0D108BD9-81ED-4DB2-BD59-A6C34878D82A}">
                    <a16:rowId xmlns:a16="http://schemas.microsoft.com/office/drawing/2014/main" val="3070538064"/>
                  </a:ext>
                </a:extLst>
              </a:tr>
              <a:tr h="770082">
                <a:tc>
                  <a:txBody>
                    <a:bodyPr/>
                    <a:lstStyle/>
                    <a:p>
                      <a:pPr algn="ctr" fontAlgn="b">
                        <a:spcBef>
                          <a:spcPts val="300"/>
                        </a:spcBef>
                        <a:spcAft>
                          <a:spcPts val="300"/>
                        </a:spcAft>
                      </a:pPr>
                      <a:r>
                        <a:rPr lang="fr-FR" sz="1600" b="1" i="0" u="none" strike="noStrike" kern="1200" dirty="0" smtClean="0">
                          <a:solidFill>
                            <a:srgbClr val="000000"/>
                          </a:solidFill>
                          <a:effectLst/>
                          <a:latin typeface="Calibri" panose="020F0502020204030204" pitchFamily="34" charset="0"/>
                          <a:ea typeface="+mn-ea"/>
                          <a:cs typeface="+mn-cs"/>
                        </a:rPr>
                        <a:t>Cadrage  </a:t>
                      </a:r>
                      <a:r>
                        <a:rPr lang="fr-FR" sz="1600" b="1" i="0" u="none" strike="noStrike" kern="1200" dirty="0">
                          <a:solidFill>
                            <a:srgbClr val="000000"/>
                          </a:solidFill>
                          <a:effectLst/>
                          <a:latin typeface="Calibri" panose="020F0502020204030204" pitchFamily="34" charset="0"/>
                          <a:ea typeface="+mn-ea"/>
                          <a:cs typeface="+mn-cs"/>
                        </a:rPr>
                        <a:t>: Architecture</a:t>
                      </a:r>
                    </a:p>
                  </a:txBody>
                  <a:tcPr marL="6350" marR="6350" marT="6350" marB="0" anchor="ctr"/>
                </a:tc>
                <a:tc>
                  <a:txBody>
                    <a:bodyPr/>
                    <a:lstStyle/>
                    <a:p>
                      <a:pPr algn="ctr" fontAlgn="b">
                        <a:spcBef>
                          <a:spcPts val="300"/>
                        </a:spcBef>
                        <a:spcAft>
                          <a:spcPts val="300"/>
                        </a:spcAft>
                      </a:pPr>
                      <a:r>
                        <a:rPr lang="fr-FR" sz="1600" b="0" i="0" u="none" strike="noStrike" kern="1200" dirty="0" smtClean="0">
                          <a:solidFill>
                            <a:srgbClr val="000000"/>
                          </a:solidFill>
                          <a:effectLst/>
                          <a:latin typeface="Calibri" panose="020F0502020204030204" pitchFamily="34" charset="0"/>
                          <a:ea typeface="+mn-ea"/>
                          <a:cs typeface="+mn-cs"/>
                        </a:rPr>
                        <a:t>Architecte </a:t>
                      </a:r>
                      <a:r>
                        <a:rPr lang="fr-FR" sz="1600" b="0" i="0" u="none" strike="noStrike" kern="1200" dirty="0">
                          <a:solidFill>
                            <a:srgbClr val="000000"/>
                          </a:solidFill>
                          <a:effectLst/>
                          <a:latin typeface="Calibri" panose="020F0502020204030204" pitchFamily="34" charset="0"/>
                          <a:ea typeface="+mn-ea"/>
                          <a:cs typeface="+mn-cs"/>
                        </a:rPr>
                        <a:t>au sens large : </a:t>
                      </a:r>
                      <a:r>
                        <a:rPr lang="fr-FR" sz="1600" b="0" i="0" u="none" strike="noStrike" kern="1200" dirty="0" smtClean="0">
                          <a:solidFill>
                            <a:srgbClr val="000000"/>
                          </a:solidFill>
                          <a:effectLst/>
                          <a:latin typeface="Calibri" panose="020F0502020204030204" pitchFamily="34" charset="0"/>
                          <a:ea typeface="+mn-ea"/>
                          <a:cs typeface="+mn-cs"/>
                        </a:rPr>
                        <a:t>Architecte applicatif</a:t>
                      </a:r>
                      <a:r>
                        <a:rPr lang="fr-FR" sz="1600" b="0" i="0" u="none" strike="noStrike" kern="1200" dirty="0">
                          <a:solidFill>
                            <a:srgbClr val="000000"/>
                          </a:solidFill>
                          <a:effectLst/>
                          <a:latin typeface="Calibri" panose="020F0502020204030204" pitchFamily="34" charset="0"/>
                          <a:ea typeface="+mn-ea"/>
                          <a:cs typeface="+mn-cs"/>
                        </a:rPr>
                        <a:t>, </a:t>
                      </a:r>
                      <a:r>
                        <a:rPr lang="fr-FR" sz="1600" b="0" i="0" u="none" strike="noStrike" kern="1200" dirty="0" smtClean="0">
                          <a:solidFill>
                            <a:srgbClr val="000000"/>
                          </a:solidFill>
                          <a:effectLst/>
                          <a:latin typeface="Calibri" panose="020F0502020204030204" pitchFamily="34" charset="0"/>
                          <a:ea typeface="+mn-ea"/>
                          <a:cs typeface="+mn-cs"/>
                        </a:rPr>
                        <a:t>logiciel (AS), technique (AT / ATT), ou sécurité</a:t>
                      </a:r>
                      <a:r>
                        <a:rPr lang="fr-FR" sz="1600" b="0" i="0" u="none" strike="noStrike" kern="1200" dirty="0">
                          <a:solidFill>
                            <a:srgbClr val="000000"/>
                          </a:solidFill>
                          <a:effectLst/>
                          <a:latin typeface="Calibri" panose="020F0502020204030204" pitchFamily="34" charset="0"/>
                          <a:ea typeface="+mn-ea"/>
                          <a:cs typeface="+mn-cs"/>
                        </a:rPr>
                        <a:t>, </a:t>
                      </a:r>
                      <a:r>
                        <a:rPr lang="fr-FR" sz="1600" b="0" i="0" u="none" strike="noStrike" kern="1200" dirty="0" smtClean="0">
                          <a:solidFill>
                            <a:srgbClr val="000000"/>
                          </a:solidFill>
                          <a:effectLst/>
                          <a:latin typeface="Calibri" panose="020F0502020204030204" pitchFamily="34" charset="0"/>
                          <a:ea typeface="+mn-ea"/>
                          <a:cs typeface="+mn-cs"/>
                        </a:rPr>
                        <a:t>Expert Socle Techno (DASI, DATM, DDST)</a:t>
                      </a:r>
                      <a:endParaRPr lang="fr-FR" sz="16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extLst>
                  <a:ext uri="{0D108BD9-81ED-4DB2-BD59-A6C34878D82A}">
                    <a16:rowId xmlns:a16="http://schemas.microsoft.com/office/drawing/2014/main" val="3637794750"/>
                  </a:ext>
                </a:extLst>
              </a:tr>
              <a:tr h="344355">
                <a:tc>
                  <a:txBody>
                    <a:bodyPr/>
                    <a:lstStyle/>
                    <a:p>
                      <a:pPr algn="ctr" fontAlgn="b">
                        <a:spcBef>
                          <a:spcPts val="300"/>
                        </a:spcBef>
                        <a:spcAft>
                          <a:spcPts val="300"/>
                        </a:spcAft>
                      </a:pPr>
                      <a:r>
                        <a:rPr lang="fr-FR" sz="1600" b="1" i="0" u="none" strike="noStrike" kern="1200" dirty="0" err="1" smtClean="0">
                          <a:solidFill>
                            <a:srgbClr val="000000"/>
                          </a:solidFill>
                          <a:effectLst/>
                          <a:latin typeface="Calibri" panose="020F0502020204030204" pitchFamily="34" charset="0"/>
                          <a:ea typeface="+mn-ea"/>
                          <a:cs typeface="+mn-cs"/>
                        </a:rPr>
                        <a:t>Spec</a:t>
                      </a:r>
                      <a:r>
                        <a:rPr lang="fr-FR" sz="1600" b="1" i="0" u="none" strike="noStrike" kern="1200" dirty="0" smtClean="0">
                          <a:solidFill>
                            <a:srgbClr val="000000"/>
                          </a:solidFill>
                          <a:effectLst/>
                          <a:latin typeface="Calibri" panose="020F0502020204030204" pitchFamily="34" charset="0"/>
                          <a:ea typeface="+mn-ea"/>
                          <a:cs typeface="+mn-cs"/>
                        </a:rPr>
                        <a:t>-Conception </a:t>
                      </a:r>
                      <a:r>
                        <a:rPr lang="fr-FR" sz="1600" b="1" i="0" u="none" strike="noStrike" kern="1200" dirty="0">
                          <a:solidFill>
                            <a:srgbClr val="000000"/>
                          </a:solidFill>
                          <a:effectLst/>
                          <a:latin typeface="Calibri" panose="020F0502020204030204" pitchFamily="34" charset="0"/>
                          <a:ea typeface="+mn-ea"/>
                          <a:cs typeface="+mn-cs"/>
                        </a:rPr>
                        <a:t>Fonctionnelle &amp; Design </a:t>
                      </a:r>
                    </a:p>
                  </a:txBody>
                  <a:tcPr marL="6350" marR="6350" marT="6350" marB="0" anchor="ctr"/>
                </a:tc>
                <a:tc>
                  <a:txBody>
                    <a:bodyPr/>
                    <a:lstStyle/>
                    <a:p>
                      <a:pPr algn="ctr" fontAlgn="b">
                        <a:spcBef>
                          <a:spcPts val="300"/>
                        </a:spcBef>
                        <a:spcAft>
                          <a:spcPts val="300"/>
                        </a:spcAft>
                      </a:pPr>
                      <a:r>
                        <a:rPr lang="fr-FR" sz="1600" b="0" i="0" u="none" strike="noStrike" kern="1200" dirty="0">
                          <a:solidFill>
                            <a:srgbClr val="000000"/>
                          </a:solidFill>
                          <a:effectLst/>
                          <a:latin typeface="Calibri" panose="020F0502020204030204" pitchFamily="34" charset="0"/>
                          <a:ea typeface="+mn-ea"/>
                          <a:cs typeface="+mn-cs"/>
                        </a:rPr>
                        <a:t>E</a:t>
                      </a:r>
                      <a:r>
                        <a:rPr lang="fr-FR" sz="1600" b="0" i="0" u="none" strike="noStrike" kern="1200" dirty="0" smtClean="0">
                          <a:solidFill>
                            <a:srgbClr val="000000"/>
                          </a:solidFill>
                          <a:effectLst/>
                          <a:latin typeface="Calibri" panose="020F0502020204030204" pitchFamily="34" charset="0"/>
                          <a:ea typeface="+mn-ea"/>
                          <a:cs typeface="+mn-cs"/>
                        </a:rPr>
                        <a:t>xpert Fonctionnel / Designer</a:t>
                      </a:r>
                      <a:endParaRPr lang="fr-FR" sz="16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extLst>
                  <a:ext uri="{0D108BD9-81ED-4DB2-BD59-A6C34878D82A}">
                    <a16:rowId xmlns:a16="http://schemas.microsoft.com/office/drawing/2014/main" val="1633694268"/>
                  </a:ext>
                </a:extLst>
              </a:tr>
              <a:tr h="344355">
                <a:tc>
                  <a:txBody>
                    <a:bodyPr/>
                    <a:lstStyle/>
                    <a:p>
                      <a:pPr algn="ctr" fontAlgn="b">
                        <a:spcBef>
                          <a:spcPts val="300"/>
                        </a:spcBef>
                        <a:spcAft>
                          <a:spcPts val="300"/>
                        </a:spcAft>
                      </a:pPr>
                      <a:r>
                        <a:rPr lang="fr-FR" sz="1600" b="1" i="0" u="none" strike="noStrike" kern="1200" dirty="0" smtClean="0">
                          <a:solidFill>
                            <a:srgbClr val="000000"/>
                          </a:solidFill>
                          <a:effectLst/>
                          <a:latin typeface="Calibri" panose="020F0502020204030204" pitchFamily="34" charset="0"/>
                          <a:ea typeface="+mn-ea"/>
                          <a:cs typeface="+mn-cs"/>
                        </a:rPr>
                        <a:t>Développement </a:t>
                      </a:r>
                      <a:r>
                        <a:rPr lang="fr-FR" sz="1600" b="1" i="0" u="none" strike="noStrike" kern="1200" dirty="0">
                          <a:solidFill>
                            <a:srgbClr val="000000"/>
                          </a:solidFill>
                          <a:effectLst/>
                          <a:latin typeface="Calibri" panose="020F0502020204030204" pitchFamily="34" charset="0"/>
                          <a:ea typeface="+mn-ea"/>
                          <a:cs typeface="+mn-cs"/>
                        </a:rPr>
                        <a:t>: Front end </a:t>
                      </a:r>
                    </a:p>
                  </a:txBody>
                  <a:tcPr marL="6350" marR="6350" marT="6350" marB="0" anchor="ctr"/>
                </a:tc>
                <a:tc>
                  <a:txBody>
                    <a:bodyPr/>
                    <a:lstStyle/>
                    <a:p>
                      <a:pPr algn="ctr" fontAlgn="b">
                        <a:spcBef>
                          <a:spcPts val="300"/>
                        </a:spcBef>
                        <a:spcAft>
                          <a:spcPts val="300"/>
                        </a:spcAft>
                      </a:pPr>
                      <a:r>
                        <a:rPr lang="fr-FR" sz="1600" b="0" i="0" u="none" strike="noStrike" kern="1200" dirty="0" smtClean="0">
                          <a:solidFill>
                            <a:srgbClr val="000000"/>
                          </a:solidFill>
                          <a:effectLst/>
                          <a:latin typeface="Calibri" panose="020F0502020204030204" pitchFamily="34" charset="0"/>
                          <a:ea typeface="+mn-ea"/>
                          <a:cs typeface="+mn-cs"/>
                        </a:rPr>
                        <a:t>Designer / Développeur</a:t>
                      </a:r>
                      <a:endParaRPr lang="fr-FR" sz="16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extLst>
                  <a:ext uri="{0D108BD9-81ED-4DB2-BD59-A6C34878D82A}">
                    <a16:rowId xmlns:a16="http://schemas.microsoft.com/office/drawing/2014/main" val="1604592697"/>
                  </a:ext>
                </a:extLst>
              </a:tr>
              <a:tr h="344355">
                <a:tc>
                  <a:txBody>
                    <a:bodyPr/>
                    <a:lstStyle/>
                    <a:p>
                      <a:pPr algn="ctr" fontAlgn="b">
                        <a:spcBef>
                          <a:spcPts val="300"/>
                        </a:spcBef>
                        <a:spcAft>
                          <a:spcPts val="300"/>
                        </a:spcAft>
                      </a:pPr>
                      <a:r>
                        <a:rPr lang="fr-FR" sz="1600" b="1" i="0" u="none" strike="noStrike" kern="1200" dirty="0" smtClean="0">
                          <a:solidFill>
                            <a:srgbClr val="000000"/>
                          </a:solidFill>
                          <a:effectLst/>
                          <a:latin typeface="Calibri" panose="020F0502020204030204" pitchFamily="34" charset="0"/>
                          <a:ea typeface="+mn-ea"/>
                          <a:cs typeface="+mn-cs"/>
                        </a:rPr>
                        <a:t>Développement </a:t>
                      </a:r>
                      <a:r>
                        <a:rPr lang="fr-FR" sz="1600" b="1" i="0" u="none" strike="noStrike" kern="1200" dirty="0">
                          <a:solidFill>
                            <a:srgbClr val="000000"/>
                          </a:solidFill>
                          <a:effectLst/>
                          <a:latin typeface="Calibri" panose="020F0502020204030204" pitchFamily="34" charset="0"/>
                          <a:ea typeface="+mn-ea"/>
                          <a:cs typeface="+mn-cs"/>
                        </a:rPr>
                        <a:t>: Back end</a:t>
                      </a:r>
                    </a:p>
                  </a:txBody>
                  <a:tcPr marL="6350" marR="6350" marT="6350" marB="0" anchor="ctr"/>
                </a:tc>
                <a:tc>
                  <a:txBody>
                    <a:bodyPr/>
                    <a:lstStyle/>
                    <a:p>
                      <a:pPr algn="ctr" fontAlgn="b">
                        <a:spcBef>
                          <a:spcPts val="300"/>
                        </a:spcBef>
                        <a:spcAft>
                          <a:spcPts val="300"/>
                        </a:spcAft>
                      </a:pPr>
                      <a:r>
                        <a:rPr lang="fr-FR" sz="1600" b="0" i="0" u="none" strike="noStrike" kern="1200" dirty="0">
                          <a:solidFill>
                            <a:srgbClr val="000000"/>
                          </a:solidFill>
                          <a:effectLst/>
                          <a:latin typeface="Calibri" panose="020F0502020204030204" pitchFamily="34" charset="0"/>
                          <a:ea typeface="+mn-ea"/>
                          <a:cs typeface="+mn-cs"/>
                        </a:rPr>
                        <a:t>Développeur</a:t>
                      </a:r>
                    </a:p>
                  </a:txBody>
                  <a:tcPr marL="6350" marR="6350" marT="6350" marB="0" anchor="ctr"/>
                </a:tc>
                <a:extLst>
                  <a:ext uri="{0D108BD9-81ED-4DB2-BD59-A6C34878D82A}">
                    <a16:rowId xmlns:a16="http://schemas.microsoft.com/office/drawing/2014/main" val="3101724828"/>
                  </a:ext>
                </a:extLst>
              </a:tr>
              <a:tr h="515353">
                <a:tc>
                  <a:txBody>
                    <a:bodyPr/>
                    <a:lstStyle/>
                    <a:p>
                      <a:pPr algn="ctr" fontAlgn="b">
                        <a:spcBef>
                          <a:spcPts val="300"/>
                        </a:spcBef>
                        <a:spcAft>
                          <a:spcPts val="300"/>
                        </a:spcAft>
                      </a:pPr>
                      <a:r>
                        <a:rPr lang="fr-FR" sz="1600" b="1" i="0" u="none" strike="noStrike" kern="1200" dirty="0" smtClean="0">
                          <a:solidFill>
                            <a:srgbClr val="000000"/>
                          </a:solidFill>
                          <a:effectLst/>
                          <a:latin typeface="Calibri" panose="020F0502020204030204" pitchFamily="34" charset="0"/>
                          <a:ea typeface="+mn-ea"/>
                          <a:cs typeface="+mn-cs"/>
                        </a:rPr>
                        <a:t>Environnements </a:t>
                      </a:r>
                      <a:r>
                        <a:rPr lang="fr-FR" sz="1600" b="1" i="0" u="none" strike="noStrike" kern="1200" dirty="0">
                          <a:solidFill>
                            <a:srgbClr val="000000"/>
                          </a:solidFill>
                          <a:effectLst/>
                          <a:latin typeface="Calibri" panose="020F0502020204030204" pitchFamily="34" charset="0"/>
                          <a:ea typeface="+mn-ea"/>
                          <a:cs typeface="+mn-cs"/>
                        </a:rPr>
                        <a:t>: Conception de l’hébergement numérique</a:t>
                      </a:r>
                    </a:p>
                  </a:txBody>
                  <a:tcPr marL="6350" marR="6350" marT="6350" marB="0" anchor="ctr"/>
                </a:tc>
                <a:tc>
                  <a:txBody>
                    <a:bodyPr/>
                    <a:lstStyle/>
                    <a:p>
                      <a:pPr algn="ctr">
                        <a:spcBef>
                          <a:spcPts val="300"/>
                        </a:spcBef>
                        <a:spcAft>
                          <a:spcPts val="300"/>
                        </a:spcAft>
                      </a:pPr>
                      <a:r>
                        <a:rPr lang="fr-FR" sz="1600" b="0" i="0" u="none" strike="noStrike" kern="1200" dirty="0" smtClean="0">
                          <a:solidFill>
                            <a:srgbClr val="000000"/>
                          </a:solidFill>
                          <a:effectLst/>
                          <a:latin typeface="Calibri" panose="020F0502020204030204" pitchFamily="34" charset="0"/>
                          <a:ea typeface="+mn-ea"/>
                          <a:cs typeface="+mn-cs"/>
                        </a:rPr>
                        <a:t>Intégrateur / Exploitant d'environnements / Hébergeur / expert Socle Techno </a:t>
                      </a:r>
                      <a:endParaRPr lang="fr-FR" sz="16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extLst>
                  <a:ext uri="{0D108BD9-81ED-4DB2-BD59-A6C34878D82A}">
                    <a16:rowId xmlns:a16="http://schemas.microsoft.com/office/drawing/2014/main" val="1079679258"/>
                  </a:ext>
                </a:extLst>
              </a:tr>
              <a:tr h="515353">
                <a:tc>
                  <a:txBody>
                    <a:bodyPr/>
                    <a:lstStyle/>
                    <a:p>
                      <a:pPr algn="ctr" fontAlgn="b">
                        <a:spcBef>
                          <a:spcPts val="300"/>
                        </a:spcBef>
                        <a:spcAft>
                          <a:spcPts val="300"/>
                        </a:spcAft>
                      </a:pPr>
                      <a:r>
                        <a:rPr lang="fr-FR" sz="1600" b="1" i="0" u="none" strike="noStrike" kern="1200" dirty="0" smtClean="0">
                          <a:solidFill>
                            <a:srgbClr val="000000"/>
                          </a:solidFill>
                          <a:effectLst/>
                          <a:latin typeface="Calibri" panose="020F0502020204030204" pitchFamily="34" charset="0"/>
                          <a:ea typeface="+mn-ea"/>
                          <a:cs typeface="+mn-cs"/>
                        </a:rPr>
                        <a:t>RUN : Maintenance &amp; fin de vie </a:t>
                      </a:r>
                    </a:p>
                  </a:txBody>
                  <a:tcPr marL="6350" marR="6350" marT="6350" marB="0" anchor="ctr"/>
                </a:tc>
                <a:tc>
                  <a:txBody>
                    <a:bodyPr/>
                    <a:lstStyle/>
                    <a:p>
                      <a:pPr algn="ctr">
                        <a:spcBef>
                          <a:spcPts val="300"/>
                        </a:spcBef>
                        <a:spcAft>
                          <a:spcPts val="300"/>
                        </a:spcAft>
                      </a:pPr>
                      <a:r>
                        <a:rPr lang="fr-FR" sz="1600" b="0" i="0" u="none" strike="noStrike" kern="1200" dirty="0" smtClean="0">
                          <a:solidFill>
                            <a:srgbClr val="000000"/>
                          </a:solidFill>
                          <a:effectLst/>
                          <a:latin typeface="Calibri" panose="020F0502020204030204" pitchFamily="34" charset="0"/>
                          <a:ea typeface="+mn-ea"/>
                          <a:cs typeface="+mn-cs"/>
                        </a:rPr>
                        <a:t>PO / DP / CP/ Exploitant d'environnements / Hébergeur </a:t>
                      </a:r>
                      <a:endParaRPr lang="fr-FR" sz="16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extLst>
                  <a:ext uri="{0D108BD9-81ED-4DB2-BD59-A6C34878D82A}">
                    <a16:rowId xmlns:a16="http://schemas.microsoft.com/office/drawing/2014/main" val="718314143"/>
                  </a:ext>
                </a:extLst>
              </a:tr>
              <a:tr h="344355">
                <a:tc>
                  <a:txBody>
                    <a:bodyPr/>
                    <a:lstStyle/>
                    <a:p>
                      <a:pPr algn="ctr" fontAlgn="b">
                        <a:spcBef>
                          <a:spcPts val="300"/>
                        </a:spcBef>
                        <a:spcAft>
                          <a:spcPts val="300"/>
                        </a:spcAft>
                      </a:pPr>
                      <a:r>
                        <a:rPr lang="fr-FR" sz="1600" b="1" i="0" u="none" strike="noStrike" kern="1200" dirty="0">
                          <a:solidFill>
                            <a:srgbClr val="000000"/>
                          </a:solidFill>
                          <a:effectLst/>
                          <a:latin typeface="Calibri" panose="020F0502020204030204" pitchFamily="34" charset="0"/>
                          <a:ea typeface="+mn-ea"/>
                          <a:cs typeface="+mn-cs"/>
                        </a:rPr>
                        <a:t>Intelligence Artificielle</a:t>
                      </a:r>
                    </a:p>
                  </a:txBody>
                  <a:tcPr marL="6350" marR="6350" marT="6350" marB="0" anchor="ctr"/>
                </a:tc>
                <a:tc>
                  <a:txBody>
                    <a:bodyPr/>
                    <a:lstStyle/>
                    <a:p>
                      <a:pPr algn="ctr" fontAlgn="b">
                        <a:spcBef>
                          <a:spcPts val="300"/>
                        </a:spcBef>
                        <a:spcAft>
                          <a:spcPts val="300"/>
                        </a:spcAft>
                      </a:pPr>
                      <a:r>
                        <a:rPr lang="fr-FR" sz="1600" b="0" i="0" u="none" strike="noStrike" kern="1200" dirty="0" smtClean="0">
                          <a:solidFill>
                            <a:srgbClr val="000000"/>
                          </a:solidFill>
                          <a:effectLst/>
                          <a:latin typeface="Calibri" panose="020F0502020204030204" pitchFamily="34" charset="0"/>
                          <a:ea typeface="+mn-ea"/>
                          <a:cs typeface="+mn-cs"/>
                        </a:rPr>
                        <a:t>Développeur / Designer</a:t>
                      </a:r>
                      <a:r>
                        <a:rPr lang="fr-FR" sz="1600" b="0" i="0" u="none" strike="noStrike" kern="1200" baseline="0" dirty="0" smtClean="0">
                          <a:solidFill>
                            <a:srgbClr val="000000"/>
                          </a:solidFill>
                          <a:effectLst/>
                          <a:latin typeface="Calibri" panose="020F0502020204030204" pitchFamily="34" charset="0"/>
                          <a:ea typeface="+mn-ea"/>
                          <a:cs typeface="+mn-cs"/>
                        </a:rPr>
                        <a:t> IA</a:t>
                      </a:r>
                      <a:endParaRPr lang="fr-FR" sz="1600" b="0" i="0" u="none" strike="noStrike" kern="1200" dirty="0">
                        <a:solidFill>
                          <a:srgbClr val="000000"/>
                        </a:solidFill>
                        <a:effectLst/>
                        <a:latin typeface="Calibri" panose="020F0502020204030204" pitchFamily="34" charset="0"/>
                        <a:ea typeface="+mn-ea"/>
                        <a:cs typeface="+mn-cs"/>
                      </a:endParaRPr>
                    </a:p>
                  </a:txBody>
                  <a:tcPr marL="6350" marR="6350" marT="6350" marB="0" anchor="ctr"/>
                </a:tc>
                <a:extLst>
                  <a:ext uri="{0D108BD9-81ED-4DB2-BD59-A6C34878D82A}">
                    <a16:rowId xmlns:a16="http://schemas.microsoft.com/office/drawing/2014/main" val="1786862333"/>
                  </a:ext>
                </a:extLst>
              </a:tr>
            </a:tbl>
          </a:graphicData>
        </a:graphic>
      </p:graphicFrame>
    </p:spTree>
    <p:extLst>
      <p:ext uri="{BB962C8B-B14F-4D97-AF65-F5344CB8AC3E}">
        <p14:creationId xmlns:p14="http://schemas.microsoft.com/office/powerpoint/2010/main" val="149430332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a:bodyPr>
          <a:lstStyle/>
          <a:p>
            <a:r>
              <a:rPr lang="fr-FR" sz="4400" dirty="0" smtClean="0"/>
              <a:t>Les critères à appliquer par métier</a:t>
            </a:r>
            <a:endParaRPr lang="fr-FR" sz="4400" dirty="0"/>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3446613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smtClean="0">
                <a:solidFill>
                  <a:schemeClr val="bg1"/>
                </a:solidFill>
              </a:rPr>
              <a:t>Liste des métiers et Critères</a:t>
            </a:r>
            <a:endParaRPr lang="fr-FR" b="1" dirty="0">
              <a:solidFill>
                <a:schemeClr val="bg1"/>
              </a:solidFill>
            </a:endParaRPr>
          </a:p>
        </p:txBody>
      </p:sp>
      <p:sp>
        <p:nvSpPr>
          <p:cNvPr id="3" name="Espace réservé du contenu 2"/>
          <p:cNvSpPr>
            <a:spLocks noGrp="1"/>
          </p:cNvSpPr>
          <p:nvPr>
            <p:ph idx="1"/>
          </p:nvPr>
        </p:nvSpPr>
        <p:spPr>
          <a:xfrm>
            <a:off x="0" y="1736946"/>
            <a:ext cx="12192000" cy="4351338"/>
          </a:xfrm>
        </p:spPr>
        <p:txBody>
          <a:bodyPr/>
          <a:lstStyle/>
          <a:p>
            <a:pPr marL="0" indent="0">
              <a:buNone/>
            </a:pPr>
            <a:endParaRPr lang="fr-FR" dirty="0">
              <a:solidFill>
                <a:schemeClr val="accent5">
                  <a:lumMod val="75000"/>
                </a:schemeClr>
              </a:solidFill>
            </a:endParaRPr>
          </a:p>
          <a:p>
            <a:pPr marL="0" indent="0">
              <a:buNone/>
            </a:pPr>
            <a:endParaRPr lang="fr-FR" dirty="0" smtClean="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4" name="Tableau 3"/>
          <p:cNvGraphicFramePr>
            <a:graphicFrameLocks noGrp="1"/>
          </p:cNvGraphicFramePr>
          <p:nvPr>
            <p:extLst>
              <p:ext uri="{D42A27DB-BD31-4B8C-83A1-F6EECF244321}">
                <p14:modId xmlns:p14="http://schemas.microsoft.com/office/powerpoint/2010/main" val="1112889899"/>
              </p:ext>
            </p:extLst>
          </p:nvPr>
        </p:nvGraphicFramePr>
        <p:xfrm>
          <a:off x="0" y="1325563"/>
          <a:ext cx="12192000" cy="3778006"/>
        </p:xfrm>
        <a:graphic>
          <a:graphicData uri="http://schemas.openxmlformats.org/drawingml/2006/table">
            <a:tbl>
              <a:tblPr firstRow="1" bandRow="1">
                <a:tableStyleId>{5C22544A-7EE6-4342-B048-85BDC9FD1C3A}</a:tableStyleId>
              </a:tblPr>
              <a:tblGrid>
                <a:gridCol w="4591251">
                  <a:extLst>
                    <a:ext uri="{9D8B030D-6E8A-4147-A177-3AD203B41FA5}">
                      <a16:colId xmlns:a16="http://schemas.microsoft.com/office/drawing/2014/main" val="1970134250"/>
                    </a:ext>
                  </a:extLst>
                </a:gridCol>
                <a:gridCol w="7600749">
                  <a:extLst>
                    <a:ext uri="{9D8B030D-6E8A-4147-A177-3AD203B41FA5}">
                      <a16:colId xmlns:a16="http://schemas.microsoft.com/office/drawing/2014/main" val="567957775"/>
                    </a:ext>
                  </a:extLst>
                </a:gridCol>
              </a:tblGrid>
              <a:tr h="303999">
                <a:tc gridSpan="2">
                  <a:txBody>
                    <a:bodyPr/>
                    <a:lstStyle/>
                    <a:p>
                      <a:pPr algn="ctr"/>
                      <a:r>
                        <a:rPr lang="fr-FR" sz="2400" dirty="0" smtClean="0"/>
                        <a:t>DP / CP</a:t>
                      </a:r>
                    </a:p>
                  </a:txBody>
                  <a:tcPr/>
                </a:tc>
                <a:tc hMerge="1">
                  <a:txBody>
                    <a:bodyPr/>
                    <a:lstStyle/>
                    <a:p>
                      <a:endParaRPr lang="fr-FR" dirty="0"/>
                    </a:p>
                  </a:txBody>
                  <a:tcPr/>
                </a:tc>
                <a:extLst>
                  <a:ext uri="{0D108BD9-81ED-4DB2-BD59-A6C34878D82A}">
                    <a16:rowId xmlns:a16="http://schemas.microsoft.com/office/drawing/2014/main" val="782234525"/>
                  </a:ext>
                </a:extLst>
              </a:tr>
              <a:tr h="531434">
                <a:tc>
                  <a:txBody>
                    <a:bodyPr/>
                    <a:lstStyle/>
                    <a:p>
                      <a:pPr algn="ctr"/>
                      <a:r>
                        <a:rPr lang="fr-FR" sz="1800" b="1" dirty="0" smtClean="0"/>
                        <a:t>Principes directeurs</a:t>
                      </a:r>
                      <a:endParaRPr lang="fr-FR" sz="1800" b="1" dirty="0"/>
                    </a:p>
                  </a:txBody>
                  <a:tcPr anchor="ctr">
                    <a:solidFill>
                      <a:schemeClr val="accent1">
                        <a:lumMod val="40000"/>
                        <a:lumOff val="60000"/>
                      </a:schemeClr>
                    </a:solidFill>
                  </a:tcPr>
                </a:tc>
                <a:tc>
                  <a:txBody>
                    <a:bodyPr/>
                    <a:lstStyle/>
                    <a:p>
                      <a:pPr algn="ctr"/>
                      <a:r>
                        <a:rPr lang="fr-FR" sz="1800" b="1" dirty="0" smtClean="0"/>
                        <a:t>Critères</a:t>
                      </a:r>
                      <a:endParaRPr lang="fr-FR" sz="1800" b="1" dirty="0"/>
                    </a:p>
                  </a:txBody>
                  <a:tcPr anchor="ctr">
                    <a:solidFill>
                      <a:schemeClr val="accent1">
                        <a:lumMod val="40000"/>
                        <a:lumOff val="60000"/>
                      </a:schemeClr>
                    </a:solidFill>
                  </a:tcPr>
                </a:tc>
                <a:extLst>
                  <a:ext uri="{0D108BD9-81ED-4DB2-BD59-A6C34878D82A}">
                    <a16:rowId xmlns:a16="http://schemas.microsoft.com/office/drawing/2014/main" val="1875029581"/>
                  </a:ext>
                </a:extLst>
              </a:tr>
              <a:tr h="53143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i="0" u="none" strike="noStrike" kern="1200" dirty="0" smtClean="0">
                          <a:solidFill>
                            <a:srgbClr val="000000"/>
                          </a:solidFill>
                          <a:effectLst/>
                          <a:latin typeface="Calibri" panose="020F0502020204030204" pitchFamily="34" charset="0"/>
                          <a:ea typeface="+mn-ea"/>
                          <a:cs typeface="+mn-cs"/>
                        </a:rPr>
                        <a:t>Evaluer et rationaliser les besoins fonctionnels et exigences : Service numérique utile </a:t>
                      </a:r>
                    </a:p>
                  </a:txBody>
                  <a:tcPr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S’assurer que ma solution répond aux besoins essentiels et qu'elle sera / est utilisée</a:t>
                      </a:r>
                    </a:p>
                  </a:txBody>
                  <a:tcPr marL="6350" marR="6350" marT="6350" marB="0" anchor="ctr"/>
                </a:tc>
                <a:extLst>
                  <a:ext uri="{0D108BD9-81ED-4DB2-BD59-A6C34878D82A}">
                    <a16:rowId xmlns:a16="http://schemas.microsoft.com/office/drawing/2014/main" val="3530699236"/>
                  </a:ext>
                </a:extLst>
              </a:tr>
              <a:tr h="531434">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i="0" u="none" strike="noStrike" kern="1200" dirty="0" smtClean="0">
                          <a:solidFill>
                            <a:srgbClr val="000000"/>
                          </a:solidFill>
                          <a:effectLst/>
                          <a:latin typeface="Calibri" panose="020F0502020204030204" pitchFamily="34" charset="0"/>
                          <a:ea typeface="+mn-ea"/>
                          <a:cs typeface="+mn-cs"/>
                        </a:rPr>
                        <a:t>Piloter l'empreinte environnementale des projets </a:t>
                      </a:r>
                    </a:p>
                    <a:p>
                      <a:endParaRPr lang="fr-FR" sz="1800" dirty="0"/>
                    </a:p>
                  </a:txBody>
                  <a:tcPr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Appliquer des méthodes d’écoconception dans la méthodologie projet</a:t>
                      </a:r>
                    </a:p>
                  </a:txBody>
                  <a:tcPr marL="6350" marR="6350" marT="6350" marB="0" anchor="ctr"/>
                </a:tc>
                <a:extLst>
                  <a:ext uri="{0D108BD9-81ED-4DB2-BD59-A6C34878D82A}">
                    <a16:rowId xmlns:a16="http://schemas.microsoft.com/office/drawing/2014/main" val="3596683047"/>
                  </a:ext>
                </a:extLst>
              </a:tr>
              <a:tr h="531434">
                <a:tc vMerge="1">
                  <a:txBody>
                    <a:bodyPr/>
                    <a:lstStyle/>
                    <a:p>
                      <a:endParaRPr lang="fr-FR" dirty="0"/>
                    </a:p>
                  </a:txBody>
                  <a:tcP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Imposer aux fournisseurs et/ou partenaires participant à l'élaboration du service une démarche environnementale</a:t>
                      </a:r>
                    </a:p>
                  </a:txBody>
                  <a:tcPr marL="6350" marR="6350" marT="6350" marB="0" anchor="ctr"/>
                </a:tc>
                <a:extLst>
                  <a:ext uri="{0D108BD9-81ED-4DB2-BD59-A6C34878D82A}">
                    <a16:rowId xmlns:a16="http://schemas.microsoft.com/office/drawing/2014/main" val="2664793930"/>
                  </a:ext>
                </a:extLst>
              </a:tr>
              <a:tr h="531434">
                <a:tc vMerge="1">
                  <a:txBody>
                    <a:bodyPr/>
                    <a:lstStyle/>
                    <a:p>
                      <a:endParaRPr lang="fr-FR" dirty="0"/>
                    </a:p>
                  </a:txBody>
                  <a:tcP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Suivre les impacts coté Datacenters</a:t>
                      </a:r>
                    </a:p>
                  </a:txBody>
                  <a:tcPr marL="6350" marR="6350" marT="6350" marB="0" anchor="ctr"/>
                </a:tc>
                <a:extLst>
                  <a:ext uri="{0D108BD9-81ED-4DB2-BD59-A6C34878D82A}">
                    <a16:rowId xmlns:a16="http://schemas.microsoft.com/office/drawing/2014/main" val="3080938247"/>
                  </a:ext>
                </a:extLst>
              </a:tr>
              <a:tr h="531434">
                <a:tc vMerge="1">
                  <a:txBody>
                    <a:bodyPr/>
                    <a:lstStyle/>
                    <a:p>
                      <a:endParaRPr lang="fr-FR" dirty="0"/>
                    </a:p>
                  </a:txBody>
                  <a:tcP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Suivre les impacts du service numérique</a:t>
                      </a:r>
                    </a:p>
                  </a:txBody>
                  <a:tcPr marL="6350" marR="6350" marT="6350" marB="0" anchor="ctr"/>
                </a:tc>
                <a:extLst>
                  <a:ext uri="{0D108BD9-81ED-4DB2-BD59-A6C34878D82A}">
                    <a16:rowId xmlns:a16="http://schemas.microsoft.com/office/drawing/2014/main" val="1309637463"/>
                  </a:ext>
                </a:extLst>
              </a:tr>
            </a:tbl>
          </a:graphicData>
        </a:graphic>
      </p:graphicFrame>
    </p:spTree>
    <p:extLst>
      <p:ext uri="{BB962C8B-B14F-4D97-AF65-F5344CB8AC3E}">
        <p14:creationId xmlns:p14="http://schemas.microsoft.com/office/powerpoint/2010/main" val="209196744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smtClean="0">
                <a:solidFill>
                  <a:schemeClr val="bg1"/>
                </a:solidFill>
              </a:rPr>
              <a:t>Liste des métiers et Critères</a:t>
            </a:r>
            <a:endParaRPr lang="fr-FR" b="1" dirty="0">
              <a:solidFill>
                <a:schemeClr val="bg1"/>
              </a:solidFill>
            </a:endParaRPr>
          </a:p>
        </p:txBody>
      </p:sp>
      <p:sp>
        <p:nvSpPr>
          <p:cNvPr id="3" name="Espace réservé du contenu 2"/>
          <p:cNvSpPr>
            <a:spLocks noGrp="1"/>
          </p:cNvSpPr>
          <p:nvPr>
            <p:ph idx="1"/>
          </p:nvPr>
        </p:nvSpPr>
        <p:spPr>
          <a:xfrm>
            <a:off x="0" y="1736946"/>
            <a:ext cx="12192000" cy="4351338"/>
          </a:xfrm>
        </p:spPr>
        <p:txBody>
          <a:bodyPr/>
          <a:lstStyle/>
          <a:p>
            <a:pPr marL="0" indent="0">
              <a:buNone/>
            </a:pPr>
            <a:endParaRPr lang="fr-FR" dirty="0">
              <a:solidFill>
                <a:schemeClr val="accent5">
                  <a:lumMod val="75000"/>
                </a:schemeClr>
              </a:solidFill>
            </a:endParaRPr>
          </a:p>
          <a:p>
            <a:pPr marL="0" indent="0">
              <a:buNone/>
            </a:pPr>
            <a:endParaRPr lang="fr-FR" dirty="0" smtClean="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4" name="Tableau 3"/>
          <p:cNvGraphicFramePr>
            <a:graphicFrameLocks noGrp="1"/>
          </p:cNvGraphicFramePr>
          <p:nvPr>
            <p:extLst>
              <p:ext uri="{D42A27DB-BD31-4B8C-83A1-F6EECF244321}">
                <p14:modId xmlns:p14="http://schemas.microsoft.com/office/powerpoint/2010/main" val="4135025586"/>
              </p:ext>
            </p:extLst>
          </p:nvPr>
        </p:nvGraphicFramePr>
        <p:xfrm>
          <a:off x="0" y="1166808"/>
          <a:ext cx="12192000" cy="5220970"/>
        </p:xfrm>
        <a:graphic>
          <a:graphicData uri="http://schemas.openxmlformats.org/drawingml/2006/table">
            <a:tbl>
              <a:tblPr firstRow="1" bandRow="1">
                <a:tableStyleId>{5C22544A-7EE6-4342-B048-85BDC9FD1C3A}</a:tableStyleId>
              </a:tblPr>
              <a:tblGrid>
                <a:gridCol w="3349592">
                  <a:extLst>
                    <a:ext uri="{9D8B030D-6E8A-4147-A177-3AD203B41FA5}">
                      <a16:colId xmlns:a16="http://schemas.microsoft.com/office/drawing/2014/main" val="1970134250"/>
                    </a:ext>
                  </a:extLst>
                </a:gridCol>
                <a:gridCol w="8842408">
                  <a:extLst>
                    <a:ext uri="{9D8B030D-6E8A-4147-A177-3AD203B41FA5}">
                      <a16:colId xmlns:a16="http://schemas.microsoft.com/office/drawing/2014/main" val="567957775"/>
                    </a:ext>
                  </a:extLst>
                </a:gridCol>
              </a:tblGrid>
              <a:tr h="433504">
                <a:tc gridSpan="2">
                  <a:txBody>
                    <a:bodyPr/>
                    <a:lstStyle/>
                    <a:p>
                      <a:pPr algn="ctr"/>
                      <a:r>
                        <a:rPr lang="fr-FR" sz="2400" dirty="0" smtClean="0"/>
                        <a:t>MOA  / PO / PPO</a:t>
                      </a:r>
                    </a:p>
                  </a:txBody>
                  <a:tcPr/>
                </a:tc>
                <a:tc hMerge="1">
                  <a:txBody>
                    <a:bodyPr/>
                    <a:lstStyle/>
                    <a:p>
                      <a:endParaRPr lang="fr-FR" dirty="0"/>
                    </a:p>
                  </a:txBody>
                  <a:tcPr/>
                </a:tc>
                <a:extLst>
                  <a:ext uri="{0D108BD9-81ED-4DB2-BD59-A6C34878D82A}">
                    <a16:rowId xmlns:a16="http://schemas.microsoft.com/office/drawing/2014/main" val="782234525"/>
                  </a:ext>
                </a:extLst>
              </a:tr>
              <a:tr h="3468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dirty="0" smtClean="0"/>
                        <a:t>Principes directeurs</a:t>
                      </a:r>
                    </a:p>
                  </a:txBody>
                  <a:tcPr anchor="ctr">
                    <a:solidFill>
                      <a:schemeClr val="accent1">
                        <a:lumMod val="40000"/>
                        <a:lumOff val="60000"/>
                      </a:schemeClr>
                    </a:solidFill>
                  </a:tcPr>
                </a:tc>
                <a:tc>
                  <a:txBody>
                    <a:bodyPr/>
                    <a:lstStyle/>
                    <a:p>
                      <a:pPr algn="ctr"/>
                      <a:r>
                        <a:rPr lang="fr-FR" sz="1800" b="1" dirty="0" smtClean="0"/>
                        <a:t>Critères</a:t>
                      </a:r>
                      <a:endParaRPr lang="fr-FR" sz="1800" b="1" dirty="0"/>
                    </a:p>
                  </a:txBody>
                  <a:tcPr anchor="ctr">
                    <a:solidFill>
                      <a:schemeClr val="accent1">
                        <a:lumMod val="40000"/>
                        <a:lumOff val="60000"/>
                      </a:schemeClr>
                    </a:solidFill>
                  </a:tcPr>
                </a:tc>
                <a:extLst>
                  <a:ext uri="{0D108BD9-81ED-4DB2-BD59-A6C34878D82A}">
                    <a16:rowId xmlns:a16="http://schemas.microsoft.com/office/drawing/2014/main" val="1875029581"/>
                  </a:ext>
                </a:extLst>
              </a:tr>
              <a:tr h="208323">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i="0" u="none" strike="noStrike" kern="1200" dirty="0" smtClean="0">
                          <a:solidFill>
                            <a:srgbClr val="000000"/>
                          </a:solidFill>
                          <a:effectLst/>
                          <a:latin typeface="Calibri" panose="020F0502020204030204" pitchFamily="34" charset="0"/>
                          <a:ea typeface="+mn-ea"/>
                          <a:cs typeface="+mn-cs"/>
                        </a:rPr>
                        <a:t>Evaluer et rationaliser les besoins fonctionnels et exigences : Service numérique utile et utilisable</a:t>
                      </a:r>
                    </a:p>
                  </a:txBody>
                  <a:tcPr anchor="ct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S’assurer que ma solution répond aux besoins essentiels et qu'elle sera / est utilisée</a:t>
                      </a:r>
                    </a:p>
                  </a:txBody>
                  <a:tcPr marL="6350" marR="6350" marT="6350" marB="0" anchor="ctr"/>
                </a:tc>
                <a:extLst>
                  <a:ext uri="{0D108BD9-81ED-4DB2-BD59-A6C34878D82A}">
                    <a16:rowId xmlns:a16="http://schemas.microsoft.com/office/drawing/2014/main" val="3530699236"/>
                  </a:ext>
                </a:extLst>
              </a:tr>
              <a:tr h="237223">
                <a:tc vMerge="1">
                  <a:txBody>
                    <a:bodyPr/>
                    <a:lstStyle/>
                    <a:p>
                      <a:endParaRPr lang="fr-FR" dirty="0"/>
                    </a:p>
                  </a:txBody>
                  <a:tcP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Etre au plus près des technologies et versions "standards"</a:t>
                      </a:r>
                    </a:p>
                  </a:txBody>
                  <a:tcPr marL="6350" marR="6350" marT="6350" marB="0" anchor="ctr"/>
                </a:tc>
                <a:extLst>
                  <a:ext uri="{0D108BD9-81ED-4DB2-BD59-A6C34878D82A}">
                    <a16:rowId xmlns:a16="http://schemas.microsoft.com/office/drawing/2014/main" val="3365585736"/>
                  </a:ext>
                </a:extLst>
              </a:tr>
              <a:tr h="468425">
                <a:tc vMerge="1">
                  <a:txBody>
                    <a:bodyPr/>
                    <a:lstStyle/>
                    <a:p>
                      <a:endParaRPr lang="fr-FR" dirty="0"/>
                    </a:p>
                  </a:txBody>
                  <a:tcP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S’assurer que ma solution est utilisable (simple et accessible), et minimise les contraintes sur les terminaux et matériel utilisé</a:t>
                      </a:r>
                    </a:p>
                  </a:txBody>
                  <a:tcPr marL="6350" marR="6350" marT="6350" marB="0" anchor="ctr"/>
                </a:tc>
                <a:extLst>
                  <a:ext uri="{0D108BD9-81ED-4DB2-BD59-A6C34878D82A}">
                    <a16:rowId xmlns:a16="http://schemas.microsoft.com/office/drawing/2014/main" val="3017822320"/>
                  </a:ext>
                </a:extLst>
              </a:tr>
              <a:tr h="237223">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i="0" u="none" strike="noStrike" kern="1200" dirty="0" smtClean="0">
                          <a:solidFill>
                            <a:srgbClr val="000000"/>
                          </a:solidFill>
                          <a:effectLst/>
                          <a:latin typeface="Calibri" panose="020F0502020204030204" pitchFamily="34" charset="0"/>
                          <a:ea typeface="+mn-ea"/>
                          <a:cs typeface="+mn-cs"/>
                        </a:rPr>
                        <a:t>Piloter l'empreinte environnementale des projets </a:t>
                      </a:r>
                    </a:p>
                    <a:p>
                      <a:endParaRPr lang="fr-FR" sz="1600" dirty="0"/>
                    </a:p>
                  </a:txBody>
                  <a:tcPr anchor="ct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Appliquer des méthodes d’écoconception dans la méthodologie projet</a:t>
                      </a:r>
                    </a:p>
                  </a:txBody>
                  <a:tcPr marL="6350" marR="6350" marT="6350" marB="0" anchor="ctr"/>
                </a:tc>
                <a:extLst>
                  <a:ext uri="{0D108BD9-81ED-4DB2-BD59-A6C34878D82A}">
                    <a16:rowId xmlns:a16="http://schemas.microsoft.com/office/drawing/2014/main" val="3596683047"/>
                  </a:ext>
                </a:extLst>
              </a:tr>
              <a:tr h="468425">
                <a:tc vMerge="1">
                  <a:txBody>
                    <a:bodyPr/>
                    <a:lstStyle/>
                    <a:p>
                      <a:endParaRPr lang="fr-FR" dirty="0"/>
                    </a:p>
                  </a:txBody>
                  <a:tcP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Imposer aux fournisseurs et/ou partenaires participant à l'élaboration du service une démarche environnementale</a:t>
                      </a:r>
                    </a:p>
                  </a:txBody>
                  <a:tcPr marL="6350" marR="6350" marT="6350" marB="0" anchor="ctr"/>
                </a:tc>
                <a:extLst>
                  <a:ext uri="{0D108BD9-81ED-4DB2-BD59-A6C34878D82A}">
                    <a16:rowId xmlns:a16="http://schemas.microsoft.com/office/drawing/2014/main" val="2664793930"/>
                  </a:ext>
                </a:extLst>
              </a:tr>
              <a:tr h="237223">
                <a:tc vMerge="1">
                  <a:txBody>
                    <a:bodyPr/>
                    <a:lstStyle/>
                    <a:p>
                      <a:endParaRPr lang="fr-FR" dirty="0"/>
                    </a:p>
                  </a:txBody>
                  <a:tcP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Suivre les impacts coté Datacenters</a:t>
                      </a:r>
                    </a:p>
                  </a:txBody>
                  <a:tcPr marL="6350" marR="6350" marT="6350" marB="0" anchor="ctr"/>
                </a:tc>
                <a:extLst>
                  <a:ext uri="{0D108BD9-81ED-4DB2-BD59-A6C34878D82A}">
                    <a16:rowId xmlns:a16="http://schemas.microsoft.com/office/drawing/2014/main" val="3080938247"/>
                  </a:ext>
                </a:extLst>
              </a:tr>
              <a:tr h="237223">
                <a:tc vMerge="1">
                  <a:txBody>
                    <a:bodyPr/>
                    <a:lstStyle/>
                    <a:p>
                      <a:endParaRPr lang="fr-FR" dirty="0"/>
                    </a:p>
                  </a:txBody>
                  <a:tcP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Suivre les impacts du service numérique</a:t>
                      </a:r>
                    </a:p>
                  </a:txBody>
                  <a:tcPr marL="6350" marR="6350" marT="6350" marB="0" anchor="ctr"/>
                </a:tc>
                <a:extLst>
                  <a:ext uri="{0D108BD9-81ED-4DB2-BD59-A6C34878D82A}">
                    <a16:rowId xmlns:a16="http://schemas.microsoft.com/office/drawing/2014/main" val="1309637463"/>
                  </a:ext>
                </a:extLst>
              </a:tr>
              <a:tr h="237223">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smtClean="0"/>
                        <a:t>Optimisation de l'Expérience et de l'Interface Utilisateur </a:t>
                      </a:r>
                    </a:p>
                    <a:p>
                      <a:endParaRPr lang="fr-FR" sz="1600" dirty="0"/>
                    </a:p>
                  </a:txBody>
                  <a:tcPr anchor="ct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Eviter le recours à des ressources inutiles coté terminal utilisateur</a:t>
                      </a:r>
                    </a:p>
                  </a:txBody>
                  <a:tcPr marL="6350" marR="6350" marT="6350" marB="0" anchor="ctr"/>
                </a:tc>
                <a:extLst>
                  <a:ext uri="{0D108BD9-81ED-4DB2-BD59-A6C34878D82A}">
                    <a16:rowId xmlns:a16="http://schemas.microsoft.com/office/drawing/2014/main" val="3393031861"/>
                  </a:ext>
                </a:extLst>
              </a:tr>
              <a:tr h="237223">
                <a:tc vMerge="1">
                  <a:txBody>
                    <a:bodyPr/>
                    <a:lstStyle/>
                    <a:p>
                      <a:endParaRPr lang="fr-FR" sz="1800" dirty="0"/>
                    </a:p>
                  </a:txBody>
                  <a:tcPr anchor="ct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Favoriser le bon fonctionnement des navigateurs</a:t>
                      </a:r>
                    </a:p>
                  </a:txBody>
                  <a:tcPr marL="6350" marR="6350" marT="6350" marB="0" anchor="ctr"/>
                </a:tc>
                <a:extLst>
                  <a:ext uri="{0D108BD9-81ED-4DB2-BD59-A6C34878D82A}">
                    <a16:rowId xmlns:a16="http://schemas.microsoft.com/office/drawing/2014/main" val="3484332170"/>
                  </a:ext>
                </a:extLst>
              </a:tr>
              <a:tr h="237223">
                <a:tc vMerge="1">
                  <a:txBody>
                    <a:bodyPr/>
                    <a:lstStyle/>
                    <a:p>
                      <a:endParaRPr lang="fr-FR" sz="1800" dirty="0"/>
                    </a:p>
                  </a:txBody>
                  <a:tcPr anchor="ct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Optimiser les ressources d'Interface Utilisateur</a:t>
                      </a:r>
                    </a:p>
                  </a:txBody>
                  <a:tcPr marL="6350" marR="6350" marT="6350" marB="0" anchor="ctr"/>
                </a:tc>
                <a:extLst>
                  <a:ext uri="{0D108BD9-81ED-4DB2-BD59-A6C34878D82A}">
                    <a16:rowId xmlns:a16="http://schemas.microsoft.com/office/drawing/2014/main" val="3837474426"/>
                  </a:ext>
                </a:extLst>
              </a:tr>
              <a:tr h="468425">
                <a:tc vMerge="1">
                  <a:txBody>
                    <a:bodyPr/>
                    <a:lstStyle/>
                    <a:p>
                      <a:endParaRPr lang="fr-FR" sz="1800" dirty="0"/>
                    </a:p>
                  </a:txBody>
                  <a:tcPr anchor="ct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Optimiser l'</a:t>
                      </a:r>
                      <a:r>
                        <a:rPr lang="fr-FR" sz="1600" b="0" i="0" u="none" strike="noStrike" kern="1200" dirty="0" err="1" smtClean="0">
                          <a:solidFill>
                            <a:srgbClr val="284780"/>
                          </a:solidFill>
                          <a:effectLst/>
                          <a:latin typeface="Calibri" panose="020F0502020204030204" pitchFamily="34" charset="0"/>
                          <a:ea typeface="+mn-ea"/>
                          <a:cs typeface="+mn-cs"/>
                        </a:rPr>
                        <a:t>intéraction</a:t>
                      </a:r>
                      <a:r>
                        <a:rPr lang="fr-FR" sz="1600" b="0" i="0" u="none" strike="noStrike" kern="1200" dirty="0" smtClean="0">
                          <a:solidFill>
                            <a:srgbClr val="284780"/>
                          </a:solidFill>
                          <a:effectLst/>
                          <a:latin typeface="Calibri" panose="020F0502020204030204" pitchFamily="34" charset="0"/>
                          <a:ea typeface="+mn-ea"/>
                          <a:cs typeface="+mn-cs"/>
                        </a:rPr>
                        <a:t> avec l'utilisateur pour minimiser le temps passé sur son terminal et les échanges client/serveur</a:t>
                      </a:r>
                    </a:p>
                  </a:txBody>
                  <a:tcPr marL="6350" marR="6350" marT="6350" marB="0" anchor="ctr"/>
                </a:tc>
                <a:extLst>
                  <a:ext uri="{0D108BD9-81ED-4DB2-BD59-A6C34878D82A}">
                    <a16:rowId xmlns:a16="http://schemas.microsoft.com/office/drawing/2014/main" val="3835527868"/>
                  </a:ext>
                </a:extLst>
              </a:tr>
              <a:tr h="549105">
                <a:tc>
                  <a:txBody>
                    <a:bodyPr/>
                    <a:lstStyle/>
                    <a:p>
                      <a:r>
                        <a:rPr lang="fr-FR" sz="1600" b="1" dirty="0" smtClean="0"/>
                        <a:t>Utilisation optimisée des ressources d'hébergement</a:t>
                      </a:r>
                    </a:p>
                  </a:txBody>
                  <a:tcPr anchor="ctr"/>
                </a:tc>
                <a:tc>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r>
                        <a:rPr lang="fr-FR" sz="1600" b="0" i="0" u="none" strike="noStrike" kern="1200" dirty="0" smtClean="0">
                          <a:solidFill>
                            <a:srgbClr val="284780"/>
                          </a:solidFill>
                          <a:effectLst/>
                          <a:latin typeface="Calibri" panose="020F0502020204030204" pitchFamily="34" charset="0"/>
                          <a:ea typeface="+mn-ea"/>
                          <a:cs typeface="+mn-cs"/>
                        </a:rPr>
                        <a:t>Ajuster tout au long du cycle de vie le dimensionnement les ressources IT au juste besoin</a:t>
                      </a:r>
                    </a:p>
                  </a:txBody>
                  <a:tcPr marL="6350" marR="6350" marT="6350" marB="0" anchor="ctr"/>
                </a:tc>
                <a:extLst>
                  <a:ext uri="{0D108BD9-81ED-4DB2-BD59-A6C34878D82A}">
                    <a16:rowId xmlns:a16="http://schemas.microsoft.com/office/drawing/2014/main" val="2395381335"/>
                  </a:ext>
                </a:extLst>
              </a:tr>
              <a:tr h="317903">
                <a:tc>
                  <a:txBody>
                    <a:bodyPr/>
                    <a:lstStyle/>
                    <a:p>
                      <a:r>
                        <a:rPr lang="fr-FR" sz="1600" b="1" dirty="0" smtClean="0"/>
                        <a:t>Libérer ressources IT</a:t>
                      </a:r>
                    </a:p>
                  </a:txBody>
                  <a:tcPr anchor="ctr"/>
                </a:tc>
                <a:tc>
                  <a:txBody>
                    <a:bodyPr/>
                    <a:lstStyle/>
                    <a:p>
                      <a:pPr algn="ctr" fontAlgn="b">
                        <a:spcBef>
                          <a:spcPts val="300"/>
                        </a:spcBef>
                        <a:spcAft>
                          <a:spcPts val="300"/>
                        </a:spcAft>
                      </a:pPr>
                      <a:r>
                        <a:rPr lang="fr-FR" sz="1600" b="0" i="0" u="none" strike="noStrike" kern="1200" dirty="0" err="1" smtClean="0">
                          <a:solidFill>
                            <a:srgbClr val="284780"/>
                          </a:solidFill>
                          <a:effectLst/>
                          <a:latin typeface="Calibri" panose="020F0502020204030204" pitchFamily="34" charset="0"/>
                          <a:ea typeface="+mn-ea"/>
                          <a:cs typeface="+mn-cs"/>
                        </a:rPr>
                        <a:t>Décommissionner</a:t>
                      </a:r>
                      <a:endParaRPr lang="fr-FR" sz="1600" b="0" i="0" u="none" strike="noStrike" kern="1200" dirty="0" smtClean="0">
                        <a:solidFill>
                          <a:srgbClr val="284780"/>
                        </a:solidFill>
                        <a:effectLst/>
                        <a:latin typeface="Calibri" panose="020F0502020204030204" pitchFamily="34" charset="0"/>
                        <a:ea typeface="+mn-ea"/>
                        <a:cs typeface="+mn-cs"/>
                      </a:endParaRPr>
                    </a:p>
                  </a:txBody>
                  <a:tcPr marL="6350" marR="6350" marT="6350" marB="0" anchor="ctr"/>
                </a:tc>
                <a:extLst>
                  <a:ext uri="{0D108BD9-81ED-4DB2-BD59-A6C34878D82A}">
                    <a16:rowId xmlns:a16="http://schemas.microsoft.com/office/drawing/2014/main" val="4017884999"/>
                  </a:ext>
                </a:extLst>
              </a:tr>
            </a:tbl>
          </a:graphicData>
        </a:graphic>
      </p:graphicFrame>
    </p:spTree>
    <p:extLst>
      <p:ext uri="{BB962C8B-B14F-4D97-AF65-F5344CB8AC3E}">
        <p14:creationId xmlns:p14="http://schemas.microsoft.com/office/powerpoint/2010/main" val="208627492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smtClean="0">
                <a:solidFill>
                  <a:schemeClr val="bg1"/>
                </a:solidFill>
              </a:rPr>
              <a:t>Liste des métiers et Critères</a:t>
            </a:r>
            <a:endParaRPr lang="fr-FR" b="1" dirty="0">
              <a:solidFill>
                <a:schemeClr val="bg1"/>
              </a:solidFill>
            </a:endParaRPr>
          </a:p>
        </p:txBody>
      </p:sp>
      <p:sp>
        <p:nvSpPr>
          <p:cNvPr id="3" name="Espace réservé du contenu 2"/>
          <p:cNvSpPr>
            <a:spLocks noGrp="1"/>
          </p:cNvSpPr>
          <p:nvPr>
            <p:ph idx="1"/>
          </p:nvPr>
        </p:nvSpPr>
        <p:spPr>
          <a:xfrm>
            <a:off x="0" y="1736946"/>
            <a:ext cx="12192000" cy="4351338"/>
          </a:xfrm>
        </p:spPr>
        <p:txBody>
          <a:bodyPr/>
          <a:lstStyle/>
          <a:p>
            <a:pPr marL="0" indent="0">
              <a:buNone/>
            </a:pPr>
            <a:endParaRPr lang="fr-FR" dirty="0">
              <a:solidFill>
                <a:schemeClr val="accent5">
                  <a:lumMod val="75000"/>
                </a:schemeClr>
              </a:solidFill>
            </a:endParaRPr>
          </a:p>
          <a:p>
            <a:pPr marL="0" indent="0">
              <a:buNone/>
            </a:pPr>
            <a:endParaRPr lang="fr-FR" dirty="0" smtClean="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4" name="Tableau 3"/>
          <p:cNvGraphicFramePr>
            <a:graphicFrameLocks noGrp="1"/>
          </p:cNvGraphicFramePr>
          <p:nvPr>
            <p:extLst/>
          </p:nvPr>
        </p:nvGraphicFramePr>
        <p:xfrm>
          <a:off x="0" y="1094216"/>
          <a:ext cx="12192000" cy="5184716"/>
        </p:xfrm>
        <a:graphic>
          <a:graphicData uri="http://schemas.openxmlformats.org/drawingml/2006/table">
            <a:tbl>
              <a:tblPr firstRow="1" bandRow="1">
                <a:tableStyleId>{5C22544A-7EE6-4342-B048-85BDC9FD1C3A}</a:tableStyleId>
              </a:tblPr>
              <a:tblGrid>
                <a:gridCol w="3077497">
                  <a:extLst>
                    <a:ext uri="{9D8B030D-6E8A-4147-A177-3AD203B41FA5}">
                      <a16:colId xmlns:a16="http://schemas.microsoft.com/office/drawing/2014/main" val="1970134250"/>
                    </a:ext>
                  </a:extLst>
                </a:gridCol>
                <a:gridCol w="9114503">
                  <a:extLst>
                    <a:ext uri="{9D8B030D-6E8A-4147-A177-3AD203B41FA5}">
                      <a16:colId xmlns:a16="http://schemas.microsoft.com/office/drawing/2014/main" val="567957775"/>
                    </a:ext>
                  </a:extLst>
                </a:gridCol>
              </a:tblGrid>
              <a:tr h="428262">
                <a:tc gridSpan="2">
                  <a:txBody>
                    <a:bodyPr/>
                    <a:lstStyle/>
                    <a:p>
                      <a:pPr algn="ctr"/>
                      <a:r>
                        <a:rPr lang="fr-FR" sz="2400" dirty="0" smtClean="0"/>
                        <a:t>Architecte AS</a:t>
                      </a:r>
                    </a:p>
                  </a:txBody>
                  <a:tcPr/>
                </a:tc>
                <a:tc hMerge="1">
                  <a:txBody>
                    <a:bodyPr/>
                    <a:lstStyle/>
                    <a:p>
                      <a:endParaRPr lang="fr-FR" dirty="0"/>
                    </a:p>
                  </a:txBody>
                  <a:tcPr/>
                </a:tc>
                <a:extLst>
                  <a:ext uri="{0D108BD9-81ED-4DB2-BD59-A6C34878D82A}">
                    <a16:rowId xmlns:a16="http://schemas.microsoft.com/office/drawing/2014/main" val="782234525"/>
                  </a:ext>
                </a:extLst>
              </a:tr>
              <a:tr h="285508">
                <a:tc>
                  <a:txBody>
                    <a:bodyPr/>
                    <a:lstStyle/>
                    <a:p>
                      <a:pPr algn="ctr"/>
                      <a:r>
                        <a:rPr lang="fr-FR" sz="1400" b="1" dirty="0" smtClean="0"/>
                        <a:t>Principes directeurs</a:t>
                      </a:r>
                      <a:endParaRPr lang="fr-FR" sz="1400" b="1" dirty="0"/>
                    </a:p>
                  </a:txBody>
                  <a:tcPr anchor="ctr">
                    <a:solidFill>
                      <a:schemeClr val="accent1">
                        <a:lumMod val="40000"/>
                        <a:lumOff val="60000"/>
                      </a:schemeClr>
                    </a:solidFill>
                  </a:tcPr>
                </a:tc>
                <a:tc>
                  <a:txBody>
                    <a:bodyPr/>
                    <a:lstStyle/>
                    <a:p>
                      <a:pPr algn="ctr"/>
                      <a:r>
                        <a:rPr lang="fr-FR" sz="1400" b="1" dirty="0" smtClean="0"/>
                        <a:t>Critères</a:t>
                      </a:r>
                      <a:endParaRPr lang="fr-FR" sz="1400" b="1" dirty="0"/>
                    </a:p>
                  </a:txBody>
                  <a:tcPr anchor="ctr">
                    <a:solidFill>
                      <a:schemeClr val="accent1">
                        <a:lumMod val="40000"/>
                        <a:lumOff val="60000"/>
                      </a:schemeClr>
                    </a:solidFill>
                  </a:tcPr>
                </a:tc>
                <a:extLst>
                  <a:ext uri="{0D108BD9-81ED-4DB2-BD59-A6C34878D82A}">
                    <a16:rowId xmlns:a16="http://schemas.microsoft.com/office/drawing/2014/main" val="1875029581"/>
                  </a:ext>
                </a:extLst>
              </a:tr>
              <a:tr h="205803">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kern="1200" dirty="0" smtClean="0">
                          <a:solidFill>
                            <a:schemeClr val="dk1"/>
                          </a:solidFill>
                          <a:latin typeface="+mn-lt"/>
                          <a:ea typeface="+mn-ea"/>
                          <a:cs typeface="+mn-cs"/>
                        </a:rPr>
                        <a:t>Evaluer et rationaliser les besoins fonctionnels et exigences : Service numérique utilisable</a:t>
                      </a:r>
                    </a:p>
                  </a:txBody>
                  <a:tcPr anchor="ctr"/>
                </a:tc>
                <a:tc>
                  <a:txBody>
                    <a:bodyPr/>
                    <a:lstStyle/>
                    <a:p>
                      <a:pPr marL="0" algn="ctr" defTabSz="914400" rtl="0" eaLnBrk="1" fontAlgn="b" latinLnBrk="0" hangingPunct="1">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Etre au plus près des technologies et versions "standards"</a:t>
                      </a:r>
                    </a:p>
                  </a:txBody>
                  <a:tcPr marL="6350" marR="6350" marT="6350" marB="0" anchor="ctr"/>
                </a:tc>
                <a:extLst>
                  <a:ext uri="{0D108BD9-81ED-4DB2-BD59-A6C34878D82A}">
                    <a16:rowId xmlns:a16="http://schemas.microsoft.com/office/drawing/2014/main" val="2878080538"/>
                  </a:ext>
                </a:extLst>
              </a:tr>
              <a:tr h="1021880">
                <a:tc vMerge="1">
                  <a:txBody>
                    <a:bodyPr/>
                    <a:lstStyle/>
                    <a:p>
                      <a:endParaRPr lang="fr-FR" sz="1600" dirty="0" smtClean="0"/>
                    </a:p>
                  </a:txBody>
                  <a:tcPr anchor="ctr"/>
                </a:tc>
                <a:tc>
                  <a:txBody>
                    <a:bodyPr/>
                    <a:lstStyle/>
                    <a:p>
                      <a:pPr marL="0" algn="ctr" defTabSz="914400" rtl="0" eaLnBrk="1" fontAlgn="b" latinLnBrk="0" hangingPunct="1">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S’assurer que ma solution est utilisable (simple et accessible), et minimise les contraintes sur les terminaux et matériel utilisé</a:t>
                      </a:r>
                    </a:p>
                  </a:txBody>
                  <a:tcPr marL="6350" marR="6350" marT="6350" marB="0" anchor="ctr"/>
                </a:tc>
                <a:extLst>
                  <a:ext uri="{0D108BD9-81ED-4DB2-BD59-A6C34878D82A}">
                    <a16:rowId xmlns:a16="http://schemas.microsoft.com/office/drawing/2014/main" val="3144584378"/>
                  </a:ext>
                </a:extLst>
              </a:tr>
              <a:tr h="205803">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kern="1200" dirty="0" smtClean="0">
                          <a:solidFill>
                            <a:schemeClr val="dk1"/>
                          </a:solidFill>
                          <a:latin typeface="+mn-lt"/>
                          <a:ea typeface="+mn-ea"/>
                          <a:cs typeface="+mn-cs"/>
                        </a:rPr>
                        <a:t>Optimisation de l'Expérience et de l'Interface Utilisateur </a:t>
                      </a:r>
                    </a:p>
                  </a:txBody>
                  <a:tcPr anchor="ctr"/>
                </a:tc>
                <a:tc>
                  <a:txBody>
                    <a:bodyPr/>
                    <a:lstStyle/>
                    <a:p>
                      <a:pPr marL="0" algn="ctr" defTabSz="914400" rtl="0" eaLnBrk="1" fontAlgn="b" latinLnBrk="0" hangingPunct="1">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Eviter le recours à des ressources inutiles coté terminal utilisateur</a:t>
                      </a:r>
                    </a:p>
                  </a:txBody>
                  <a:tcPr marL="6350" marR="6350" marT="6350" marB="0" anchor="ctr"/>
                </a:tc>
                <a:extLst>
                  <a:ext uri="{0D108BD9-81ED-4DB2-BD59-A6C34878D82A}">
                    <a16:rowId xmlns:a16="http://schemas.microsoft.com/office/drawing/2014/main" val="3031140149"/>
                  </a:ext>
                </a:extLst>
              </a:tr>
              <a:tr h="336661">
                <a:tc vMerge="1">
                  <a:txBody>
                    <a:bodyPr/>
                    <a:lstStyle/>
                    <a:p>
                      <a:endParaRPr lang="fr-FR" sz="1400" b="1" dirty="0" smtClean="0"/>
                    </a:p>
                  </a:txBody>
                  <a:tcPr anchor="ctr"/>
                </a:tc>
                <a:tc>
                  <a:txBody>
                    <a:bodyPr/>
                    <a:lstStyle/>
                    <a:p>
                      <a:pPr marL="0" algn="ctr" defTabSz="914400" rtl="0" eaLnBrk="1" fontAlgn="b" latinLnBrk="0" hangingPunct="1">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Optimiser l'</a:t>
                      </a:r>
                      <a:r>
                        <a:rPr lang="fr-FR" sz="1400" b="0" i="0" u="none" strike="noStrike" kern="1200" dirty="0" err="1" smtClean="0">
                          <a:solidFill>
                            <a:srgbClr val="284780"/>
                          </a:solidFill>
                          <a:effectLst/>
                          <a:latin typeface="Calibri" panose="020F0502020204030204" pitchFamily="34" charset="0"/>
                          <a:ea typeface="+mn-ea"/>
                          <a:cs typeface="+mn-cs"/>
                        </a:rPr>
                        <a:t>intéraction</a:t>
                      </a:r>
                      <a:r>
                        <a:rPr lang="fr-FR" sz="1400" b="0" i="0" u="none" strike="noStrike" kern="1200" dirty="0" smtClean="0">
                          <a:solidFill>
                            <a:srgbClr val="284780"/>
                          </a:solidFill>
                          <a:effectLst/>
                          <a:latin typeface="Calibri" panose="020F0502020204030204" pitchFamily="34" charset="0"/>
                          <a:ea typeface="+mn-ea"/>
                          <a:cs typeface="+mn-cs"/>
                        </a:rPr>
                        <a:t> avec l'utilisateur pour minimiser le temps passé sur son terminal et les échanges client/serveur</a:t>
                      </a:r>
                    </a:p>
                  </a:txBody>
                  <a:tcPr marL="6350" marR="6350" marT="6350" marB="0" anchor="ctr"/>
                </a:tc>
                <a:extLst>
                  <a:ext uri="{0D108BD9-81ED-4DB2-BD59-A6C34878D82A}">
                    <a16:rowId xmlns:a16="http://schemas.microsoft.com/office/drawing/2014/main" val="3854364996"/>
                  </a:ext>
                </a:extLst>
              </a:tr>
              <a:tr h="326188">
                <a:tc row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kern="1200" dirty="0">
                          <a:solidFill>
                            <a:schemeClr val="dk1"/>
                          </a:solidFill>
                          <a:latin typeface="+mn-lt"/>
                          <a:ea typeface="+mn-ea"/>
                          <a:cs typeface="+mn-cs"/>
                        </a:rPr>
                        <a:t>La solution intègre des pratiques </a:t>
                      </a:r>
                      <a:r>
                        <a:rPr lang="fr-FR" sz="1600" b="1" kern="1200" dirty="0" smtClean="0">
                          <a:solidFill>
                            <a:schemeClr val="dk1"/>
                          </a:solidFill>
                          <a:latin typeface="+mn-lt"/>
                          <a:ea typeface="+mn-ea"/>
                          <a:cs typeface="+mn-cs"/>
                        </a:rPr>
                        <a:t>d'écoconception</a:t>
                      </a:r>
                      <a:endParaRPr lang="fr-FR" sz="1600" b="1" kern="1200" dirty="0">
                        <a:solidFill>
                          <a:schemeClr val="dk1"/>
                        </a:solidFill>
                        <a:latin typeface="+mn-lt"/>
                        <a:ea typeface="+mn-ea"/>
                        <a:cs typeface="+mn-cs"/>
                      </a:endParaRPr>
                    </a:p>
                  </a:txBody>
                  <a:tcPr marL="6350" marR="6350" marT="6350" marB="0" anchor="ctr"/>
                </a:tc>
                <a:tc>
                  <a:txBody>
                    <a:bodyPr/>
                    <a:lstStyle/>
                    <a:p>
                      <a:pPr marL="0" algn="ctr" defTabSz="914400" rtl="0" eaLnBrk="1" fontAlgn="b" latinLnBrk="0" hangingPunct="1">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Limiter le nombre de requête distante</a:t>
                      </a:r>
                    </a:p>
                  </a:txBody>
                  <a:tcPr marL="6350" marR="6350" marT="6350" marB="0" anchor="ctr"/>
                </a:tc>
                <a:extLst>
                  <a:ext uri="{0D108BD9-81ED-4DB2-BD59-A6C34878D82A}">
                    <a16:rowId xmlns:a16="http://schemas.microsoft.com/office/drawing/2014/main" val="4017884999"/>
                  </a:ext>
                </a:extLst>
              </a:tr>
              <a:tr h="326188">
                <a:tc vMerge="1">
                  <a:txBody>
                    <a:bodyPr/>
                    <a:lstStyle/>
                    <a:p>
                      <a:endParaRPr lang="fr-FR"/>
                    </a:p>
                  </a:txBody>
                  <a:tcPr/>
                </a:tc>
                <a:tc>
                  <a:txBody>
                    <a:bodyPr/>
                    <a:lstStyle/>
                    <a:p>
                      <a:pPr marL="0" algn="ctr" defTabSz="914400" rtl="0" eaLnBrk="1" fontAlgn="b" latinLnBrk="0" hangingPunct="1">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Optimiser la gestion des erreurs pour empêcher qu'elles se reproduisent.</a:t>
                      </a:r>
                    </a:p>
                  </a:txBody>
                  <a:tcPr marL="6350" marR="6350" marT="6350" marB="0" anchor="ctr"/>
                </a:tc>
                <a:extLst>
                  <a:ext uri="{0D108BD9-81ED-4DB2-BD59-A6C34878D82A}">
                    <a16:rowId xmlns:a16="http://schemas.microsoft.com/office/drawing/2014/main" val="3014861822"/>
                  </a:ext>
                </a:extLst>
              </a:tr>
              <a:tr h="326188">
                <a:tc vMerge="1">
                  <a:txBody>
                    <a:bodyPr/>
                    <a:lstStyle/>
                    <a:p>
                      <a:endParaRPr lang="fr-FR"/>
                    </a:p>
                  </a:txBody>
                  <a:tcPr/>
                </a:tc>
                <a:tc>
                  <a:txBody>
                    <a:bodyPr/>
                    <a:lstStyle/>
                    <a:p>
                      <a:pPr marL="0" algn="ctr" defTabSz="914400" rtl="0" eaLnBrk="1" fontAlgn="b" latinLnBrk="0" hangingPunct="1">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Optimiser le poids des échanges "client/serveur"</a:t>
                      </a:r>
                    </a:p>
                  </a:txBody>
                  <a:tcPr marL="6350" marR="6350" marT="6350" marB="0" anchor="ctr"/>
                </a:tc>
                <a:extLst>
                  <a:ext uri="{0D108BD9-81ED-4DB2-BD59-A6C34878D82A}">
                    <a16:rowId xmlns:a16="http://schemas.microsoft.com/office/drawing/2014/main" val="3712969395"/>
                  </a:ext>
                </a:extLst>
              </a:tr>
              <a:tr h="477036">
                <a:tc vMerge="1">
                  <a:txBody>
                    <a:bodyPr/>
                    <a:lstStyle/>
                    <a:p>
                      <a:endParaRPr lang="fr-FR"/>
                    </a:p>
                  </a:txBody>
                  <a:tcPr/>
                </a:tc>
                <a:tc>
                  <a:txBody>
                    <a:bodyPr/>
                    <a:lstStyle/>
                    <a:p>
                      <a:pPr marL="0" algn="ctr" defTabSz="914400" rtl="0" eaLnBrk="1" fontAlgn="b" latinLnBrk="0" hangingPunct="1">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Favoriser les traitements asynchrones</a:t>
                      </a:r>
                    </a:p>
                  </a:txBody>
                  <a:tcPr marL="6350" marR="6350" marT="6350" marB="0" anchor="ctr"/>
                </a:tc>
                <a:extLst>
                  <a:ext uri="{0D108BD9-81ED-4DB2-BD59-A6C34878D82A}">
                    <a16:rowId xmlns:a16="http://schemas.microsoft.com/office/drawing/2014/main" val="586981675"/>
                  </a:ext>
                </a:extLst>
              </a:tr>
              <a:tr h="326188">
                <a:tc vMerge="1">
                  <a:txBody>
                    <a:bodyPr/>
                    <a:lstStyle/>
                    <a:p>
                      <a:endParaRPr lang="fr-FR"/>
                    </a:p>
                  </a:txBody>
                  <a:tcPr/>
                </a:tc>
                <a:tc>
                  <a:txBody>
                    <a:bodyPr/>
                    <a:lstStyle/>
                    <a:p>
                      <a:pPr marL="0" algn="ctr" defTabSz="914400" rtl="0" eaLnBrk="1" fontAlgn="b" latinLnBrk="0" hangingPunct="1">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Optimiser les traitements "lourds" coté serveur</a:t>
                      </a:r>
                    </a:p>
                  </a:txBody>
                  <a:tcPr marL="6350" marR="6350" marT="6350" marB="0" anchor="ctr"/>
                </a:tc>
                <a:extLst>
                  <a:ext uri="{0D108BD9-81ED-4DB2-BD59-A6C34878D82A}">
                    <a16:rowId xmlns:a16="http://schemas.microsoft.com/office/drawing/2014/main" val="4201872895"/>
                  </a:ext>
                </a:extLst>
              </a:tr>
              <a:tr h="462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kern="1200" dirty="0" smtClean="0">
                          <a:solidFill>
                            <a:schemeClr val="dk1"/>
                          </a:solidFill>
                          <a:latin typeface="+mn-lt"/>
                          <a:ea typeface="+mn-ea"/>
                          <a:cs typeface="+mn-cs"/>
                        </a:rPr>
                        <a:t>Utilisation optimisée des ressources d'hébergement</a:t>
                      </a:r>
                      <a:endParaRPr lang="fr-FR" sz="1600" b="1" kern="1200" dirty="0">
                        <a:solidFill>
                          <a:schemeClr val="dk1"/>
                        </a:solidFill>
                        <a:latin typeface="+mn-lt"/>
                        <a:ea typeface="+mn-ea"/>
                        <a:cs typeface="+mn-cs"/>
                      </a:endParaRPr>
                    </a:p>
                  </a:txBody>
                  <a:tcPr marL="6350" marR="6350" marT="6350" marB="0" anchor="ctr"/>
                </a:tc>
                <a:tc>
                  <a:txBody>
                    <a:bodyPr/>
                    <a:lstStyle/>
                    <a:p>
                      <a:pPr marL="0" algn="ctr" defTabSz="914400" rtl="0" eaLnBrk="1" fontAlgn="b" latinLnBrk="0" hangingPunct="1">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Minimiser le besoin en terme de stockage de données</a:t>
                      </a:r>
                    </a:p>
                  </a:txBody>
                  <a:tcPr marL="6350" marR="6350" marT="6350" marB="0" anchor="ctr"/>
                </a:tc>
                <a:extLst>
                  <a:ext uri="{0D108BD9-81ED-4DB2-BD59-A6C34878D82A}">
                    <a16:rowId xmlns:a16="http://schemas.microsoft.com/office/drawing/2014/main" val="4000714627"/>
                  </a:ext>
                </a:extLst>
              </a:tr>
              <a:tr h="3261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kern="1200" dirty="0" smtClean="0">
                          <a:solidFill>
                            <a:schemeClr val="dk1"/>
                          </a:solidFill>
                          <a:latin typeface="+mn-lt"/>
                          <a:ea typeface="+mn-ea"/>
                          <a:cs typeface="+mn-cs"/>
                        </a:rPr>
                        <a:t>Libérer ressources IT</a:t>
                      </a:r>
                      <a:endParaRPr lang="fr-FR" sz="1600" b="1" kern="1200" dirty="0">
                        <a:solidFill>
                          <a:schemeClr val="dk1"/>
                        </a:solidFill>
                        <a:latin typeface="+mn-lt"/>
                        <a:ea typeface="+mn-ea"/>
                        <a:cs typeface="+mn-cs"/>
                      </a:endParaRPr>
                    </a:p>
                  </a:txBody>
                  <a:tcPr marL="6350" marR="6350" marT="6350" marB="0" anchor="ctr"/>
                </a:tc>
                <a:tc>
                  <a:txBody>
                    <a:bodyPr/>
                    <a:lstStyle/>
                    <a:p>
                      <a:pPr marL="0" algn="ctr" defTabSz="914400" rtl="0" eaLnBrk="1" fontAlgn="b" latinLnBrk="0" hangingPunct="1">
                        <a:spcBef>
                          <a:spcPts val="300"/>
                        </a:spcBef>
                        <a:spcAft>
                          <a:spcPts val="300"/>
                        </a:spcAft>
                      </a:pPr>
                      <a:r>
                        <a:rPr lang="fr-FR" sz="1400" b="0" i="0" u="none" strike="noStrike" kern="1200" dirty="0" err="1" smtClean="0">
                          <a:solidFill>
                            <a:srgbClr val="284780"/>
                          </a:solidFill>
                          <a:effectLst/>
                          <a:latin typeface="Calibri" panose="020F0502020204030204" pitchFamily="34" charset="0"/>
                          <a:ea typeface="+mn-ea"/>
                          <a:cs typeface="+mn-cs"/>
                        </a:rPr>
                        <a:t>Décommissionner</a:t>
                      </a:r>
                      <a:endParaRPr lang="fr-FR" sz="1400" b="0" i="0" u="none" strike="noStrike" kern="1200" dirty="0" smtClean="0">
                        <a:solidFill>
                          <a:srgbClr val="284780"/>
                        </a:solidFill>
                        <a:effectLst/>
                        <a:latin typeface="Calibri" panose="020F0502020204030204" pitchFamily="34" charset="0"/>
                        <a:ea typeface="+mn-ea"/>
                        <a:cs typeface="+mn-cs"/>
                      </a:endParaRPr>
                    </a:p>
                  </a:txBody>
                  <a:tcPr marL="6350" marR="6350" marT="6350" marB="0" anchor="ctr"/>
                </a:tc>
                <a:extLst>
                  <a:ext uri="{0D108BD9-81ED-4DB2-BD59-A6C34878D82A}">
                    <a16:rowId xmlns:a16="http://schemas.microsoft.com/office/drawing/2014/main" val="420270394"/>
                  </a:ext>
                </a:extLst>
              </a:tr>
            </a:tbl>
          </a:graphicData>
        </a:graphic>
      </p:graphicFrame>
    </p:spTree>
    <p:extLst>
      <p:ext uri="{BB962C8B-B14F-4D97-AF65-F5344CB8AC3E}">
        <p14:creationId xmlns:p14="http://schemas.microsoft.com/office/powerpoint/2010/main" val="1352148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smtClean="0">
                <a:solidFill>
                  <a:schemeClr val="bg1"/>
                </a:solidFill>
              </a:rPr>
              <a:t>Liste des métiers et Critères</a:t>
            </a:r>
            <a:endParaRPr lang="fr-FR" b="1" dirty="0">
              <a:solidFill>
                <a:schemeClr val="bg1"/>
              </a:solidFill>
            </a:endParaRPr>
          </a:p>
        </p:txBody>
      </p:sp>
      <p:sp>
        <p:nvSpPr>
          <p:cNvPr id="3" name="Espace réservé du contenu 2"/>
          <p:cNvSpPr>
            <a:spLocks noGrp="1"/>
          </p:cNvSpPr>
          <p:nvPr>
            <p:ph idx="1"/>
          </p:nvPr>
        </p:nvSpPr>
        <p:spPr>
          <a:xfrm>
            <a:off x="0" y="1736946"/>
            <a:ext cx="12192000" cy="4351338"/>
          </a:xfrm>
        </p:spPr>
        <p:txBody>
          <a:bodyPr/>
          <a:lstStyle/>
          <a:p>
            <a:pPr marL="0" indent="0">
              <a:buNone/>
            </a:pPr>
            <a:endParaRPr lang="fr-FR" dirty="0">
              <a:solidFill>
                <a:schemeClr val="accent5">
                  <a:lumMod val="75000"/>
                </a:schemeClr>
              </a:solidFill>
            </a:endParaRPr>
          </a:p>
          <a:p>
            <a:pPr marL="0" indent="0">
              <a:buNone/>
            </a:pPr>
            <a:endParaRPr lang="fr-FR" dirty="0" smtClean="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4" name="Tableau 3"/>
          <p:cNvGraphicFramePr>
            <a:graphicFrameLocks noGrp="1"/>
          </p:cNvGraphicFramePr>
          <p:nvPr>
            <p:extLst>
              <p:ext uri="{D42A27DB-BD31-4B8C-83A1-F6EECF244321}">
                <p14:modId xmlns:p14="http://schemas.microsoft.com/office/powerpoint/2010/main" val="2769990846"/>
              </p:ext>
            </p:extLst>
          </p:nvPr>
        </p:nvGraphicFramePr>
        <p:xfrm>
          <a:off x="0" y="1094216"/>
          <a:ext cx="12192000" cy="3787522"/>
        </p:xfrm>
        <a:graphic>
          <a:graphicData uri="http://schemas.openxmlformats.org/drawingml/2006/table">
            <a:tbl>
              <a:tblPr firstRow="1" bandRow="1">
                <a:tableStyleId>{5C22544A-7EE6-4342-B048-85BDC9FD1C3A}</a:tableStyleId>
              </a:tblPr>
              <a:tblGrid>
                <a:gridCol w="3077497">
                  <a:extLst>
                    <a:ext uri="{9D8B030D-6E8A-4147-A177-3AD203B41FA5}">
                      <a16:colId xmlns:a16="http://schemas.microsoft.com/office/drawing/2014/main" val="1970134250"/>
                    </a:ext>
                  </a:extLst>
                </a:gridCol>
                <a:gridCol w="9114503">
                  <a:extLst>
                    <a:ext uri="{9D8B030D-6E8A-4147-A177-3AD203B41FA5}">
                      <a16:colId xmlns:a16="http://schemas.microsoft.com/office/drawing/2014/main" val="567957775"/>
                    </a:ext>
                  </a:extLst>
                </a:gridCol>
              </a:tblGrid>
              <a:tr h="428262">
                <a:tc gridSpan="2">
                  <a:txBody>
                    <a:bodyPr/>
                    <a:lstStyle/>
                    <a:p>
                      <a:pPr algn="ctr"/>
                      <a:r>
                        <a:rPr lang="fr-FR" sz="2400" dirty="0" smtClean="0"/>
                        <a:t>Expert</a:t>
                      </a:r>
                      <a:r>
                        <a:rPr lang="fr-FR" sz="2400" baseline="0" dirty="0" smtClean="0"/>
                        <a:t> socle techno DATM</a:t>
                      </a:r>
                      <a:endParaRPr lang="fr-FR" sz="2400" dirty="0" smtClean="0"/>
                    </a:p>
                  </a:txBody>
                  <a:tcPr/>
                </a:tc>
                <a:tc hMerge="1">
                  <a:txBody>
                    <a:bodyPr/>
                    <a:lstStyle/>
                    <a:p>
                      <a:endParaRPr lang="fr-FR" dirty="0"/>
                    </a:p>
                  </a:txBody>
                  <a:tcPr/>
                </a:tc>
                <a:extLst>
                  <a:ext uri="{0D108BD9-81ED-4DB2-BD59-A6C34878D82A}">
                    <a16:rowId xmlns:a16="http://schemas.microsoft.com/office/drawing/2014/main" val="782234525"/>
                  </a:ext>
                </a:extLst>
              </a:tr>
              <a:tr h="285508">
                <a:tc>
                  <a:txBody>
                    <a:bodyPr/>
                    <a:lstStyle/>
                    <a:p>
                      <a:pPr algn="ctr"/>
                      <a:r>
                        <a:rPr lang="fr-FR" sz="1400" b="1" dirty="0" smtClean="0"/>
                        <a:t>Principes directeurs</a:t>
                      </a:r>
                      <a:endParaRPr lang="fr-FR" sz="1400" b="1" dirty="0"/>
                    </a:p>
                  </a:txBody>
                  <a:tcPr anchor="ctr">
                    <a:solidFill>
                      <a:schemeClr val="accent1">
                        <a:lumMod val="40000"/>
                        <a:lumOff val="60000"/>
                      </a:schemeClr>
                    </a:solidFill>
                  </a:tcPr>
                </a:tc>
                <a:tc>
                  <a:txBody>
                    <a:bodyPr/>
                    <a:lstStyle/>
                    <a:p>
                      <a:pPr algn="ctr"/>
                      <a:r>
                        <a:rPr lang="fr-FR" sz="1400" b="1" dirty="0" smtClean="0"/>
                        <a:t>Critères</a:t>
                      </a:r>
                      <a:endParaRPr lang="fr-FR" sz="1400" b="1" dirty="0"/>
                    </a:p>
                  </a:txBody>
                  <a:tcPr anchor="ctr">
                    <a:solidFill>
                      <a:schemeClr val="accent1">
                        <a:lumMod val="40000"/>
                        <a:lumOff val="60000"/>
                      </a:schemeClr>
                    </a:solidFill>
                  </a:tcPr>
                </a:tc>
                <a:extLst>
                  <a:ext uri="{0D108BD9-81ED-4DB2-BD59-A6C34878D82A}">
                    <a16:rowId xmlns:a16="http://schemas.microsoft.com/office/drawing/2014/main" val="1875029581"/>
                  </a:ext>
                </a:extLst>
              </a:tr>
              <a:tr h="2058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kern="1200" dirty="0" smtClean="0">
                          <a:solidFill>
                            <a:schemeClr val="dk1"/>
                          </a:solidFill>
                          <a:latin typeface="+mn-lt"/>
                          <a:ea typeface="+mn-ea"/>
                          <a:cs typeface="+mn-cs"/>
                        </a:rPr>
                        <a:t>Evaluer et rationaliser les besoins fonctionnels et exigences : Service numérique utilisable</a:t>
                      </a:r>
                    </a:p>
                  </a:txBody>
                  <a:tcPr anchor="ctr"/>
                </a:tc>
                <a:tc>
                  <a:txBody>
                    <a:bodyPr/>
                    <a:lstStyle/>
                    <a:p>
                      <a:pPr marL="0" algn="ctr" defTabSz="914400" rtl="0" eaLnBrk="1" fontAlgn="b" latinLnBrk="0" hangingPunct="1">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Imposer aux fournisseurs et/ou partenaires participant à l'élaboration du service une démarche environnementale</a:t>
                      </a:r>
                    </a:p>
                  </a:txBody>
                  <a:tcPr marL="6350" marR="6350" marT="6350" marB="0" anchor="ctr"/>
                </a:tc>
                <a:extLst>
                  <a:ext uri="{0D108BD9-81ED-4DB2-BD59-A6C34878D82A}">
                    <a16:rowId xmlns:a16="http://schemas.microsoft.com/office/drawing/2014/main" val="2878080538"/>
                  </a:ext>
                </a:extLst>
              </a:tr>
              <a:tr h="2058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kern="1200" dirty="0" smtClean="0">
                          <a:solidFill>
                            <a:schemeClr val="dk1"/>
                          </a:solidFill>
                          <a:latin typeface="+mn-lt"/>
                          <a:ea typeface="+mn-ea"/>
                          <a:cs typeface="+mn-cs"/>
                        </a:rPr>
                        <a:t>Optimisation de l'Expérience et de l'Interface Utilisateur </a:t>
                      </a:r>
                    </a:p>
                  </a:txBody>
                  <a:tcPr anchor="ctr"/>
                </a:tc>
                <a:tc>
                  <a:txBody>
                    <a:bodyPr/>
                    <a:lstStyle/>
                    <a:p>
                      <a:pPr marL="0" algn="ctr" defTabSz="914400" rtl="0" eaLnBrk="1" fontAlgn="b" latinLnBrk="0" hangingPunct="1">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Suivre les impacts coté </a:t>
                      </a:r>
                      <a:r>
                        <a:rPr lang="fr-FR" sz="1400" b="0" i="0" u="none" strike="noStrike" kern="1200" dirty="0" err="1" smtClean="0">
                          <a:solidFill>
                            <a:srgbClr val="284780"/>
                          </a:solidFill>
                          <a:effectLst/>
                          <a:latin typeface="Calibri" panose="020F0502020204030204" pitchFamily="34" charset="0"/>
                          <a:ea typeface="+mn-ea"/>
                          <a:cs typeface="+mn-cs"/>
                        </a:rPr>
                        <a:t>Datacenters</a:t>
                      </a:r>
                      <a:endParaRPr lang="fr-FR" sz="1400" b="0" i="0" u="none" strike="noStrike" kern="1200" dirty="0" smtClean="0">
                        <a:solidFill>
                          <a:srgbClr val="284780"/>
                        </a:solidFill>
                        <a:effectLst/>
                        <a:latin typeface="Calibri" panose="020F0502020204030204" pitchFamily="34" charset="0"/>
                        <a:ea typeface="+mn-ea"/>
                        <a:cs typeface="+mn-cs"/>
                      </a:endParaRPr>
                    </a:p>
                  </a:txBody>
                  <a:tcPr marL="6350" marR="6350" marT="6350" marB="0" anchor="ctr"/>
                </a:tc>
                <a:extLst>
                  <a:ext uri="{0D108BD9-81ED-4DB2-BD59-A6C34878D82A}">
                    <a16:rowId xmlns:a16="http://schemas.microsoft.com/office/drawing/2014/main" val="3031140149"/>
                  </a:ext>
                </a:extLst>
              </a:tr>
              <a:tr h="477036">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kern="1200" dirty="0">
                          <a:solidFill>
                            <a:schemeClr val="dk1"/>
                          </a:solidFill>
                          <a:latin typeface="+mn-lt"/>
                          <a:ea typeface="+mn-ea"/>
                          <a:cs typeface="+mn-cs"/>
                        </a:rPr>
                        <a:t>La solution intègre des pratiques </a:t>
                      </a:r>
                      <a:r>
                        <a:rPr lang="fr-FR" sz="1600" b="1" kern="1200" dirty="0" smtClean="0">
                          <a:solidFill>
                            <a:schemeClr val="dk1"/>
                          </a:solidFill>
                          <a:latin typeface="+mn-lt"/>
                          <a:ea typeface="+mn-ea"/>
                          <a:cs typeface="+mn-cs"/>
                        </a:rPr>
                        <a:t>d'écoconception</a:t>
                      </a:r>
                      <a:endParaRPr lang="fr-FR" sz="1600" b="1" kern="1200" dirty="0">
                        <a:solidFill>
                          <a:schemeClr val="dk1"/>
                        </a:solidFill>
                        <a:latin typeface="+mn-lt"/>
                        <a:ea typeface="+mn-ea"/>
                        <a:cs typeface="+mn-cs"/>
                      </a:endParaRPr>
                    </a:p>
                  </a:txBody>
                  <a:tcPr marL="6350" marR="6350" marT="6350" marB="0" anchor="ctr"/>
                </a:tc>
                <a:tc>
                  <a:txBody>
                    <a:bodyPr/>
                    <a:lstStyle/>
                    <a:p>
                      <a:pPr marL="0" algn="ctr" defTabSz="914400" rtl="0" eaLnBrk="1" fontAlgn="b" latinLnBrk="0" hangingPunct="1">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Favoriser les traitements asynchrones</a:t>
                      </a:r>
                    </a:p>
                  </a:txBody>
                  <a:tcPr marL="6350" marR="6350" marT="6350" marB="0" anchor="ctr"/>
                </a:tc>
                <a:extLst>
                  <a:ext uri="{0D108BD9-81ED-4DB2-BD59-A6C34878D82A}">
                    <a16:rowId xmlns:a16="http://schemas.microsoft.com/office/drawing/2014/main" val="586981675"/>
                  </a:ext>
                </a:extLst>
              </a:tr>
              <a:tr h="326188">
                <a:tc vMerge="1">
                  <a:txBody>
                    <a:bodyPr/>
                    <a:lstStyle/>
                    <a:p>
                      <a:endParaRPr lang="fr-FR"/>
                    </a:p>
                  </a:txBody>
                  <a:tcPr/>
                </a:tc>
                <a:tc>
                  <a:txBody>
                    <a:bodyPr/>
                    <a:lstStyle/>
                    <a:p>
                      <a:pPr marL="0" algn="ctr" defTabSz="914400" rtl="0" eaLnBrk="1" fontAlgn="b" latinLnBrk="0" hangingPunct="1">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Optimiser les traitements "lourds" coté serveur</a:t>
                      </a:r>
                    </a:p>
                  </a:txBody>
                  <a:tcPr marL="6350" marR="6350" marT="6350" marB="0" anchor="ctr"/>
                </a:tc>
                <a:extLst>
                  <a:ext uri="{0D108BD9-81ED-4DB2-BD59-A6C34878D82A}">
                    <a16:rowId xmlns:a16="http://schemas.microsoft.com/office/drawing/2014/main" val="4201872895"/>
                  </a:ext>
                </a:extLst>
              </a:tr>
              <a:tr h="326188">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kern="1200" dirty="0">
                        <a:solidFill>
                          <a:schemeClr val="dk1"/>
                        </a:solidFill>
                        <a:latin typeface="+mn-lt"/>
                        <a:ea typeface="+mn-ea"/>
                        <a:cs typeface="+mn-cs"/>
                      </a:endParaRPr>
                    </a:p>
                  </a:txBody>
                  <a:tcPr marL="6350" marR="6350" marT="6350" marB="0" anchor="ctr"/>
                </a:tc>
                <a:tc>
                  <a:txBody>
                    <a:bodyPr/>
                    <a:lstStyle/>
                    <a:p>
                      <a:pPr marL="0" algn="ctr" defTabSz="914400" rtl="0" eaLnBrk="1" fontAlgn="b" latinLnBrk="0" hangingPunct="1">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Paramétrer de manière optimal coté serveur</a:t>
                      </a:r>
                    </a:p>
                  </a:txBody>
                  <a:tcPr marL="6350" marR="6350" marT="6350" marB="0" anchor="ctr"/>
                </a:tc>
                <a:extLst>
                  <a:ext uri="{0D108BD9-81ED-4DB2-BD59-A6C34878D82A}">
                    <a16:rowId xmlns:a16="http://schemas.microsoft.com/office/drawing/2014/main" val="650254609"/>
                  </a:ext>
                </a:extLst>
              </a:tr>
              <a:tr h="462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kern="1200" dirty="0" smtClean="0">
                          <a:solidFill>
                            <a:schemeClr val="dk1"/>
                          </a:solidFill>
                          <a:latin typeface="+mn-lt"/>
                          <a:ea typeface="+mn-ea"/>
                          <a:cs typeface="+mn-cs"/>
                        </a:rPr>
                        <a:t>Utilisation optimisée des ressources d'hébergement</a:t>
                      </a:r>
                      <a:endParaRPr lang="fr-FR" sz="1600" b="1" kern="1200" dirty="0">
                        <a:solidFill>
                          <a:schemeClr val="dk1"/>
                        </a:solidFill>
                        <a:latin typeface="+mn-lt"/>
                        <a:ea typeface="+mn-ea"/>
                        <a:cs typeface="+mn-cs"/>
                      </a:endParaRPr>
                    </a:p>
                  </a:txBody>
                  <a:tcPr marL="6350" marR="6350" marT="6350" marB="0" anchor="ctr"/>
                </a:tc>
                <a:tc>
                  <a:txBody>
                    <a:bodyPr/>
                    <a:lstStyle/>
                    <a:p>
                      <a:pPr marL="0" algn="ctr" defTabSz="914400" rtl="0" eaLnBrk="1" fontAlgn="b" latinLnBrk="0" hangingPunct="1">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Eviter la duplication d'infra (machine/stockage)</a:t>
                      </a:r>
                    </a:p>
                  </a:txBody>
                  <a:tcPr marL="6350" marR="6350" marT="6350" marB="0" anchor="ctr"/>
                </a:tc>
                <a:extLst>
                  <a:ext uri="{0D108BD9-81ED-4DB2-BD59-A6C34878D82A}">
                    <a16:rowId xmlns:a16="http://schemas.microsoft.com/office/drawing/2014/main" val="4000714627"/>
                  </a:ext>
                </a:extLst>
              </a:tr>
            </a:tbl>
          </a:graphicData>
        </a:graphic>
      </p:graphicFrame>
    </p:spTree>
    <p:extLst>
      <p:ext uri="{BB962C8B-B14F-4D97-AF65-F5344CB8AC3E}">
        <p14:creationId xmlns:p14="http://schemas.microsoft.com/office/powerpoint/2010/main" val="217351969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smtClean="0">
                <a:solidFill>
                  <a:schemeClr val="bg1"/>
                </a:solidFill>
              </a:rPr>
              <a:t>Liste des métiers et Critères</a:t>
            </a:r>
            <a:endParaRPr lang="fr-FR" b="1" dirty="0">
              <a:solidFill>
                <a:schemeClr val="bg1"/>
              </a:solidFill>
            </a:endParaRPr>
          </a:p>
        </p:txBody>
      </p:sp>
      <p:sp>
        <p:nvSpPr>
          <p:cNvPr id="3" name="Espace réservé du contenu 2"/>
          <p:cNvSpPr>
            <a:spLocks noGrp="1"/>
          </p:cNvSpPr>
          <p:nvPr>
            <p:ph idx="1"/>
          </p:nvPr>
        </p:nvSpPr>
        <p:spPr>
          <a:xfrm>
            <a:off x="0" y="1736946"/>
            <a:ext cx="12192000" cy="4351338"/>
          </a:xfrm>
        </p:spPr>
        <p:txBody>
          <a:bodyPr/>
          <a:lstStyle/>
          <a:p>
            <a:pPr marL="0" indent="0">
              <a:buNone/>
            </a:pPr>
            <a:endParaRPr lang="fr-FR" dirty="0">
              <a:solidFill>
                <a:schemeClr val="accent5">
                  <a:lumMod val="75000"/>
                </a:schemeClr>
              </a:solidFill>
            </a:endParaRPr>
          </a:p>
          <a:p>
            <a:pPr marL="0" indent="0">
              <a:buNone/>
            </a:pPr>
            <a:endParaRPr lang="fr-FR" dirty="0" smtClean="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4" name="Tableau 3"/>
          <p:cNvGraphicFramePr>
            <a:graphicFrameLocks noGrp="1"/>
          </p:cNvGraphicFramePr>
          <p:nvPr>
            <p:extLst>
              <p:ext uri="{D42A27DB-BD31-4B8C-83A1-F6EECF244321}">
                <p14:modId xmlns:p14="http://schemas.microsoft.com/office/powerpoint/2010/main" val="3337084147"/>
              </p:ext>
            </p:extLst>
          </p:nvPr>
        </p:nvGraphicFramePr>
        <p:xfrm>
          <a:off x="0" y="1094216"/>
          <a:ext cx="12192000" cy="3152140"/>
        </p:xfrm>
        <a:graphic>
          <a:graphicData uri="http://schemas.openxmlformats.org/drawingml/2006/table">
            <a:tbl>
              <a:tblPr firstRow="1" bandRow="1">
                <a:tableStyleId>{5C22544A-7EE6-4342-B048-85BDC9FD1C3A}</a:tableStyleId>
              </a:tblPr>
              <a:tblGrid>
                <a:gridCol w="3077497">
                  <a:extLst>
                    <a:ext uri="{9D8B030D-6E8A-4147-A177-3AD203B41FA5}">
                      <a16:colId xmlns:a16="http://schemas.microsoft.com/office/drawing/2014/main" val="1970134250"/>
                    </a:ext>
                  </a:extLst>
                </a:gridCol>
                <a:gridCol w="9114503">
                  <a:extLst>
                    <a:ext uri="{9D8B030D-6E8A-4147-A177-3AD203B41FA5}">
                      <a16:colId xmlns:a16="http://schemas.microsoft.com/office/drawing/2014/main" val="567957775"/>
                    </a:ext>
                  </a:extLst>
                </a:gridCol>
              </a:tblGrid>
              <a:tr h="428262">
                <a:tc gridSpan="2">
                  <a:txBody>
                    <a:bodyPr/>
                    <a:lstStyle/>
                    <a:p>
                      <a:pPr algn="ctr"/>
                      <a:r>
                        <a:rPr lang="fr-FR" sz="2400" dirty="0" smtClean="0"/>
                        <a:t>Expert</a:t>
                      </a:r>
                      <a:r>
                        <a:rPr lang="fr-FR" sz="2400" baseline="0" dirty="0" smtClean="0"/>
                        <a:t> socle techno DASI</a:t>
                      </a:r>
                      <a:endParaRPr lang="fr-FR" sz="2400" dirty="0" smtClean="0"/>
                    </a:p>
                  </a:txBody>
                  <a:tcPr/>
                </a:tc>
                <a:tc hMerge="1">
                  <a:txBody>
                    <a:bodyPr/>
                    <a:lstStyle/>
                    <a:p>
                      <a:endParaRPr lang="fr-FR" dirty="0"/>
                    </a:p>
                  </a:txBody>
                  <a:tcPr/>
                </a:tc>
                <a:extLst>
                  <a:ext uri="{0D108BD9-81ED-4DB2-BD59-A6C34878D82A}">
                    <a16:rowId xmlns:a16="http://schemas.microsoft.com/office/drawing/2014/main" val="782234525"/>
                  </a:ext>
                </a:extLst>
              </a:tr>
              <a:tr h="285508">
                <a:tc>
                  <a:txBody>
                    <a:bodyPr/>
                    <a:lstStyle/>
                    <a:p>
                      <a:pPr algn="ctr"/>
                      <a:r>
                        <a:rPr lang="fr-FR" sz="1400" b="1" dirty="0" smtClean="0"/>
                        <a:t>Principes directeurs</a:t>
                      </a:r>
                      <a:endParaRPr lang="fr-FR" sz="1400" b="1" dirty="0"/>
                    </a:p>
                  </a:txBody>
                  <a:tcPr anchor="ctr">
                    <a:solidFill>
                      <a:schemeClr val="accent1">
                        <a:lumMod val="40000"/>
                        <a:lumOff val="60000"/>
                      </a:schemeClr>
                    </a:solidFill>
                  </a:tcPr>
                </a:tc>
                <a:tc>
                  <a:txBody>
                    <a:bodyPr/>
                    <a:lstStyle/>
                    <a:p>
                      <a:pPr algn="ctr"/>
                      <a:r>
                        <a:rPr lang="fr-FR" sz="1400" b="1" dirty="0" smtClean="0"/>
                        <a:t>Critères</a:t>
                      </a:r>
                      <a:endParaRPr lang="fr-FR" sz="1400" b="1" dirty="0"/>
                    </a:p>
                  </a:txBody>
                  <a:tcPr anchor="ctr">
                    <a:solidFill>
                      <a:schemeClr val="accent1">
                        <a:lumMod val="40000"/>
                        <a:lumOff val="60000"/>
                      </a:schemeClr>
                    </a:solidFill>
                  </a:tcPr>
                </a:tc>
                <a:extLst>
                  <a:ext uri="{0D108BD9-81ED-4DB2-BD59-A6C34878D82A}">
                    <a16:rowId xmlns:a16="http://schemas.microsoft.com/office/drawing/2014/main" val="1875029581"/>
                  </a:ext>
                </a:extLst>
              </a:tr>
              <a:tr h="2058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kern="1200" dirty="0" smtClean="0">
                          <a:solidFill>
                            <a:schemeClr val="dk1"/>
                          </a:solidFill>
                          <a:latin typeface="+mn-lt"/>
                          <a:ea typeface="+mn-ea"/>
                          <a:cs typeface="+mn-cs"/>
                        </a:rPr>
                        <a:t>Evaluer et rationaliser les besoins fonctionnels et exigences : Service numérique utilisable</a:t>
                      </a:r>
                    </a:p>
                  </a:txBody>
                  <a:tcPr anchor="ctr"/>
                </a:tc>
                <a:tc>
                  <a:txBody>
                    <a:bodyPr/>
                    <a:lstStyle/>
                    <a:p>
                      <a:pPr marL="0" algn="ctr" defTabSz="914400" rtl="0" eaLnBrk="1" fontAlgn="b" latinLnBrk="0" hangingPunct="1">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Imposer aux fournisseurs et/ou partenaires participant à l'élaboration du service une démarche environnementale</a:t>
                      </a:r>
                    </a:p>
                  </a:txBody>
                  <a:tcPr marL="6350" marR="6350" marT="6350" marB="0" anchor="ctr"/>
                </a:tc>
                <a:extLst>
                  <a:ext uri="{0D108BD9-81ED-4DB2-BD59-A6C34878D82A}">
                    <a16:rowId xmlns:a16="http://schemas.microsoft.com/office/drawing/2014/main" val="2878080538"/>
                  </a:ext>
                </a:extLst>
              </a:tr>
              <a:tr h="2058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kern="1200" dirty="0" smtClean="0">
                          <a:solidFill>
                            <a:schemeClr val="dk1"/>
                          </a:solidFill>
                          <a:latin typeface="+mn-lt"/>
                          <a:ea typeface="+mn-ea"/>
                          <a:cs typeface="+mn-cs"/>
                        </a:rPr>
                        <a:t>Optimisation de l'Expérience et de l'Interface Utilisateur </a:t>
                      </a:r>
                    </a:p>
                  </a:txBody>
                  <a:tcPr anchor="ctr"/>
                </a:tc>
                <a:tc>
                  <a:txBody>
                    <a:bodyPr/>
                    <a:lstStyle/>
                    <a:p>
                      <a:pPr marL="0" algn="ctr" defTabSz="914400" rtl="0" eaLnBrk="1" fontAlgn="b" latinLnBrk="0" hangingPunct="1">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Suivre les impacts coté </a:t>
                      </a:r>
                      <a:r>
                        <a:rPr lang="fr-FR" sz="1400" b="0" i="0" u="none" strike="noStrike" kern="1200" dirty="0" err="1" smtClean="0">
                          <a:solidFill>
                            <a:srgbClr val="284780"/>
                          </a:solidFill>
                          <a:effectLst/>
                          <a:latin typeface="Calibri" panose="020F0502020204030204" pitchFamily="34" charset="0"/>
                          <a:ea typeface="+mn-ea"/>
                          <a:cs typeface="+mn-cs"/>
                        </a:rPr>
                        <a:t>Datacenters</a:t>
                      </a:r>
                      <a:endParaRPr lang="fr-FR" sz="1400" b="0" i="0" u="none" strike="noStrike" kern="1200" dirty="0" smtClean="0">
                        <a:solidFill>
                          <a:srgbClr val="284780"/>
                        </a:solidFill>
                        <a:effectLst/>
                        <a:latin typeface="Calibri" panose="020F0502020204030204" pitchFamily="34" charset="0"/>
                        <a:ea typeface="+mn-ea"/>
                        <a:cs typeface="+mn-cs"/>
                      </a:endParaRPr>
                    </a:p>
                  </a:txBody>
                  <a:tcPr marL="6350" marR="6350" marT="6350" marB="0" anchor="ctr"/>
                </a:tc>
                <a:extLst>
                  <a:ext uri="{0D108BD9-81ED-4DB2-BD59-A6C34878D82A}">
                    <a16:rowId xmlns:a16="http://schemas.microsoft.com/office/drawing/2014/main" val="3031140149"/>
                  </a:ext>
                </a:extLst>
              </a:tr>
              <a:tr h="3261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kern="1200" dirty="0">
                          <a:solidFill>
                            <a:schemeClr val="dk1"/>
                          </a:solidFill>
                          <a:latin typeface="+mn-lt"/>
                          <a:ea typeface="+mn-ea"/>
                          <a:cs typeface="+mn-cs"/>
                        </a:rPr>
                        <a:t>La solution intègre des pratiques </a:t>
                      </a:r>
                      <a:r>
                        <a:rPr lang="fr-FR" sz="1600" b="1" kern="1200" dirty="0" smtClean="0">
                          <a:solidFill>
                            <a:schemeClr val="dk1"/>
                          </a:solidFill>
                          <a:latin typeface="+mn-lt"/>
                          <a:ea typeface="+mn-ea"/>
                          <a:cs typeface="+mn-cs"/>
                        </a:rPr>
                        <a:t>d'écoconception</a:t>
                      </a:r>
                      <a:endParaRPr lang="fr-FR" sz="1600" b="1" kern="1200" dirty="0">
                        <a:solidFill>
                          <a:schemeClr val="dk1"/>
                        </a:solidFill>
                        <a:latin typeface="+mn-lt"/>
                        <a:ea typeface="+mn-ea"/>
                        <a:cs typeface="+mn-cs"/>
                      </a:endParaRPr>
                    </a:p>
                  </a:txBody>
                  <a:tcPr marL="6350" marR="6350" marT="6350" marB="0" anchor="ctr"/>
                </a:tc>
                <a:tc>
                  <a:txBody>
                    <a:bodyPr/>
                    <a:lstStyle/>
                    <a:p>
                      <a:pPr marL="0" algn="ctr" defTabSz="914400" rtl="0" eaLnBrk="1" fontAlgn="b" latinLnBrk="0" hangingPunct="1">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Paramétrer de manière optimal coté serveur</a:t>
                      </a:r>
                    </a:p>
                  </a:txBody>
                  <a:tcPr marL="6350" marR="6350" marT="6350" marB="0" anchor="ctr"/>
                </a:tc>
                <a:extLst>
                  <a:ext uri="{0D108BD9-81ED-4DB2-BD59-A6C34878D82A}">
                    <a16:rowId xmlns:a16="http://schemas.microsoft.com/office/drawing/2014/main" val="650254609"/>
                  </a:ext>
                </a:extLst>
              </a:tr>
              <a:tr h="462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kern="1200" dirty="0" smtClean="0">
                          <a:solidFill>
                            <a:schemeClr val="dk1"/>
                          </a:solidFill>
                          <a:latin typeface="+mn-lt"/>
                          <a:ea typeface="+mn-ea"/>
                          <a:cs typeface="+mn-cs"/>
                        </a:rPr>
                        <a:t>Utilisation optimisée des ressources d'hébergement</a:t>
                      </a:r>
                      <a:endParaRPr lang="fr-FR" sz="1600" b="1" kern="1200" dirty="0">
                        <a:solidFill>
                          <a:schemeClr val="dk1"/>
                        </a:solidFill>
                        <a:latin typeface="+mn-lt"/>
                        <a:ea typeface="+mn-ea"/>
                        <a:cs typeface="+mn-cs"/>
                      </a:endParaRPr>
                    </a:p>
                  </a:txBody>
                  <a:tcPr marL="6350" marR="6350" marT="6350" marB="0" anchor="ctr"/>
                </a:tc>
                <a:tc>
                  <a:txBody>
                    <a:bodyPr/>
                    <a:lstStyle/>
                    <a:p>
                      <a:pPr marL="0" algn="ctr" defTabSz="914400" rtl="0" eaLnBrk="1" fontAlgn="b" latinLnBrk="0" hangingPunct="1">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Eviter la duplication d'infra (machine/stockage)</a:t>
                      </a:r>
                    </a:p>
                  </a:txBody>
                  <a:tcPr marL="6350" marR="6350" marT="6350" marB="0" anchor="ctr"/>
                </a:tc>
                <a:extLst>
                  <a:ext uri="{0D108BD9-81ED-4DB2-BD59-A6C34878D82A}">
                    <a16:rowId xmlns:a16="http://schemas.microsoft.com/office/drawing/2014/main" val="4000714627"/>
                  </a:ext>
                </a:extLst>
              </a:tr>
            </a:tbl>
          </a:graphicData>
        </a:graphic>
      </p:graphicFrame>
    </p:spTree>
    <p:extLst>
      <p:ext uri="{BB962C8B-B14F-4D97-AF65-F5344CB8AC3E}">
        <p14:creationId xmlns:p14="http://schemas.microsoft.com/office/powerpoint/2010/main" val="160823795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smtClean="0">
                <a:solidFill>
                  <a:schemeClr val="bg1"/>
                </a:solidFill>
              </a:rPr>
              <a:t>Liste des métiers et Critères</a:t>
            </a:r>
            <a:endParaRPr lang="fr-FR" b="1" dirty="0">
              <a:solidFill>
                <a:schemeClr val="bg1"/>
              </a:solidFill>
            </a:endParaRPr>
          </a:p>
        </p:txBody>
      </p:sp>
      <p:sp>
        <p:nvSpPr>
          <p:cNvPr id="3" name="Espace réservé du contenu 2"/>
          <p:cNvSpPr>
            <a:spLocks noGrp="1"/>
          </p:cNvSpPr>
          <p:nvPr>
            <p:ph idx="1"/>
          </p:nvPr>
        </p:nvSpPr>
        <p:spPr>
          <a:xfrm>
            <a:off x="0" y="1736946"/>
            <a:ext cx="12192000" cy="4351338"/>
          </a:xfrm>
        </p:spPr>
        <p:txBody>
          <a:bodyPr/>
          <a:lstStyle/>
          <a:p>
            <a:pPr marL="0" indent="0">
              <a:buNone/>
            </a:pPr>
            <a:endParaRPr lang="fr-FR" dirty="0">
              <a:solidFill>
                <a:schemeClr val="accent5">
                  <a:lumMod val="75000"/>
                </a:schemeClr>
              </a:solidFill>
            </a:endParaRPr>
          </a:p>
          <a:p>
            <a:pPr marL="0" indent="0">
              <a:buNone/>
            </a:pPr>
            <a:endParaRPr lang="fr-FR" dirty="0" smtClean="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4" name="Tableau 3"/>
          <p:cNvGraphicFramePr>
            <a:graphicFrameLocks noGrp="1"/>
          </p:cNvGraphicFramePr>
          <p:nvPr>
            <p:extLst>
              <p:ext uri="{D42A27DB-BD31-4B8C-83A1-F6EECF244321}">
                <p14:modId xmlns:p14="http://schemas.microsoft.com/office/powerpoint/2010/main" val="2581317074"/>
              </p:ext>
            </p:extLst>
          </p:nvPr>
        </p:nvGraphicFramePr>
        <p:xfrm>
          <a:off x="0" y="1166808"/>
          <a:ext cx="12192000" cy="3143054"/>
        </p:xfrm>
        <a:graphic>
          <a:graphicData uri="http://schemas.openxmlformats.org/drawingml/2006/table">
            <a:tbl>
              <a:tblPr firstRow="1" bandRow="1">
                <a:tableStyleId>{5C22544A-7EE6-4342-B048-85BDC9FD1C3A}</a:tableStyleId>
              </a:tblPr>
              <a:tblGrid>
                <a:gridCol w="3349592">
                  <a:extLst>
                    <a:ext uri="{9D8B030D-6E8A-4147-A177-3AD203B41FA5}">
                      <a16:colId xmlns:a16="http://schemas.microsoft.com/office/drawing/2014/main" val="1970134250"/>
                    </a:ext>
                  </a:extLst>
                </a:gridCol>
                <a:gridCol w="8842408">
                  <a:extLst>
                    <a:ext uri="{9D8B030D-6E8A-4147-A177-3AD203B41FA5}">
                      <a16:colId xmlns:a16="http://schemas.microsoft.com/office/drawing/2014/main" val="567957775"/>
                    </a:ext>
                  </a:extLst>
                </a:gridCol>
              </a:tblGrid>
              <a:tr h="522033">
                <a:tc gridSpan="2">
                  <a:txBody>
                    <a:bodyPr/>
                    <a:lstStyle/>
                    <a:p>
                      <a:pPr algn="ctr"/>
                      <a:r>
                        <a:rPr lang="fr-FR" sz="2400" dirty="0" smtClean="0"/>
                        <a:t>Architecte AF</a:t>
                      </a:r>
                    </a:p>
                  </a:txBody>
                  <a:tcPr/>
                </a:tc>
                <a:tc hMerge="1">
                  <a:txBody>
                    <a:bodyPr/>
                    <a:lstStyle/>
                    <a:p>
                      <a:endParaRPr lang="fr-FR" dirty="0"/>
                    </a:p>
                  </a:txBody>
                  <a:tcPr/>
                </a:tc>
                <a:extLst>
                  <a:ext uri="{0D108BD9-81ED-4DB2-BD59-A6C34878D82A}">
                    <a16:rowId xmlns:a16="http://schemas.microsoft.com/office/drawing/2014/main" val="782234525"/>
                  </a:ext>
                </a:extLst>
              </a:tr>
              <a:tr h="395981">
                <a:tc>
                  <a:txBody>
                    <a:bodyPr/>
                    <a:lstStyle/>
                    <a:p>
                      <a:pPr algn="ctr"/>
                      <a:r>
                        <a:rPr lang="fr-FR" sz="1400" b="1" dirty="0" smtClean="0"/>
                        <a:t>Principes directeurs</a:t>
                      </a:r>
                      <a:endParaRPr lang="fr-FR" sz="1400" b="1" dirty="0"/>
                    </a:p>
                  </a:txBody>
                  <a:tcPr anchor="ctr">
                    <a:solidFill>
                      <a:schemeClr val="accent1">
                        <a:lumMod val="40000"/>
                        <a:lumOff val="60000"/>
                      </a:schemeClr>
                    </a:solidFill>
                  </a:tcPr>
                </a:tc>
                <a:tc>
                  <a:txBody>
                    <a:bodyPr/>
                    <a:lstStyle/>
                    <a:p>
                      <a:pPr algn="ctr"/>
                      <a:r>
                        <a:rPr lang="fr-FR" sz="1400" b="1" dirty="0" smtClean="0"/>
                        <a:t>Critères</a:t>
                      </a:r>
                      <a:endParaRPr lang="fr-FR" sz="1400" b="1" dirty="0"/>
                    </a:p>
                  </a:txBody>
                  <a:tcPr anchor="ctr">
                    <a:solidFill>
                      <a:schemeClr val="accent1">
                        <a:lumMod val="40000"/>
                        <a:lumOff val="60000"/>
                      </a:schemeClr>
                    </a:solidFill>
                  </a:tcPr>
                </a:tc>
                <a:extLst>
                  <a:ext uri="{0D108BD9-81ED-4DB2-BD59-A6C34878D82A}">
                    <a16:rowId xmlns:a16="http://schemas.microsoft.com/office/drawing/2014/main" val="1875029581"/>
                  </a:ext>
                </a:extLst>
              </a:tr>
              <a:tr h="5640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i="0" u="none" strike="noStrike" kern="1200" dirty="0" smtClean="0">
                          <a:solidFill>
                            <a:srgbClr val="000000"/>
                          </a:solidFill>
                          <a:effectLst/>
                          <a:latin typeface="Calibri" panose="020F0502020204030204" pitchFamily="34" charset="0"/>
                          <a:ea typeface="+mn-ea"/>
                          <a:cs typeface="+mn-cs"/>
                        </a:rPr>
                        <a:t>Evaluer et rationaliser les besoins fonctionnels et exigences : Service numérique utilisable</a:t>
                      </a:r>
                    </a:p>
                  </a:txBody>
                  <a:tcPr anchor="ct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S’assurer que ma solution est utilisable (simple et accessible), et minimise les contraintes sur les terminaux et matériel utilisé</a:t>
                      </a:r>
                    </a:p>
                  </a:txBody>
                  <a:tcPr marL="6350" marR="6350" marT="6350" marB="0" anchor="ctr"/>
                </a:tc>
                <a:extLst>
                  <a:ext uri="{0D108BD9-81ED-4DB2-BD59-A6C34878D82A}">
                    <a16:rowId xmlns:a16="http://schemas.microsoft.com/office/drawing/2014/main" val="3017822320"/>
                  </a:ext>
                </a:extLst>
              </a:tr>
              <a:tr h="2856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smtClean="0"/>
                        <a:t>Optimisation de l'Expérience et de l'Interface Utilisateur </a:t>
                      </a:r>
                    </a:p>
                    <a:p>
                      <a:endParaRPr lang="fr-FR" sz="1600" dirty="0"/>
                    </a:p>
                  </a:txBody>
                  <a:tcPr anchor="ct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Eviter le recours à des ressources inutiles coté terminal </a:t>
                      </a:r>
                      <a:r>
                        <a:rPr lang="fr-FR" sz="1600" b="0" i="0" u="none" strike="noStrike" kern="1200" dirty="0" err="1" smtClean="0">
                          <a:solidFill>
                            <a:srgbClr val="284780"/>
                          </a:solidFill>
                          <a:effectLst/>
                          <a:latin typeface="Calibri" panose="020F0502020204030204" pitchFamily="34" charset="0"/>
                          <a:ea typeface="+mn-ea"/>
                          <a:cs typeface="+mn-cs"/>
                        </a:rPr>
                        <a:t>utilisateurOptimiser</a:t>
                      </a:r>
                      <a:r>
                        <a:rPr lang="fr-FR" sz="1600" b="0" i="0" u="none" strike="noStrike" kern="1200" dirty="0" smtClean="0">
                          <a:solidFill>
                            <a:srgbClr val="284780"/>
                          </a:solidFill>
                          <a:effectLst/>
                          <a:latin typeface="Calibri" panose="020F0502020204030204" pitchFamily="34" charset="0"/>
                          <a:ea typeface="+mn-ea"/>
                          <a:cs typeface="+mn-cs"/>
                        </a:rPr>
                        <a:t> l'</a:t>
                      </a:r>
                      <a:r>
                        <a:rPr lang="fr-FR" sz="1600" b="0" i="0" u="none" strike="noStrike" kern="1200" dirty="0" err="1" smtClean="0">
                          <a:solidFill>
                            <a:srgbClr val="284780"/>
                          </a:solidFill>
                          <a:effectLst/>
                          <a:latin typeface="Calibri" panose="020F0502020204030204" pitchFamily="34" charset="0"/>
                          <a:ea typeface="+mn-ea"/>
                          <a:cs typeface="+mn-cs"/>
                        </a:rPr>
                        <a:t>intéraction</a:t>
                      </a:r>
                      <a:r>
                        <a:rPr lang="fr-FR" sz="1600" b="0" i="0" u="none" strike="noStrike" kern="1200" dirty="0" smtClean="0">
                          <a:solidFill>
                            <a:srgbClr val="284780"/>
                          </a:solidFill>
                          <a:effectLst/>
                          <a:latin typeface="Calibri" panose="020F0502020204030204" pitchFamily="34" charset="0"/>
                          <a:ea typeface="+mn-ea"/>
                          <a:cs typeface="+mn-cs"/>
                        </a:rPr>
                        <a:t> avec l'utilisateur pour minimiser le temps passé sur son terminal et les échanges client/serveur</a:t>
                      </a:r>
                    </a:p>
                  </a:txBody>
                  <a:tcPr marL="6350" marR="6350" marT="6350" marB="0" anchor="ctr"/>
                </a:tc>
                <a:extLst>
                  <a:ext uri="{0D108BD9-81ED-4DB2-BD59-A6C34878D82A}">
                    <a16:rowId xmlns:a16="http://schemas.microsoft.com/office/drawing/2014/main" val="3393031861"/>
                  </a:ext>
                </a:extLst>
              </a:tr>
              <a:tr h="285668">
                <a:tc>
                  <a:txBody>
                    <a:bodyPr/>
                    <a:lstStyle/>
                    <a:p>
                      <a:r>
                        <a:rPr lang="fr-FR" sz="1600" b="1" kern="1200" dirty="0" smtClean="0">
                          <a:solidFill>
                            <a:schemeClr val="dk1"/>
                          </a:solidFill>
                          <a:latin typeface="+mn-lt"/>
                          <a:ea typeface="+mn-ea"/>
                          <a:cs typeface="+mn-cs"/>
                        </a:rPr>
                        <a:t>Utilisation optimisée des ressources d'hébergement</a:t>
                      </a:r>
                    </a:p>
                  </a:txBody>
                  <a:tcPr anchor="ct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Minimiser le besoin en terme de stockage de données</a:t>
                      </a:r>
                    </a:p>
                  </a:txBody>
                  <a:tcPr marL="6350" marR="6350" marT="6350" marB="0" anchor="ctr"/>
                </a:tc>
                <a:extLst>
                  <a:ext uri="{0D108BD9-81ED-4DB2-BD59-A6C34878D82A}">
                    <a16:rowId xmlns:a16="http://schemas.microsoft.com/office/drawing/2014/main" val="3817636815"/>
                  </a:ext>
                </a:extLst>
              </a:tr>
            </a:tbl>
          </a:graphicData>
        </a:graphic>
      </p:graphicFrame>
    </p:spTree>
    <p:extLst>
      <p:ext uri="{BB962C8B-B14F-4D97-AF65-F5344CB8AC3E}">
        <p14:creationId xmlns:p14="http://schemas.microsoft.com/office/powerpoint/2010/main" val="261603041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smtClean="0">
                <a:solidFill>
                  <a:schemeClr val="bg1"/>
                </a:solidFill>
              </a:rPr>
              <a:t>Liste des métiers et Critères</a:t>
            </a:r>
            <a:endParaRPr lang="fr-FR" b="1" dirty="0">
              <a:solidFill>
                <a:schemeClr val="bg1"/>
              </a:solidFill>
            </a:endParaRPr>
          </a:p>
        </p:txBody>
      </p:sp>
      <p:sp>
        <p:nvSpPr>
          <p:cNvPr id="3" name="Espace réservé du contenu 2"/>
          <p:cNvSpPr>
            <a:spLocks noGrp="1"/>
          </p:cNvSpPr>
          <p:nvPr>
            <p:ph idx="1"/>
          </p:nvPr>
        </p:nvSpPr>
        <p:spPr>
          <a:xfrm>
            <a:off x="0" y="1736946"/>
            <a:ext cx="12192000" cy="4351338"/>
          </a:xfrm>
        </p:spPr>
        <p:txBody>
          <a:bodyPr/>
          <a:lstStyle/>
          <a:p>
            <a:pPr marL="0" indent="0">
              <a:buNone/>
            </a:pPr>
            <a:endParaRPr lang="fr-FR" dirty="0">
              <a:solidFill>
                <a:schemeClr val="accent5">
                  <a:lumMod val="75000"/>
                </a:schemeClr>
              </a:solidFill>
            </a:endParaRPr>
          </a:p>
          <a:p>
            <a:pPr marL="0" indent="0">
              <a:buNone/>
            </a:pPr>
            <a:endParaRPr lang="fr-FR" dirty="0" smtClean="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4" name="Tableau 3"/>
          <p:cNvGraphicFramePr>
            <a:graphicFrameLocks noGrp="1"/>
          </p:cNvGraphicFramePr>
          <p:nvPr>
            <p:extLst>
              <p:ext uri="{D42A27DB-BD31-4B8C-83A1-F6EECF244321}">
                <p14:modId xmlns:p14="http://schemas.microsoft.com/office/powerpoint/2010/main" val="1782743700"/>
              </p:ext>
            </p:extLst>
          </p:nvPr>
        </p:nvGraphicFramePr>
        <p:xfrm>
          <a:off x="0" y="1094216"/>
          <a:ext cx="12192000" cy="2930690"/>
        </p:xfrm>
        <a:graphic>
          <a:graphicData uri="http://schemas.openxmlformats.org/drawingml/2006/table">
            <a:tbl>
              <a:tblPr firstRow="1" bandRow="1">
                <a:tableStyleId>{5C22544A-7EE6-4342-B048-85BDC9FD1C3A}</a:tableStyleId>
              </a:tblPr>
              <a:tblGrid>
                <a:gridCol w="3077497">
                  <a:extLst>
                    <a:ext uri="{9D8B030D-6E8A-4147-A177-3AD203B41FA5}">
                      <a16:colId xmlns:a16="http://schemas.microsoft.com/office/drawing/2014/main" val="1970134250"/>
                    </a:ext>
                  </a:extLst>
                </a:gridCol>
                <a:gridCol w="9114503">
                  <a:extLst>
                    <a:ext uri="{9D8B030D-6E8A-4147-A177-3AD203B41FA5}">
                      <a16:colId xmlns:a16="http://schemas.microsoft.com/office/drawing/2014/main" val="567957775"/>
                    </a:ext>
                  </a:extLst>
                </a:gridCol>
              </a:tblGrid>
              <a:tr h="428262">
                <a:tc gridSpan="2">
                  <a:txBody>
                    <a:bodyPr/>
                    <a:lstStyle/>
                    <a:p>
                      <a:pPr algn="ctr"/>
                      <a:r>
                        <a:rPr lang="fr-FR" sz="2400" dirty="0" smtClean="0"/>
                        <a:t>Architecte AT</a:t>
                      </a:r>
                    </a:p>
                  </a:txBody>
                  <a:tcPr/>
                </a:tc>
                <a:tc hMerge="1">
                  <a:txBody>
                    <a:bodyPr/>
                    <a:lstStyle/>
                    <a:p>
                      <a:endParaRPr lang="fr-FR" dirty="0"/>
                    </a:p>
                  </a:txBody>
                  <a:tcPr/>
                </a:tc>
                <a:extLst>
                  <a:ext uri="{0D108BD9-81ED-4DB2-BD59-A6C34878D82A}">
                    <a16:rowId xmlns:a16="http://schemas.microsoft.com/office/drawing/2014/main" val="782234525"/>
                  </a:ext>
                </a:extLst>
              </a:tr>
              <a:tr h="285508">
                <a:tc>
                  <a:txBody>
                    <a:bodyPr/>
                    <a:lstStyle/>
                    <a:p>
                      <a:pPr algn="ctr"/>
                      <a:r>
                        <a:rPr lang="fr-FR" sz="1400" b="1" dirty="0" smtClean="0"/>
                        <a:t>Principes directeurs</a:t>
                      </a:r>
                      <a:endParaRPr lang="fr-FR" sz="1400" b="1" dirty="0"/>
                    </a:p>
                  </a:txBody>
                  <a:tcPr anchor="ctr">
                    <a:solidFill>
                      <a:schemeClr val="accent1">
                        <a:lumMod val="40000"/>
                        <a:lumOff val="60000"/>
                      </a:schemeClr>
                    </a:solidFill>
                  </a:tcPr>
                </a:tc>
                <a:tc>
                  <a:txBody>
                    <a:bodyPr/>
                    <a:lstStyle/>
                    <a:p>
                      <a:pPr algn="ctr"/>
                      <a:r>
                        <a:rPr lang="fr-FR" sz="1400" b="1" dirty="0" smtClean="0"/>
                        <a:t>Critères</a:t>
                      </a:r>
                      <a:endParaRPr lang="fr-FR" sz="1400" b="1" dirty="0"/>
                    </a:p>
                  </a:txBody>
                  <a:tcPr anchor="ctr">
                    <a:solidFill>
                      <a:schemeClr val="accent1">
                        <a:lumMod val="40000"/>
                        <a:lumOff val="60000"/>
                      </a:schemeClr>
                    </a:solidFill>
                  </a:tcPr>
                </a:tc>
                <a:extLst>
                  <a:ext uri="{0D108BD9-81ED-4DB2-BD59-A6C34878D82A}">
                    <a16:rowId xmlns:a16="http://schemas.microsoft.com/office/drawing/2014/main" val="1875029581"/>
                  </a:ext>
                </a:extLst>
              </a:tr>
              <a:tr h="205803">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kern="1200" dirty="0" smtClean="0">
                          <a:solidFill>
                            <a:schemeClr val="dk1"/>
                          </a:solidFill>
                          <a:latin typeface="+mn-lt"/>
                          <a:ea typeface="+mn-ea"/>
                          <a:cs typeface="+mn-cs"/>
                        </a:rPr>
                        <a:t>Evaluer et rationaliser les besoins fonctionnels et exigences : Service numérique utilisable</a:t>
                      </a:r>
                    </a:p>
                  </a:txBody>
                  <a:tcPr anchor="ctr"/>
                </a:tc>
                <a:tc>
                  <a:txBody>
                    <a:bodyPr/>
                    <a:lstStyle/>
                    <a:p>
                      <a:pPr marL="0" algn="ctr" defTabSz="914400" rtl="0" eaLnBrk="1" fontAlgn="b" latinLnBrk="0" hangingPunct="1">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Etre au plus près des technologies et versions "standards"</a:t>
                      </a:r>
                    </a:p>
                  </a:txBody>
                  <a:tcPr marL="6350" marR="6350" marT="6350" marB="0" anchor="ctr"/>
                </a:tc>
                <a:extLst>
                  <a:ext uri="{0D108BD9-81ED-4DB2-BD59-A6C34878D82A}">
                    <a16:rowId xmlns:a16="http://schemas.microsoft.com/office/drawing/2014/main" val="2878080538"/>
                  </a:ext>
                </a:extLst>
              </a:tr>
              <a:tr h="1021880">
                <a:tc vMerge="1">
                  <a:txBody>
                    <a:bodyPr/>
                    <a:lstStyle/>
                    <a:p>
                      <a:endParaRPr lang="fr-FR" sz="1600" dirty="0" smtClean="0"/>
                    </a:p>
                  </a:txBody>
                  <a:tcPr anchor="ctr"/>
                </a:tc>
                <a:tc>
                  <a:txBody>
                    <a:bodyPr/>
                    <a:lstStyle/>
                    <a:p>
                      <a:pPr marL="0" algn="ctr" defTabSz="914400" rtl="0" eaLnBrk="1" fontAlgn="b" latinLnBrk="0" hangingPunct="1">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S’assurer que ma solution est utilisable (simple et accessible), et minimise les contraintes sur les terminaux et matériel utilisé</a:t>
                      </a:r>
                    </a:p>
                  </a:txBody>
                  <a:tcPr marL="6350" marR="6350" marT="6350" marB="0" anchor="ctr"/>
                </a:tc>
                <a:extLst>
                  <a:ext uri="{0D108BD9-81ED-4DB2-BD59-A6C34878D82A}">
                    <a16:rowId xmlns:a16="http://schemas.microsoft.com/office/drawing/2014/main" val="3144584378"/>
                  </a:ext>
                </a:extLst>
              </a:tr>
              <a:tr h="462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kern="1200" dirty="0" smtClean="0">
                          <a:solidFill>
                            <a:schemeClr val="dk1"/>
                          </a:solidFill>
                          <a:latin typeface="+mn-lt"/>
                          <a:ea typeface="+mn-ea"/>
                          <a:cs typeface="+mn-cs"/>
                        </a:rPr>
                        <a:t>Utilisation optimisée des ressources d'hébergement</a:t>
                      </a:r>
                      <a:endParaRPr lang="fr-FR" sz="1600" b="1" kern="1200" dirty="0">
                        <a:solidFill>
                          <a:schemeClr val="dk1"/>
                        </a:solidFill>
                        <a:latin typeface="+mn-lt"/>
                        <a:ea typeface="+mn-ea"/>
                        <a:cs typeface="+mn-cs"/>
                      </a:endParaRPr>
                    </a:p>
                  </a:txBody>
                  <a:tcPr marL="6350" marR="6350" marT="6350" marB="0" anchor="ctr"/>
                </a:tc>
                <a:tc>
                  <a:txBody>
                    <a:bodyPr/>
                    <a:lstStyle/>
                    <a:p>
                      <a:r>
                        <a:rPr lang="fr-FR" sz="1400" b="0" i="0" u="none" strike="noStrike" kern="1200" dirty="0" smtClean="0">
                          <a:solidFill>
                            <a:srgbClr val="284780"/>
                          </a:solidFill>
                          <a:effectLst/>
                          <a:latin typeface="Calibri" panose="020F0502020204030204" pitchFamily="34" charset="0"/>
                          <a:ea typeface="+mn-ea"/>
                          <a:cs typeface="+mn-cs"/>
                        </a:rPr>
                        <a:t>Ajuster tout au long du cycle de vie le dimensionnement les ressources IT au juste besoin</a:t>
                      </a:r>
                      <a:endParaRPr lang="fr-FR" sz="1400" b="0" i="0" u="none" strike="noStrike" kern="1200" dirty="0">
                        <a:solidFill>
                          <a:srgbClr val="284780"/>
                        </a:solidFill>
                        <a:effectLst/>
                        <a:latin typeface="Calibri" panose="020F0502020204030204" pitchFamily="34" charset="0"/>
                        <a:ea typeface="+mn-ea"/>
                        <a:cs typeface="+mn-cs"/>
                      </a:endParaRPr>
                    </a:p>
                  </a:txBody>
                  <a:tcPr marL="6350" marR="6350" marT="6350" marB="0" anchor="ctr"/>
                </a:tc>
                <a:extLst>
                  <a:ext uri="{0D108BD9-81ED-4DB2-BD59-A6C34878D82A}">
                    <a16:rowId xmlns:a16="http://schemas.microsoft.com/office/drawing/2014/main" val="4000714627"/>
                  </a:ext>
                </a:extLst>
              </a:tr>
              <a:tr h="3261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kern="1200" dirty="0" smtClean="0">
                          <a:solidFill>
                            <a:schemeClr val="dk1"/>
                          </a:solidFill>
                          <a:latin typeface="+mn-lt"/>
                          <a:ea typeface="+mn-ea"/>
                          <a:cs typeface="+mn-cs"/>
                        </a:rPr>
                        <a:t>Libérer ressources IT</a:t>
                      </a:r>
                      <a:endParaRPr lang="fr-FR" sz="1600" b="1" kern="1200" dirty="0">
                        <a:solidFill>
                          <a:schemeClr val="dk1"/>
                        </a:solidFill>
                        <a:latin typeface="+mn-lt"/>
                        <a:ea typeface="+mn-ea"/>
                        <a:cs typeface="+mn-cs"/>
                      </a:endParaRPr>
                    </a:p>
                  </a:txBody>
                  <a:tcPr marL="6350" marR="6350" marT="6350" marB="0" anchor="ctr"/>
                </a:tc>
                <a:tc>
                  <a:txBody>
                    <a:bodyPr/>
                    <a:lstStyle/>
                    <a:p>
                      <a:r>
                        <a:rPr lang="fr-FR" sz="1400" b="0" i="0" u="none" strike="noStrike" kern="1200" dirty="0" err="1" smtClean="0">
                          <a:solidFill>
                            <a:srgbClr val="284780"/>
                          </a:solidFill>
                          <a:effectLst/>
                          <a:latin typeface="Calibri" panose="020F0502020204030204" pitchFamily="34" charset="0"/>
                          <a:ea typeface="+mn-ea"/>
                          <a:cs typeface="+mn-cs"/>
                        </a:rPr>
                        <a:t>Décommissionner</a:t>
                      </a:r>
                      <a:endParaRPr lang="fr-FR" sz="1400" b="0" i="0" u="none" strike="noStrike" kern="1200" dirty="0" smtClean="0">
                        <a:solidFill>
                          <a:srgbClr val="284780"/>
                        </a:solidFill>
                        <a:effectLst/>
                        <a:latin typeface="Calibri" panose="020F0502020204030204" pitchFamily="34" charset="0"/>
                        <a:ea typeface="+mn-ea"/>
                        <a:cs typeface="+mn-cs"/>
                      </a:endParaRPr>
                    </a:p>
                    <a:p>
                      <a:endParaRPr lang="fr-FR" sz="1400" b="0" i="0" u="none" strike="noStrike" kern="1200" dirty="0">
                        <a:solidFill>
                          <a:srgbClr val="284780"/>
                        </a:solidFill>
                        <a:effectLst/>
                        <a:latin typeface="Calibri" panose="020F0502020204030204" pitchFamily="34" charset="0"/>
                        <a:ea typeface="+mn-ea"/>
                        <a:cs typeface="+mn-cs"/>
                      </a:endParaRPr>
                    </a:p>
                  </a:txBody>
                  <a:tcPr marL="6350" marR="6350" marT="6350" marB="0" anchor="ctr"/>
                </a:tc>
                <a:extLst>
                  <a:ext uri="{0D108BD9-81ED-4DB2-BD59-A6C34878D82A}">
                    <a16:rowId xmlns:a16="http://schemas.microsoft.com/office/drawing/2014/main" val="420270394"/>
                  </a:ext>
                </a:extLst>
              </a:tr>
            </a:tbl>
          </a:graphicData>
        </a:graphic>
      </p:graphicFrame>
    </p:spTree>
    <p:extLst>
      <p:ext uri="{BB962C8B-B14F-4D97-AF65-F5344CB8AC3E}">
        <p14:creationId xmlns:p14="http://schemas.microsoft.com/office/powerpoint/2010/main" val="61718811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smtClean="0">
                <a:solidFill>
                  <a:schemeClr val="bg1"/>
                </a:solidFill>
              </a:rPr>
              <a:t>Liste des métiers et Critères</a:t>
            </a:r>
            <a:endParaRPr lang="fr-FR" b="1" dirty="0">
              <a:solidFill>
                <a:schemeClr val="bg1"/>
              </a:solidFill>
            </a:endParaRPr>
          </a:p>
        </p:txBody>
      </p:sp>
      <p:sp>
        <p:nvSpPr>
          <p:cNvPr id="3" name="Espace réservé du contenu 2"/>
          <p:cNvSpPr>
            <a:spLocks noGrp="1"/>
          </p:cNvSpPr>
          <p:nvPr>
            <p:ph idx="1"/>
          </p:nvPr>
        </p:nvSpPr>
        <p:spPr>
          <a:xfrm>
            <a:off x="0" y="1736946"/>
            <a:ext cx="12192000" cy="4351338"/>
          </a:xfrm>
        </p:spPr>
        <p:txBody>
          <a:bodyPr/>
          <a:lstStyle/>
          <a:p>
            <a:pPr marL="0" indent="0">
              <a:buNone/>
            </a:pPr>
            <a:endParaRPr lang="fr-FR" dirty="0">
              <a:solidFill>
                <a:schemeClr val="accent5">
                  <a:lumMod val="75000"/>
                </a:schemeClr>
              </a:solidFill>
            </a:endParaRPr>
          </a:p>
          <a:p>
            <a:pPr marL="0" indent="0">
              <a:buNone/>
            </a:pPr>
            <a:endParaRPr lang="fr-FR" dirty="0" smtClean="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4" name="Tableau 3"/>
          <p:cNvGraphicFramePr>
            <a:graphicFrameLocks noGrp="1"/>
          </p:cNvGraphicFramePr>
          <p:nvPr>
            <p:extLst>
              <p:ext uri="{D42A27DB-BD31-4B8C-83A1-F6EECF244321}">
                <p14:modId xmlns:p14="http://schemas.microsoft.com/office/powerpoint/2010/main" val="480896150"/>
              </p:ext>
            </p:extLst>
          </p:nvPr>
        </p:nvGraphicFramePr>
        <p:xfrm>
          <a:off x="0" y="1094216"/>
          <a:ext cx="12192000" cy="1687520"/>
        </p:xfrm>
        <a:graphic>
          <a:graphicData uri="http://schemas.openxmlformats.org/drawingml/2006/table">
            <a:tbl>
              <a:tblPr firstRow="1" bandRow="1">
                <a:tableStyleId>{5C22544A-7EE6-4342-B048-85BDC9FD1C3A}</a:tableStyleId>
              </a:tblPr>
              <a:tblGrid>
                <a:gridCol w="3077497">
                  <a:extLst>
                    <a:ext uri="{9D8B030D-6E8A-4147-A177-3AD203B41FA5}">
                      <a16:colId xmlns:a16="http://schemas.microsoft.com/office/drawing/2014/main" val="1970134250"/>
                    </a:ext>
                  </a:extLst>
                </a:gridCol>
                <a:gridCol w="9114503">
                  <a:extLst>
                    <a:ext uri="{9D8B030D-6E8A-4147-A177-3AD203B41FA5}">
                      <a16:colId xmlns:a16="http://schemas.microsoft.com/office/drawing/2014/main" val="567957775"/>
                    </a:ext>
                  </a:extLst>
                </a:gridCol>
              </a:tblGrid>
              <a:tr h="428262">
                <a:tc gridSpan="2">
                  <a:txBody>
                    <a:bodyPr/>
                    <a:lstStyle/>
                    <a:p>
                      <a:pPr algn="ctr"/>
                      <a:r>
                        <a:rPr lang="fr-FR" sz="2400" dirty="0" smtClean="0"/>
                        <a:t>Architecte Exploitation</a:t>
                      </a:r>
                    </a:p>
                  </a:txBody>
                  <a:tcPr/>
                </a:tc>
                <a:tc hMerge="1">
                  <a:txBody>
                    <a:bodyPr/>
                    <a:lstStyle/>
                    <a:p>
                      <a:endParaRPr lang="fr-FR" dirty="0"/>
                    </a:p>
                  </a:txBody>
                  <a:tcPr/>
                </a:tc>
                <a:extLst>
                  <a:ext uri="{0D108BD9-81ED-4DB2-BD59-A6C34878D82A}">
                    <a16:rowId xmlns:a16="http://schemas.microsoft.com/office/drawing/2014/main" val="782234525"/>
                  </a:ext>
                </a:extLst>
              </a:tr>
              <a:tr h="285508">
                <a:tc>
                  <a:txBody>
                    <a:bodyPr/>
                    <a:lstStyle/>
                    <a:p>
                      <a:pPr algn="ctr"/>
                      <a:r>
                        <a:rPr lang="fr-FR" sz="1400" b="1" dirty="0" smtClean="0"/>
                        <a:t>Principes directeurs</a:t>
                      </a:r>
                      <a:endParaRPr lang="fr-FR" sz="1400" b="1" dirty="0"/>
                    </a:p>
                  </a:txBody>
                  <a:tcPr anchor="ctr">
                    <a:solidFill>
                      <a:schemeClr val="accent1">
                        <a:lumMod val="40000"/>
                        <a:lumOff val="60000"/>
                      </a:schemeClr>
                    </a:solidFill>
                  </a:tcPr>
                </a:tc>
                <a:tc>
                  <a:txBody>
                    <a:bodyPr/>
                    <a:lstStyle/>
                    <a:p>
                      <a:pPr algn="ctr"/>
                      <a:r>
                        <a:rPr lang="fr-FR" sz="1400" b="1" dirty="0" smtClean="0"/>
                        <a:t>Critères</a:t>
                      </a:r>
                      <a:endParaRPr lang="fr-FR" sz="1400" b="1" dirty="0"/>
                    </a:p>
                  </a:txBody>
                  <a:tcPr anchor="ctr">
                    <a:solidFill>
                      <a:schemeClr val="accent1">
                        <a:lumMod val="40000"/>
                        <a:lumOff val="60000"/>
                      </a:schemeClr>
                    </a:solidFill>
                  </a:tcPr>
                </a:tc>
                <a:extLst>
                  <a:ext uri="{0D108BD9-81ED-4DB2-BD59-A6C34878D82A}">
                    <a16:rowId xmlns:a16="http://schemas.microsoft.com/office/drawing/2014/main" val="1875029581"/>
                  </a:ext>
                </a:extLst>
              </a:tr>
              <a:tr h="46276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kern="1200" dirty="0" smtClean="0">
                          <a:solidFill>
                            <a:schemeClr val="dk1"/>
                          </a:solidFill>
                          <a:latin typeface="+mn-lt"/>
                          <a:ea typeface="+mn-ea"/>
                          <a:cs typeface="+mn-cs"/>
                        </a:rPr>
                        <a:t>Utilisation optimisée des ressources d'hébergement</a:t>
                      </a:r>
                      <a:endParaRPr lang="fr-FR" sz="1600" b="1" kern="1200" dirty="0">
                        <a:solidFill>
                          <a:schemeClr val="dk1"/>
                        </a:solidFill>
                        <a:latin typeface="+mn-lt"/>
                        <a:ea typeface="+mn-ea"/>
                        <a:cs typeface="+mn-cs"/>
                      </a:endParaRPr>
                    </a:p>
                  </a:txBody>
                  <a:tcPr marL="6350" marR="6350" marT="6350" marB="0" anchor="ctr"/>
                </a:tc>
                <a:tc>
                  <a:txBody>
                    <a:bodyPr/>
                    <a:lstStyle/>
                    <a:p>
                      <a:r>
                        <a:rPr lang="fr-FR" sz="1400" b="0" i="0" u="none" strike="noStrike" kern="1200" dirty="0" smtClean="0">
                          <a:solidFill>
                            <a:srgbClr val="284780"/>
                          </a:solidFill>
                          <a:effectLst/>
                          <a:latin typeface="Calibri" panose="020F0502020204030204" pitchFamily="34" charset="0"/>
                          <a:ea typeface="+mn-ea"/>
                          <a:cs typeface="+mn-cs"/>
                        </a:rPr>
                        <a:t>Ajuster tout au long du cycle de vie le dimensionnement les ressources IT au juste besoin</a:t>
                      </a:r>
                      <a:endParaRPr lang="fr-FR" sz="1400" b="0" i="0" u="none" strike="noStrike" kern="1200" dirty="0">
                        <a:solidFill>
                          <a:srgbClr val="284780"/>
                        </a:solidFill>
                        <a:effectLst/>
                        <a:latin typeface="Calibri" panose="020F0502020204030204" pitchFamily="34" charset="0"/>
                        <a:ea typeface="+mn-ea"/>
                        <a:cs typeface="+mn-cs"/>
                      </a:endParaRPr>
                    </a:p>
                  </a:txBody>
                  <a:tcPr marL="6350" marR="6350" marT="6350" marB="0" anchor="ctr"/>
                </a:tc>
                <a:extLst>
                  <a:ext uri="{0D108BD9-81ED-4DB2-BD59-A6C34878D82A}">
                    <a16:rowId xmlns:a16="http://schemas.microsoft.com/office/drawing/2014/main" val="4000714627"/>
                  </a:ext>
                </a:extLst>
              </a:tr>
              <a:tr h="46276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kern="1200" dirty="0">
                        <a:solidFill>
                          <a:schemeClr val="dk1"/>
                        </a:solidFill>
                        <a:latin typeface="+mn-lt"/>
                        <a:ea typeface="+mn-ea"/>
                        <a:cs typeface="+mn-cs"/>
                      </a:endParaRPr>
                    </a:p>
                  </a:txBody>
                  <a:tcPr marL="6350" marR="6350" marT="6350" marB="0" anchor="ctr"/>
                </a:tc>
                <a:tc>
                  <a:txBody>
                    <a:bodyPr/>
                    <a:lstStyle/>
                    <a:p>
                      <a:r>
                        <a:rPr lang="fr-FR" sz="1400" b="0" i="0" u="none" strike="noStrike" kern="1200" dirty="0" smtClean="0">
                          <a:solidFill>
                            <a:srgbClr val="284780"/>
                          </a:solidFill>
                          <a:effectLst/>
                          <a:latin typeface="Calibri" panose="020F0502020204030204" pitchFamily="34" charset="0"/>
                          <a:ea typeface="+mn-ea"/>
                          <a:cs typeface="+mn-cs"/>
                        </a:rPr>
                        <a:t>S’assurer de limiter le besoin en infra</a:t>
                      </a:r>
                    </a:p>
                  </a:txBody>
                  <a:tcPr marL="6350" marR="6350" marT="6350" marB="0" anchor="ctr"/>
                </a:tc>
                <a:extLst>
                  <a:ext uri="{0D108BD9-81ED-4DB2-BD59-A6C34878D82A}">
                    <a16:rowId xmlns:a16="http://schemas.microsoft.com/office/drawing/2014/main" val="2124767342"/>
                  </a:ext>
                </a:extLst>
              </a:tr>
            </a:tbl>
          </a:graphicData>
        </a:graphic>
      </p:graphicFrame>
    </p:spTree>
    <p:extLst>
      <p:ext uri="{BB962C8B-B14F-4D97-AF65-F5344CB8AC3E}">
        <p14:creationId xmlns:p14="http://schemas.microsoft.com/office/powerpoint/2010/main" val="283243740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smtClean="0">
                <a:solidFill>
                  <a:schemeClr val="bg1"/>
                </a:solidFill>
              </a:rPr>
              <a:t>Liste des métiers et Critères</a:t>
            </a:r>
            <a:endParaRPr lang="fr-FR" b="1" dirty="0">
              <a:solidFill>
                <a:schemeClr val="bg1"/>
              </a:solidFill>
            </a:endParaRPr>
          </a:p>
        </p:txBody>
      </p:sp>
      <p:sp>
        <p:nvSpPr>
          <p:cNvPr id="3" name="Espace réservé du contenu 2"/>
          <p:cNvSpPr>
            <a:spLocks noGrp="1"/>
          </p:cNvSpPr>
          <p:nvPr>
            <p:ph idx="1"/>
          </p:nvPr>
        </p:nvSpPr>
        <p:spPr>
          <a:xfrm>
            <a:off x="0" y="1736946"/>
            <a:ext cx="12192000" cy="4351338"/>
          </a:xfrm>
        </p:spPr>
        <p:txBody>
          <a:bodyPr/>
          <a:lstStyle/>
          <a:p>
            <a:pPr marL="0" indent="0">
              <a:buNone/>
            </a:pPr>
            <a:endParaRPr lang="fr-FR" dirty="0">
              <a:solidFill>
                <a:schemeClr val="accent5">
                  <a:lumMod val="75000"/>
                </a:schemeClr>
              </a:solidFill>
            </a:endParaRPr>
          </a:p>
          <a:p>
            <a:pPr marL="0" indent="0">
              <a:buNone/>
            </a:pPr>
            <a:endParaRPr lang="fr-FR" dirty="0" smtClean="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4" name="Tableau 3"/>
          <p:cNvGraphicFramePr>
            <a:graphicFrameLocks noGrp="1"/>
          </p:cNvGraphicFramePr>
          <p:nvPr>
            <p:extLst>
              <p:ext uri="{D42A27DB-BD31-4B8C-83A1-F6EECF244321}">
                <p14:modId xmlns:p14="http://schemas.microsoft.com/office/powerpoint/2010/main" val="2955405637"/>
              </p:ext>
            </p:extLst>
          </p:nvPr>
        </p:nvGraphicFramePr>
        <p:xfrm>
          <a:off x="0" y="1166808"/>
          <a:ext cx="12145704" cy="4958080"/>
        </p:xfrm>
        <a:graphic>
          <a:graphicData uri="http://schemas.openxmlformats.org/drawingml/2006/table">
            <a:tbl>
              <a:tblPr firstRow="1" bandRow="1">
                <a:tableStyleId>{5C22544A-7EE6-4342-B048-85BDC9FD1C3A}</a:tableStyleId>
              </a:tblPr>
              <a:tblGrid>
                <a:gridCol w="3336872">
                  <a:extLst>
                    <a:ext uri="{9D8B030D-6E8A-4147-A177-3AD203B41FA5}">
                      <a16:colId xmlns:a16="http://schemas.microsoft.com/office/drawing/2014/main" val="1970134250"/>
                    </a:ext>
                  </a:extLst>
                </a:gridCol>
                <a:gridCol w="8808832">
                  <a:extLst>
                    <a:ext uri="{9D8B030D-6E8A-4147-A177-3AD203B41FA5}">
                      <a16:colId xmlns:a16="http://schemas.microsoft.com/office/drawing/2014/main" val="567957775"/>
                    </a:ext>
                  </a:extLst>
                </a:gridCol>
              </a:tblGrid>
              <a:tr h="433468">
                <a:tc gridSpan="2">
                  <a:txBody>
                    <a:bodyPr/>
                    <a:lstStyle/>
                    <a:p>
                      <a:pPr algn="ctr"/>
                      <a:r>
                        <a:rPr lang="fr-FR" sz="2400" dirty="0" smtClean="0"/>
                        <a:t>Expert Fonctionnel / Designer</a:t>
                      </a:r>
                    </a:p>
                  </a:txBody>
                  <a:tcPr/>
                </a:tc>
                <a:tc hMerge="1">
                  <a:txBody>
                    <a:bodyPr/>
                    <a:lstStyle/>
                    <a:p>
                      <a:endParaRPr lang="fr-FR" dirty="0"/>
                    </a:p>
                  </a:txBody>
                  <a:tcPr/>
                </a:tc>
                <a:extLst>
                  <a:ext uri="{0D108BD9-81ED-4DB2-BD59-A6C34878D82A}">
                    <a16:rowId xmlns:a16="http://schemas.microsoft.com/office/drawing/2014/main" val="782234525"/>
                  </a:ext>
                </a:extLst>
              </a:tr>
              <a:tr h="288978">
                <a:tc>
                  <a:txBody>
                    <a:bodyPr/>
                    <a:lstStyle/>
                    <a:p>
                      <a:pPr algn="ctr"/>
                      <a:r>
                        <a:rPr lang="fr-FR" sz="1400" b="1" dirty="0" smtClean="0"/>
                        <a:t>Principes directeurs</a:t>
                      </a:r>
                      <a:endParaRPr lang="fr-FR" sz="1400" b="1" dirty="0"/>
                    </a:p>
                  </a:txBody>
                  <a:tcPr anchor="ctr">
                    <a:solidFill>
                      <a:schemeClr val="accent1">
                        <a:lumMod val="40000"/>
                        <a:lumOff val="60000"/>
                      </a:schemeClr>
                    </a:solidFill>
                  </a:tcPr>
                </a:tc>
                <a:tc>
                  <a:txBody>
                    <a:bodyPr/>
                    <a:lstStyle/>
                    <a:p>
                      <a:pPr algn="ctr"/>
                      <a:r>
                        <a:rPr lang="fr-FR" sz="1400" b="1" dirty="0" smtClean="0"/>
                        <a:t>Critères</a:t>
                      </a:r>
                      <a:endParaRPr lang="fr-FR" sz="1400" b="1" dirty="0"/>
                    </a:p>
                  </a:txBody>
                  <a:tcPr anchor="ctr">
                    <a:solidFill>
                      <a:schemeClr val="accent1">
                        <a:lumMod val="40000"/>
                        <a:lumOff val="60000"/>
                      </a:schemeClr>
                    </a:solidFill>
                  </a:tcPr>
                </a:tc>
                <a:extLst>
                  <a:ext uri="{0D108BD9-81ED-4DB2-BD59-A6C34878D82A}">
                    <a16:rowId xmlns:a16="http://schemas.microsoft.com/office/drawing/2014/main" val="1875029581"/>
                  </a:ext>
                </a:extLst>
              </a:tr>
              <a:tr h="273143">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smtClean="0"/>
                        <a:t>Evaluer et rationaliser les besoins fonctionnels et exigences </a:t>
                      </a:r>
                      <a:r>
                        <a:rPr lang="fr-FR" sz="1600" b="1" i="0" u="none" strike="noStrike" kern="1200" dirty="0" smtClean="0">
                          <a:solidFill>
                            <a:srgbClr val="000000"/>
                          </a:solidFill>
                          <a:effectLst/>
                          <a:latin typeface="Calibri" panose="020F0502020204030204" pitchFamily="34" charset="0"/>
                          <a:ea typeface="+mn-ea"/>
                          <a:cs typeface="+mn-cs"/>
                        </a:rPr>
                        <a:t>: Service numérique utilisable</a:t>
                      </a:r>
                    </a:p>
                  </a:txBody>
                  <a:tcPr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Etre au plus près des technologies et versions "standards"</a:t>
                      </a:r>
                    </a:p>
                  </a:txBody>
                  <a:tcPr marL="6350" marR="6350" marT="6350" marB="0" anchor="ctr"/>
                </a:tc>
                <a:extLst>
                  <a:ext uri="{0D108BD9-81ED-4DB2-BD59-A6C34878D82A}">
                    <a16:rowId xmlns:a16="http://schemas.microsoft.com/office/drawing/2014/main" val="2878080538"/>
                  </a:ext>
                </a:extLst>
              </a:tr>
              <a:tr h="273143">
                <a:tc vMerge="1">
                  <a:txBody>
                    <a:bodyPr/>
                    <a:lstStyle/>
                    <a:p>
                      <a:endParaRPr lang="fr-FR" sz="1600" dirty="0" smtClean="0"/>
                    </a:p>
                  </a:txBody>
                  <a:tcPr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S’assurer que ma solution est utilisable (simple et accessible), et minimise les contraintes sur les terminaux et matériel utilisé</a:t>
                      </a:r>
                    </a:p>
                  </a:txBody>
                  <a:tcPr marL="6350" marR="6350" marT="6350" marB="0" anchor="ctr"/>
                </a:tc>
                <a:extLst>
                  <a:ext uri="{0D108BD9-81ED-4DB2-BD59-A6C34878D82A}">
                    <a16:rowId xmlns:a16="http://schemas.microsoft.com/office/drawing/2014/main" val="3144584378"/>
                  </a:ext>
                </a:extLst>
              </a:tr>
              <a:tr h="273143">
                <a:tc row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smtClean="0"/>
                        <a:t>Optimisation de l'Expérience et de l'Interface Utilisateur</a:t>
                      </a:r>
                    </a:p>
                  </a:txBody>
                  <a:tcPr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Eviter le recours à des ressources inutiles coté terminal utilisateur</a:t>
                      </a:r>
                    </a:p>
                  </a:txBody>
                  <a:tcPr marL="6350" marR="6350" marT="6350" marB="0" anchor="ctr"/>
                </a:tc>
                <a:extLst>
                  <a:ext uri="{0D108BD9-81ED-4DB2-BD59-A6C34878D82A}">
                    <a16:rowId xmlns:a16="http://schemas.microsoft.com/office/drawing/2014/main" val="3031140149"/>
                  </a:ext>
                </a:extLst>
              </a:tr>
              <a:tr h="273143">
                <a:tc vMerge="1">
                  <a:txBody>
                    <a:bodyPr/>
                    <a:lstStyle/>
                    <a:p>
                      <a:endParaRPr lang="fr-FR" sz="1400" b="1" dirty="0" smtClean="0"/>
                    </a:p>
                  </a:txBody>
                  <a:tcPr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Favoriser le bon fonctionnement des navigateurs</a:t>
                      </a:r>
                    </a:p>
                  </a:txBody>
                  <a:tcPr marL="6350" marR="6350" marT="6350" marB="0" anchor="ctr"/>
                </a:tc>
                <a:extLst>
                  <a:ext uri="{0D108BD9-81ED-4DB2-BD59-A6C34878D82A}">
                    <a16:rowId xmlns:a16="http://schemas.microsoft.com/office/drawing/2014/main" val="3854364996"/>
                  </a:ext>
                </a:extLst>
              </a:tr>
              <a:tr h="273143">
                <a:tc vMerge="1">
                  <a:txBody>
                    <a:bodyPr/>
                    <a:lstStyle/>
                    <a:p>
                      <a:endParaRPr lang="fr-FR" sz="1400" b="1" dirty="0" smtClean="0"/>
                    </a:p>
                  </a:txBody>
                  <a:tcPr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Limiter le poids par écran</a:t>
                      </a:r>
                    </a:p>
                  </a:txBody>
                  <a:tcPr marL="6350" marR="6350" marT="6350" marB="0" anchor="ctr"/>
                </a:tc>
                <a:extLst>
                  <a:ext uri="{0D108BD9-81ED-4DB2-BD59-A6C34878D82A}">
                    <a16:rowId xmlns:a16="http://schemas.microsoft.com/office/drawing/2014/main" val="2351275081"/>
                  </a:ext>
                </a:extLst>
              </a:tr>
              <a:tr h="273143">
                <a:tc vMerge="1">
                  <a:txBody>
                    <a:bodyPr/>
                    <a:lstStyle/>
                    <a:p>
                      <a:endParaRPr lang="fr-FR" sz="1400" b="1" dirty="0" smtClean="0"/>
                    </a:p>
                  </a:txBody>
                  <a:tcPr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Optimiser les contenus </a:t>
                      </a:r>
                      <a:r>
                        <a:rPr lang="fr-FR" sz="1800" b="0" i="0" u="none" strike="noStrike" kern="1200" dirty="0" err="1" smtClean="0">
                          <a:solidFill>
                            <a:srgbClr val="284780"/>
                          </a:solidFill>
                          <a:effectLst/>
                          <a:latin typeface="Calibri" panose="020F0502020204030204" pitchFamily="34" charset="0"/>
                          <a:ea typeface="+mn-ea"/>
                          <a:cs typeface="+mn-cs"/>
                        </a:rPr>
                        <a:t>multi-média</a:t>
                      </a:r>
                      <a:endParaRPr lang="fr-FR" sz="1800" b="0" i="0" u="none" strike="noStrike" kern="1200" dirty="0" smtClean="0">
                        <a:solidFill>
                          <a:srgbClr val="284780"/>
                        </a:solidFill>
                        <a:effectLst/>
                        <a:latin typeface="Calibri" panose="020F0502020204030204" pitchFamily="34" charset="0"/>
                        <a:ea typeface="+mn-ea"/>
                        <a:cs typeface="+mn-cs"/>
                      </a:endParaRPr>
                    </a:p>
                  </a:txBody>
                  <a:tcPr marL="6350" marR="6350" marT="6350" marB="0" anchor="ctr"/>
                </a:tc>
                <a:extLst>
                  <a:ext uri="{0D108BD9-81ED-4DB2-BD59-A6C34878D82A}">
                    <a16:rowId xmlns:a16="http://schemas.microsoft.com/office/drawing/2014/main" val="843635770"/>
                  </a:ext>
                </a:extLst>
              </a:tr>
              <a:tr h="273143">
                <a:tc vMerge="1">
                  <a:txBody>
                    <a:bodyPr/>
                    <a:lstStyle/>
                    <a:p>
                      <a:endParaRPr lang="fr-FR" sz="1400" b="1" dirty="0" smtClean="0"/>
                    </a:p>
                  </a:txBody>
                  <a:tcPr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Optimiser les ressources d'Interface Utilisateur</a:t>
                      </a:r>
                    </a:p>
                  </a:txBody>
                  <a:tcPr marL="6350" marR="6350" marT="6350" marB="0" anchor="ctr"/>
                </a:tc>
                <a:extLst>
                  <a:ext uri="{0D108BD9-81ED-4DB2-BD59-A6C34878D82A}">
                    <a16:rowId xmlns:a16="http://schemas.microsoft.com/office/drawing/2014/main" val="2120402021"/>
                  </a:ext>
                </a:extLst>
              </a:tr>
              <a:tr h="288978">
                <a:tc vMerge="1">
                  <a:txBody>
                    <a:bodyPr/>
                    <a:lstStyle/>
                    <a:p>
                      <a:endParaRPr lang="fr-FR" sz="1600" b="1" dirty="0" smtClean="0"/>
                    </a:p>
                  </a:txBody>
                  <a:tcPr anchor="ctr"/>
                </a:tc>
                <a:tc>
                  <a:txBody>
                    <a:bodyPr/>
                    <a:lstStyle/>
                    <a:p>
                      <a:pPr algn="ctr" fontAlgn="b">
                        <a:spcBef>
                          <a:spcPts val="300"/>
                        </a:spcBef>
                        <a:spcAft>
                          <a:spcPts val="300"/>
                        </a:spcAft>
                      </a:pPr>
                      <a:r>
                        <a:rPr lang="fr-FR" sz="1800" b="0" i="0" u="none" strike="noStrike" kern="1200" dirty="0" smtClean="0">
                          <a:solidFill>
                            <a:srgbClr val="284780"/>
                          </a:solidFill>
                          <a:effectLst/>
                          <a:latin typeface="Calibri" panose="020F0502020204030204" pitchFamily="34" charset="0"/>
                          <a:ea typeface="+mn-ea"/>
                          <a:cs typeface="+mn-cs"/>
                        </a:rPr>
                        <a:t>Optimiser l'</a:t>
                      </a:r>
                      <a:r>
                        <a:rPr lang="fr-FR" sz="1800" b="0" i="0" u="none" strike="noStrike" kern="1200" dirty="0" err="1" smtClean="0">
                          <a:solidFill>
                            <a:srgbClr val="284780"/>
                          </a:solidFill>
                          <a:effectLst/>
                          <a:latin typeface="Calibri" panose="020F0502020204030204" pitchFamily="34" charset="0"/>
                          <a:ea typeface="+mn-ea"/>
                          <a:cs typeface="+mn-cs"/>
                        </a:rPr>
                        <a:t>intéraction</a:t>
                      </a:r>
                      <a:r>
                        <a:rPr lang="fr-FR" sz="1800" b="0" i="0" u="none" strike="noStrike" kern="1200" dirty="0" smtClean="0">
                          <a:solidFill>
                            <a:srgbClr val="284780"/>
                          </a:solidFill>
                          <a:effectLst/>
                          <a:latin typeface="Calibri" panose="020F0502020204030204" pitchFamily="34" charset="0"/>
                          <a:ea typeface="+mn-ea"/>
                          <a:cs typeface="+mn-cs"/>
                        </a:rPr>
                        <a:t> avec l'utilisateur pour minimiser le temps passé sur son terminal et les échanges client/serveur</a:t>
                      </a:r>
                    </a:p>
                  </a:txBody>
                  <a:tcPr marL="6350" marR="6350" marT="6350" marB="0" anchor="ctr"/>
                </a:tc>
                <a:extLst>
                  <a:ext uri="{0D108BD9-81ED-4DB2-BD59-A6C34878D82A}">
                    <a16:rowId xmlns:a16="http://schemas.microsoft.com/office/drawing/2014/main" val="4017884999"/>
                  </a:ext>
                </a:extLst>
              </a:tr>
              <a:tr h="288978">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smtClean="0"/>
                        <a:t>La solution intègre des pratiques d'écoconception</a:t>
                      </a:r>
                    </a:p>
                  </a:txBody>
                  <a:tcPr anchor="ctr"/>
                </a:tc>
                <a:tc>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r>
                        <a:rPr lang="fr-FR" sz="1800" b="0" i="0" u="none" strike="noStrike" kern="1200" dirty="0" smtClean="0">
                          <a:solidFill>
                            <a:srgbClr val="284780"/>
                          </a:solidFill>
                          <a:effectLst/>
                          <a:latin typeface="Calibri" panose="020F0502020204030204" pitchFamily="34" charset="0"/>
                          <a:ea typeface="+mn-ea"/>
                          <a:cs typeface="+mn-cs"/>
                        </a:rPr>
                        <a:t>Optimiser les traitements "lourds" coté terminal utilisateur</a:t>
                      </a:r>
                    </a:p>
                  </a:txBody>
                  <a:tcPr marL="6350" marR="6350" marT="6350" marB="0" anchor="ctr"/>
                </a:tc>
                <a:extLst>
                  <a:ext uri="{0D108BD9-81ED-4DB2-BD59-A6C34878D82A}">
                    <a16:rowId xmlns:a16="http://schemas.microsoft.com/office/drawing/2014/main" val="4172322234"/>
                  </a:ext>
                </a:extLst>
              </a:tr>
              <a:tr h="288978">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smtClean="0"/>
                    </a:p>
                  </a:txBody>
                  <a:tcPr anchor="ctr"/>
                </a:tc>
                <a:tc>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r>
                        <a:rPr lang="fr-FR" sz="1800" b="0" i="0" u="none" strike="noStrike" kern="1200" dirty="0" smtClean="0">
                          <a:solidFill>
                            <a:srgbClr val="284780"/>
                          </a:solidFill>
                          <a:effectLst/>
                          <a:latin typeface="Calibri" panose="020F0502020204030204" pitchFamily="34" charset="0"/>
                          <a:ea typeface="+mn-ea"/>
                          <a:cs typeface="+mn-cs"/>
                        </a:rPr>
                        <a:t>Optimiser le poids des échanges "client/serveur"</a:t>
                      </a:r>
                    </a:p>
                  </a:txBody>
                  <a:tcPr marL="6350" marR="6350" marT="6350" marB="0" anchor="ctr"/>
                </a:tc>
                <a:extLst>
                  <a:ext uri="{0D108BD9-81ED-4DB2-BD59-A6C34878D82A}">
                    <a16:rowId xmlns:a16="http://schemas.microsoft.com/office/drawing/2014/main" val="1697186057"/>
                  </a:ext>
                </a:extLst>
              </a:tr>
              <a:tr h="2889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smtClean="0"/>
                        <a:t>Utilisation optimisée des ressources d'hébergement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smtClean="0"/>
                    </a:p>
                  </a:txBody>
                  <a:tcPr anchor="ctr"/>
                </a:tc>
                <a:tc>
                  <a:txBody>
                    <a:bodyPr/>
                    <a:lstStyle/>
                    <a:p>
                      <a:pPr marL="0" marR="0" lvl="0" indent="0" algn="ctr" defTabSz="914400" rtl="0" eaLnBrk="1" fontAlgn="b" latinLnBrk="0" hangingPunct="1">
                        <a:lnSpc>
                          <a:spcPct val="100000"/>
                        </a:lnSpc>
                        <a:spcBef>
                          <a:spcPts val="300"/>
                        </a:spcBef>
                        <a:spcAft>
                          <a:spcPts val="300"/>
                        </a:spcAft>
                        <a:buClrTx/>
                        <a:buSzTx/>
                        <a:buFontTx/>
                        <a:buNone/>
                        <a:tabLst/>
                        <a:defRPr/>
                      </a:pPr>
                      <a:r>
                        <a:rPr lang="fr-FR" sz="1800" b="0" i="0" u="none" strike="noStrike" kern="1200" dirty="0" smtClean="0">
                          <a:solidFill>
                            <a:srgbClr val="284780"/>
                          </a:solidFill>
                          <a:effectLst/>
                          <a:latin typeface="Calibri" panose="020F0502020204030204" pitchFamily="34" charset="0"/>
                          <a:ea typeface="+mn-ea"/>
                          <a:cs typeface="+mn-cs"/>
                        </a:rPr>
                        <a:t>Minimiser le besoin en terme de stockage de données</a:t>
                      </a:r>
                    </a:p>
                  </a:txBody>
                  <a:tcPr marL="6350" marR="6350" marT="6350" marB="0" anchor="ctr"/>
                </a:tc>
                <a:extLst>
                  <a:ext uri="{0D108BD9-81ED-4DB2-BD59-A6C34878D82A}">
                    <a16:rowId xmlns:a16="http://schemas.microsoft.com/office/drawing/2014/main" val="2350458293"/>
                  </a:ext>
                </a:extLst>
              </a:tr>
            </a:tbl>
          </a:graphicData>
        </a:graphic>
      </p:graphicFrame>
    </p:spTree>
    <p:extLst>
      <p:ext uri="{BB962C8B-B14F-4D97-AF65-F5344CB8AC3E}">
        <p14:creationId xmlns:p14="http://schemas.microsoft.com/office/powerpoint/2010/main" val="334800038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smtClean="0">
                <a:solidFill>
                  <a:schemeClr val="bg1"/>
                </a:solidFill>
              </a:rPr>
              <a:t>Liste des métiers et Critères</a:t>
            </a:r>
            <a:endParaRPr lang="fr-FR" b="1" dirty="0">
              <a:solidFill>
                <a:schemeClr val="bg1"/>
              </a:solidFill>
            </a:endParaRPr>
          </a:p>
        </p:txBody>
      </p:sp>
      <p:sp>
        <p:nvSpPr>
          <p:cNvPr id="3" name="Espace réservé du contenu 2"/>
          <p:cNvSpPr>
            <a:spLocks noGrp="1"/>
          </p:cNvSpPr>
          <p:nvPr>
            <p:ph idx="1"/>
          </p:nvPr>
        </p:nvSpPr>
        <p:spPr>
          <a:xfrm>
            <a:off x="0" y="1736946"/>
            <a:ext cx="12192000" cy="4351338"/>
          </a:xfrm>
        </p:spPr>
        <p:txBody>
          <a:bodyPr/>
          <a:lstStyle/>
          <a:p>
            <a:pPr marL="0" indent="0">
              <a:buNone/>
            </a:pPr>
            <a:endParaRPr lang="fr-FR" dirty="0">
              <a:solidFill>
                <a:schemeClr val="accent5">
                  <a:lumMod val="75000"/>
                </a:schemeClr>
              </a:solidFill>
            </a:endParaRPr>
          </a:p>
          <a:p>
            <a:pPr marL="0" indent="0">
              <a:buNone/>
            </a:pPr>
            <a:endParaRPr lang="fr-FR" dirty="0" smtClean="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4" name="Tableau 3"/>
          <p:cNvGraphicFramePr>
            <a:graphicFrameLocks noGrp="1"/>
          </p:cNvGraphicFramePr>
          <p:nvPr>
            <p:extLst>
              <p:ext uri="{D42A27DB-BD31-4B8C-83A1-F6EECF244321}">
                <p14:modId xmlns:p14="http://schemas.microsoft.com/office/powerpoint/2010/main" val="1264416645"/>
              </p:ext>
            </p:extLst>
          </p:nvPr>
        </p:nvGraphicFramePr>
        <p:xfrm>
          <a:off x="0" y="1325563"/>
          <a:ext cx="12192000" cy="4832134"/>
        </p:xfrm>
        <a:graphic>
          <a:graphicData uri="http://schemas.openxmlformats.org/drawingml/2006/table">
            <a:tbl>
              <a:tblPr firstRow="1" bandRow="1">
                <a:tableStyleId>{5C22544A-7EE6-4342-B048-85BDC9FD1C3A}</a:tableStyleId>
              </a:tblPr>
              <a:tblGrid>
                <a:gridCol w="3349591">
                  <a:extLst>
                    <a:ext uri="{9D8B030D-6E8A-4147-A177-3AD203B41FA5}">
                      <a16:colId xmlns:a16="http://schemas.microsoft.com/office/drawing/2014/main" val="1970134250"/>
                    </a:ext>
                  </a:extLst>
                </a:gridCol>
                <a:gridCol w="8842409">
                  <a:extLst>
                    <a:ext uri="{9D8B030D-6E8A-4147-A177-3AD203B41FA5}">
                      <a16:colId xmlns:a16="http://schemas.microsoft.com/office/drawing/2014/main" val="567957775"/>
                    </a:ext>
                  </a:extLst>
                </a:gridCol>
              </a:tblGrid>
              <a:tr h="415555">
                <a:tc gridSpan="2">
                  <a:txBody>
                    <a:bodyPr/>
                    <a:lstStyle/>
                    <a:p>
                      <a:pPr algn="ctr"/>
                      <a:r>
                        <a:rPr lang="fr-FR" sz="2400" dirty="0" smtClean="0"/>
                        <a:t>Designer / Développeur</a:t>
                      </a:r>
                    </a:p>
                  </a:txBody>
                  <a:tcPr/>
                </a:tc>
                <a:tc hMerge="1">
                  <a:txBody>
                    <a:bodyPr/>
                    <a:lstStyle/>
                    <a:p>
                      <a:endParaRPr lang="fr-FR" dirty="0"/>
                    </a:p>
                  </a:txBody>
                  <a:tcPr/>
                </a:tc>
                <a:extLst>
                  <a:ext uri="{0D108BD9-81ED-4DB2-BD59-A6C34878D82A}">
                    <a16:rowId xmlns:a16="http://schemas.microsoft.com/office/drawing/2014/main" val="782234525"/>
                  </a:ext>
                </a:extLst>
              </a:tr>
              <a:tr h="277037">
                <a:tc>
                  <a:txBody>
                    <a:bodyPr/>
                    <a:lstStyle/>
                    <a:p>
                      <a:pPr algn="ctr"/>
                      <a:r>
                        <a:rPr lang="fr-FR" sz="1400" b="1" dirty="0" smtClean="0"/>
                        <a:t>Principes directeurs</a:t>
                      </a:r>
                      <a:endParaRPr lang="fr-FR" sz="1400" b="1" dirty="0"/>
                    </a:p>
                  </a:txBody>
                  <a:tcPr anchor="ctr">
                    <a:solidFill>
                      <a:schemeClr val="accent1">
                        <a:lumMod val="40000"/>
                        <a:lumOff val="60000"/>
                      </a:schemeClr>
                    </a:solidFill>
                  </a:tcPr>
                </a:tc>
                <a:tc>
                  <a:txBody>
                    <a:bodyPr/>
                    <a:lstStyle/>
                    <a:p>
                      <a:pPr algn="ctr"/>
                      <a:r>
                        <a:rPr lang="fr-FR" sz="1400" b="1" dirty="0" smtClean="0"/>
                        <a:t>Critères</a:t>
                      </a:r>
                      <a:endParaRPr lang="fr-FR" sz="1400" b="1" dirty="0"/>
                    </a:p>
                  </a:txBody>
                  <a:tcPr anchor="ctr">
                    <a:solidFill>
                      <a:schemeClr val="accent1">
                        <a:lumMod val="40000"/>
                        <a:lumOff val="60000"/>
                      </a:schemeClr>
                    </a:solidFill>
                  </a:tcPr>
                </a:tc>
                <a:extLst>
                  <a:ext uri="{0D108BD9-81ED-4DB2-BD59-A6C34878D82A}">
                    <a16:rowId xmlns:a16="http://schemas.microsoft.com/office/drawing/2014/main" val="1875029581"/>
                  </a:ext>
                </a:extLst>
              </a:tr>
              <a:tr h="255105">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smtClean="0"/>
                        <a:t>Evaluer et rationaliser les besoins fonctionnels et exigences </a:t>
                      </a:r>
                      <a:r>
                        <a:rPr lang="fr-FR" sz="1400" b="1" i="0" u="none" strike="noStrike" kern="1200" dirty="0" smtClean="0">
                          <a:solidFill>
                            <a:srgbClr val="000000"/>
                          </a:solidFill>
                          <a:effectLst/>
                          <a:latin typeface="Calibri" panose="020F0502020204030204" pitchFamily="34" charset="0"/>
                          <a:ea typeface="+mn-ea"/>
                          <a:cs typeface="+mn-cs"/>
                        </a:rPr>
                        <a:t>: Service numérique utilisable</a:t>
                      </a:r>
                    </a:p>
                  </a:txBody>
                  <a:tcPr anchor="ctr"/>
                </a:tc>
                <a:tc>
                  <a:txBody>
                    <a:bodyPr/>
                    <a:lstStyle/>
                    <a:p>
                      <a:pPr algn="ctr" fontAlgn="b">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Etre au plus près des technologies et versions "standards"</a:t>
                      </a:r>
                    </a:p>
                  </a:txBody>
                  <a:tcPr marL="6350" marR="6350" marT="6350" marB="0" anchor="ctr"/>
                </a:tc>
                <a:extLst>
                  <a:ext uri="{0D108BD9-81ED-4DB2-BD59-A6C34878D82A}">
                    <a16:rowId xmlns:a16="http://schemas.microsoft.com/office/drawing/2014/main" val="2878080538"/>
                  </a:ext>
                </a:extLst>
              </a:tr>
              <a:tr h="504437">
                <a:tc vMerge="1">
                  <a:txBody>
                    <a:bodyPr/>
                    <a:lstStyle/>
                    <a:p>
                      <a:endParaRPr lang="fr-FR" sz="1600" dirty="0" smtClean="0"/>
                    </a:p>
                  </a:txBody>
                  <a:tcPr anchor="ctr"/>
                </a:tc>
                <a:tc>
                  <a:txBody>
                    <a:bodyPr/>
                    <a:lstStyle/>
                    <a:p>
                      <a:pPr algn="ctr" fontAlgn="b">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S’assurer que ma solution est utilisable (simple et accessible), et minimise les contraintes sur les terminaux et matériel utilisé</a:t>
                      </a:r>
                    </a:p>
                  </a:txBody>
                  <a:tcPr marL="6350" marR="6350" marT="6350" marB="0" anchor="ctr"/>
                </a:tc>
                <a:extLst>
                  <a:ext uri="{0D108BD9-81ED-4DB2-BD59-A6C34878D82A}">
                    <a16:rowId xmlns:a16="http://schemas.microsoft.com/office/drawing/2014/main" val="3144584378"/>
                  </a:ext>
                </a:extLst>
              </a:tr>
              <a:tr h="255105">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smtClean="0"/>
                        <a:t>Piloter l'empreinte environnementale des projets </a:t>
                      </a:r>
                    </a:p>
                  </a:txBody>
                  <a:tcPr anchor="ctr"/>
                </a:tc>
                <a:tc>
                  <a:txBody>
                    <a:bodyPr/>
                    <a:lstStyle/>
                    <a:p>
                      <a:pPr algn="ctr" fontAlgn="b">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Appliquer des méthodes d’écoconception dans la méthodologie projet</a:t>
                      </a:r>
                    </a:p>
                  </a:txBody>
                  <a:tcPr marL="6350" marR="6350" marT="6350" marB="0" anchor="ctr"/>
                </a:tc>
                <a:extLst>
                  <a:ext uri="{0D108BD9-81ED-4DB2-BD59-A6C34878D82A}">
                    <a16:rowId xmlns:a16="http://schemas.microsoft.com/office/drawing/2014/main" val="3031140149"/>
                  </a:ext>
                </a:extLst>
              </a:tr>
              <a:tr h="255105">
                <a:tc vMerge="1">
                  <a:txBody>
                    <a:bodyPr/>
                    <a:lstStyle/>
                    <a:p>
                      <a:endParaRPr lang="fr-FR" sz="1400" b="1" dirty="0" smtClean="0"/>
                    </a:p>
                  </a:txBody>
                  <a:tcPr anchor="ctr"/>
                </a:tc>
                <a:tc>
                  <a:txBody>
                    <a:bodyPr/>
                    <a:lstStyle/>
                    <a:p>
                      <a:pPr algn="ctr" fontAlgn="b">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Suivre les impacts coté Datacenters</a:t>
                      </a:r>
                    </a:p>
                  </a:txBody>
                  <a:tcPr marL="6350" marR="6350" marT="6350" marB="0" anchor="ctr"/>
                </a:tc>
                <a:extLst>
                  <a:ext uri="{0D108BD9-81ED-4DB2-BD59-A6C34878D82A}">
                    <a16:rowId xmlns:a16="http://schemas.microsoft.com/office/drawing/2014/main" val="2351275081"/>
                  </a:ext>
                </a:extLst>
              </a:tr>
              <a:tr h="255105">
                <a:tc vMerge="1">
                  <a:txBody>
                    <a:bodyPr/>
                    <a:lstStyle/>
                    <a:p>
                      <a:endParaRPr lang="fr-FR" sz="1400" b="1" dirty="0" smtClean="0"/>
                    </a:p>
                  </a:txBody>
                  <a:tcPr anchor="ctr"/>
                </a:tc>
                <a:tc>
                  <a:txBody>
                    <a:bodyPr/>
                    <a:lstStyle/>
                    <a:p>
                      <a:pPr algn="ctr" fontAlgn="b">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Suivre les impacts du service numérique</a:t>
                      </a:r>
                    </a:p>
                  </a:txBody>
                  <a:tcPr marL="6350" marR="6350" marT="6350" marB="0" anchor="ctr"/>
                </a:tc>
                <a:extLst>
                  <a:ext uri="{0D108BD9-81ED-4DB2-BD59-A6C34878D82A}">
                    <a16:rowId xmlns:a16="http://schemas.microsoft.com/office/drawing/2014/main" val="843635770"/>
                  </a:ext>
                </a:extLst>
              </a:tr>
              <a:tr h="255105">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smtClean="0"/>
                        <a:t>Optimisation de l'Expérience et de l'Interface Utilisateur</a:t>
                      </a:r>
                    </a:p>
                  </a:txBody>
                  <a:tcPr anchor="ctr"/>
                </a:tc>
                <a:tc>
                  <a:txBody>
                    <a:bodyPr/>
                    <a:lstStyle/>
                    <a:p>
                      <a:pPr algn="ctr" fontAlgn="b">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Eviter le recours à des ressources inutiles coté terminal utilisateur</a:t>
                      </a:r>
                    </a:p>
                  </a:txBody>
                  <a:tcPr marL="6350" marR="6350" marT="6350" marB="0" anchor="ctr"/>
                </a:tc>
                <a:extLst>
                  <a:ext uri="{0D108BD9-81ED-4DB2-BD59-A6C34878D82A}">
                    <a16:rowId xmlns:a16="http://schemas.microsoft.com/office/drawing/2014/main" val="3944053577"/>
                  </a:ext>
                </a:extLst>
              </a:tr>
              <a:tr h="25510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smtClean="0"/>
                    </a:p>
                  </a:txBody>
                  <a:tcPr anchor="ctr"/>
                </a:tc>
                <a:tc>
                  <a:txBody>
                    <a:bodyPr/>
                    <a:lstStyle/>
                    <a:p>
                      <a:pPr algn="ctr" fontAlgn="b">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Favoriser le bon fonctionnement des navigateurs</a:t>
                      </a:r>
                    </a:p>
                  </a:txBody>
                  <a:tcPr marL="6350" marR="6350" marT="6350" marB="0" anchor="ctr"/>
                </a:tc>
                <a:extLst>
                  <a:ext uri="{0D108BD9-81ED-4DB2-BD59-A6C34878D82A}">
                    <a16:rowId xmlns:a16="http://schemas.microsoft.com/office/drawing/2014/main" val="2024127825"/>
                  </a:ext>
                </a:extLst>
              </a:tr>
              <a:tr h="25510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smtClean="0"/>
                    </a:p>
                  </a:txBody>
                  <a:tcPr anchor="ctr"/>
                </a:tc>
                <a:tc>
                  <a:txBody>
                    <a:bodyPr/>
                    <a:lstStyle/>
                    <a:p>
                      <a:pPr algn="ctr" fontAlgn="b">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Optimiser les ressources d'Interface Utilisateur</a:t>
                      </a:r>
                    </a:p>
                  </a:txBody>
                  <a:tcPr marL="6350" marR="6350" marT="6350" marB="0" anchor="ctr"/>
                </a:tc>
                <a:extLst>
                  <a:ext uri="{0D108BD9-81ED-4DB2-BD59-A6C34878D82A}">
                    <a16:rowId xmlns:a16="http://schemas.microsoft.com/office/drawing/2014/main" val="3218430297"/>
                  </a:ext>
                </a:extLst>
              </a:tr>
              <a:tr h="50443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smtClean="0"/>
                    </a:p>
                  </a:txBody>
                  <a:tcPr anchor="ctr"/>
                </a:tc>
                <a:tc>
                  <a:txBody>
                    <a:bodyPr/>
                    <a:lstStyle/>
                    <a:p>
                      <a:pPr algn="ctr" fontAlgn="b">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Optimiser l'</a:t>
                      </a:r>
                      <a:r>
                        <a:rPr lang="fr-FR" sz="1400" b="0" i="0" u="none" strike="noStrike" kern="1200" dirty="0" err="1" smtClean="0">
                          <a:solidFill>
                            <a:srgbClr val="284780"/>
                          </a:solidFill>
                          <a:effectLst/>
                          <a:latin typeface="Calibri" panose="020F0502020204030204" pitchFamily="34" charset="0"/>
                          <a:ea typeface="+mn-ea"/>
                          <a:cs typeface="+mn-cs"/>
                        </a:rPr>
                        <a:t>intéraction</a:t>
                      </a:r>
                      <a:r>
                        <a:rPr lang="fr-FR" sz="1400" b="0" i="0" u="none" strike="noStrike" kern="1200" dirty="0" smtClean="0">
                          <a:solidFill>
                            <a:srgbClr val="284780"/>
                          </a:solidFill>
                          <a:effectLst/>
                          <a:latin typeface="Calibri" panose="020F0502020204030204" pitchFamily="34" charset="0"/>
                          <a:ea typeface="+mn-ea"/>
                          <a:cs typeface="+mn-cs"/>
                        </a:rPr>
                        <a:t> avec l'utilisateur pour minimiser le temps passé sur son terminal et les échanges client/serveur</a:t>
                      </a:r>
                    </a:p>
                  </a:txBody>
                  <a:tcPr marL="6350" marR="6350" marT="6350" marB="0" anchor="ctr"/>
                </a:tc>
                <a:extLst>
                  <a:ext uri="{0D108BD9-81ED-4DB2-BD59-A6C34878D82A}">
                    <a16:rowId xmlns:a16="http://schemas.microsoft.com/office/drawing/2014/main" val="640942161"/>
                  </a:ext>
                </a:extLst>
              </a:tr>
              <a:tr h="255105">
                <a:tc row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smtClean="0"/>
                        <a:t>La solution intègre des pratiques d'écoconception</a:t>
                      </a:r>
                    </a:p>
                  </a:txBody>
                  <a:tcPr anchor="ctr"/>
                </a:tc>
                <a:tc>
                  <a:txBody>
                    <a:bodyPr/>
                    <a:lstStyle/>
                    <a:p>
                      <a:pPr algn="ctr" fontAlgn="b">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Optimiser les traitements "lourds" coté terminal utilisateur</a:t>
                      </a:r>
                    </a:p>
                  </a:txBody>
                  <a:tcPr marL="6350" marR="6350" marT="6350" marB="0" anchor="ctr"/>
                </a:tc>
                <a:extLst>
                  <a:ext uri="{0D108BD9-81ED-4DB2-BD59-A6C34878D82A}">
                    <a16:rowId xmlns:a16="http://schemas.microsoft.com/office/drawing/2014/main" val="1564865635"/>
                  </a:ext>
                </a:extLst>
              </a:tr>
              <a:tr h="25510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smtClean="0"/>
                    </a:p>
                  </a:txBody>
                  <a:tcPr anchor="ctr"/>
                </a:tc>
                <a:tc>
                  <a:txBody>
                    <a:bodyPr/>
                    <a:lstStyle/>
                    <a:p>
                      <a:pPr algn="ctr" fontAlgn="b">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Limiter le nombre de requête distante</a:t>
                      </a:r>
                    </a:p>
                  </a:txBody>
                  <a:tcPr marL="6350" marR="6350" marT="6350" marB="0" anchor="ctr"/>
                </a:tc>
                <a:extLst>
                  <a:ext uri="{0D108BD9-81ED-4DB2-BD59-A6C34878D82A}">
                    <a16:rowId xmlns:a16="http://schemas.microsoft.com/office/drawing/2014/main" val="3081780277"/>
                  </a:ext>
                </a:extLst>
              </a:tr>
              <a:tr h="25510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smtClean="0"/>
                    </a:p>
                  </a:txBody>
                  <a:tcPr anchor="ctr"/>
                </a:tc>
                <a:tc>
                  <a:txBody>
                    <a:bodyPr/>
                    <a:lstStyle/>
                    <a:p>
                      <a:pPr algn="ctr" fontAlgn="b">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Optimiser la gestion des erreurs pour empêcher qu'elles se reproduisent.</a:t>
                      </a:r>
                    </a:p>
                  </a:txBody>
                  <a:tcPr marL="6350" marR="6350" marT="6350" marB="0" anchor="ctr"/>
                </a:tc>
                <a:extLst>
                  <a:ext uri="{0D108BD9-81ED-4DB2-BD59-A6C34878D82A}">
                    <a16:rowId xmlns:a16="http://schemas.microsoft.com/office/drawing/2014/main" val="4172322234"/>
                  </a:ext>
                </a:extLst>
              </a:tr>
              <a:tr h="25510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smtClean="0"/>
                    </a:p>
                  </a:txBody>
                  <a:tcPr anchor="ctr"/>
                </a:tc>
                <a:tc>
                  <a:txBody>
                    <a:bodyPr/>
                    <a:lstStyle/>
                    <a:p>
                      <a:pPr algn="ctr" fontAlgn="b">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Optimiser le poids des échanges "client/serveur"</a:t>
                      </a:r>
                    </a:p>
                  </a:txBody>
                  <a:tcPr marL="6350" marR="6350" marT="6350" marB="0" anchor="ctr"/>
                </a:tc>
                <a:extLst>
                  <a:ext uri="{0D108BD9-81ED-4DB2-BD59-A6C34878D82A}">
                    <a16:rowId xmlns:a16="http://schemas.microsoft.com/office/drawing/2014/main" val="1697186057"/>
                  </a:ext>
                </a:extLst>
              </a:tr>
              <a:tr h="25510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smtClean="0"/>
                    </a:p>
                  </a:txBody>
                  <a:tcPr anchor="ctr"/>
                </a:tc>
                <a:tc>
                  <a:txBody>
                    <a:bodyPr/>
                    <a:lstStyle/>
                    <a:p>
                      <a:pPr algn="ctr" fontAlgn="b">
                        <a:spcBef>
                          <a:spcPts val="300"/>
                        </a:spcBef>
                        <a:spcAft>
                          <a:spcPts val="300"/>
                        </a:spcAft>
                      </a:pPr>
                      <a:r>
                        <a:rPr lang="fr-FR" sz="1400" b="0" i="0" u="none" strike="noStrike" kern="1200" dirty="0" smtClean="0">
                          <a:solidFill>
                            <a:srgbClr val="284780"/>
                          </a:solidFill>
                          <a:effectLst/>
                          <a:latin typeface="Calibri" panose="020F0502020204030204" pitchFamily="34" charset="0"/>
                          <a:ea typeface="+mn-ea"/>
                          <a:cs typeface="+mn-cs"/>
                        </a:rPr>
                        <a:t>Favoriser les traitements asynchrones</a:t>
                      </a:r>
                    </a:p>
                  </a:txBody>
                  <a:tcPr marL="6350" marR="6350" marT="6350" marB="0" anchor="ctr"/>
                </a:tc>
                <a:extLst>
                  <a:ext uri="{0D108BD9-81ED-4DB2-BD59-A6C34878D82A}">
                    <a16:rowId xmlns:a16="http://schemas.microsoft.com/office/drawing/2014/main" val="1910784173"/>
                  </a:ext>
                </a:extLst>
              </a:tr>
            </a:tbl>
          </a:graphicData>
        </a:graphic>
      </p:graphicFrame>
    </p:spTree>
    <p:extLst>
      <p:ext uri="{BB962C8B-B14F-4D97-AF65-F5344CB8AC3E}">
        <p14:creationId xmlns:p14="http://schemas.microsoft.com/office/powerpoint/2010/main" val="166388988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smtClean="0">
                <a:solidFill>
                  <a:schemeClr val="bg1"/>
                </a:solidFill>
              </a:rPr>
              <a:t>Liste des métiers et Critères</a:t>
            </a:r>
            <a:endParaRPr lang="fr-FR" b="1" dirty="0">
              <a:solidFill>
                <a:schemeClr val="bg1"/>
              </a:solidFill>
            </a:endParaRPr>
          </a:p>
        </p:txBody>
      </p:sp>
      <p:sp>
        <p:nvSpPr>
          <p:cNvPr id="3" name="Espace réservé du contenu 2"/>
          <p:cNvSpPr>
            <a:spLocks noGrp="1"/>
          </p:cNvSpPr>
          <p:nvPr>
            <p:ph idx="1"/>
          </p:nvPr>
        </p:nvSpPr>
        <p:spPr>
          <a:xfrm>
            <a:off x="0" y="1736946"/>
            <a:ext cx="12192000" cy="4351338"/>
          </a:xfrm>
        </p:spPr>
        <p:txBody>
          <a:bodyPr/>
          <a:lstStyle/>
          <a:p>
            <a:pPr marL="0" indent="0">
              <a:buNone/>
            </a:pPr>
            <a:endParaRPr lang="fr-FR" dirty="0">
              <a:solidFill>
                <a:schemeClr val="accent5">
                  <a:lumMod val="75000"/>
                </a:schemeClr>
              </a:solidFill>
            </a:endParaRPr>
          </a:p>
          <a:p>
            <a:pPr marL="0" indent="0">
              <a:buNone/>
            </a:pPr>
            <a:endParaRPr lang="fr-FR" dirty="0" smtClean="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4" name="Tableau 3"/>
          <p:cNvGraphicFramePr>
            <a:graphicFrameLocks noGrp="1"/>
          </p:cNvGraphicFramePr>
          <p:nvPr>
            <p:extLst>
              <p:ext uri="{D42A27DB-BD31-4B8C-83A1-F6EECF244321}">
                <p14:modId xmlns:p14="http://schemas.microsoft.com/office/powerpoint/2010/main" val="13643041"/>
              </p:ext>
            </p:extLst>
          </p:nvPr>
        </p:nvGraphicFramePr>
        <p:xfrm>
          <a:off x="0" y="1325563"/>
          <a:ext cx="12192000" cy="4816895"/>
        </p:xfrm>
        <a:graphic>
          <a:graphicData uri="http://schemas.openxmlformats.org/drawingml/2006/table">
            <a:tbl>
              <a:tblPr firstRow="1" bandRow="1">
                <a:tableStyleId>{5C22544A-7EE6-4342-B048-85BDC9FD1C3A}</a:tableStyleId>
              </a:tblPr>
              <a:tblGrid>
                <a:gridCol w="3349591">
                  <a:extLst>
                    <a:ext uri="{9D8B030D-6E8A-4147-A177-3AD203B41FA5}">
                      <a16:colId xmlns:a16="http://schemas.microsoft.com/office/drawing/2014/main" val="1970134250"/>
                    </a:ext>
                  </a:extLst>
                </a:gridCol>
                <a:gridCol w="8842409">
                  <a:extLst>
                    <a:ext uri="{9D8B030D-6E8A-4147-A177-3AD203B41FA5}">
                      <a16:colId xmlns:a16="http://schemas.microsoft.com/office/drawing/2014/main" val="567957775"/>
                    </a:ext>
                  </a:extLst>
                </a:gridCol>
              </a:tblGrid>
              <a:tr h="415555">
                <a:tc gridSpan="2">
                  <a:txBody>
                    <a:bodyPr/>
                    <a:lstStyle/>
                    <a:p>
                      <a:pPr algn="ctr"/>
                      <a:r>
                        <a:rPr lang="fr-FR" sz="2400" dirty="0" smtClean="0"/>
                        <a:t>Développeur</a:t>
                      </a:r>
                    </a:p>
                  </a:txBody>
                  <a:tcPr/>
                </a:tc>
                <a:tc hMerge="1">
                  <a:txBody>
                    <a:bodyPr/>
                    <a:lstStyle/>
                    <a:p>
                      <a:endParaRPr lang="fr-FR" dirty="0"/>
                    </a:p>
                  </a:txBody>
                  <a:tcPr/>
                </a:tc>
                <a:extLst>
                  <a:ext uri="{0D108BD9-81ED-4DB2-BD59-A6C34878D82A}">
                    <a16:rowId xmlns:a16="http://schemas.microsoft.com/office/drawing/2014/main" val="782234525"/>
                  </a:ext>
                </a:extLst>
              </a:tr>
              <a:tr h="277037">
                <a:tc>
                  <a:txBody>
                    <a:bodyPr/>
                    <a:lstStyle/>
                    <a:p>
                      <a:pPr algn="ctr"/>
                      <a:r>
                        <a:rPr lang="fr-FR" sz="1600" b="1" dirty="0" smtClean="0"/>
                        <a:t>Principes directeurs</a:t>
                      </a:r>
                      <a:endParaRPr lang="fr-FR" sz="1600" b="1" dirty="0"/>
                    </a:p>
                  </a:txBody>
                  <a:tcPr anchor="ctr">
                    <a:solidFill>
                      <a:schemeClr val="accent1">
                        <a:lumMod val="40000"/>
                        <a:lumOff val="60000"/>
                      </a:schemeClr>
                    </a:solidFill>
                  </a:tcPr>
                </a:tc>
                <a:tc>
                  <a:txBody>
                    <a:bodyPr/>
                    <a:lstStyle/>
                    <a:p>
                      <a:pPr algn="ctr"/>
                      <a:r>
                        <a:rPr lang="fr-FR" sz="1600" b="1" dirty="0" smtClean="0"/>
                        <a:t>Critères</a:t>
                      </a:r>
                      <a:endParaRPr lang="fr-FR" sz="1600" b="1" dirty="0"/>
                    </a:p>
                  </a:txBody>
                  <a:tcPr anchor="ctr">
                    <a:solidFill>
                      <a:schemeClr val="accent1">
                        <a:lumMod val="40000"/>
                        <a:lumOff val="60000"/>
                      </a:schemeClr>
                    </a:solidFill>
                  </a:tcPr>
                </a:tc>
                <a:extLst>
                  <a:ext uri="{0D108BD9-81ED-4DB2-BD59-A6C34878D82A}">
                    <a16:rowId xmlns:a16="http://schemas.microsoft.com/office/drawing/2014/main" val="1875029581"/>
                  </a:ext>
                </a:extLst>
              </a:tr>
              <a:tr h="255105">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smtClean="0"/>
                        <a:t>Piloter l'empreinte environnementale des projets </a:t>
                      </a:r>
                    </a:p>
                  </a:txBody>
                  <a:tcPr anchor="ct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Appliquer des méthodes d’écoconception dans la méthodologie projet</a:t>
                      </a:r>
                    </a:p>
                  </a:txBody>
                  <a:tcPr marL="6350" marR="6350" marT="6350" marB="0" anchor="ctr"/>
                </a:tc>
                <a:extLst>
                  <a:ext uri="{0D108BD9-81ED-4DB2-BD59-A6C34878D82A}">
                    <a16:rowId xmlns:a16="http://schemas.microsoft.com/office/drawing/2014/main" val="3031140149"/>
                  </a:ext>
                </a:extLst>
              </a:tr>
              <a:tr h="255105">
                <a:tc vMerge="1">
                  <a:txBody>
                    <a:bodyPr/>
                    <a:lstStyle/>
                    <a:p>
                      <a:endParaRPr lang="fr-FR" sz="1400" b="1" dirty="0" smtClean="0"/>
                    </a:p>
                  </a:txBody>
                  <a:tcPr anchor="ct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Suivre les impacts coté Datacenters</a:t>
                      </a:r>
                    </a:p>
                  </a:txBody>
                  <a:tcPr marL="6350" marR="6350" marT="6350" marB="0" anchor="ctr"/>
                </a:tc>
                <a:extLst>
                  <a:ext uri="{0D108BD9-81ED-4DB2-BD59-A6C34878D82A}">
                    <a16:rowId xmlns:a16="http://schemas.microsoft.com/office/drawing/2014/main" val="2351275081"/>
                  </a:ext>
                </a:extLst>
              </a:tr>
              <a:tr h="255105">
                <a:tc vMerge="1">
                  <a:txBody>
                    <a:bodyPr/>
                    <a:lstStyle/>
                    <a:p>
                      <a:endParaRPr lang="fr-FR" sz="1400" b="1" dirty="0" smtClean="0"/>
                    </a:p>
                  </a:txBody>
                  <a:tcPr anchor="ct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Suivre les impacts du service numérique</a:t>
                      </a:r>
                    </a:p>
                  </a:txBody>
                  <a:tcPr marL="6350" marR="6350" marT="6350" marB="0" anchor="ctr"/>
                </a:tc>
                <a:extLst>
                  <a:ext uri="{0D108BD9-81ED-4DB2-BD59-A6C34878D82A}">
                    <a16:rowId xmlns:a16="http://schemas.microsoft.com/office/drawing/2014/main" val="843635770"/>
                  </a:ext>
                </a:extLst>
              </a:tr>
              <a:tr h="5044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smtClean="0"/>
                        <a:t>Optimisation de l'Expérience et de l'Interface Utilisateur</a:t>
                      </a:r>
                    </a:p>
                  </a:txBody>
                  <a:tcPr anchor="ct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Optimiser l'</a:t>
                      </a:r>
                      <a:r>
                        <a:rPr lang="fr-FR" sz="1600" b="0" i="0" u="none" strike="noStrike" kern="1200" dirty="0" err="1" smtClean="0">
                          <a:solidFill>
                            <a:srgbClr val="284780"/>
                          </a:solidFill>
                          <a:effectLst/>
                          <a:latin typeface="Calibri" panose="020F0502020204030204" pitchFamily="34" charset="0"/>
                          <a:ea typeface="+mn-ea"/>
                          <a:cs typeface="+mn-cs"/>
                        </a:rPr>
                        <a:t>intéraction</a:t>
                      </a:r>
                      <a:r>
                        <a:rPr lang="fr-FR" sz="1600" b="0" i="0" u="none" strike="noStrike" kern="1200" dirty="0" smtClean="0">
                          <a:solidFill>
                            <a:srgbClr val="284780"/>
                          </a:solidFill>
                          <a:effectLst/>
                          <a:latin typeface="Calibri" panose="020F0502020204030204" pitchFamily="34" charset="0"/>
                          <a:ea typeface="+mn-ea"/>
                          <a:cs typeface="+mn-cs"/>
                        </a:rPr>
                        <a:t> avec l'utilisateur pour minimiser le temps passé sur son terminal et les échanges client/serveur</a:t>
                      </a:r>
                    </a:p>
                  </a:txBody>
                  <a:tcPr marL="6350" marR="6350" marT="6350" marB="0" anchor="ctr"/>
                </a:tc>
                <a:extLst>
                  <a:ext uri="{0D108BD9-81ED-4DB2-BD59-A6C34878D82A}">
                    <a16:rowId xmlns:a16="http://schemas.microsoft.com/office/drawing/2014/main" val="640942161"/>
                  </a:ext>
                </a:extLst>
              </a:tr>
              <a:tr h="255105">
                <a:tc rowSpan="7">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smtClean="0"/>
                        <a:t>La solution intègre des pratiques d'écoconception</a:t>
                      </a:r>
                    </a:p>
                  </a:txBody>
                  <a:tcPr anchor="ct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Limiter le nombre de requête distante</a:t>
                      </a:r>
                    </a:p>
                  </a:txBody>
                  <a:tcPr marL="6350" marR="6350" marT="6350" marB="0" anchor="ctr"/>
                </a:tc>
                <a:extLst>
                  <a:ext uri="{0D108BD9-81ED-4DB2-BD59-A6C34878D82A}">
                    <a16:rowId xmlns:a16="http://schemas.microsoft.com/office/drawing/2014/main" val="1564865635"/>
                  </a:ext>
                </a:extLst>
              </a:tr>
              <a:tr h="255105">
                <a:tc vMerge="1">
                  <a:txBody>
                    <a:bodyPr/>
                    <a:lstStyle/>
                    <a:p>
                      <a:endParaRPr lang="fr-FR"/>
                    </a:p>
                  </a:txBody>
                  <a:tcP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Optimiser la gestion des erreurs pour empêcher qu'elles se reproduisent.</a:t>
                      </a:r>
                    </a:p>
                  </a:txBody>
                  <a:tcPr marL="6350" marR="6350" marT="6350" marB="0" anchor="ctr"/>
                </a:tc>
                <a:extLst>
                  <a:ext uri="{0D108BD9-81ED-4DB2-BD59-A6C34878D82A}">
                    <a16:rowId xmlns:a16="http://schemas.microsoft.com/office/drawing/2014/main" val="2321138664"/>
                  </a:ext>
                </a:extLst>
              </a:tr>
              <a:tr h="255105">
                <a:tc vMerge="1">
                  <a:txBody>
                    <a:bodyPr/>
                    <a:lstStyle/>
                    <a:p>
                      <a:endParaRPr lang="fr-FR"/>
                    </a:p>
                  </a:txBody>
                  <a:tcP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Optimiser le poids des échanges "client/serveur"</a:t>
                      </a:r>
                    </a:p>
                  </a:txBody>
                  <a:tcPr marL="6350" marR="6350" marT="6350" marB="0" anchor="ctr"/>
                </a:tc>
                <a:extLst>
                  <a:ext uri="{0D108BD9-81ED-4DB2-BD59-A6C34878D82A}">
                    <a16:rowId xmlns:a16="http://schemas.microsoft.com/office/drawing/2014/main" val="3489593449"/>
                  </a:ext>
                </a:extLst>
              </a:tr>
              <a:tr h="25510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smtClean="0"/>
                    </a:p>
                  </a:txBody>
                  <a:tcPr anchor="ct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Eviter un usage non justifié et déraisonné d’une phase</a:t>
                      </a:r>
                    </a:p>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d’entraînement</a:t>
                      </a:r>
                    </a:p>
                  </a:txBody>
                  <a:tcPr marL="6350" marR="6350" marT="6350" marB="0" anchor="ctr"/>
                </a:tc>
                <a:extLst>
                  <a:ext uri="{0D108BD9-81ED-4DB2-BD59-A6C34878D82A}">
                    <a16:rowId xmlns:a16="http://schemas.microsoft.com/office/drawing/2014/main" val="3081780277"/>
                  </a:ext>
                </a:extLst>
              </a:tr>
              <a:tr h="25510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smtClean="0"/>
                    </a:p>
                  </a:txBody>
                  <a:tcPr anchor="ct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Favoriser les traitements asynchrones</a:t>
                      </a:r>
                    </a:p>
                  </a:txBody>
                  <a:tcPr marL="6350" marR="6350" marT="6350" marB="0" anchor="ctr"/>
                </a:tc>
                <a:extLst>
                  <a:ext uri="{0D108BD9-81ED-4DB2-BD59-A6C34878D82A}">
                    <a16:rowId xmlns:a16="http://schemas.microsoft.com/office/drawing/2014/main" val="4172322234"/>
                  </a:ext>
                </a:extLst>
              </a:tr>
              <a:tr h="25510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smtClean="0"/>
                    </a:p>
                  </a:txBody>
                  <a:tcPr anchor="ct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Optimiser les traitements "lourds" coté serveur</a:t>
                      </a:r>
                    </a:p>
                  </a:txBody>
                  <a:tcPr marL="6350" marR="6350" marT="6350" marB="0" anchor="ctr"/>
                </a:tc>
                <a:extLst>
                  <a:ext uri="{0D108BD9-81ED-4DB2-BD59-A6C34878D82A}">
                    <a16:rowId xmlns:a16="http://schemas.microsoft.com/office/drawing/2014/main" val="1697186057"/>
                  </a:ext>
                </a:extLst>
              </a:tr>
              <a:tr h="25510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smtClean="0"/>
                    </a:p>
                  </a:txBody>
                  <a:tcPr anchor="ct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Paramétrer de manière optimal coté serveur</a:t>
                      </a:r>
                    </a:p>
                  </a:txBody>
                  <a:tcPr marL="6350" marR="6350" marT="6350" marB="0" anchor="ctr"/>
                </a:tc>
                <a:extLst>
                  <a:ext uri="{0D108BD9-81ED-4DB2-BD59-A6C34878D82A}">
                    <a16:rowId xmlns:a16="http://schemas.microsoft.com/office/drawing/2014/main" val="1910784173"/>
                  </a:ext>
                </a:extLst>
              </a:tr>
              <a:tr h="2551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smtClean="0"/>
                        <a:t>Utilisation optimisée des ressources d'hébergement</a:t>
                      </a:r>
                    </a:p>
                  </a:txBody>
                  <a:tcPr anchor="ct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Minimiser le besoin en terme de stockage de données</a:t>
                      </a:r>
                    </a:p>
                  </a:txBody>
                  <a:tcPr marL="6350" marR="6350" marT="6350" marB="0" anchor="ctr"/>
                </a:tc>
                <a:extLst>
                  <a:ext uri="{0D108BD9-81ED-4DB2-BD59-A6C34878D82A}">
                    <a16:rowId xmlns:a16="http://schemas.microsoft.com/office/drawing/2014/main" val="11119444"/>
                  </a:ext>
                </a:extLst>
              </a:tr>
            </a:tbl>
          </a:graphicData>
        </a:graphic>
      </p:graphicFrame>
    </p:spTree>
    <p:extLst>
      <p:ext uri="{BB962C8B-B14F-4D97-AF65-F5344CB8AC3E}">
        <p14:creationId xmlns:p14="http://schemas.microsoft.com/office/powerpoint/2010/main" val="14626181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smtClean="0">
                <a:solidFill>
                  <a:schemeClr val="bg1"/>
                </a:solidFill>
              </a:rPr>
              <a:t>Liste des métiers et Critères</a:t>
            </a:r>
            <a:endParaRPr lang="fr-FR" b="1" dirty="0">
              <a:solidFill>
                <a:schemeClr val="bg1"/>
              </a:solidFill>
            </a:endParaRPr>
          </a:p>
        </p:txBody>
      </p:sp>
      <p:sp>
        <p:nvSpPr>
          <p:cNvPr id="3" name="Espace réservé du contenu 2"/>
          <p:cNvSpPr>
            <a:spLocks noGrp="1"/>
          </p:cNvSpPr>
          <p:nvPr>
            <p:ph idx="1"/>
          </p:nvPr>
        </p:nvSpPr>
        <p:spPr>
          <a:xfrm>
            <a:off x="0" y="1736946"/>
            <a:ext cx="12192000" cy="4351338"/>
          </a:xfrm>
        </p:spPr>
        <p:txBody>
          <a:bodyPr/>
          <a:lstStyle/>
          <a:p>
            <a:pPr marL="0" indent="0">
              <a:buNone/>
            </a:pPr>
            <a:endParaRPr lang="fr-FR" dirty="0">
              <a:solidFill>
                <a:schemeClr val="accent5">
                  <a:lumMod val="75000"/>
                </a:schemeClr>
              </a:solidFill>
            </a:endParaRPr>
          </a:p>
          <a:p>
            <a:pPr marL="0" indent="0">
              <a:buNone/>
            </a:pPr>
            <a:endParaRPr lang="fr-FR" dirty="0" smtClean="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4" name="Tableau 3"/>
          <p:cNvGraphicFramePr>
            <a:graphicFrameLocks noGrp="1"/>
          </p:cNvGraphicFramePr>
          <p:nvPr>
            <p:extLst>
              <p:ext uri="{D42A27DB-BD31-4B8C-83A1-F6EECF244321}">
                <p14:modId xmlns:p14="http://schemas.microsoft.com/office/powerpoint/2010/main" val="1480232204"/>
              </p:ext>
            </p:extLst>
          </p:nvPr>
        </p:nvGraphicFramePr>
        <p:xfrm>
          <a:off x="0" y="1325563"/>
          <a:ext cx="12192000" cy="4762720"/>
        </p:xfrm>
        <a:graphic>
          <a:graphicData uri="http://schemas.openxmlformats.org/drawingml/2006/table">
            <a:tbl>
              <a:tblPr firstRow="1" bandRow="1">
                <a:tableStyleId>{5C22544A-7EE6-4342-B048-85BDC9FD1C3A}</a:tableStyleId>
              </a:tblPr>
              <a:tblGrid>
                <a:gridCol w="3349591">
                  <a:extLst>
                    <a:ext uri="{9D8B030D-6E8A-4147-A177-3AD203B41FA5}">
                      <a16:colId xmlns:a16="http://schemas.microsoft.com/office/drawing/2014/main" val="1970134250"/>
                    </a:ext>
                  </a:extLst>
                </a:gridCol>
                <a:gridCol w="8842409">
                  <a:extLst>
                    <a:ext uri="{9D8B030D-6E8A-4147-A177-3AD203B41FA5}">
                      <a16:colId xmlns:a16="http://schemas.microsoft.com/office/drawing/2014/main" val="567957775"/>
                    </a:ext>
                  </a:extLst>
                </a:gridCol>
              </a:tblGrid>
              <a:tr h="499807">
                <a:tc gridSpan="2">
                  <a:txBody>
                    <a:bodyPr/>
                    <a:lstStyle/>
                    <a:p>
                      <a:pPr algn="ctr"/>
                      <a:r>
                        <a:rPr lang="fr-FR" sz="2400" dirty="0" smtClean="0"/>
                        <a:t>Intégrateur / Exploitant d'environnements / Hébergeur / expert Socle Techno </a:t>
                      </a:r>
                    </a:p>
                  </a:txBody>
                  <a:tcPr/>
                </a:tc>
                <a:tc hMerge="1">
                  <a:txBody>
                    <a:bodyPr/>
                    <a:lstStyle/>
                    <a:p>
                      <a:endParaRPr lang="fr-FR" dirty="0"/>
                    </a:p>
                  </a:txBody>
                  <a:tcPr/>
                </a:tc>
                <a:extLst>
                  <a:ext uri="{0D108BD9-81ED-4DB2-BD59-A6C34878D82A}">
                    <a16:rowId xmlns:a16="http://schemas.microsoft.com/office/drawing/2014/main" val="782234525"/>
                  </a:ext>
                </a:extLst>
              </a:tr>
              <a:tr h="366525">
                <a:tc>
                  <a:txBody>
                    <a:bodyPr/>
                    <a:lstStyle/>
                    <a:p>
                      <a:pPr algn="ctr"/>
                      <a:r>
                        <a:rPr lang="fr-FR" sz="1600" b="1" dirty="0" smtClean="0"/>
                        <a:t>Principes directeurs</a:t>
                      </a:r>
                      <a:endParaRPr lang="fr-FR" sz="1600" b="1" dirty="0"/>
                    </a:p>
                  </a:txBody>
                  <a:tcPr anchor="ctr">
                    <a:solidFill>
                      <a:schemeClr val="accent1">
                        <a:lumMod val="40000"/>
                        <a:lumOff val="60000"/>
                      </a:schemeClr>
                    </a:solidFill>
                  </a:tcPr>
                </a:tc>
                <a:tc>
                  <a:txBody>
                    <a:bodyPr/>
                    <a:lstStyle/>
                    <a:p>
                      <a:pPr algn="ctr"/>
                      <a:r>
                        <a:rPr lang="fr-FR" sz="1600" b="1" dirty="0" smtClean="0"/>
                        <a:t>Critères</a:t>
                      </a:r>
                      <a:endParaRPr lang="fr-FR" sz="1600" b="1" dirty="0"/>
                    </a:p>
                  </a:txBody>
                  <a:tcPr anchor="ctr">
                    <a:solidFill>
                      <a:schemeClr val="accent1">
                        <a:lumMod val="40000"/>
                        <a:lumOff val="60000"/>
                      </a:schemeClr>
                    </a:solidFill>
                  </a:tcPr>
                </a:tc>
                <a:extLst>
                  <a:ext uri="{0D108BD9-81ED-4DB2-BD59-A6C34878D82A}">
                    <a16:rowId xmlns:a16="http://schemas.microsoft.com/office/drawing/2014/main" val="1875029581"/>
                  </a:ext>
                </a:extLst>
              </a:tr>
              <a:tr h="278879">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smtClean="0"/>
                        <a:t>Piloter l'empreinte environnementale des projets </a:t>
                      </a:r>
                    </a:p>
                  </a:txBody>
                  <a:tcPr anchor="ct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Suivre les impacts coté Datacenters</a:t>
                      </a:r>
                    </a:p>
                  </a:txBody>
                  <a:tcPr marL="6350" marR="6350" marT="6350" marB="0" anchor="ctr"/>
                </a:tc>
                <a:extLst>
                  <a:ext uri="{0D108BD9-81ED-4DB2-BD59-A6C34878D82A}">
                    <a16:rowId xmlns:a16="http://schemas.microsoft.com/office/drawing/2014/main" val="2351275081"/>
                  </a:ext>
                </a:extLst>
              </a:tr>
              <a:tr h="354211">
                <a:tc vMerge="1">
                  <a:txBody>
                    <a:bodyPr/>
                    <a:lstStyle/>
                    <a:p>
                      <a:endParaRPr lang="fr-FR" sz="1400" b="1" dirty="0" smtClean="0"/>
                    </a:p>
                  </a:txBody>
                  <a:tcPr anchor="ct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Suivre les impacts du service numérique</a:t>
                      </a:r>
                    </a:p>
                  </a:txBody>
                  <a:tcPr marL="6350" marR="6350" marT="6350" marB="0" anchor="ctr"/>
                </a:tc>
                <a:extLst>
                  <a:ext uri="{0D108BD9-81ED-4DB2-BD59-A6C34878D82A}">
                    <a16:rowId xmlns:a16="http://schemas.microsoft.com/office/drawing/2014/main" val="843635770"/>
                  </a:ext>
                </a:extLst>
              </a:tr>
              <a:tr h="278879">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smtClean="0"/>
                        <a:t>La solution intègre des pratiques d'écoconception</a:t>
                      </a:r>
                    </a:p>
                  </a:txBody>
                  <a:tcPr anchor="ct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Optimiser la gestion des erreurs pour empêcher qu'elles se reproduisent.</a:t>
                      </a:r>
                    </a:p>
                  </a:txBody>
                  <a:tcPr marL="6350" marR="6350" marT="6350" marB="0" anchor="ctr"/>
                </a:tc>
                <a:extLst>
                  <a:ext uri="{0D108BD9-81ED-4DB2-BD59-A6C34878D82A}">
                    <a16:rowId xmlns:a16="http://schemas.microsoft.com/office/drawing/2014/main" val="2321138664"/>
                  </a:ext>
                </a:extLst>
              </a:tr>
              <a:tr h="278879">
                <a:tc vMerge="1">
                  <a:txBody>
                    <a:bodyPr/>
                    <a:lstStyle/>
                    <a:p>
                      <a:endParaRPr lang="fr-FR"/>
                    </a:p>
                  </a:txBody>
                  <a:tcP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Optimiser le poids des échanges "client/serveur"</a:t>
                      </a:r>
                    </a:p>
                  </a:txBody>
                  <a:tcPr marL="6350" marR="6350" marT="6350" marB="0" anchor="ctr"/>
                </a:tc>
                <a:extLst>
                  <a:ext uri="{0D108BD9-81ED-4DB2-BD59-A6C34878D82A}">
                    <a16:rowId xmlns:a16="http://schemas.microsoft.com/office/drawing/2014/main" val="3489593449"/>
                  </a:ext>
                </a:extLst>
              </a:tr>
              <a:tr h="278879">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smtClean="0"/>
                    </a:p>
                  </a:txBody>
                  <a:tcPr anchor="ct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Optimiser les traitements "lourds" coté serveur</a:t>
                      </a:r>
                    </a:p>
                  </a:txBody>
                  <a:tcPr marL="6350" marR="6350" marT="6350" marB="0" anchor="ctr"/>
                </a:tc>
                <a:extLst>
                  <a:ext uri="{0D108BD9-81ED-4DB2-BD59-A6C34878D82A}">
                    <a16:rowId xmlns:a16="http://schemas.microsoft.com/office/drawing/2014/main" val="1697186057"/>
                  </a:ext>
                </a:extLst>
              </a:tr>
              <a:tr h="278879">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smtClean="0"/>
                    </a:p>
                  </a:txBody>
                  <a:tcPr anchor="ct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Paramétrer de manière optimal coté serveur</a:t>
                      </a:r>
                    </a:p>
                  </a:txBody>
                  <a:tcPr marL="6350" marR="6350" marT="6350" marB="0" anchor="ctr"/>
                </a:tc>
                <a:extLst>
                  <a:ext uri="{0D108BD9-81ED-4DB2-BD59-A6C34878D82A}">
                    <a16:rowId xmlns:a16="http://schemas.microsoft.com/office/drawing/2014/main" val="1910784173"/>
                  </a:ext>
                </a:extLst>
              </a:tr>
              <a:tr h="306826">
                <a:tc rowSpan="7">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smtClean="0"/>
                        <a:t>Utilisation optimisée des ressources d'hébergement</a:t>
                      </a:r>
                    </a:p>
                  </a:txBody>
                  <a:tcPr anchor="ct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Ajuster tout au long du cycle de vie le dimensionnement les ressources IT au juste besoin</a:t>
                      </a:r>
                    </a:p>
                  </a:txBody>
                  <a:tcPr marL="6350" marR="6350" marT="6350" marB="0" anchor="ctr"/>
                </a:tc>
                <a:extLst>
                  <a:ext uri="{0D108BD9-81ED-4DB2-BD59-A6C34878D82A}">
                    <a16:rowId xmlns:a16="http://schemas.microsoft.com/office/drawing/2014/main" val="11119444"/>
                  </a:ext>
                </a:extLst>
              </a:tr>
              <a:tr h="30682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smtClean="0"/>
                    </a:p>
                  </a:txBody>
                  <a:tcPr anchor="ct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Eviter la duplication d'infra (machine/stockage)</a:t>
                      </a:r>
                    </a:p>
                  </a:txBody>
                  <a:tcPr marL="6350" marR="6350" marT="6350" marB="0" anchor="ctr"/>
                </a:tc>
                <a:extLst>
                  <a:ext uri="{0D108BD9-81ED-4DB2-BD59-A6C34878D82A}">
                    <a16:rowId xmlns:a16="http://schemas.microsoft.com/office/drawing/2014/main" val="40187519"/>
                  </a:ext>
                </a:extLst>
              </a:tr>
              <a:tr h="30682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smtClean="0"/>
                    </a:p>
                  </a:txBody>
                  <a:tcPr anchor="ct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Minimiser le besoin en terme de stockage de données</a:t>
                      </a:r>
                    </a:p>
                  </a:txBody>
                  <a:tcPr marL="6350" marR="6350" marT="6350" marB="0" anchor="ctr"/>
                </a:tc>
                <a:extLst>
                  <a:ext uri="{0D108BD9-81ED-4DB2-BD59-A6C34878D82A}">
                    <a16:rowId xmlns:a16="http://schemas.microsoft.com/office/drawing/2014/main" val="246332350"/>
                  </a:ext>
                </a:extLst>
              </a:tr>
              <a:tr h="30682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smtClean="0"/>
                    </a:p>
                  </a:txBody>
                  <a:tcPr anchor="ct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Optimiser le parc physique IT</a:t>
                      </a:r>
                    </a:p>
                  </a:txBody>
                  <a:tcPr marL="6350" marR="6350" marT="6350" marB="0" anchor="ctr"/>
                </a:tc>
                <a:extLst>
                  <a:ext uri="{0D108BD9-81ED-4DB2-BD59-A6C34878D82A}">
                    <a16:rowId xmlns:a16="http://schemas.microsoft.com/office/drawing/2014/main" val="3376155341"/>
                  </a:ext>
                </a:extLst>
              </a:tr>
              <a:tr h="30682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smtClean="0"/>
                    </a:p>
                  </a:txBody>
                  <a:tcPr anchor="ct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S’assurer de limiter le besoin en infra</a:t>
                      </a:r>
                    </a:p>
                  </a:txBody>
                  <a:tcPr marL="6350" marR="6350" marT="6350" marB="0" anchor="ctr"/>
                </a:tc>
                <a:extLst>
                  <a:ext uri="{0D108BD9-81ED-4DB2-BD59-A6C34878D82A}">
                    <a16:rowId xmlns:a16="http://schemas.microsoft.com/office/drawing/2014/main" val="3714501536"/>
                  </a:ext>
                </a:extLst>
              </a:tr>
              <a:tr h="30682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smtClean="0"/>
                    </a:p>
                  </a:txBody>
                  <a:tcPr anchor="ct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Décommissionner</a:t>
                      </a:r>
                    </a:p>
                  </a:txBody>
                  <a:tcPr marL="6350" marR="6350" marT="6350" marB="0" anchor="ctr"/>
                </a:tc>
                <a:extLst>
                  <a:ext uri="{0D108BD9-81ED-4DB2-BD59-A6C34878D82A}">
                    <a16:rowId xmlns:a16="http://schemas.microsoft.com/office/drawing/2014/main" val="2463814571"/>
                  </a:ext>
                </a:extLst>
              </a:tr>
              <a:tr h="30682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600" b="1" dirty="0" smtClean="0"/>
                    </a:p>
                  </a:txBody>
                  <a:tcPr anchor="ctr"/>
                </a:tc>
                <a:tc>
                  <a:txBody>
                    <a:bodyPr/>
                    <a:lstStyle/>
                    <a:p>
                      <a:pPr algn="ctr" fontAlgn="b">
                        <a:spcBef>
                          <a:spcPts val="300"/>
                        </a:spcBef>
                        <a:spcAft>
                          <a:spcPts val="300"/>
                        </a:spcAft>
                      </a:pPr>
                      <a:r>
                        <a:rPr lang="fr-FR" sz="1600" b="0" i="0" u="none" strike="noStrike" kern="1200" dirty="0" smtClean="0">
                          <a:solidFill>
                            <a:srgbClr val="284780"/>
                          </a:solidFill>
                          <a:effectLst/>
                          <a:latin typeface="Calibri" panose="020F0502020204030204" pitchFamily="34" charset="0"/>
                          <a:ea typeface="+mn-ea"/>
                          <a:cs typeface="+mn-cs"/>
                        </a:rPr>
                        <a:t>Optimiser la consommation d'énergie au niveau IT</a:t>
                      </a:r>
                    </a:p>
                  </a:txBody>
                  <a:tcPr marL="6350" marR="6350" marT="6350" marB="0" anchor="ctr"/>
                </a:tc>
                <a:extLst>
                  <a:ext uri="{0D108BD9-81ED-4DB2-BD59-A6C34878D82A}">
                    <a16:rowId xmlns:a16="http://schemas.microsoft.com/office/drawing/2014/main" val="3413546619"/>
                  </a:ext>
                </a:extLst>
              </a:tr>
            </a:tbl>
          </a:graphicData>
        </a:graphic>
      </p:graphicFrame>
    </p:spTree>
    <p:extLst>
      <p:ext uri="{BB962C8B-B14F-4D97-AF65-F5344CB8AC3E}">
        <p14:creationId xmlns:p14="http://schemas.microsoft.com/office/powerpoint/2010/main" val="251963345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044000"/>
          </a:xfrm>
          <a:solidFill>
            <a:srgbClr val="0C419A"/>
          </a:solidFill>
        </p:spPr>
        <p:txBody>
          <a:bodyPr>
            <a:normAutofit/>
          </a:bodyPr>
          <a:lstStyle/>
          <a:p>
            <a:pPr algn="ctr"/>
            <a:r>
              <a:rPr lang="fr-FR" sz="3600" b="1" dirty="0" smtClean="0">
                <a:solidFill>
                  <a:schemeClr val="bg1"/>
                </a:solidFill>
              </a:rPr>
              <a:t>Schéma de la mesure dans un contexte organisationnel</a:t>
            </a:r>
          </a:p>
        </p:txBody>
      </p:sp>
      <p:sp>
        <p:nvSpPr>
          <p:cNvPr id="5" name="Rectangle 4"/>
          <p:cNvSpPr/>
          <p:nvPr/>
        </p:nvSpPr>
        <p:spPr>
          <a:xfrm>
            <a:off x="6875597" y="2833313"/>
            <a:ext cx="148909"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sp>
        <p:nvSpPr>
          <p:cNvPr id="8" name="Rectangle 7"/>
          <p:cNvSpPr/>
          <p:nvPr/>
        </p:nvSpPr>
        <p:spPr>
          <a:xfrm>
            <a:off x="4436251" y="3280697"/>
            <a:ext cx="1692000" cy="576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smtClean="0">
                <a:ln>
                  <a:noFill/>
                </a:ln>
                <a:solidFill>
                  <a:prstClr val="white"/>
                </a:solidFill>
                <a:effectLst/>
                <a:uLnTx/>
                <a:uFillTx/>
                <a:latin typeface="Calibri" panose="020F0502020204030204"/>
                <a:ea typeface="+mn-ea"/>
                <a:cs typeface="+mn-cs"/>
              </a:rPr>
              <a:t>Score composant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smtClean="0">
                <a:ln>
                  <a:noFill/>
                </a:ln>
                <a:solidFill>
                  <a:prstClr val="white"/>
                </a:solidFill>
                <a:effectLst/>
                <a:uLnTx/>
                <a:uFillTx/>
                <a:latin typeface="Calibri" panose="020F0502020204030204"/>
                <a:ea typeface="+mn-ea"/>
                <a:cs typeface="+mn-cs"/>
              </a:rPr>
              <a:t>Back Office</a:t>
            </a: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Rectangle 10"/>
          <p:cNvSpPr/>
          <p:nvPr/>
        </p:nvSpPr>
        <p:spPr>
          <a:xfrm>
            <a:off x="6499250" y="3280697"/>
            <a:ext cx="1842596" cy="576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smtClean="0">
                <a:ln>
                  <a:noFill/>
                </a:ln>
                <a:solidFill>
                  <a:prstClr val="white"/>
                </a:solidFill>
                <a:effectLst/>
                <a:uLnTx/>
                <a:uFillTx/>
                <a:latin typeface="Calibri" panose="020F0502020204030204"/>
                <a:ea typeface="+mn-ea"/>
                <a:cs typeface="+mn-cs"/>
              </a:rPr>
              <a:t>Score </a:t>
            </a:r>
            <a:r>
              <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rPr>
              <a:t>c</a:t>
            </a:r>
            <a:r>
              <a:rPr kumimoji="0" lang="fr-FR" sz="1800" b="0" i="0" u="none" strike="noStrike" kern="1200" cap="none" spc="0" normalizeH="0" baseline="0" noProof="0" dirty="0" smtClean="0">
                <a:ln>
                  <a:noFill/>
                </a:ln>
                <a:solidFill>
                  <a:prstClr val="white"/>
                </a:solidFill>
                <a:effectLst/>
                <a:uLnTx/>
                <a:uFillTx/>
                <a:latin typeface="Calibri" panose="020F0502020204030204"/>
                <a:ea typeface="+mn-ea"/>
                <a:cs typeface="+mn-cs"/>
              </a:rPr>
              <a:t>omposant </a:t>
            </a:r>
            <a:r>
              <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rPr>
              <a:t>Front </a:t>
            </a:r>
            <a:r>
              <a:rPr kumimoji="0" lang="fr-FR" sz="1800" b="0" i="0" u="none" strike="noStrike" kern="1200" cap="none" spc="0" normalizeH="0" baseline="0" noProof="0" dirty="0" smtClean="0">
                <a:ln>
                  <a:noFill/>
                </a:ln>
                <a:solidFill>
                  <a:prstClr val="white"/>
                </a:solidFill>
                <a:effectLst/>
                <a:uLnTx/>
                <a:uFillTx/>
                <a:latin typeface="Calibri" panose="020F0502020204030204"/>
                <a:ea typeface="+mn-ea"/>
                <a:cs typeface="+mn-cs"/>
              </a:rPr>
              <a:t>Office</a:t>
            </a:r>
          </a:p>
        </p:txBody>
      </p:sp>
      <p:sp>
        <p:nvSpPr>
          <p:cNvPr id="16" name="Rectangle 15"/>
          <p:cNvSpPr/>
          <p:nvPr/>
        </p:nvSpPr>
        <p:spPr>
          <a:xfrm>
            <a:off x="528571" y="3280697"/>
            <a:ext cx="1301742" cy="576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smtClean="0">
                <a:ln>
                  <a:noFill/>
                </a:ln>
                <a:solidFill>
                  <a:prstClr val="white"/>
                </a:solidFill>
                <a:effectLst/>
                <a:uLnTx/>
                <a:uFillTx/>
                <a:latin typeface="Calibri" panose="020F0502020204030204"/>
                <a:ea typeface="+mn-ea"/>
                <a:cs typeface="+mn-cs"/>
              </a:rPr>
              <a:t>Empreinte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smtClean="0">
                <a:ln>
                  <a:noFill/>
                </a:ln>
                <a:solidFill>
                  <a:prstClr val="white"/>
                </a:solidFill>
                <a:effectLst/>
                <a:uLnTx/>
                <a:uFillTx/>
                <a:latin typeface="Calibri" panose="020F0502020204030204"/>
                <a:ea typeface="+mn-ea"/>
                <a:cs typeface="+mn-cs"/>
              </a:rPr>
              <a:t>INFRA</a:t>
            </a: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p:cNvSpPr/>
          <p:nvPr/>
        </p:nvSpPr>
        <p:spPr>
          <a:xfrm>
            <a:off x="2783249" y="3280697"/>
            <a:ext cx="1251083" cy="576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rPr>
              <a:t>Empreinte </a:t>
            </a:r>
            <a:r>
              <a:rPr kumimoji="0" lang="fr-FR" sz="1800" b="0" i="0" u="none" strike="noStrike" kern="1200" cap="none" spc="0" normalizeH="0" baseline="0" noProof="0" dirty="0" smtClean="0">
                <a:ln>
                  <a:noFill/>
                </a:ln>
                <a:solidFill>
                  <a:prstClr val="white"/>
                </a:solidFill>
                <a:effectLst/>
                <a:uLnTx/>
                <a:uFillTx/>
                <a:latin typeface="Calibri" panose="020F0502020204030204"/>
                <a:ea typeface="+mn-ea"/>
                <a:cs typeface="+mn-cs"/>
              </a:rPr>
              <a:t>Système</a:t>
            </a: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8" name="ZoneTexte 47"/>
          <p:cNvSpPr txBox="1"/>
          <p:nvPr/>
        </p:nvSpPr>
        <p:spPr>
          <a:xfrm>
            <a:off x="2647432" y="6112967"/>
            <a:ext cx="1520871" cy="6001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dirty="0" smtClean="0">
                <a:ln>
                  <a:noFill/>
                </a:ln>
                <a:solidFill>
                  <a:prstClr val="black"/>
                </a:solidFill>
                <a:effectLst/>
                <a:uLnTx/>
                <a:uFillTx/>
                <a:latin typeface="Calibri" panose="020F0502020204030204"/>
                <a:ea typeface="+mn-ea"/>
                <a:cs typeface="+mn-cs"/>
              </a:rPr>
              <a:t>Ressources utilisées VS ressources allouées au niveau système IT</a:t>
            </a:r>
            <a:endParaRPr kumimoji="0" lang="fr-FR" sz="11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ZoneTexte 53"/>
          <p:cNvSpPr txBox="1"/>
          <p:nvPr/>
        </p:nvSpPr>
        <p:spPr>
          <a:xfrm>
            <a:off x="10204642" y="5705920"/>
            <a:ext cx="2002230" cy="1107996"/>
          </a:xfrm>
          <a:prstGeom prst="rect">
            <a:avLst/>
          </a:prstGeom>
          <a:noFill/>
        </p:spPr>
        <p:txBody>
          <a:bodyPr wrap="square" lIns="36000" rIns="36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dirty="0" smtClean="0">
                <a:ln>
                  <a:noFill/>
                </a:ln>
                <a:solidFill>
                  <a:prstClr val="black"/>
                </a:solidFill>
                <a:effectLst/>
                <a:uLnTx/>
                <a:uFillTx/>
                <a:latin typeface="Calibri" panose="020F0502020204030204"/>
                <a:ea typeface="+mn-ea"/>
                <a:cs typeface="+mn-cs"/>
              </a:rPr>
              <a:t>Taux de conformité du projet aux pratiques d’Ecoconception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dirty="0">
                <a:ln>
                  <a:noFill/>
                </a:ln>
                <a:solidFill>
                  <a:prstClr val="black"/>
                </a:solidFill>
                <a:effectLst/>
                <a:uLnTx/>
                <a:uFillTx/>
                <a:latin typeface="Calibri" panose="020F0502020204030204"/>
                <a:ea typeface="+mn-ea"/>
                <a:cs typeface="+mn-cs"/>
              </a:rPr>
              <a:t>Evaluation </a:t>
            </a:r>
            <a:r>
              <a:rPr kumimoji="0" lang="fr-FR" sz="1100" b="1" i="0" u="none" strike="noStrike" kern="1200" cap="none" spc="0" normalizeH="0" baseline="0" noProof="0" dirty="0" smtClean="0">
                <a:ln>
                  <a:noFill/>
                </a:ln>
                <a:solidFill>
                  <a:prstClr val="black"/>
                </a:solidFill>
                <a:effectLst/>
                <a:uLnTx/>
                <a:uFillTx/>
                <a:latin typeface="Calibri" panose="020F0502020204030204"/>
                <a:ea typeface="+mn-ea"/>
                <a:cs typeface="+mn-cs"/>
              </a:rPr>
              <a:t>déclarative de </a:t>
            </a:r>
            <a:r>
              <a:rPr kumimoji="0" lang="fr-FR" sz="1100" b="1" i="0" u="none" strike="noStrike" kern="1200" cap="none" spc="0" normalizeH="0" baseline="0" noProof="0" dirty="0">
                <a:ln>
                  <a:noFill/>
                </a:ln>
                <a:solidFill>
                  <a:prstClr val="black"/>
                </a:solidFill>
                <a:effectLst/>
                <a:uLnTx/>
                <a:uFillTx/>
                <a:latin typeface="Calibri" panose="020F0502020204030204"/>
                <a:ea typeface="+mn-ea"/>
                <a:cs typeface="+mn-cs"/>
              </a:rPr>
              <a:t>la prise en compte des bonnes pratiques non mesurées </a:t>
            </a:r>
            <a:r>
              <a:rPr kumimoji="0" lang="fr-FR" sz="1100" b="1" i="0" u="none" strike="noStrike" kern="1200" cap="none" spc="0" normalizeH="0" baseline="0" noProof="0" dirty="0" smtClean="0">
                <a:ln>
                  <a:noFill/>
                </a:ln>
                <a:solidFill>
                  <a:prstClr val="black"/>
                </a:solidFill>
                <a:effectLst/>
                <a:uLnTx/>
                <a:uFillTx/>
                <a:latin typeface="Calibri" panose="020F0502020204030204"/>
                <a:ea typeface="+mn-ea"/>
                <a:cs typeface="+mn-cs"/>
              </a:rPr>
              <a:t>au travers des </a:t>
            </a:r>
            <a:r>
              <a:rPr kumimoji="0" lang="fr-FR" sz="1100" b="1" i="0" u="none" strike="noStrike" kern="1200" cap="none" spc="0" normalizeH="0" baseline="0" noProof="0" dirty="0">
                <a:ln>
                  <a:noFill/>
                </a:ln>
                <a:solidFill>
                  <a:prstClr val="black"/>
                </a:solidFill>
                <a:effectLst/>
                <a:uLnTx/>
                <a:uFillTx/>
                <a:latin typeface="Calibri" panose="020F0502020204030204"/>
                <a:ea typeface="+mn-ea"/>
                <a:cs typeface="+mn-cs"/>
              </a:rPr>
              <a:t>autres mesures </a:t>
            </a:r>
          </a:p>
        </p:txBody>
      </p:sp>
      <p:sp>
        <p:nvSpPr>
          <p:cNvPr id="22" name="Rectangle 21"/>
          <p:cNvSpPr/>
          <p:nvPr/>
        </p:nvSpPr>
        <p:spPr>
          <a:xfrm>
            <a:off x="10391265" y="2052118"/>
            <a:ext cx="1620000" cy="871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dirty="0" smtClean="0">
                <a:ln>
                  <a:noFill/>
                </a:ln>
                <a:solidFill>
                  <a:prstClr val="white"/>
                </a:solidFill>
                <a:effectLst/>
                <a:uLnTx/>
                <a:uFillTx/>
                <a:latin typeface="Calibri" panose="020F0502020204030204"/>
                <a:ea typeface="+mn-ea"/>
                <a:cs typeface="+mn-cs"/>
              </a:rPr>
              <a:t>Mesure Conformité</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dirty="0" smtClean="0">
                <a:ln>
                  <a:noFill/>
                </a:ln>
                <a:solidFill>
                  <a:prstClr val="white"/>
                </a:solidFill>
                <a:effectLst/>
                <a:uLnTx/>
                <a:uFillTx/>
                <a:latin typeface="Calibri" panose="020F0502020204030204"/>
                <a:ea typeface="+mn-ea"/>
                <a:cs typeface="+mn-cs"/>
              </a:rPr>
              <a:t>Ecoconception </a:t>
            </a:r>
            <a:endParaRPr kumimoji="0" lang="fr-FR" sz="20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 name="Rectangle 26"/>
          <p:cNvSpPr/>
          <p:nvPr/>
        </p:nvSpPr>
        <p:spPr>
          <a:xfrm>
            <a:off x="5675013" y="2052118"/>
            <a:ext cx="1251083" cy="871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dirty="0">
                <a:ln>
                  <a:noFill/>
                </a:ln>
                <a:solidFill>
                  <a:prstClr val="white"/>
                </a:solidFill>
                <a:effectLst/>
                <a:uLnTx/>
                <a:uFillTx/>
                <a:latin typeface="Calibri" panose="020F0502020204030204"/>
                <a:ea typeface="+mn-ea"/>
                <a:cs typeface="+mn-cs"/>
              </a:rPr>
              <a:t>Mesure </a:t>
            </a:r>
            <a:r>
              <a:rPr kumimoji="0" lang="fr-FR" sz="2000" b="1" i="0" u="none" strike="noStrike" kern="1200" cap="none" spc="0" normalizeH="0" baseline="0" noProof="0" dirty="0" smtClean="0">
                <a:ln>
                  <a:noFill/>
                </a:ln>
                <a:solidFill>
                  <a:prstClr val="white"/>
                </a:solidFill>
                <a:effectLst/>
                <a:uLnTx/>
                <a:uFillTx/>
                <a:latin typeface="Calibri" panose="020F0502020204030204"/>
                <a:ea typeface="+mn-ea"/>
                <a:cs typeface="+mn-cs"/>
              </a:rPr>
              <a:t>Software</a:t>
            </a:r>
            <a:endParaRPr kumimoji="0" lang="fr-FR" sz="20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p:cNvSpPr/>
          <p:nvPr/>
        </p:nvSpPr>
        <p:spPr>
          <a:xfrm>
            <a:off x="1392823" y="2052118"/>
            <a:ext cx="1755195" cy="871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dirty="0">
                <a:ln>
                  <a:noFill/>
                </a:ln>
                <a:solidFill>
                  <a:prstClr val="white"/>
                </a:solidFill>
                <a:effectLst/>
                <a:uLnTx/>
                <a:uFillTx/>
                <a:latin typeface="Calibri" panose="020F0502020204030204"/>
                <a:ea typeface="+mn-ea"/>
                <a:cs typeface="+mn-cs"/>
              </a:rPr>
              <a:t>Mesure Hébergement</a:t>
            </a:r>
          </a:p>
        </p:txBody>
      </p:sp>
      <p:cxnSp>
        <p:nvCxnSpPr>
          <p:cNvPr id="4" name="Connecteur droit 3"/>
          <p:cNvCxnSpPr/>
          <p:nvPr/>
        </p:nvCxnSpPr>
        <p:spPr>
          <a:xfrm flipH="1">
            <a:off x="4229939" y="2054675"/>
            <a:ext cx="17155" cy="47520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Connecteur en angle 16"/>
          <p:cNvCxnSpPr>
            <a:stCxn id="27" idx="2"/>
            <a:endCxn id="8" idx="0"/>
          </p:cNvCxnSpPr>
          <p:nvPr/>
        </p:nvCxnSpPr>
        <p:spPr>
          <a:xfrm rot="5400000">
            <a:off x="5612814" y="2592955"/>
            <a:ext cx="357179" cy="101830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necteur en angle 28"/>
          <p:cNvCxnSpPr>
            <a:stCxn id="27" idx="2"/>
            <a:endCxn id="11" idx="0"/>
          </p:cNvCxnSpPr>
          <p:nvPr/>
        </p:nvCxnSpPr>
        <p:spPr>
          <a:xfrm rot="16200000" flipH="1">
            <a:off x="6681962" y="2542110"/>
            <a:ext cx="357179" cy="111999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Connecteur droit 35"/>
          <p:cNvCxnSpPr/>
          <p:nvPr/>
        </p:nvCxnSpPr>
        <p:spPr>
          <a:xfrm flipH="1">
            <a:off x="8439373" y="2046407"/>
            <a:ext cx="17155" cy="47520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7" name="Connecteur droit 36"/>
          <p:cNvCxnSpPr/>
          <p:nvPr/>
        </p:nvCxnSpPr>
        <p:spPr>
          <a:xfrm flipH="1">
            <a:off x="10144992" y="2046407"/>
            <a:ext cx="17155" cy="47520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18" name="Groupe 17"/>
          <p:cNvGrpSpPr/>
          <p:nvPr/>
        </p:nvGrpSpPr>
        <p:grpSpPr>
          <a:xfrm>
            <a:off x="357402" y="4121661"/>
            <a:ext cx="1656000" cy="859449"/>
            <a:chOff x="1981754" y="4425633"/>
            <a:chExt cx="1656000" cy="859449"/>
          </a:xfrm>
        </p:grpSpPr>
        <p:sp>
          <p:nvSpPr>
            <p:cNvPr id="72" name="Organigramme : Disque magnétique 71"/>
            <p:cNvSpPr/>
            <p:nvPr/>
          </p:nvSpPr>
          <p:spPr>
            <a:xfrm>
              <a:off x="1981754" y="4961082"/>
              <a:ext cx="1656000" cy="324000"/>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dirty="0" smtClean="0">
                  <a:ln>
                    <a:noFill/>
                  </a:ln>
                  <a:solidFill>
                    <a:prstClr val="white"/>
                  </a:solidFill>
                  <a:effectLst/>
                  <a:uLnTx/>
                  <a:uFillTx/>
                  <a:latin typeface="Calibri" panose="020F0502020204030204"/>
                  <a:ea typeface="+mn-ea"/>
                  <a:cs typeface="+mn-cs"/>
                </a:rPr>
                <a:t>Env. Fabricant</a:t>
              </a:r>
              <a:endParaRPr kumimoji="0" lang="fr-FR" sz="11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3" name="Organigramme : Disque magnétique 72"/>
            <p:cNvSpPr/>
            <p:nvPr/>
          </p:nvSpPr>
          <p:spPr>
            <a:xfrm>
              <a:off x="1981754" y="4689246"/>
              <a:ext cx="1656000" cy="324000"/>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smtClean="0">
                  <a:ln>
                    <a:noFill/>
                  </a:ln>
                  <a:solidFill>
                    <a:prstClr val="white"/>
                  </a:solidFill>
                  <a:effectLst/>
                  <a:uLnTx/>
                  <a:uFillTx/>
                  <a:latin typeface="Calibri" panose="020F0502020204030204"/>
                  <a:ea typeface="+mn-ea"/>
                  <a:cs typeface="+mn-cs"/>
                </a:rPr>
                <a:t>Env. Recette</a:t>
              </a:r>
              <a:endParaRPr kumimoji="0" lang="fr-FR" sz="12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4" name="Organigramme : Disque magnétique 73"/>
            <p:cNvSpPr/>
            <p:nvPr/>
          </p:nvSpPr>
          <p:spPr>
            <a:xfrm>
              <a:off x="1981754" y="4425633"/>
              <a:ext cx="1656000" cy="324000"/>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smtClean="0">
                  <a:ln>
                    <a:noFill/>
                  </a:ln>
                  <a:solidFill>
                    <a:prstClr val="white"/>
                  </a:solidFill>
                  <a:effectLst/>
                  <a:uLnTx/>
                  <a:uFillTx/>
                  <a:latin typeface="Calibri" panose="020F0502020204030204"/>
                  <a:ea typeface="+mn-ea"/>
                  <a:cs typeface="+mn-cs"/>
                </a:rPr>
                <a:t>Env. Production</a:t>
              </a:r>
              <a:endParaRPr kumimoji="0" lang="fr-FR" sz="12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cxnSp>
        <p:nvCxnSpPr>
          <p:cNvPr id="78" name="Connecteur droit avec flèche 77"/>
          <p:cNvCxnSpPr>
            <a:stCxn id="72" idx="3"/>
            <a:endCxn id="45" idx="0"/>
          </p:cNvCxnSpPr>
          <p:nvPr/>
        </p:nvCxnSpPr>
        <p:spPr>
          <a:xfrm flipH="1">
            <a:off x="1182665" y="4981110"/>
            <a:ext cx="2737" cy="920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26" name="Picture 2" descr="Serveur Informatique PNG Images | Vecteurs Et Fichiers PSD | Téléchargement  Gratuit Sur Pngtree"/>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5066494" y="4550995"/>
            <a:ext cx="431515" cy="688368"/>
          </a:xfrm>
          <a:prstGeom prst="rect">
            <a:avLst/>
          </a:prstGeom>
          <a:noFill/>
          <a:extLst>
            <a:ext uri="{909E8E84-426E-40DD-AFC4-6F175D3DCCD1}">
              <a14:hiddenFill xmlns:a14="http://schemas.microsoft.com/office/drawing/2010/main">
                <a:solidFill>
                  <a:srgbClr val="FFFFFF"/>
                </a:solidFill>
              </a14:hiddenFill>
            </a:ext>
          </a:extLst>
        </p:spPr>
      </p:pic>
      <p:cxnSp>
        <p:nvCxnSpPr>
          <p:cNvPr id="90" name="Connecteur droit avec flèche 89"/>
          <p:cNvCxnSpPr>
            <a:stCxn id="16" idx="2"/>
            <a:endCxn id="74" idx="1"/>
          </p:cNvCxnSpPr>
          <p:nvPr/>
        </p:nvCxnSpPr>
        <p:spPr>
          <a:xfrm>
            <a:off x="1179442" y="3856697"/>
            <a:ext cx="5960" cy="2649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Connecteur en angle 93"/>
          <p:cNvCxnSpPr>
            <a:stCxn id="28" idx="2"/>
            <a:endCxn id="19" idx="0"/>
          </p:cNvCxnSpPr>
          <p:nvPr/>
        </p:nvCxnSpPr>
        <p:spPr>
          <a:xfrm rot="16200000" flipH="1">
            <a:off x="2661017" y="2532922"/>
            <a:ext cx="357179" cy="113837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5" name="Groupe 24"/>
          <p:cNvGrpSpPr/>
          <p:nvPr/>
        </p:nvGrpSpPr>
        <p:grpSpPr>
          <a:xfrm>
            <a:off x="2753041" y="4152620"/>
            <a:ext cx="1296000" cy="936000"/>
            <a:chOff x="3559158" y="4513578"/>
            <a:chExt cx="1296000" cy="936000"/>
          </a:xfrm>
        </p:grpSpPr>
        <p:sp>
          <p:nvSpPr>
            <p:cNvPr id="99" name="Rectangle 98"/>
            <p:cNvSpPr/>
            <p:nvPr/>
          </p:nvSpPr>
          <p:spPr>
            <a:xfrm>
              <a:off x="3559158" y="4513578"/>
              <a:ext cx="1296000" cy="936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0" name="Rectangle 99"/>
            <p:cNvSpPr/>
            <p:nvPr/>
          </p:nvSpPr>
          <p:spPr>
            <a:xfrm>
              <a:off x="3662223" y="4602410"/>
              <a:ext cx="492221" cy="353313"/>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smtClean="0">
                  <a:ln>
                    <a:noFill/>
                  </a:ln>
                  <a:solidFill>
                    <a:prstClr val="white"/>
                  </a:solidFill>
                  <a:effectLst/>
                  <a:uLnTx/>
                  <a:uFillTx/>
                  <a:latin typeface="Calibri" panose="020F0502020204030204"/>
                  <a:ea typeface="+mn-ea"/>
                  <a:cs typeface="+mn-cs"/>
                </a:rPr>
                <a:t>CPU</a:t>
              </a:r>
              <a:endParaRPr kumimoji="0" lang="fr-FR" sz="1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2" name="Rectangle 101"/>
            <p:cNvSpPr/>
            <p:nvPr/>
          </p:nvSpPr>
          <p:spPr>
            <a:xfrm>
              <a:off x="4265631" y="4604917"/>
              <a:ext cx="492221" cy="353313"/>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smtClean="0">
                  <a:ln>
                    <a:noFill/>
                  </a:ln>
                  <a:solidFill>
                    <a:prstClr val="white"/>
                  </a:solidFill>
                  <a:effectLst/>
                  <a:uLnTx/>
                  <a:uFillTx/>
                  <a:latin typeface="Calibri" panose="020F0502020204030204"/>
                  <a:ea typeface="+mn-ea"/>
                  <a:cs typeface="+mn-cs"/>
                </a:rPr>
                <a:t>RAM</a:t>
              </a:r>
              <a:endParaRPr kumimoji="0" lang="fr-FR" sz="1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 name="Rectangle 102"/>
            <p:cNvSpPr/>
            <p:nvPr/>
          </p:nvSpPr>
          <p:spPr>
            <a:xfrm>
              <a:off x="3959692" y="5019094"/>
              <a:ext cx="492221" cy="353313"/>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smtClean="0">
                  <a:ln>
                    <a:noFill/>
                  </a:ln>
                  <a:solidFill>
                    <a:prstClr val="white"/>
                  </a:solidFill>
                  <a:effectLst/>
                  <a:uLnTx/>
                  <a:uFillTx/>
                  <a:latin typeface="Calibri" panose="020F0502020204030204"/>
                  <a:ea typeface="+mn-ea"/>
                  <a:cs typeface="+mn-cs"/>
                </a:rPr>
                <a:t>DISK</a:t>
              </a:r>
              <a:endParaRPr kumimoji="0" lang="fr-FR" sz="1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cxnSp>
        <p:nvCxnSpPr>
          <p:cNvPr id="104" name="Connecteur droit avec flèche 103"/>
          <p:cNvCxnSpPr>
            <a:stCxn id="19" idx="2"/>
            <a:endCxn id="99" idx="0"/>
          </p:cNvCxnSpPr>
          <p:nvPr/>
        </p:nvCxnSpPr>
        <p:spPr>
          <a:xfrm flipH="1">
            <a:off x="3401041" y="3856697"/>
            <a:ext cx="7750" cy="2959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Connecteur droit avec flèche 105"/>
          <p:cNvCxnSpPr>
            <a:stCxn id="99" idx="2"/>
            <a:endCxn id="48" idx="0"/>
          </p:cNvCxnSpPr>
          <p:nvPr/>
        </p:nvCxnSpPr>
        <p:spPr>
          <a:xfrm>
            <a:off x="3401041" y="5088620"/>
            <a:ext cx="6827" cy="10243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4" name="ZoneTexte 123"/>
          <p:cNvSpPr txBox="1"/>
          <p:nvPr/>
        </p:nvSpPr>
        <p:spPr>
          <a:xfrm>
            <a:off x="6345188" y="5886947"/>
            <a:ext cx="2159616" cy="938719"/>
          </a:xfrm>
          <a:prstGeom prst="rect">
            <a:avLst/>
          </a:prstGeom>
          <a:noFill/>
        </p:spPr>
        <p:txBody>
          <a:bodyPr wrap="square" rtlCol="0">
            <a:spAutoFit/>
          </a:bodyPr>
          <a:lstStyle/>
          <a:p>
            <a:pPr lvl="0" algn="ctr">
              <a:defRPr/>
            </a:pPr>
            <a:r>
              <a:rPr lang="fr-FR" sz="1100" b="1" dirty="0">
                <a:solidFill>
                  <a:prstClr val="black"/>
                </a:solidFill>
              </a:rPr>
              <a:t>Indicateur de mesure coté </a:t>
            </a:r>
            <a:r>
              <a:rPr lang="fr-FR" sz="1100" b="1" dirty="0" smtClean="0">
                <a:solidFill>
                  <a:prstClr val="black"/>
                </a:solidFill>
              </a:rPr>
              <a:t>terminal utilisateur</a:t>
            </a:r>
            <a:endParaRPr kumimoji="0" lang="fr-FR" sz="1100" b="1" i="0" u="none" strike="noStrike" kern="1200" cap="none" spc="0" normalizeH="0" baseline="0" noProof="0" dirty="0" smtClean="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dirty="0" smtClean="0">
                <a:ln>
                  <a:noFill/>
                </a:ln>
                <a:solidFill>
                  <a:prstClr val="black"/>
                </a:solidFill>
                <a:effectLst/>
                <a:uLnTx/>
                <a:uFillTx/>
                <a:latin typeface="Calibri" panose="020F0502020204030204"/>
                <a:ea typeface="+mn-ea"/>
                <a:cs typeface="+mn-cs"/>
              </a:rPr>
              <a:t>Doit inclure ou permettre de déduire une part Carbone imputable aux terminaux</a:t>
            </a:r>
          </a:p>
        </p:txBody>
      </p:sp>
      <p:cxnSp>
        <p:nvCxnSpPr>
          <p:cNvPr id="127" name="Connecteur droit avec flèche 126"/>
          <p:cNvCxnSpPr>
            <a:stCxn id="8" idx="2"/>
            <a:endCxn id="1026" idx="0"/>
          </p:cNvCxnSpPr>
          <p:nvPr/>
        </p:nvCxnSpPr>
        <p:spPr>
          <a:xfrm>
            <a:off x="5282251" y="3856697"/>
            <a:ext cx="1" cy="6942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7" name="Connecteur droit avec flèche 1026"/>
          <p:cNvCxnSpPr>
            <a:stCxn id="1026" idx="2"/>
            <a:endCxn id="47" idx="0"/>
          </p:cNvCxnSpPr>
          <p:nvPr/>
        </p:nvCxnSpPr>
        <p:spPr>
          <a:xfrm flipH="1">
            <a:off x="5279674" y="5239363"/>
            <a:ext cx="2578" cy="6393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33" name="Picture 6" descr="Surface Laptop 5 (Caractéristiques, ports, prix, 13,5&quot; ou 15&quot;) | Microsoft  Store"/>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563462" y="4347757"/>
            <a:ext cx="1714173" cy="891716"/>
          </a:xfrm>
          <a:prstGeom prst="rect">
            <a:avLst/>
          </a:prstGeom>
          <a:noFill/>
          <a:extLst>
            <a:ext uri="{909E8E84-426E-40DD-AFC4-6F175D3DCCD1}">
              <a14:hiddenFill xmlns:a14="http://schemas.microsoft.com/office/drawing/2010/main">
                <a:solidFill>
                  <a:srgbClr val="FFFFFF"/>
                </a:solidFill>
              </a14:hiddenFill>
            </a:ext>
          </a:extLst>
        </p:spPr>
      </p:pic>
      <p:cxnSp>
        <p:nvCxnSpPr>
          <p:cNvPr id="1037" name="Connecteur droit avec flèche 1036"/>
          <p:cNvCxnSpPr>
            <a:stCxn id="11" idx="2"/>
            <a:endCxn id="1033" idx="0"/>
          </p:cNvCxnSpPr>
          <p:nvPr/>
        </p:nvCxnSpPr>
        <p:spPr>
          <a:xfrm>
            <a:off x="7420548" y="3856697"/>
            <a:ext cx="1" cy="4910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0" name="Connecteur droit avec flèche 1039"/>
          <p:cNvCxnSpPr>
            <a:stCxn id="1033" idx="2"/>
            <a:endCxn id="124" idx="0"/>
          </p:cNvCxnSpPr>
          <p:nvPr/>
        </p:nvCxnSpPr>
        <p:spPr>
          <a:xfrm>
            <a:off x="7420549" y="5239473"/>
            <a:ext cx="4447" cy="6474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3" name="Connecteur droit avec flèche 1042"/>
          <p:cNvCxnSpPr>
            <a:stCxn id="22" idx="2"/>
            <a:endCxn id="54" idx="0"/>
          </p:cNvCxnSpPr>
          <p:nvPr/>
        </p:nvCxnSpPr>
        <p:spPr>
          <a:xfrm>
            <a:off x="11201265" y="2923518"/>
            <a:ext cx="4492" cy="2782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ZoneTexte 44"/>
          <p:cNvSpPr txBox="1"/>
          <p:nvPr/>
        </p:nvSpPr>
        <p:spPr>
          <a:xfrm>
            <a:off x="-21026" y="5901368"/>
            <a:ext cx="2407381" cy="938719"/>
          </a:xfrm>
          <a:prstGeom prst="rect">
            <a:avLst/>
          </a:prstGeom>
          <a:noFill/>
        </p:spPr>
        <p:txBody>
          <a:bodyPr wrap="square" lIns="36000" rIns="36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dirty="0" err="1" smtClean="0">
                <a:ln>
                  <a:noFill/>
                </a:ln>
                <a:solidFill>
                  <a:prstClr val="black"/>
                </a:solidFill>
                <a:effectLst/>
                <a:uLnTx/>
                <a:uFillTx/>
                <a:latin typeface="Calibri" panose="020F0502020204030204"/>
                <a:ea typeface="+mn-ea"/>
                <a:cs typeface="+mn-cs"/>
              </a:rPr>
              <a:t>Quote</a:t>
            </a:r>
            <a:r>
              <a:rPr kumimoji="0" lang="fr-FR" sz="1100" b="1" i="0" u="none" strike="noStrike" kern="1200" cap="none" spc="0" normalizeH="0" baseline="0" noProof="0" dirty="0" smtClean="0">
                <a:ln>
                  <a:noFill/>
                </a:ln>
                <a:solidFill>
                  <a:prstClr val="black"/>
                </a:solidFill>
                <a:effectLst/>
                <a:uLnTx/>
                <a:uFillTx/>
                <a:latin typeface="Calibri" panose="020F0502020204030204"/>
                <a:ea typeface="+mn-ea"/>
                <a:cs typeface="+mn-cs"/>
              </a:rPr>
              <a:t> part de l’empreinte datacenter des environnements du SSA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dirty="0">
                <a:ln>
                  <a:noFill/>
                </a:ln>
                <a:solidFill>
                  <a:prstClr val="black"/>
                </a:solidFill>
                <a:effectLst/>
                <a:uLnTx/>
                <a:uFillTx/>
                <a:latin typeface="Calibri" panose="020F0502020204030204"/>
                <a:ea typeface="+mn-ea"/>
                <a:cs typeface="+mn-cs"/>
              </a:rPr>
              <a:t>P</a:t>
            </a:r>
            <a:r>
              <a:rPr kumimoji="0" lang="fr-FR" sz="1100" b="1" i="0" u="none" strike="noStrike" kern="1200" cap="none" spc="0" normalizeH="0" baseline="0" noProof="0" dirty="0" smtClean="0">
                <a:ln>
                  <a:noFill/>
                </a:ln>
                <a:solidFill>
                  <a:prstClr val="black"/>
                </a:solidFill>
                <a:effectLst/>
                <a:uLnTx/>
                <a:uFillTx/>
                <a:latin typeface="Calibri" panose="020F0502020204030204"/>
                <a:ea typeface="+mn-ea"/>
                <a:cs typeface="+mn-cs"/>
              </a:rPr>
              <a:t>art </a:t>
            </a:r>
            <a:r>
              <a:rPr kumimoji="0" lang="fr-FR" sz="1100" b="1" i="0" u="none" strike="noStrike" kern="1200" cap="none" spc="0" normalizeH="0" baseline="0" noProof="0" dirty="0">
                <a:ln>
                  <a:noFill/>
                </a:ln>
                <a:solidFill>
                  <a:prstClr val="black"/>
                </a:solidFill>
                <a:effectLst/>
                <a:uLnTx/>
                <a:uFillTx/>
                <a:latin typeface="Calibri" panose="020F0502020204030204"/>
                <a:ea typeface="+mn-ea"/>
                <a:cs typeface="+mn-cs"/>
              </a:rPr>
              <a:t>Bilan Carbone DC :</a:t>
            </a:r>
            <a:r>
              <a:rPr kumimoji="0" lang="fr-FR" sz="1100" b="1" i="0" u="none" strike="noStrike" kern="1200" cap="none" spc="0" normalizeH="0" baseline="0" noProof="0" dirty="0" smtClean="0">
                <a:ln>
                  <a:noFill/>
                </a:ln>
                <a:solidFill>
                  <a:prstClr val="black"/>
                </a:solidFill>
                <a:effectLst/>
                <a:uLnTx/>
                <a:uFillTx/>
                <a:latin typeface="Calibri" panose="020F0502020204030204"/>
                <a:ea typeface="+mn-ea"/>
                <a:cs typeface="+mn-cs"/>
              </a:rPr>
              <a:t> Emission de la part fabrication du matériel et de la part usage énergétique des Datacenters</a:t>
            </a:r>
          </a:p>
        </p:txBody>
      </p:sp>
      <p:sp>
        <p:nvSpPr>
          <p:cNvPr id="47" name="ZoneTexte 46"/>
          <p:cNvSpPr txBox="1"/>
          <p:nvPr/>
        </p:nvSpPr>
        <p:spPr>
          <a:xfrm>
            <a:off x="4385540" y="5878759"/>
            <a:ext cx="1788267" cy="93871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dirty="0" smtClean="0">
                <a:ln>
                  <a:noFill/>
                </a:ln>
                <a:solidFill>
                  <a:prstClr val="black"/>
                </a:solidFill>
                <a:effectLst/>
                <a:uLnTx/>
                <a:uFillTx/>
                <a:latin typeface="Calibri" panose="020F0502020204030204"/>
                <a:ea typeface="+mn-ea"/>
                <a:cs typeface="+mn-cs"/>
              </a:rPr>
              <a:t>Indicateur de mesure coté back-office  (Sonar,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dirty="0" smtClean="0">
                <a:ln>
                  <a:noFill/>
                </a:ln>
                <a:solidFill>
                  <a:prstClr val="black"/>
                </a:solidFill>
                <a:effectLst/>
                <a:uLnTx/>
                <a:uFillTx/>
                <a:latin typeface="Calibri" panose="020F0502020204030204"/>
                <a:ea typeface="+mn-ea"/>
                <a:cs typeface="+mn-cs"/>
              </a:rPr>
              <a:t> </a:t>
            </a:r>
            <a:r>
              <a:rPr kumimoji="0" lang="fr-FR" sz="1100" b="1" i="0" u="none" strike="noStrike" kern="1200" cap="none" spc="0" normalizeH="0" baseline="0" noProof="0" dirty="0">
                <a:ln>
                  <a:noFill/>
                </a:ln>
                <a:solidFill>
                  <a:prstClr val="black"/>
                </a:solidFill>
                <a:effectLst/>
                <a:uLnTx/>
                <a:uFillTx/>
                <a:latin typeface="Calibri" panose="020F0502020204030204"/>
                <a:ea typeface="+mn-ea"/>
                <a:cs typeface="+mn-cs"/>
              </a:rPr>
              <a:t>(part Carbone </a:t>
            </a:r>
            <a:r>
              <a:rPr kumimoji="0" lang="fr-FR" sz="1100" b="1" i="0" u="none" strike="noStrike" kern="1200" cap="none" spc="0" normalizeH="0" baseline="0" noProof="0" dirty="0" smtClean="0">
                <a:ln>
                  <a:noFill/>
                </a:ln>
                <a:solidFill>
                  <a:prstClr val="black"/>
                </a:solidFill>
                <a:effectLst/>
                <a:uLnTx/>
                <a:uFillTx/>
                <a:latin typeface="Calibri" panose="020F0502020204030204"/>
                <a:ea typeface="+mn-ea"/>
                <a:cs typeface="+mn-cs"/>
              </a:rPr>
              <a:t>Back évaluée par l’empreinte INFRA)</a:t>
            </a:r>
            <a:endParaRPr kumimoji="0" lang="fr-FR" sz="11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1" name="Picture 2" descr="C:\Users\KAMMERLOCHER-08964\Downloads\kisspng-data-center-computer-network-computer-servers-acon-data-center-5ae9f79de0b194.5997338615252827179204.png"/>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rot="20856458">
            <a:off x="626708" y="5179239"/>
            <a:ext cx="1080000" cy="620666"/>
          </a:xfrm>
          <a:prstGeom prst="rect">
            <a:avLst/>
          </a:prstGeom>
          <a:noFill/>
          <a:extLst>
            <a:ext uri="{909E8E84-426E-40DD-AFC4-6F175D3DCCD1}">
              <a14:hiddenFill xmlns:a14="http://schemas.microsoft.com/office/drawing/2010/main">
                <a:solidFill>
                  <a:srgbClr val="FFFFFF"/>
                </a:solidFill>
              </a14:hiddenFill>
            </a:ext>
          </a:extLst>
        </p:spPr>
      </p:pic>
      <p:pic>
        <p:nvPicPr>
          <p:cNvPr id="31" name="Image 30"/>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709522" y="3939130"/>
            <a:ext cx="983487" cy="983487"/>
          </a:xfrm>
          <a:prstGeom prst="rect">
            <a:avLst/>
          </a:prstGeom>
        </p:spPr>
      </p:pic>
      <p:sp>
        <p:nvSpPr>
          <p:cNvPr id="57" name="Rectangle 56"/>
          <p:cNvSpPr/>
          <p:nvPr/>
        </p:nvSpPr>
        <p:spPr>
          <a:xfrm>
            <a:off x="1392823" y="1102736"/>
            <a:ext cx="10611337" cy="6104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400" b="1" i="0" u="none" strike="noStrike" kern="1200" cap="none" spc="0" normalizeH="0" baseline="0" noProof="0" dirty="0" smtClean="0">
                <a:ln>
                  <a:noFill/>
                </a:ln>
                <a:solidFill>
                  <a:prstClr val="white"/>
                </a:solidFill>
                <a:effectLst/>
                <a:uLnTx/>
                <a:uFillTx/>
                <a:latin typeface="Calibri" panose="020F0502020204030204"/>
                <a:ea typeface="+mn-ea"/>
                <a:cs typeface="+mn-cs"/>
              </a:rPr>
              <a:t>ECO-SCORE APPLICATIF (SSA)</a:t>
            </a:r>
            <a:endParaRPr kumimoji="0" lang="fr-FR" sz="24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59" name="Connecteur en angle 58"/>
          <p:cNvCxnSpPr>
            <a:stCxn id="28" idx="0"/>
            <a:endCxn id="57" idx="2"/>
          </p:cNvCxnSpPr>
          <p:nvPr/>
        </p:nvCxnSpPr>
        <p:spPr>
          <a:xfrm rot="5400000" flipH="1" flipV="1">
            <a:off x="4314967" y="-331406"/>
            <a:ext cx="338978" cy="442807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Connecteur en angle 61"/>
          <p:cNvCxnSpPr>
            <a:stCxn id="27" idx="0"/>
            <a:endCxn id="57" idx="2"/>
          </p:cNvCxnSpPr>
          <p:nvPr/>
        </p:nvCxnSpPr>
        <p:spPr>
          <a:xfrm rot="5400000" flipH="1" flipV="1">
            <a:off x="6330034" y="1683661"/>
            <a:ext cx="338978" cy="39793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Connecteur en angle 63"/>
          <p:cNvCxnSpPr>
            <a:stCxn id="22" idx="0"/>
            <a:endCxn id="57" idx="2"/>
          </p:cNvCxnSpPr>
          <p:nvPr/>
        </p:nvCxnSpPr>
        <p:spPr>
          <a:xfrm rot="16200000" flipV="1">
            <a:off x="8780390" y="-368758"/>
            <a:ext cx="338978" cy="450277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Connecteur en angle 57"/>
          <p:cNvCxnSpPr>
            <a:stCxn id="28" idx="2"/>
            <a:endCxn id="16" idx="0"/>
          </p:cNvCxnSpPr>
          <p:nvPr/>
        </p:nvCxnSpPr>
        <p:spPr>
          <a:xfrm rot="5400000">
            <a:off x="1546343" y="2556618"/>
            <a:ext cx="357179" cy="109097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Rectangle 62"/>
          <p:cNvSpPr/>
          <p:nvPr/>
        </p:nvSpPr>
        <p:spPr>
          <a:xfrm>
            <a:off x="8709127" y="2046407"/>
            <a:ext cx="1251083" cy="871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dirty="0">
                <a:ln>
                  <a:noFill/>
                </a:ln>
                <a:solidFill>
                  <a:prstClr val="white"/>
                </a:solidFill>
                <a:effectLst/>
                <a:uLnTx/>
                <a:uFillTx/>
                <a:latin typeface="Calibri" panose="020F0502020204030204"/>
                <a:ea typeface="+mn-ea"/>
                <a:cs typeface="+mn-cs"/>
              </a:rPr>
              <a:t>Mesure </a:t>
            </a:r>
            <a:r>
              <a:rPr kumimoji="0" lang="fr-FR" sz="2000" b="1" i="0" u="none" strike="noStrike" kern="1200" cap="none" spc="0" normalizeH="0" baseline="0" noProof="0" dirty="0" smtClean="0">
                <a:ln>
                  <a:noFill/>
                </a:ln>
                <a:solidFill>
                  <a:prstClr val="white"/>
                </a:solidFill>
                <a:effectLst/>
                <a:uLnTx/>
                <a:uFillTx/>
                <a:latin typeface="Calibri" panose="020F0502020204030204"/>
                <a:ea typeface="+mn-ea"/>
                <a:cs typeface="+mn-cs"/>
              </a:rPr>
              <a:t>Usage</a:t>
            </a:r>
            <a:endParaRPr kumimoji="0" lang="fr-FR" sz="20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65" name="Connecteur en angle 64"/>
          <p:cNvCxnSpPr>
            <a:stCxn id="63" idx="0"/>
            <a:endCxn id="57" idx="2"/>
          </p:cNvCxnSpPr>
          <p:nvPr/>
        </p:nvCxnSpPr>
        <p:spPr>
          <a:xfrm rot="16200000" flipV="1">
            <a:off x="7849948" y="561685"/>
            <a:ext cx="333267" cy="263617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95" name="ZoneTexte 94"/>
          <p:cNvSpPr txBox="1"/>
          <p:nvPr/>
        </p:nvSpPr>
        <p:spPr>
          <a:xfrm>
            <a:off x="8738293" y="5919836"/>
            <a:ext cx="1250355" cy="600164"/>
          </a:xfrm>
          <a:prstGeom prst="rect">
            <a:avLst/>
          </a:prstGeom>
          <a:noFill/>
        </p:spPr>
        <p:txBody>
          <a:bodyPr wrap="square" rtlCol="0">
            <a:spAutoFit/>
          </a:bodyPr>
          <a:lstStyle>
            <a:defPPr>
              <a:defRPr lang="fr-FR"/>
            </a:defPPr>
            <a:lvl1pPr algn="ctr">
              <a:defRPr sz="1100" b="1"/>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dirty="0">
                <a:ln>
                  <a:noFill/>
                </a:ln>
                <a:solidFill>
                  <a:prstClr val="black"/>
                </a:solidFill>
                <a:effectLst/>
                <a:uLnTx/>
                <a:uFillTx/>
                <a:latin typeface="Calibri" panose="020F0502020204030204"/>
                <a:ea typeface="+mn-ea"/>
                <a:cs typeface="+mn-cs"/>
              </a:rPr>
              <a:t>Taux </a:t>
            </a:r>
            <a:r>
              <a:rPr kumimoji="0" lang="fr-FR" sz="1100" b="1" i="0" u="none" strike="noStrike" kern="1200" cap="none" spc="0" normalizeH="0" baseline="0" noProof="0" dirty="0" smtClean="0">
                <a:ln>
                  <a:noFill/>
                </a:ln>
                <a:solidFill>
                  <a:prstClr val="black"/>
                </a:solidFill>
                <a:effectLst/>
                <a:uLnTx/>
                <a:uFillTx/>
                <a:latin typeface="Calibri" panose="020F0502020204030204"/>
                <a:ea typeface="+mn-ea"/>
                <a:cs typeface="+mn-cs"/>
              </a:rPr>
              <a:t>d’utilisation </a:t>
            </a:r>
            <a:r>
              <a:rPr kumimoji="0" lang="fr-FR" sz="1100" b="1" i="0" u="none" strike="noStrike" kern="1200" cap="none" spc="0" normalizeH="0" baseline="0" noProof="0" dirty="0">
                <a:ln>
                  <a:noFill/>
                </a:ln>
                <a:solidFill>
                  <a:prstClr val="black"/>
                </a:solidFill>
                <a:effectLst/>
                <a:uLnTx/>
                <a:uFillTx/>
                <a:latin typeface="Calibri" panose="020F0502020204030204"/>
                <a:ea typeface="+mn-ea"/>
                <a:cs typeface="+mn-cs"/>
              </a:rPr>
              <a:t>des </a:t>
            </a:r>
            <a:r>
              <a:rPr kumimoji="0" lang="fr-FR" sz="1100" b="1" i="0" u="none" strike="noStrike" kern="1200" cap="none" spc="0" normalizeH="0" baseline="0" noProof="0" dirty="0" smtClean="0">
                <a:ln>
                  <a:noFill/>
                </a:ln>
                <a:solidFill>
                  <a:prstClr val="black"/>
                </a:solidFill>
                <a:effectLst/>
                <a:uLnTx/>
                <a:uFillTx/>
                <a:latin typeface="Calibri" panose="020F0502020204030204"/>
                <a:ea typeface="+mn-ea"/>
                <a:cs typeface="+mn-cs"/>
              </a:rPr>
              <a:t>différentes fonctionnalités</a:t>
            </a:r>
            <a:endParaRPr kumimoji="0" lang="fr-FR" sz="11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96" name="Connecteur droit avec flèche 95"/>
          <p:cNvCxnSpPr>
            <a:stCxn id="63" idx="2"/>
          </p:cNvCxnSpPr>
          <p:nvPr/>
        </p:nvCxnSpPr>
        <p:spPr>
          <a:xfrm>
            <a:off x="9334669" y="2917807"/>
            <a:ext cx="1" cy="11916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5" name="ZoneTexte 104"/>
          <p:cNvSpPr txBox="1"/>
          <p:nvPr/>
        </p:nvSpPr>
        <p:spPr>
          <a:xfrm>
            <a:off x="92898" y="1706881"/>
            <a:ext cx="756000" cy="1015663"/>
          </a:xfrm>
          <a:prstGeom prst="rect">
            <a:avLst/>
          </a:prstGeom>
          <a:no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dirty="0" smtClean="0">
                <a:ln>
                  <a:noFill/>
                </a:ln>
                <a:solidFill>
                  <a:prstClr val="black"/>
                </a:solidFill>
                <a:effectLst/>
                <a:uLnTx/>
                <a:uFillTx/>
                <a:latin typeface="Calibri" panose="020F0502020204030204"/>
                <a:ea typeface="+mn-ea"/>
                <a:cs typeface="+mn-cs"/>
              </a:rPr>
              <a:t>Pondéré selon métriques d’usage  (clients, utilisateurs, sollicitations)</a:t>
            </a:r>
            <a:endParaRPr kumimoji="0" lang="fr-FR" sz="1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07" name="Connecteur droit avec flèche 106"/>
          <p:cNvCxnSpPr>
            <a:stCxn id="105" idx="3"/>
            <a:endCxn id="28" idx="1"/>
          </p:cNvCxnSpPr>
          <p:nvPr/>
        </p:nvCxnSpPr>
        <p:spPr>
          <a:xfrm>
            <a:off x="848898" y="2214713"/>
            <a:ext cx="543925" cy="273105"/>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grpSp>
        <p:nvGrpSpPr>
          <p:cNvPr id="91" name="Groupe 90"/>
          <p:cNvGrpSpPr/>
          <p:nvPr/>
        </p:nvGrpSpPr>
        <p:grpSpPr>
          <a:xfrm>
            <a:off x="8692703" y="4109461"/>
            <a:ext cx="1347803" cy="877552"/>
            <a:chOff x="10897178" y="4088675"/>
            <a:chExt cx="1347803" cy="877552"/>
          </a:xfrm>
        </p:grpSpPr>
        <p:pic>
          <p:nvPicPr>
            <p:cNvPr id="88" name="Image 87"/>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1560981" y="4088675"/>
              <a:ext cx="684000" cy="684000"/>
            </a:xfrm>
            <a:prstGeom prst="rect">
              <a:avLst/>
            </a:prstGeom>
          </p:spPr>
        </p:pic>
        <p:pic>
          <p:nvPicPr>
            <p:cNvPr id="89" name="Image 88"/>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10897178" y="4102227"/>
              <a:ext cx="864000" cy="864000"/>
            </a:xfrm>
            <a:prstGeom prst="rect">
              <a:avLst/>
            </a:prstGeom>
          </p:spPr>
        </p:pic>
      </p:grpSp>
      <p:cxnSp>
        <p:nvCxnSpPr>
          <p:cNvPr id="113" name="Connecteur droit avec flèche 112"/>
          <p:cNvCxnSpPr>
            <a:endCxn id="95" idx="0"/>
          </p:cNvCxnSpPr>
          <p:nvPr/>
        </p:nvCxnSpPr>
        <p:spPr>
          <a:xfrm>
            <a:off x="9356506" y="4912659"/>
            <a:ext cx="6965" cy="10071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05104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a:bodyPr>
          <a:lstStyle/>
          <a:p>
            <a:r>
              <a:rPr lang="fr-FR" sz="4400" dirty="0"/>
              <a:t>Bonnes pratiques par </a:t>
            </a:r>
            <a:endParaRPr lang="fr-FR" sz="4400" dirty="0" smtClean="0"/>
          </a:p>
          <a:p>
            <a:r>
              <a:rPr lang="fr-FR" sz="4400" dirty="0" smtClean="0"/>
              <a:t>phase métier</a:t>
            </a:r>
            <a:endParaRPr lang="fr-FR" sz="4400" dirty="0"/>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1491734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a:solidFill>
                  <a:schemeClr val="bg1"/>
                </a:solidFill>
              </a:rPr>
              <a:t>Bonnes </a:t>
            </a:r>
            <a:r>
              <a:rPr lang="fr-FR" b="1" dirty="0" smtClean="0">
                <a:solidFill>
                  <a:schemeClr val="bg1"/>
                </a:solidFill>
              </a:rPr>
              <a:t>pratiques </a:t>
            </a:r>
            <a:r>
              <a:rPr lang="fr-FR" b="1" dirty="0">
                <a:solidFill>
                  <a:schemeClr val="bg1"/>
                </a:solidFill>
              </a:rPr>
              <a:t>par </a:t>
            </a:r>
            <a:r>
              <a:rPr lang="fr-FR" b="1" dirty="0" smtClean="0">
                <a:solidFill>
                  <a:schemeClr val="bg1"/>
                </a:solidFill>
              </a:rPr>
              <a:t>phase métier</a:t>
            </a:r>
            <a:endParaRPr lang="fr-FR" b="1" dirty="0">
              <a:solidFill>
                <a:schemeClr val="bg1"/>
              </a:solidFill>
            </a:endParaRPr>
          </a:p>
        </p:txBody>
      </p:sp>
      <p:sp>
        <p:nvSpPr>
          <p:cNvPr id="3" name="Espace réservé du contenu 2"/>
          <p:cNvSpPr>
            <a:spLocks noGrp="1"/>
          </p:cNvSpPr>
          <p:nvPr>
            <p:ph idx="1"/>
          </p:nvPr>
        </p:nvSpPr>
        <p:spPr>
          <a:xfrm>
            <a:off x="0" y="1736946"/>
            <a:ext cx="12192000" cy="4351338"/>
          </a:xfrm>
        </p:spPr>
        <p:txBody>
          <a:bodyPr>
            <a:normAutofit fontScale="62500" lnSpcReduction="20000"/>
          </a:bodyPr>
          <a:lstStyle/>
          <a:p>
            <a:pPr marL="0" indent="0">
              <a:buNone/>
            </a:pPr>
            <a:r>
              <a:rPr lang="fr-FR" dirty="0" smtClean="0">
                <a:solidFill>
                  <a:schemeClr val="accent5">
                    <a:lumMod val="75000"/>
                  </a:schemeClr>
                </a:solidFill>
              </a:rPr>
              <a:t>Dans cette partie, les bonnes pratiques sont présentées par phase métier en suivant les processus projets de la CNAM et classées par finalité à atteindre.</a:t>
            </a:r>
          </a:p>
          <a:p>
            <a:pPr marL="0" indent="0">
              <a:buNone/>
            </a:pPr>
            <a:endParaRPr lang="fr-FR" dirty="0" smtClean="0">
              <a:solidFill>
                <a:schemeClr val="accent5">
                  <a:lumMod val="75000"/>
                </a:schemeClr>
              </a:solidFill>
            </a:endParaRPr>
          </a:p>
          <a:p>
            <a:pPr marL="0" indent="0">
              <a:buNone/>
            </a:pPr>
            <a:r>
              <a:rPr lang="fr-FR" u="sng" dirty="0" smtClean="0">
                <a:solidFill>
                  <a:schemeClr val="accent5">
                    <a:lumMod val="75000"/>
                  </a:schemeClr>
                </a:solidFill>
              </a:rPr>
              <a:t>Phase métier :</a:t>
            </a:r>
            <a:endParaRPr lang="fr-FR" u="sng" dirty="0">
              <a:solidFill>
                <a:schemeClr val="accent5">
                  <a:lumMod val="75000"/>
                </a:schemeClr>
              </a:solidFill>
            </a:endParaRPr>
          </a:p>
          <a:p>
            <a:pPr fontAlgn="b"/>
            <a:r>
              <a:rPr lang="fr-FR" sz="2900" dirty="0">
                <a:solidFill>
                  <a:schemeClr val="accent5">
                    <a:lumMod val="75000"/>
                  </a:schemeClr>
                </a:solidFill>
              </a:rPr>
              <a:t>Gouvernance/Stratégie SI</a:t>
            </a:r>
          </a:p>
          <a:p>
            <a:pPr fontAlgn="b"/>
            <a:r>
              <a:rPr lang="fr-FR" sz="2900" dirty="0">
                <a:solidFill>
                  <a:schemeClr val="accent5">
                    <a:lumMod val="75000"/>
                  </a:schemeClr>
                </a:solidFill>
              </a:rPr>
              <a:t>Gestion projet</a:t>
            </a:r>
          </a:p>
          <a:p>
            <a:pPr fontAlgn="b"/>
            <a:r>
              <a:rPr lang="fr-FR" sz="2900" dirty="0">
                <a:solidFill>
                  <a:schemeClr val="accent5">
                    <a:lumMod val="75000"/>
                  </a:schemeClr>
                </a:solidFill>
              </a:rPr>
              <a:t>Cadrage : CDC/</a:t>
            </a:r>
            <a:r>
              <a:rPr lang="fr-FR" sz="2900" dirty="0" err="1">
                <a:solidFill>
                  <a:schemeClr val="accent5">
                    <a:lumMod val="75000"/>
                  </a:schemeClr>
                </a:solidFill>
              </a:rPr>
              <a:t>Spec</a:t>
            </a:r>
            <a:r>
              <a:rPr lang="fr-FR" sz="2900" dirty="0">
                <a:solidFill>
                  <a:schemeClr val="accent5">
                    <a:lumMod val="75000"/>
                  </a:schemeClr>
                </a:solidFill>
              </a:rPr>
              <a:t> </a:t>
            </a:r>
          </a:p>
          <a:p>
            <a:pPr fontAlgn="b"/>
            <a:r>
              <a:rPr lang="fr-FR" sz="2900" dirty="0">
                <a:solidFill>
                  <a:schemeClr val="accent5">
                    <a:lumMod val="75000"/>
                  </a:schemeClr>
                </a:solidFill>
              </a:rPr>
              <a:t>Cadrage  : Architecture</a:t>
            </a:r>
          </a:p>
          <a:p>
            <a:pPr fontAlgn="b"/>
            <a:r>
              <a:rPr lang="fr-FR" sz="2900" dirty="0" err="1">
                <a:solidFill>
                  <a:schemeClr val="accent5">
                    <a:lumMod val="75000"/>
                  </a:schemeClr>
                </a:solidFill>
              </a:rPr>
              <a:t>Spec</a:t>
            </a:r>
            <a:r>
              <a:rPr lang="fr-FR" sz="2900" dirty="0">
                <a:solidFill>
                  <a:schemeClr val="accent5">
                    <a:lumMod val="75000"/>
                  </a:schemeClr>
                </a:solidFill>
              </a:rPr>
              <a:t>-Conception Fonctionnelle &amp; Design </a:t>
            </a:r>
          </a:p>
          <a:p>
            <a:pPr fontAlgn="b"/>
            <a:r>
              <a:rPr lang="fr-FR" sz="2900" dirty="0">
                <a:solidFill>
                  <a:schemeClr val="accent5">
                    <a:lumMod val="75000"/>
                  </a:schemeClr>
                </a:solidFill>
              </a:rPr>
              <a:t>Développement : Front end </a:t>
            </a:r>
          </a:p>
          <a:p>
            <a:pPr fontAlgn="b"/>
            <a:r>
              <a:rPr lang="fr-FR" sz="2900" dirty="0">
                <a:solidFill>
                  <a:schemeClr val="accent5">
                    <a:lumMod val="75000"/>
                  </a:schemeClr>
                </a:solidFill>
              </a:rPr>
              <a:t>Développement : Back end</a:t>
            </a:r>
          </a:p>
          <a:p>
            <a:pPr fontAlgn="b"/>
            <a:r>
              <a:rPr lang="fr-FR" sz="2900" dirty="0">
                <a:solidFill>
                  <a:schemeClr val="accent5">
                    <a:lumMod val="75000"/>
                  </a:schemeClr>
                </a:solidFill>
              </a:rPr>
              <a:t>Phase d’environnements : Conception de l’hébergement numérique</a:t>
            </a:r>
          </a:p>
          <a:p>
            <a:pPr fontAlgn="b"/>
            <a:r>
              <a:rPr lang="fr-FR" sz="2900" dirty="0">
                <a:solidFill>
                  <a:schemeClr val="accent5">
                    <a:lumMod val="75000"/>
                  </a:schemeClr>
                </a:solidFill>
              </a:rPr>
              <a:t>Phase RUN : Maintenance &amp; fin de vie </a:t>
            </a:r>
          </a:p>
          <a:p>
            <a:pPr fontAlgn="b"/>
            <a:r>
              <a:rPr lang="fr-FR" sz="2900" dirty="0">
                <a:solidFill>
                  <a:schemeClr val="accent5">
                    <a:lumMod val="75000"/>
                  </a:schemeClr>
                </a:solidFill>
              </a:rPr>
              <a:t>Intelligence Artificielle</a:t>
            </a:r>
          </a:p>
          <a:p>
            <a:pPr marL="0" indent="0">
              <a:buNone/>
            </a:pPr>
            <a:endParaRPr lang="fr-FR" dirty="0" smtClean="0">
              <a:solidFill>
                <a:schemeClr val="accent5">
                  <a:lumMod val="75000"/>
                </a:schemeClr>
              </a:solidFill>
            </a:endParaRPr>
          </a:p>
          <a:p>
            <a:pPr marL="0" indent="0">
              <a:buNone/>
            </a:pPr>
            <a:endParaRPr lang="fr-FR" dirty="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400529597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a:bodyPr>
          <a:lstStyle/>
          <a:p>
            <a:r>
              <a:rPr lang="fr-FR" sz="3200" dirty="0"/>
              <a:t>Bonnes pratiques par </a:t>
            </a:r>
            <a:r>
              <a:rPr lang="fr-FR" sz="3200" dirty="0" smtClean="0"/>
              <a:t>phase métier :</a:t>
            </a:r>
            <a:endParaRPr lang="fr-FR" sz="3200" dirty="0"/>
          </a:p>
          <a:p>
            <a:r>
              <a:rPr lang="fr-FR" sz="4400" dirty="0" smtClean="0"/>
              <a:t>Gouvernance/Stratégie </a:t>
            </a:r>
            <a:r>
              <a:rPr lang="fr-FR" sz="4400" dirty="0"/>
              <a:t>SI</a:t>
            </a:r>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27395649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smtClean="0">
                <a:solidFill>
                  <a:schemeClr val="bg1"/>
                </a:solidFill>
              </a:rPr>
              <a:t>Gouvernance/Stratégie SI</a:t>
            </a:r>
            <a:endParaRPr lang="fr-FR" sz="3600" b="1" dirty="0">
              <a:solidFill>
                <a:schemeClr val="bg1"/>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ext uri="{D42A27DB-BD31-4B8C-83A1-F6EECF244321}">
                <p14:modId xmlns:p14="http://schemas.microsoft.com/office/powerpoint/2010/main" val="3899567674"/>
              </p:ext>
            </p:extLst>
          </p:nvPr>
        </p:nvGraphicFramePr>
        <p:xfrm>
          <a:off x="0" y="1325566"/>
          <a:ext cx="12145704" cy="4762718"/>
        </p:xfrm>
        <a:graphic>
          <a:graphicData uri="http://schemas.openxmlformats.org/drawingml/2006/table">
            <a:tbl>
              <a:tblPr firstRow="1" bandRow="1">
                <a:tableStyleId>{5C22544A-7EE6-4342-B048-85BDC9FD1C3A}</a:tableStyleId>
              </a:tblPr>
              <a:tblGrid>
                <a:gridCol w="12145704">
                  <a:extLst>
                    <a:ext uri="{9D8B030D-6E8A-4147-A177-3AD203B41FA5}">
                      <a16:colId xmlns:a16="http://schemas.microsoft.com/office/drawing/2014/main" val="2231785367"/>
                    </a:ext>
                  </a:extLst>
                </a:gridCol>
              </a:tblGrid>
              <a:tr h="1286394">
                <a:tc>
                  <a:txBody>
                    <a:bodyPr/>
                    <a:lstStyle/>
                    <a:p>
                      <a:pPr algn="ctr"/>
                      <a:r>
                        <a:rPr lang="fr-FR" dirty="0" smtClean="0"/>
                        <a:t>Méthodologie facilitant l'écoconception</a:t>
                      </a:r>
                    </a:p>
                  </a:txBody>
                  <a:tcPr anchor="ctr"/>
                </a:tc>
                <a:extLst>
                  <a:ext uri="{0D108BD9-81ED-4DB2-BD59-A6C34878D82A}">
                    <a16:rowId xmlns:a16="http://schemas.microsoft.com/office/drawing/2014/main" val="2103960134"/>
                  </a:ext>
                </a:extLst>
              </a:tr>
              <a:tr h="745291">
                <a:tc>
                  <a:txBody>
                    <a:bodyPr/>
                    <a:lstStyle/>
                    <a:p>
                      <a:pPr algn="ctr" fontAlgn="ctr"/>
                      <a:r>
                        <a:rPr lang="fr-FR" sz="1600" b="0" i="0" u="none" strike="noStrike" dirty="0">
                          <a:solidFill>
                            <a:srgbClr val="000000"/>
                          </a:solidFill>
                          <a:effectLst/>
                          <a:latin typeface="Calibri" panose="020F0502020204030204" pitchFamily="34" charset="0"/>
                          <a:hlinkClick r:id="rId4" action="ppaction://hlinksldjump"/>
                        </a:rPr>
                        <a:t>Identifier un référent en écoconception numérique</a:t>
                      </a:r>
                      <a:endParaRPr lang="fr-FR" sz="16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739509504"/>
                  </a:ext>
                </a:extLst>
              </a:tr>
              <a:tr h="745291">
                <a:tc>
                  <a:txBody>
                    <a:bodyPr/>
                    <a:lstStyle/>
                    <a:p>
                      <a:pPr algn="ctr" fontAlgn="ctr"/>
                      <a:r>
                        <a:rPr lang="fr-FR" sz="1600" b="0" i="0" u="none" strike="noStrike" dirty="0">
                          <a:solidFill>
                            <a:srgbClr val="000000"/>
                          </a:solidFill>
                          <a:effectLst/>
                          <a:latin typeface="Calibri" panose="020F0502020204030204" pitchFamily="34" charset="0"/>
                          <a:hlinkClick r:id="rId5" action="ppaction://hlinksldjump"/>
                        </a:rPr>
                        <a:t>Mettre en place des Revues régulière pour s’assurer du respect de sa démarche d’écoconception</a:t>
                      </a:r>
                      <a:endParaRPr lang="fr-FR" sz="16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224939995"/>
                  </a:ext>
                </a:extLst>
              </a:tr>
              <a:tr h="992871">
                <a:tc>
                  <a:txBody>
                    <a:bodyPr/>
                    <a:lstStyle/>
                    <a:p>
                      <a:pPr algn="ctr" fontAlgn="ctr"/>
                      <a:r>
                        <a:rPr lang="fr-FR" sz="1600" b="0" i="0" u="none" strike="noStrike" dirty="0">
                          <a:solidFill>
                            <a:srgbClr val="000000"/>
                          </a:solidFill>
                          <a:effectLst/>
                          <a:latin typeface="Calibri" panose="020F0502020204030204" pitchFamily="34" charset="0"/>
                          <a:hlinkClick r:id="rId6" action="ppaction://hlinksldjump"/>
                        </a:rPr>
                        <a:t>Fixer des objectifs en matière de</a:t>
                      </a:r>
                      <a:br>
                        <a:rPr lang="fr-FR" sz="1600" b="0" i="0" u="none" strike="noStrike" dirty="0">
                          <a:solidFill>
                            <a:srgbClr val="000000"/>
                          </a:solidFill>
                          <a:effectLst/>
                          <a:latin typeface="Calibri" panose="020F0502020204030204" pitchFamily="34" charset="0"/>
                          <a:hlinkClick r:id="rId6" action="ppaction://hlinksldjump"/>
                        </a:rPr>
                      </a:br>
                      <a:r>
                        <a:rPr lang="fr-FR" sz="1600" b="0" i="0" u="none" strike="noStrike" dirty="0">
                          <a:solidFill>
                            <a:srgbClr val="000000"/>
                          </a:solidFill>
                          <a:effectLst/>
                          <a:latin typeface="Calibri" panose="020F0502020204030204" pitchFamily="34" charset="0"/>
                          <a:hlinkClick r:id="rId6" action="ppaction://hlinksldjump"/>
                        </a:rPr>
                        <a:t>réduction ou de limitation de ses propres impacts environnementaux</a:t>
                      </a:r>
                      <a:endParaRPr lang="fr-FR" sz="16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069919294"/>
                  </a:ext>
                </a:extLst>
              </a:tr>
              <a:tr h="992871">
                <a:tc>
                  <a:txBody>
                    <a:bodyPr/>
                    <a:lstStyle/>
                    <a:p>
                      <a:pPr algn="ctr" fontAlgn="ctr"/>
                      <a:r>
                        <a:rPr lang="fr-FR" sz="1600" b="0" i="0" u="none" strike="noStrike" dirty="0">
                          <a:solidFill>
                            <a:srgbClr val="000000"/>
                          </a:solidFill>
                          <a:effectLst/>
                          <a:latin typeface="Calibri" panose="020F0502020204030204" pitchFamily="34" charset="0"/>
                          <a:hlinkClick r:id="rId7" action="ppaction://hlinksldjump"/>
                        </a:rPr>
                        <a:t>Concevoir le service avec une revue de conception et une revue de code pour réduire les impacts environnementaux de chaque fonctionnalité.</a:t>
                      </a:r>
                      <a:endParaRPr lang="fr-FR" sz="16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785489409"/>
                  </a:ext>
                </a:extLst>
              </a:tr>
            </a:tbl>
          </a:graphicData>
        </a:graphic>
      </p:graphicFrame>
    </p:spTree>
    <p:extLst>
      <p:ext uri="{BB962C8B-B14F-4D97-AF65-F5344CB8AC3E}">
        <p14:creationId xmlns:p14="http://schemas.microsoft.com/office/powerpoint/2010/main" val="202573521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smtClean="0">
                <a:solidFill>
                  <a:schemeClr val="bg1"/>
                </a:solidFill>
              </a:rPr>
              <a:t>Documents et outils associés</a:t>
            </a:r>
            <a:endParaRPr lang="fr-FR" sz="3600" b="1" dirty="0">
              <a:solidFill>
                <a:schemeClr val="bg1"/>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168648082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a:bodyPr>
          <a:lstStyle/>
          <a:p>
            <a:pPr lvl="0"/>
            <a:r>
              <a:rPr lang="fr-FR" sz="3200" dirty="0">
                <a:solidFill>
                  <a:prstClr val="white"/>
                </a:solidFill>
              </a:rPr>
              <a:t>Bonnes pratiques par phase métier :</a:t>
            </a:r>
          </a:p>
          <a:p>
            <a:r>
              <a:rPr lang="fr-FR" sz="4400" dirty="0" smtClean="0"/>
              <a:t>Gestion </a:t>
            </a:r>
            <a:r>
              <a:rPr lang="fr-FR" sz="4400" dirty="0"/>
              <a:t>projet</a:t>
            </a:r>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24690294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smtClean="0">
                <a:solidFill>
                  <a:schemeClr val="bg1"/>
                </a:solidFill>
              </a:rPr>
              <a:t>Gestion </a:t>
            </a:r>
            <a:r>
              <a:rPr lang="fr-FR" sz="3600" b="1" dirty="0">
                <a:solidFill>
                  <a:schemeClr val="bg1"/>
                </a:solidFill>
              </a:rPr>
              <a:t>projet</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3" name="Tableau 2"/>
          <p:cNvGraphicFramePr>
            <a:graphicFrameLocks noGrp="1"/>
          </p:cNvGraphicFramePr>
          <p:nvPr>
            <p:extLst>
              <p:ext uri="{D42A27DB-BD31-4B8C-83A1-F6EECF244321}">
                <p14:modId xmlns:p14="http://schemas.microsoft.com/office/powerpoint/2010/main" val="4259191394"/>
              </p:ext>
            </p:extLst>
          </p:nvPr>
        </p:nvGraphicFramePr>
        <p:xfrm>
          <a:off x="0" y="1325562"/>
          <a:ext cx="12192000" cy="4762721"/>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2673639360"/>
                    </a:ext>
                  </a:extLst>
                </a:gridCol>
                <a:gridCol w="6096000">
                  <a:extLst>
                    <a:ext uri="{9D8B030D-6E8A-4147-A177-3AD203B41FA5}">
                      <a16:colId xmlns:a16="http://schemas.microsoft.com/office/drawing/2014/main" val="3108709181"/>
                    </a:ext>
                  </a:extLst>
                </a:gridCol>
              </a:tblGrid>
              <a:tr h="910626">
                <a:tc>
                  <a:txBody>
                    <a:bodyPr/>
                    <a:lstStyle/>
                    <a:p>
                      <a:pPr algn="ctr"/>
                      <a:r>
                        <a:rPr lang="fr-FR" dirty="0" smtClean="0"/>
                        <a:t>Service numérique utilisable</a:t>
                      </a:r>
                      <a:endParaRPr lang="fr-FR" dirty="0"/>
                    </a:p>
                  </a:txBody>
                  <a:tcPr anchor="ctr"/>
                </a:tc>
                <a:tc>
                  <a:txBody>
                    <a:bodyPr/>
                    <a:lstStyle/>
                    <a:p>
                      <a:pPr algn="ctr"/>
                      <a:r>
                        <a:rPr lang="fr-FR" dirty="0" smtClean="0"/>
                        <a:t>Méthodologie facilitant l'écoconception</a:t>
                      </a:r>
                    </a:p>
                  </a:txBody>
                  <a:tcPr anchor="ctr"/>
                </a:tc>
                <a:extLst>
                  <a:ext uri="{0D108BD9-81ED-4DB2-BD59-A6C34878D82A}">
                    <a16:rowId xmlns:a16="http://schemas.microsoft.com/office/drawing/2014/main" val="386734892"/>
                  </a:ext>
                </a:extLst>
              </a:tr>
              <a:tr h="1049750">
                <a:tc>
                  <a:txBody>
                    <a:bodyPr/>
                    <a:lstStyle/>
                    <a:p>
                      <a:pPr algn="ctr" fontAlgn="ctr"/>
                      <a:r>
                        <a:rPr lang="fr-FR" sz="1600" b="0" i="0" u="none" strike="noStrike" dirty="0">
                          <a:solidFill>
                            <a:srgbClr val="000000"/>
                          </a:solidFill>
                          <a:effectLst/>
                          <a:latin typeface="Calibri" panose="020F0502020204030204" pitchFamily="34" charset="0"/>
                          <a:hlinkClick r:id="rId4" action="ppaction://hlinksldjump"/>
                        </a:rPr>
                        <a:t>Installer des mises à jour correctives pendant toute la durée de vie prévue des équipements et des logiciels liés au service </a:t>
                      </a:r>
                      <a:endParaRPr lang="fr-FR" sz="16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600" b="0" i="0" u="none" strike="noStrike" dirty="0">
                          <a:solidFill>
                            <a:srgbClr val="000000"/>
                          </a:solidFill>
                          <a:effectLst/>
                          <a:latin typeface="Calibri" panose="020F0502020204030204" pitchFamily="34" charset="0"/>
                          <a:hlinkClick r:id="rId5" action="ppaction://hlinksldjump"/>
                        </a:rPr>
                        <a:t>Imposer aux fournisseurs du service de garantir une démarche de réduction des impacts environnementaux.</a:t>
                      </a:r>
                      <a:endParaRPr lang="fr-FR" sz="16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839484108"/>
                  </a:ext>
                </a:extLst>
              </a:tr>
              <a:tr h="702845">
                <a:tc>
                  <a:txBody>
                    <a:bodyPr/>
                    <a:lstStyle/>
                    <a:p>
                      <a:pPr algn="ctr" fontAlgn="ctr"/>
                      <a:r>
                        <a:rPr lang="fr-FR" sz="1600" b="0" i="0" u="none" strike="noStrike" dirty="0">
                          <a:solidFill>
                            <a:srgbClr val="000000"/>
                          </a:solidFill>
                          <a:effectLst/>
                          <a:latin typeface="Calibri" panose="020F0502020204030204" pitchFamily="34" charset="0"/>
                          <a:hlinkClick r:id="rId6" action="ppaction://hlinksldjump"/>
                        </a:rPr>
                        <a:t>Installer des mises à jour correctives indépendamment des mises à jour évolutives</a:t>
                      </a:r>
                      <a:endParaRPr lang="fr-FR" sz="16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600" b="0" i="0" u="none" strike="noStrike" dirty="0">
                          <a:solidFill>
                            <a:srgbClr val="000000"/>
                          </a:solidFill>
                          <a:effectLst/>
                          <a:latin typeface="Calibri" panose="020F0502020204030204" pitchFamily="34" charset="0"/>
                          <a:hlinkClick r:id="rId7" action="ppaction://hlinksldjump"/>
                        </a:rPr>
                        <a:t>Identifier un référent en écoconception numérique</a:t>
                      </a:r>
                      <a:endParaRPr lang="fr-FR" sz="16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888963311"/>
                  </a:ext>
                </a:extLst>
              </a:tr>
              <a:tr h="1049750">
                <a:tc>
                  <a:txBody>
                    <a:bodyPr/>
                    <a:lstStyle/>
                    <a:p>
                      <a:pPr algn="ctr"/>
                      <a:endParaRPr lang="fr-FR" dirty="0"/>
                    </a:p>
                  </a:txBody>
                  <a:tcPr anchor="ctr"/>
                </a:tc>
                <a:tc>
                  <a:txBody>
                    <a:bodyPr/>
                    <a:lstStyle/>
                    <a:p>
                      <a:pPr algn="ctr" fontAlgn="ctr"/>
                      <a:r>
                        <a:rPr lang="fr-FR" sz="1600" b="0" i="0" u="none" strike="noStrike" dirty="0">
                          <a:solidFill>
                            <a:srgbClr val="000000"/>
                          </a:solidFill>
                          <a:effectLst/>
                          <a:latin typeface="Calibri" panose="020F0502020204030204" pitchFamily="34" charset="0"/>
                          <a:hlinkClick r:id="rId8" action="ppaction://hlinksldjump"/>
                        </a:rPr>
                        <a:t>Mettre en place des Revues régulière pour s’assurer du respect de sa démarche d’écoconception</a:t>
                      </a:r>
                      <a:endParaRPr lang="fr-FR" sz="16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542357381"/>
                  </a:ext>
                </a:extLst>
              </a:tr>
              <a:tr h="1049750">
                <a:tc>
                  <a:txBody>
                    <a:bodyPr/>
                    <a:lstStyle/>
                    <a:p>
                      <a:pPr algn="ctr"/>
                      <a:endParaRPr lang="fr-FR"/>
                    </a:p>
                  </a:txBody>
                  <a:tcPr anchor="ctr"/>
                </a:tc>
                <a:tc>
                  <a:txBody>
                    <a:bodyPr/>
                    <a:lstStyle/>
                    <a:p>
                      <a:pPr algn="ctr" fontAlgn="ctr"/>
                      <a:r>
                        <a:rPr lang="fr-FR" sz="1600" b="0" i="0" u="none" strike="noStrike" dirty="0">
                          <a:solidFill>
                            <a:srgbClr val="000000"/>
                          </a:solidFill>
                          <a:effectLst/>
                          <a:latin typeface="Calibri" panose="020F0502020204030204" pitchFamily="34" charset="0"/>
                          <a:hlinkClick r:id="rId9" action="ppaction://hlinksldjump"/>
                        </a:rPr>
                        <a:t>Fixer des objectifs en matière de</a:t>
                      </a:r>
                      <a:br>
                        <a:rPr lang="fr-FR" sz="1600" b="0" i="0" u="none" strike="noStrike" dirty="0">
                          <a:solidFill>
                            <a:srgbClr val="000000"/>
                          </a:solidFill>
                          <a:effectLst/>
                          <a:latin typeface="Calibri" panose="020F0502020204030204" pitchFamily="34" charset="0"/>
                          <a:hlinkClick r:id="rId9" action="ppaction://hlinksldjump"/>
                        </a:rPr>
                      </a:br>
                      <a:r>
                        <a:rPr lang="fr-FR" sz="1600" b="0" i="0" u="none" strike="noStrike" dirty="0">
                          <a:solidFill>
                            <a:srgbClr val="000000"/>
                          </a:solidFill>
                          <a:effectLst/>
                          <a:latin typeface="Calibri" panose="020F0502020204030204" pitchFamily="34" charset="0"/>
                          <a:hlinkClick r:id="rId9" action="ppaction://hlinksldjump"/>
                        </a:rPr>
                        <a:t>réduction ou de limitation de ses propres impacts environnementaux</a:t>
                      </a:r>
                      <a:endParaRPr lang="fr-FR" sz="16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644403828"/>
                  </a:ext>
                </a:extLst>
              </a:tr>
            </a:tbl>
          </a:graphicData>
        </a:graphic>
      </p:graphicFrame>
    </p:spTree>
    <p:extLst>
      <p:ext uri="{BB962C8B-B14F-4D97-AF65-F5344CB8AC3E}">
        <p14:creationId xmlns:p14="http://schemas.microsoft.com/office/powerpoint/2010/main" val="409224342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smtClean="0">
                <a:solidFill>
                  <a:schemeClr val="bg1"/>
                </a:solidFill>
              </a:rPr>
              <a:t>Documents et outils associés</a:t>
            </a:r>
            <a:endParaRPr lang="fr-FR" sz="3600" b="1" dirty="0">
              <a:solidFill>
                <a:schemeClr val="bg1"/>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7" name="ZoneTexte 6"/>
          <p:cNvSpPr txBox="1"/>
          <p:nvPr/>
        </p:nvSpPr>
        <p:spPr>
          <a:xfrm>
            <a:off x="44605" y="1325563"/>
            <a:ext cx="12101099" cy="3970318"/>
          </a:xfrm>
          <a:prstGeom prst="rect">
            <a:avLst/>
          </a:prstGeom>
          <a:noFill/>
        </p:spPr>
        <p:txBody>
          <a:bodyPr wrap="square" rtlCol="0">
            <a:spAutoFit/>
          </a:bodyPr>
          <a:lstStyle/>
          <a:p>
            <a:pPr lvl="0" eaLnBrk="0" fontAlgn="base" hangingPunct="0">
              <a:spcBef>
                <a:spcPct val="0"/>
              </a:spcBef>
              <a:spcAft>
                <a:spcPct val="0"/>
              </a:spcAft>
            </a:pPr>
            <a:r>
              <a:rPr lang="fr-FR" altLang="fr-FR" sz="1400" b="1" dirty="0">
                <a:latin typeface="Arial" panose="020B0604020202020204" pitchFamily="34" charset="0"/>
              </a:rPr>
              <a:t>Charte de projet</a:t>
            </a:r>
            <a:r>
              <a:rPr lang="fr-FR" altLang="fr-FR" sz="1400" dirty="0">
                <a:latin typeface="Arial" panose="020B0604020202020204" pitchFamily="34" charset="0"/>
              </a:rPr>
              <a:t> : </a:t>
            </a:r>
            <a:r>
              <a:rPr lang="fr-FR" altLang="fr-FR" sz="1400" dirty="0" smtClean="0">
                <a:latin typeface="Arial" panose="020B0604020202020204" pitchFamily="34" charset="0"/>
              </a:rPr>
              <a:t>Vous </a:t>
            </a:r>
            <a:r>
              <a:rPr lang="fr-FR" altLang="fr-FR" sz="1400" dirty="0">
                <a:latin typeface="Arial" panose="020B0604020202020204" pitchFamily="34" charset="0"/>
              </a:rPr>
              <a:t>pourriez y intégrer des objectifs spécifiques liés à l'écoconception (réduction de la consommation énergétique, optimisation de l'empreinte carbone, etc</a:t>
            </a:r>
            <a:r>
              <a:rPr lang="fr-FR" altLang="fr-FR" sz="1400" dirty="0" smtClean="0">
                <a:latin typeface="Arial" panose="020B0604020202020204" pitchFamily="34" charset="0"/>
              </a:rPr>
              <a:t>.).</a:t>
            </a:r>
          </a:p>
          <a:p>
            <a:pPr lvl="0" eaLnBrk="0" fontAlgn="base" hangingPunct="0">
              <a:spcBef>
                <a:spcPct val="0"/>
              </a:spcBef>
              <a:spcAft>
                <a:spcPct val="0"/>
              </a:spcAft>
            </a:pPr>
            <a:endParaRPr lang="fr-FR" altLang="fr-FR" sz="1400" dirty="0">
              <a:latin typeface="Arial" panose="020B0604020202020204" pitchFamily="34" charset="0"/>
            </a:endParaRPr>
          </a:p>
          <a:p>
            <a:pPr lvl="0" eaLnBrk="0" fontAlgn="base" hangingPunct="0">
              <a:spcBef>
                <a:spcPct val="0"/>
              </a:spcBef>
              <a:spcAft>
                <a:spcPct val="0"/>
              </a:spcAft>
            </a:pPr>
            <a:r>
              <a:rPr lang="fr-FR" altLang="fr-FR" sz="1400" b="1" dirty="0">
                <a:latin typeface="Arial" panose="020B0604020202020204" pitchFamily="34" charset="0"/>
              </a:rPr>
              <a:t>Plan de gestion de projet (ou Plan de projet)</a:t>
            </a:r>
            <a:r>
              <a:rPr lang="fr-FR" altLang="fr-FR" sz="1400" dirty="0">
                <a:latin typeface="Arial" panose="020B0604020202020204" pitchFamily="34" charset="0"/>
              </a:rPr>
              <a:t> : </a:t>
            </a:r>
            <a:r>
              <a:rPr lang="fr-FR" altLang="fr-FR" sz="1400" dirty="0" smtClean="0">
                <a:latin typeface="Arial" panose="020B0604020202020204" pitchFamily="34" charset="0"/>
              </a:rPr>
              <a:t>Vous </a:t>
            </a:r>
            <a:r>
              <a:rPr lang="fr-FR" altLang="fr-FR" sz="1400" dirty="0">
                <a:latin typeface="Arial" panose="020B0604020202020204" pitchFamily="34" charset="0"/>
              </a:rPr>
              <a:t>pouvez y inclure des étapes spécifiques pour la mise en œuvre de l'écoconception, telles que la validation de choix techniques </a:t>
            </a:r>
            <a:r>
              <a:rPr lang="fr-FR" altLang="fr-FR" sz="1400" dirty="0" err="1">
                <a:latin typeface="Arial" panose="020B0604020202020204" pitchFamily="34" charset="0"/>
              </a:rPr>
              <a:t>éco-responsables</a:t>
            </a:r>
            <a:r>
              <a:rPr lang="fr-FR" altLang="fr-FR" sz="1400" dirty="0" smtClean="0">
                <a:latin typeface="Arial" panose="020B0604020202020204" pitchFamily="34" charset="0"/>
              </a:rPr>
              <a:t>.</a:t>
            </a:r>
          </a:p>
          <a:p>
            <a:pPr lvl="0" eaLnBrk="0" fontAlgn="base" hangingPunct="0">
              <a:spcBef>
                <a:spcPct val="0"/>
              </a:spcBef>
              <a:spcAft>
                <a:spcPct val="0"/>
              </a:spcAft>
            </a:pPr>
            <a:endParaRPr lang="fr-FR" altLang="fr-FR" sz="1400" dirty="0">
              <a:latin typeface="Arial" panose="020B0604020202020204" pitchFamily="34" charset="0"/>
            </a:endParaRPr>
          </a:p>
          <a:p>
            <a:pPr lvl="0" eaLnBrk="0" fontAlgn="base" hangingPunct="0">
              <a:spcBef>
                <a:spcPct val="0"/>
              </a:spcBef>
              <a:spcAft>
                <a:spcPct val="0"/>
              </a:spcAft>
            </a:pPr>
            <a:r>
              <a:rPr lang="fr-FR" sz="1400" b="1" dirty="0" err="1">
                <a:latin typeface="Arial" panose="020B0604020202020204" pitchFamily="34" charset="0"/>
                <a:cs typeface="Arial" panose="020B0604020202020204" pitchFamily="34" charset="0"/>
              </a:rPr>
              <a:t>Backlog</a:t>
            </a:r>
            <a:r>
              <a:rPr lang="fr-FR" sz="1400" b="1" dirty="0">
                <a:latin typeface="Arial" panose="020B0604020202020204" pitchFamily="34" charset="0"/>
                <a:cs typeface="Arial" panose="020B0604020202020204" pitchFamily="34" charset="0"/>
              </a:rPr>
              <a:t> produit</a:t>
            </a:r>
            <a:r>
              <a:rPr lang="fr-FR" sz="1400" dirty="0">
                <a:latin typeface="Arial" panose="020B0604020202020204" pitchFamily="34" charset="0"/>
                <a:cs typeface="Arial" panose="020B0604020202020204" pitchFamily="34" charset="0"/>
              </a:rPr>
              <a:t> : </a:t>
            </a:r>
            <a:r>
              <a:rPr lang="fr-FR" sz="1400" dirty="0" smtClean="0">
                <a:latin typeface="Arial" panose="020B0604020202020204" pitchFamily="34" charset="0"/>
                <a:cs typeface="Arial" panose="020B0604020202020204" pitchFamily="34" charset="0"/>
              </a:rPr>
              <a:t>L'intégration </a:t>
            </a:r>
            <a:r>
              <a:rPr lang="fr-FR" sz="1400" dirty="0">
                <a:latin typeface="Arial" panose="020B0604020202020204" pitchFamily="34" charset="0"/>
                <a:cs typeface="Arial" panose="020B0604020202020204" pitchFamily="34" charset="0"/>
              </a:rPr>
              <a:t>de l'écoconception dans le </a:t>
            </a:r>
            <a:r>
              <a:rPr lang="fr-FR" sz="1400" dirty="0" err="1">
                <a:latin typeface="Arial" panose="020B0604020202020204" pitchFamily="34" charset="0"/>
                <a:cs typeface="Arial" panose="020B0604020202020204" pitchFamily="34" charset="0"/>
              </a:rPr>
              <a:t>backlog</a:t>
            </a:r>
            <a:r>
              <a:rPr lang="fr-FR" sz="1400" dirty="0">
                <a:latin typeface="Arial" panose="020B0604020202020204" pitchFamily="34" charset="0"/>
                <a:cs typeface="Arial" panose="020B0604020202020204" pitchFamily="34" charset="0"/>
              </a:rPr>
              <a:t> produit peut se faire en ajoutant des user stories spécifiques visant à améliorer l'efficacité énergétique, réduire la complexité des fonctionnalités, ou encore optimiser les ressources utilisées par le produit</a:t>
            </a:r>
            <a:r>
              <a:rPr lang="fr-FR" sz="1400" dirty="0" smtClean="0">
                <a:latin typeface="Arial" panose="020B0604020202020204" pitchFamily="34" charset="0"/>
                <a:cs typeface="Arial" panose="020B0604020202020204" pitchFamily="34" charset="0"/>
              </a:rPr>
              <a:t>.</a:t>
            </a:r>
          </a:p>
          <a:p>
            <a:pPr lvl="0" eaLnBrk="0" fontAlgn="base" hangingPunct="0">
              <a:spcBef>
                <a:spcPct val="0"/>
              </a:spcBef>
              <a:spcAft>
                <a:spcPct val="0"/>
              </a:spcAft>
            </a:pPr>
            <a:endParaRPr lang="fr-FR" sz="1400" dirty="0" smtClean="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fr-FR" sz="1400" b="1" dirty="0">
                <a:latin typeface="Arial" panose="020B0604020202020204" pitchFamily="34" charset="0"/>
                <a:cs typeface="Arial" panose="020B0604020202020204" pitchFamily="34" charset="0"/>
              </a:rPr>
              <a:t>Roadmap produit</a:t>
            </a:r>
            <a:r>
              <a:rPr lang="fr-FR" sz="1400" dirty="0">
                <a:latin typeface="Arial" panose="020B0604020202020204" pitchFamily="34" charset="0"/>
                <a:cs typeface="Arial" panose="020B0604020202020204" pitchFamily="34" charset="0"/>
              </a:rPr>
              <a:t> : Ce document définit les grandes lignes de l’évolution du produit à moyen ou long terme. L'écoconception peut être intégrée en fixant des objectifs de durabilité, en planifiant des améliorations spécifiques pour rendre le produit plus </a:t>
            </a:r>
            <a:r>
              <a:rPr lang="fr-FR" sz="1400" dirty="0" err="1">
                <a:latin typeface="Arial" panose="020B0604020202020204" pitchFamily="34" charset="0"/>
                <a:cs typeface="Arial" panose="020B0604020202020204" pitchFamily="34" charset="0"/>
              </a:rPr>
              <a:t>éco-responsable</a:t>
            </a:r>
            <a:r>
              <a:rPr lang="fr-FR" sz="1400" dirty="0">
                <a:latin typeface="Arial" panose="020B0604020202020204" pitchFamily="34" charset="0"/>
                <a:cs typeface="Arial" panose="020B0604020202020204" pitchFamily="34" charset="0"/>
              </a:rPr>
              <a:t> au fil du temps </a:t>
            </a:r>
            <a:endParaRPr lang="fr-FR" sz="1400" dirty="0" smtClean="0">
              <a:latin typeface="Arial" panose="020B0604020202020204" pitchFamily="34" charset="0"/>
              <a:cs typeface="Arial" panose="020B0604020202020204" pitchFamily="34" charset="0"/>
            </a:endParaRPr>
          </a:p>
          <a:p>
            <a:pPr lvl="0" eaLnBrk="0" fontAlgn="base" hangingPunct="0">
              <a:spcBef>
                <a:spcPct val="0"/>
              </a:spcBef>
              <a:spcAft>
                <a:spcPct val="0"/>
              </a:spcAft>
            </a:pPr>
            <a:endParaRPr lang="fr-FR" altLang="fr-FR" sz="1400"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fr-FR" sz="1400" b="1" dirty="0">
                <a:latin typeface="Arial" panose="020B0604020202020204" pitchFamily="34" charset="0"/>
                <a:cs typeface="Arial" panose="020B0604020202020204" pitchFamily="34" charset="0"/>
              </a:rPr>
              <a:t>Critères d’acceptation</a:t>
            </a:r>
            <a:r>
              <a:rPr lang="fr-FR" sz="1400" dirty="0">
                <a:latin typeface="Arial" panose="020B0604020202020204" pitchFamily="34" charset="0"/>
                <a:cs typeface="Arial" panose="020B0604020202020204" pitchFamily="34" charset="0"/>
              </a:rPr>
              <a:t> : Lors de la définition des critères d'acceptation des fonctionnalités, le Product </a:t>
            </a:r>
            <a:r>
              <a:rPr lang="fr-FR" sz="1400" dirty="0" err="1">
                <a:latin typeface="Arial" panose="020B0604020202020204" pitchFamily="34" charset="0"/>
                <a:cs typeface="Arial" panose="020B0604020202020204" pitchFamily="34" charset="0"/>
              </a:rPr>
              <a:t>Owner</a:t>
            </a:r>
            <a:r>
              <a:rPr lang="fr-FR" sz="1400" dirty="0">
                <a:latin typeface="Arial" panose="020B0604020202020204" pitchFamily="34" charset="0"/>
                <a:cs typeface="Arial" panose="020B0604020202020204" pitchFamily="34" charset="0"/>
              </a:rPr>
              <a:t> peut inclure des critères liés à l'impact environnemental, comme la performance énergétique des nouvelles fonctionnalités ou l'optimisation de l'utilisation des ressources</a:t>
            </a:r>
            <a:r>
              <a:rPr lang="fr-FR" sz="1400" dirty="0" smtClean="0">
                <a:latin typeface="Arial" panose="020B0604020202020204" pitchFamily="34" charset="0"/>
                <a:cs typeface="Arial" panose="020B0604020202020204" pitchFamily="34" charset="0"/>
              </a:rPr>
              <a:t>.</a:t>
            </a:r>
          </a:p>
          <a:p>
            <a:pPr lvl="0" eaLnBrk="0" fontAlgn="base" hangingPunct="0">
              <a:spcBef>
                <a:spcPct val="0"/>
              </a:spcBef>
              <a:spcAft>
                <a:spcPct val="0"/>
              </a:spcAft>
            </a:pPr>
            <a:endParaRPr lang="fr-FR" sz="1400" dirty="0" smtClean="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fr-FR" sz="1400" b="1" dirty="0">
                <a:latin typeface="Arial" panose="020B0604020202020204" pitchFamily="34" charset="0"/>
                <a:cs typeface="Arial" panose="020B0604020202020204" pitchFamily="34" charset="0"/>
              </a:rPr>
              <a:t>Retours des utilisateurs</a:t>
            </a:r>
            <a:r>
              <a:rPr lang="fr-FR" sz="1400" dirty="0">
                <a:latin typeface="Arial" panose="020B0604020202020204" pitchFamily="34" charset="0"/>
                <a:cs typeface="Arial" panose="020B0604020202020204" pitchFamily="34" charset="0"/>
              </a:rPr>
              <a:t> : Le Product </a:t>
            </a:r>
            <a:r>
              <a:rPr lang="fr-FR" sz="1400" dirty="0" err="1">
                <a:latin typeface="Arial" panose="020B0604020202020204" pitchFamily="34" charset="0"/>
                <a:cs typeface="Arial" panose="020B0604020202020204" pitchFamily="34" charset="0"/>
              </a:rPr>
              <a:t>Owner</a:t>
            </a:r>
            <a:r>
              <a:rPr lang="fr-FR" sz="1400" dirty="0">
                <a:latin typeface="Arial" panose="020B0604020202020204" pitchFamily="34" charset="0"/>
                <a:cs typeface="Arial" panose="020B0604020202020204" pitchFamily="34" charset="0"/>
              </a:rPr>
              <a:t> collecte régulièrement des retours des utilisateurs pour ajuster les priorités du produit. Dans le cadre de l'écoconception, il peut inclure des feedbacks liés à la performance énergétique ou à l'expérience utilisateur sur des appareils </a:t>
            </a:r>
            <a:r>
              <a:rPr lang="fr-FR" sz="1400" dirty="0" err="1">
                <a:latin typeface="Arial" panose="020B0604020202020204" pitchFamily="34" charset="0"/>
                <a:cs typeface="Arial" panose="020B0604020202020204" pitchFamily="34" charset="0"/>
              </a:rPr>
              <a:t>éco-responsables</a:t>
            </a:r>
            <a:r>
              <a:rPr lang="fr-FR" sz="1400" dirty="0">
                <a:latin typeface="Arial" panose="020B0604020202020204" pitchFamily="34" charset="0"/>
                <a:cs typeface="Arial" panose="020B0604020202020204" pitchFamily="34" charset="0"/>
              </a:rPr>
              <a:t> (basse consommation, usage de batteries, etc.).</a:t>
            </a:r>
            <a:endParaRPr lang="fr-FR" altLang="fr-FR" sz="14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1506444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a:bodyPr>
          <a:lstStyle/>
          <a:p>
            <a:pPr lvl="0"/>
            <a:r>
              <a:rPr lang="fr-FR" sz="3200" dirty="0">
                <a:solidFill>
                  <a:prstClr val="white"/>
                </a:solidFill>
              </a:rPr>
              <a:t>Bonnes pratiques par phase métier :</a:t>
            </a:r>
          </a:p>
          <a:p>
            <a:r>
              <a:rPr lang="fr-FR" sz="4400" dirty="0" smtClean="0"/>
              <a:t>CDC &amp; </a:t>
            </a:r>
            <a:r>
              <a:rPr lang="fr-FR" sz="4400" dirty="0" err="1" smtClean="0"/>
              <a:t>Spec</a:t>
            </a:r>
            <a:endParaRPr lang="fr-FR" sz="4400" dirty="0"/>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34842256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smtClean="0">
                <a:solidFill>
                  <a:schemeClr val="bg1"/>
                </a:solidFill>
              </a:rPr>
              <a:t>CDC &amp; </a:t>
            </a:r>
            <a:r>
              <a:rPr lang="fr-FR" sz="3600" b="1" dirty="0" err="1" smtClean="0">
                <a:solidFill>
                  <a:schemeClr val="bg1"/>
                </a:solidFill>
              </a:rPr>
              <a:t>Spec</a:t>
            </a:r>
            <a:endParaRPr lang="fr-FR" sz="3600" b="1" dirty="0">
              <a:solidFill>
                <a:schemeClr val="bg1"/>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4" name="Tableau 3"/>
          <p:cNvGraphicFramePr>
            <a:graphicFrameLocks noGrp="1"/>
          </p:cNvGraphicFramePr>
          <p:nvPr>
            <p:extLst>
              <p:ext uri="{D42A27DB-BD31-4B8C-83A1-F6EECF244321}">
                <p14:modId xmlns:p14="http://schemas.microsoft.com/office/powerpoint/2010/main" val="3231446266"/>
              </p:ext>
            </p:extLst>
          </p:nvPr>
        </p:nvGraphicFramePr>
        <p:xfrm>
          <a:off x="0" y="1325564"/>
          <a:ext cx="12192000" cy="48324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996382435"/>
                    </a:ext>
                  </a:extLst>
                </a:gridCol>
                <a:gridCol w="2032000">
                  <a:extLst>
                    <a:ext uri="{9D8B030D-6E8A-4147-A177-3AD203B41FA5}">
                      <a16:colId xmlns:a16="http://schemas.microsoft.com/office/drawing/2014/main" val="2403952774"/>
                    </a:ext>
                  </a:extLst>
                </a:gridCol>
                <a:gridCol w="2032000">
                  <a:extLst>
                    <a:ext uri="{9D8B030D-6E8A-4147-A177-3AD203B41FA5}">
                      <a16:colId xmlns:a16="http://schemas.microsoft.com/office/drawing/2014/main" val="285677690"/>
                    </a:ext>
                  </a:extLst>
                </a:gridCol>
                <a:gridCol w="2032000">
                  <a:extLst>
                    <a:ext uri="{9D8B030D-6E8A-4147-A177-3AD203B41FA5}">
                      <a16:colId xmlns:a16="http://schemas.microsoft.com/office/drawing/2014/main" val="2804397132"/>
                    </a:ext>
                  </a:extLst>
                </a:gridCol>
                <a:gridCol w="2032000">
                  <a:extLst>
                    <a:ext uri="{9D8B030D-6E8A-4147-A177-3AD203B41FA5}">
                      <a16:colId xmlns:a16="http://schemas.microsoft.com/office/drawing/2014/main" val="470446952"/>
                    </a:ext>
                  </a:extLst>
                </a:gridCol>
                <a:gridCol w="2032000">
                  <a:extLst>
                    <a:ext uri="{9D8B030D-6E8A-4147-A177-3AD203B41FA5}">
                      <a16:colId xmlns:a16="http://schemas.microsoft.com/office/drawing/2014/main" val="3932975687"/>
                    </a:ext>
                  </a:extLst>
                </a:gridCol>
              </a:tblGrid>
              <a:tr h="671347">
                <a:tc>
                  <a:txBody>
                    <a:bodyPr/>
                    <a:lstStyle/>
                    <a:p>
                      <a:pPr algn="ctr" fontAlgn="ctr"/>
                      <a:r>
                        <a:rPr lang="fr-FR" sz="1000" b="1" kern="1200" dirty="0" smtClean="0">
                          <a:solidFill>
                            <a:schemeClr val="lt1"/>
                          </a:solidFill>
                          <a:latin typeface="+mn-lt"/>
                          <a:ea typeface="+mn-ea"/>
                          <a:cs typeface="+mn-cs"/>
                        </a:rPr>
                        <a:t>Service numérique utile</a:t>
                      </a:r>
                    </a:p>
                  </a:txBody>
                  <a:tcPr marL="6350" marR="6350" marT="6350" marB="0" anchor="ctr"/>
                </a:tc>
                <a:tc>
                  <a:txBody>
                    <a:bodyPr/>
                    <a:lstStyle/>
                    <a:p>
                      <a:r>
                        <a:rPr lang="fr-FR" sz="1000" dirty="0" smtClean="0"/>
                        <a:t>Service numérique utilisable</a:t>
                      </a:r>
                    </a:p>
                  </a:txBody>
                  <a:tcPr/>
                </a:tc>
                <a:tc>
                  <a:txBody>
                    <a:bodyPr/>
                    <a:lstStyle/>
                    <a:p>
                      <a:r>
                        <a:rPr lang="fr-FR" sz="1000" dirty="0" smtClean="0"/>
                        <a:t>Méthodologie facilitant l'écoconception</a:t>
                      </a:r>
                    </a:p>
                  </a:txBody>
                  <a:tcPr/>
                </a:tc>
                <a:tc>
                  <a:txBody>
                    <a:bodyPr/>
                    <a:lstStyle/>
                    <a:p>
                      <a:r>
                        <a:rPr lang="fr-FR" sz="1000" dirty="0" smtClean="0"/>
                        <a:t>Réduire la consommation de ressources : Optimisation de l'Expérience et de l'Interface Utilisateur </a:t>
                      </a:r>
                    </a:p>
                  </a:txBody>
                  <a:tcPr/>
                </a:tc>
                <a:tc>
                  <a:txBody>
                    <a:bodyPr/>
                    <a:lstStyle/>
                    <a:p>
                      <a:r>
                        <a:rPr lang="fr-FR" sz="1000" dirty="0" smtClean="0"/>
                        <a:t>Moins d'infrastructure IT nécessaire</a:t>
                      </a:r>
                    </a:p>
                  </a:txBody>
                  <a:tcPr/>
                </a:tc>
                <a:tc>
                  <a:txBody>
                    <a:bodyPr/>
                    <a:lstStyle/>
                    <a:p>
                      <a:r>
                        <a:rPr lang="fr-FR" sz="1000" dirty="0" smtClean="0"/>
                        <a:t>Libérer ressources IT</a:t>
                      </a:r>
                    </a:p>
                  </a:txBody>
                  <a:tcPr/>
                </a:tc>
                <a:extLst>
                  <a:ext uri="{0D108BD9-81ED-4DB2-BD59-A6C34878D82A}">
                    <a16:rowId xmlns:a16="http://schemas.microsoft.com/office/drawing/2014/main" val="2795855210"/>
                  </a:ext>
                </a:extLst>
              </a:tr>
              <a:tr h="1098457">
                <a:tc>
                  <a:txBody>
                    <a:bodyPr/>
                    <a:lstStyle/>
                    <a:p>
                      <a:pPr algn="ctr" fontAlgn="ctr"/>
                      <a:r>
                        <a:rPr lang="fr-FR" sz="1000" b="0" i="0" u="none" strike="noStrike" dirty="0">
                          <a:solidFill>
                            <a:srgbClr val="000000"/>
                          </a:solidFill>
                          <a:effectLst/>
                          <a:latin typeface="Calibri" panose="020F0502020204030204" pitchFamily="34" charset="0"/>
                          <a:hlinkClick r:id="rId4" action="ppaction://hlinksldjump"/>
                        </a:rPr>
                        <a:t>Le site a été audité avant sa refonte afin d’avoir des données concrètes sur l’avant/après : mesurer pour se</a:t>
                      </a:r>
                      <a:br>
                        <a:rPr lang="fr-FR" sz="1000" b="0" i="0" u="none" strike="noStrike" dirty="0">
                          <a:solidFill>
                            <a:srgbClr val="000000"/>
                          </a:solidFill>
                          <a:effectLst/>
                          <a:latin typeface="Calibri" panose="020F0502020204030204" pitchFamily="34" charset="0"/>
                          <a:hlinkClick r:id="rId4" action="ppaction://hlinksldjump"/>
                        </a:rPr>
                      </a:br>
                      <a:r>
                        <a:rPr lang="fr-FR" sz="1000" b="0" i="0" u="none" strike="noStrike" dirty="0">
                          <a:solidFill>
                            <a:srgbClr val="000000"/>
                          </a:solidFill>
                          <a:effectLst/>
                          <a:latin typeface="Calibri" panose="020F0502020204030204" pitchFamily="34" charset="0"/>
                          <a:hlinkClick r:id="rId4" action="ppaction://hlinksldjump"/>
                        </a:rPr>
                        <a:t>comparer, mesurer pour itérer, mesurer pour </a:t>
                      </a:r>
                      <a:r>
                        <a:rPr lang="fr-FR" sz="1000" b="0" i="0" u="none" strike="noStrike" dirty="0" smtClean="0">
                          <a:solidFill>
                            <a:srgbClr val="000000"/>
                          </a:solidFill>
                          <a:effectLst/>
                          <a:latin typeface="Calibri" panose="020F0502020204030204" pitchFamily="34" charset="0"/>
                          <a:hlinkClick r:id="rId4" action="ppaction://hlinksldjump"/>
                        </a:rPr>
                        <a:t>prouver</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000" b="0" i="0" u="none" strike="noStrike" dirty="0">
                          <a:solidFill>
                            <a:srgbClr val="000000"/>
                          </a:solidFill>
                          <a:effectLst/>
                          <a:latin typeface="Calibri" panose="020F0502020204030204" pitchFamily="34" charset="0"/>
                          <a:hlinkClick r:id="rId5" action="ppaction://hlinksldjump"/>
                        </a:rPr>
                        <a:t>Définir la liste des profils de matériels que les utilisateurs vont pouvoir employer pour accéder au service.</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000" b="0" i="0" u="none" strike="noStrike" dirty="0">
                          <a:solidFill>
                            <a:srgbClr val="000000"/>
                          </a:solidFill>
                          <a:effectLst/>
                          <a:latin typeface="Calibri" panose="020F0502020204030204" pitchFamily="34" charset="0"/>
                          <a:hlinkClick r:id="rId6" action="ppaction://hlinksldjump"/>
                        </a:rPr>
                        <a:t>Imposer aux fournisseurs du service de garantir une démarche de réduction des impacts environnementaux.</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000" b="0" i="0" u="none" strike="noStrike" dirty="0">
                          <a:solidFill>
                            <a:srgbClr val="FF0000"/>
                          </a:solidFill>
                          <a:effectLst/>
                          <a:latin typeface="Calibri" panose="020F0502020204030204" pitchFamily="34" charset="0"/>
                          <a:hlinkClick r:id="rId7" action="ppaction://hlinksldjump"/>
                        </a:rPr>
                        <a:t>Limiter les analyses </a:t>
                      </a:r>
                      <a:r>
                        <a:rPr lang="fr-FR" sz="1000" b="0" i="0" u="none" strike="noStrike" dirty="0">
                          <a:solidFill>
                            <a:srgbClr val="000000"/>
                          </a:solidFill>
                          <a:effectLst/>
                          <a:latin typeface="Calibri" panose="020F0502020204030204" pitchFamily="34" charset="0"/>
                          <a:hlinkClick r:id="rId7" action="ppaction://hlinksldjump"/>
                        </a:rPr>
                        <a:t>statistiques et données récoltées avec les outils de </a:t>
                      </a:r>
                      <a:r>
                        <a:rPr lang="fr-FR" sz="1000" b="0" i="0" u="none" strike="noStrike" dirty="0" err="1">
                          <a:solidFill>
                            <a:srgbClr val="000000"/>
                          </a:solidFill>
                          <a:effectLst/>
                          <a:latin typeface="Calibri" panose="020F0502020204030204" pitchFamily="34" charset="0"/>
                          <a:hlinkClick r:id="rId7" action="ppaction://hlinksldjump"/>
                        </a:rPr>
                        <a:t>tracking</a:t>
                      </a:r>
                      <a:r>
                        <a:rPr lang="fr-FR" sz="1000" b="0" i="0" u="none" strike="noStrike" dirty="0">
                          <a:solidFill>
                            <a:srgbClr val="000000"/>
                          </a:solidFill>
                          <a:effectLst/>
                          <a:latin typeface="Calibri" panose="020F0502020204030204" pitchFamily="34" charset="0"/>
                          <a:hlinkClick r:id="rId7" action="ppaction://hlinksldjump"/>
                        </a:rPr>
                        <a:t> Ex : utilisation du mobile vs Desktop.</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000" b="0" i="0" u="none" strike="noStrike" dirty="0">
                          <a:solidFill>
                            <a:srgbClr val="000000"/>
                          </a:solidFill>
                          <a:effectLst/>
                          <a:latin typeface="Calibri" panose="020F0502020204030204" pitchFamily="34" charset="0"/>
                          <a:hlinkClick r:id="rId8" action="ppaction://hlinksldjump"/>
                        </a:rPr>
                        <a:t>Collecte de donnée de façon responsable et raisonnée</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000" b="0" i="0" u="none" strike="noStrike" dirty="0">
                          <a:solidFill>
                            <a:srgbClr val="000000"/>
                          </a:solidFill>
                          <a:effectLst/>
                          <a:latin typeface="Calibri" panose="020F0502020204030204" pitchFamily="34" charset="0"/>
                          <a:hlinkClick r:id="rId9" action="ppaction://hlinksldjump"/>
                        </a:rPr>
                        <a:t>Stratégie de maintenance et de </a:t>
                      </a:r>
                      <a:r>
                        <a:rPr lang="fr-FR" sz="1000" b="0" i="0" u="none" strike="noStrike" dirty="0" err="1">
                          <a:solidFill>
                            <a:srgbClr val="000000"/>
                          </a:solidFill>
                          <a:effectLst/>
                          <a:latin typeface="Calibri" panose="020F0502020204030204" pitchFamily="34" charset="0"/>
                          <a:hlinkClick r:id="rId9" action="ppaction://hlinksldjump"/>
                        </a:rPr>
                        <a:t>décommissionnement</a:t>
                      </a:r>
                      <a:r>
                        <a:rPr lang="fr-FR" sz="1000" b="0" i="0" u="none" strike="noStrike" dirty="0">
                          <a:solidFill>
                            <a:srgbClr val="000000"/>
                          </a:solidFill>
                          <a:effectLst/>
                          <a:latin typeface="Calibri" panose="020F0502020204030204" pitchFamily="34" charset="0"/>
                          <a:hlinkClick r:id="rId9" action="ppaction://hlinksldjump"/>
                        </a:rPr>
                        <a:t> (fonctionnalité, composant et environnement)</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992902189"/>
                  </a:ext>
                </a:extLst>
              </a:tr>
              <a:tr h="443916">
                <a:tc>
                  <a:txBody>
                    <a:bodyPr/>
                    <a:lstStyle/>
                    <a:p>
                      <a:pPr algn="ctr" fontAlgn="ctr"/>
                      <a:r>
                        <a:rPr lang="fr-FR" sz="1000" b="0" i="0" u="none" strike="noStrike" dirty="0">
                          <a:solidFill>
                            <a:srgbClr val="000000"/>
                          </a:solidFill>
                          <a:effectLst/>
                          <a:latin typeface="Calibri" panose="020F0502020204030204" pitchFamily="34" charset="0"/>
                          <a:hlinkClick r:id="rId10" action="ppaction://hlinksldjump"/>
                        </a:rPr>
                        <a:t>Définition des cibles utilisateurs</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000" b="0" i="0" u="none" strike="noStrike" dirty="0">
                          <a:solidFill>
                            <a:srgbClr val="000000"/>
                          </a:solidFill>
                          <a:effectLst/>
                          <a:latin typeface="Calibri" panose="020F0502020204030204" pitchFamily="34" charset="0"/>
                          <a:hlinkClick r:id="rId11" action="ppaction://hlinksldjump"/>
                        </a:rPr>
                        <a:t>Utilisable sur d’anciens modèles de terminaux</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000" b="0" i="0" u="none" strike="noStrike" dirty="0">
                          <a:solidFill>
                            <a:srgbClr val="000000"/>
                          </a:solidFill>
                          <a:effectLst/>
                          <a:latin typeface="Calibri" panose="020F0502020204030204" pitchFamily="34" charset="0"/>
                          <a:hlinkClick r:id="rId12" action="ppaction://hlinksldjump"/>
                        </a:rPr>
                        <a:t>Privilégier une approche « mobile first », à défaut un chargement adaptatif .</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000" b="0" i="0" u="none" strike="noStrike" dirty="0">
                          <a:solidFill>
                            <a:srgbClr val="000000"/>
                          </a:solidFill>
                          <a:effectLst/>
                          <a:latin typeface="Calibri" panose="020F0502020204030204" pitchFamily="34" charset="0"/>
                          <a:hlinkClick r:id="rId13" action="ppaction://hlinksldjump"/>
                        </a:rPr>
                        <a:t>Adapter la qualité de service et le niveau de disponibilité</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sz="1000"/>
                    </a:p>
                  </a:txBody>
                  <a:tcPr/>
                </a:tc>
                <a:extLst>
                  <a:ext uri="{0D108BD9-81ED-4DB2-BD59-A6C34878D82A}">
                    <a16:rowId xmlns:a16="http://schemas.microsoft.com/office/drawing/2014/main" val="2833119873"/>
                  </a:ext>
                </a:extLst>
              </a:tr>
              <a:tr h="297971">
                <a:tc>
                  <a:txBody>
                    <a:bodyPr/>
                    <a:lstStyle/>
                    <a:p>
                      <a:pPr algn="ctr" fontAlgn="ctr"/>
                      <a:r>
                        <a:rPr lang="fr-FR" sz="1000" b="0" i="0" u="none" strike="noStrike" dirty="0">
                          <a:solidFill>
                            <a:srgbClr val="000000"/>
                          </a:solidFill>
                          <a:effectLst/>
                          <a:latin typeface="Calibri" panose="020F0502020204030204" pitchFamily="34" charset="0"/>
                          <a:hlinkClick r:id="rId14" action="ppaction://hlinksldjump"/>
                        </a:rPr>
                        <a:t>Quantifier précisément le besoin </a:t>
                      </a:r>
                      <a:r>
                        <a:rPr lang="fr-FR" sz="1000" b="0" i="0" u="none" strike="noStrike" dirty="0">
                          <a:solidFill>
                            <a:srgbClr val="FF0000"/>
                          </a:solidFill>
                          <a:effectLst/>
                          <a:latin typeface="Calibri" panose="020F0502020204030204" pitchFamily="34" charset="0"/>
                          <a:hlinkClick r:id="rId14" action="ppaction://hlinksldjump"/>
                        </a:rPr>
                        <a:t>pour chaque fonctionnalité</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000" b="0" i="0" u="none" strike="noStrike" dirty="0">
                          <a:solidFill>
                            <a:srgbClr val="000000"/>
                          </a:solidFill>
                          <a:effectLst/>
                          <a:latin typeface="Calibri" panose="020F0502020204030204" pitchFamily="34" charset="0"/>
                          <a:hlinkClick r:id="rId15" action="ppaction://hlinksldjump"/>
                        </a:rPr>
                        <a:t>S’adapter à différents types de terminaux d’affichage</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sz="1000"/>
                    </a:p>
                  </a:txBody>
                  <a:tcPr/>
                </a:tc>
                <a:tc>
                  <a:txBody>
                    <a:bodyPr/>
                    <a:lstStyle/>
                    <a:p>
                      <a:pPr algn="ctr" fontAlgn="ctr"/>
                      <a:r>
                        <a:rPr lang="fr-FR" sz="1000" b="0" i="0" u="none" strike="noStrike" dirty="0">
                          <a:solidFill>
                            <a:srgbClr val="000000"/>
                          </a:solidFill>
                          <a:effectLst/>
                          <a:latin typeface="Calibri" panose="020F0502020204030204" pitchFamily="34" charset="0"/>
                          <a:hlinkClick r:id="rId16" action="ppaction://hlinksldjump"/>
                        </a:rPr>
                        <a:t>Simplifier le parcours</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sz="1000"/>
                    </a:p>
                  </a:txBody>
                  <a:tcPr/>
                </a:tc>
                <a:tc>
                  <a:txBody>
                    <a:bodyPr/>
                    <a:lstStyle/>
                    <a:p>
                      <a:endParaRPr lang="fr-FR" sz="1000"/>
                    </a:p>
                  </a:txBody>
                  <a:tcPr/>
                </a:tc>
                <a:extLst>
                  <a:ext uri="{0D108BD9-81ED-4DB2-BD59-A6C34878D82A}">
                    <a16:rowId xmlns:a16="http://schemas.microsoft.com/office/drawing/2014/main" val="1079431018"/>
                  </a:ext>
                </a:extLst>
              </a:tr>
              <a:tr h="297971">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000" b="0" i="0" u="none" strike="noStrike" dirty="0">
                          <a:solidFill>
                            <a:srgbClr val="000000"/>
                          </a:solidFill>
                          <a:effectLst/>
                          <a:latin typeface="Calibri" panose="020F0502020204030204" pitchFamily="34" charset="0"/>
                          <a:hlinkClick r:id="rId17" action="ppaction://hlinksldjump"/>
                        </a:rPr>
                        <a:t>Utilisable via une connexion bas débit ou hors connexion</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sz="1000"/>
                    </a:p>
                  </a:txBody>
                  <a:tcPr/>
                </a:tc>
                <a:tc>
                  <a:txBody>
                    <a:bodyPr/>
                    <a:lstStyle/>
                    <a:p>
                      <a:pPr algn="ctr" fontAlgn="ctr"/>
                      <a:r>
                        <a:rPr lang="fr-FR" sz="1000" b="0" i="0" u="none" strike="noStrike" dirty="0">
                          <a:solidFill>
                            <a:srgbClr val="000000"/>
                          </a:solidFill>
                          <a:effectLst/>
                          <a:latin typeface="Calibri" panose="020F0502020204030204" pitchFamily="34" charset="0"/>
                          <a:hlinkClick r:id="rId18" action="ppaction://hlinksldjump"/>
                        </a:rPr>
                        <a:t>Permettre à l’utilisateur d’activer ou non un service tiers. </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sz="1000"/>
                    </a:p>
                  </a:txBody>
                  <a:tcPr/>
                </a:tc>
                <a:tc>
                  <a:txBody>
                    <a:bodyPr/>
                    <a:lstStyle/>
                    <a:p>
                      <a:endParaRPr lang="fr-FR" sz="1000"/>
                    </a:p>
                  </a:txBody>
                  <a:tcPr/>
                </a:tc>
                <a:extLst>
                  <a:ext uri="{0D108BD9-81ED-4DB2-BD59-A6C34878D82A}">
                    <a16:rowId xmlns:a16="http://schemas.microsoft.com/office/drawing/2014/main" val="340241713"/>
                  </a:ext>
                </a:extLst>
              </a:tr>
              <a:tr h="589861">
                <a:tc>
                  <a:txBody>
                    <a:bodyPr/>
                    <a:lstStyle/>
                    <a:p>
                      <a:endParaRPr lang="fr-FR" sz="1000" dirty="0"/>
                    </a:p>
                  </a:txBody>
                  <a:tcPr/>
                </a:tc>
                <a:tc>
                  <a:txBody>
                    <a:bodyPr/>
                    <a:lstStyle/>
                    <a:p>
                      <a:endParaRPr lang="fr-FR" dirty="0"/>
                    </a:p>
                  </a:txBody>
                  <a:tcPr marL="6350" marR="6350" marT="6350" marB="0" anchor="ctr"/>
                </a:tc>
                <a:tc>
                  <a:txBody>
                    <a:bodyPr/>
                    <a:lstStyle/>
                    <a:p>
                      <a:endParaRPr lang="fr-FR" sz="1000"/>
                    </a:p>
                  </a:txBody>
                  <a:tcPr/>
                </a:tc>
                <a:tc>
                  <a:txBody>
                    <a:bodyPr/>
                    <a:lstStyle/>
                    <a:p>
                      <a:pPr algn="ctr" fontAlgn="ctr"/>
                      <a:r>
                        <a:rPr lang="fr-FR" sz="1000" b="0" i="0" u="none" strike="noStrike" dirty="0">
                          <a:solidFill>
                            <a:srgbClr val="000000"/>
                          </a:solidFill>
                          <a:effectLst/>
                          <a:latin typeface="Calibri" panose="020F0502020204030204" pitchFamily="34" charset="0"/>
                          <a:hlinkClick r:id="rId19" action="ppaction://hlinksldjump"/>
                        </a:rPr>
                        <a:t>Proposer des notifications uniquement lorsqu’elles sont nécessaires et permettre à l’utilisateur de contrôler celles qu’il reçoit. </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sz="1000"/>
                    </a:p>
                  </a:txBody>
                  <a:tcPr/>
                </a:tc>
                <a:tc>
                  <a:txBody>
                    <a:bodyPr/>
                    <a:lstStyle/>
                    <a:p>
                      <a:endParaRPr lang="fr-FR" sz="1000"/>
                    </a:p>
                  </a:txBody>
                  <a:tcPr/>
                </a:tc>
                <a:extLst>
                  <a:ext uri="{0D108BD9-81ED-4DB2-BD59-A6C34878D82A}">
                    <a16:rowId xmlns:a16="http://schemas.microsoft.com/office/drawing/2014/main" val="639877164"/>
                  </a:ext>
                </a:extLst>
              </a:tr>
              <a:tr h="443916">
                <a:tc>
                  <a:txBody>
                    <a:bodyPr/>
                    <a:lstStyle/>
                    <a:p>
                      <a:endParaRPr lang="fr-FR" sz="1000"/>
                    </a:p>
                  </a:txBody>
                  <a:tcPr/>
                </a:tc>
                <a:tc>
                  <a:txBody>
                    <a:bodyPr/>
                    <a:lstStyle/>
                    <a:p>
                      <a:endParaRPr lang="fr-FR" sz="1000"/>
                    </a:p>
                  </a:txBody>
                  <a:tcPr/>
                </a:tc>
                <a:tc>
                  <a:txBody>
                    <a:bodyPr/>
                    <a:lstStyle/>
                    <a:p>
                      <a:endParaRPr lang="fr-FR" sz="1000"/>
                    </a:p>
                  </a:txBody>
                  <a:tcPr/>
                </a:tc>
                <a:tc>
                  <a:txBody>
                    <a:bodyPr/>
                    <a:lstStyle/>
                    <a:p>
                      <a:pPr algn="ctr" fontAlgn="ctr"/>
                      <a:r>
                        <a:rPr lang="fr-FR" sz="1000" b="0" i="0" u="none" strike="noStrike" dirty="0">
                          <a:solidFill>
                            <a:srgbClr val="000000"/>
                          </a:solidFill>
                          <a:effectLst/>
                          <a:latin typeface="Calibri" panose="020F0502020204030204" pitchFamily="34" charset="0"/>
                          <a:hlinkClick r:id="rId20" action="ppaction://hlinksldjump"/>
                        </a:rPr>
                        <a:t>Eviter le recours à des procédés manipulatoires dans son interface utilisateur</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sz="1000"/>
                    </a:p>
                  </a:txBody>
                  <a:tcPr/>
                </a:tc>
                <a:tc>
                  <a:txBody>
                    <a:bodyPr/>
                    <a:lstStyle/>
                    <a:p>
                      <a:endParaRPr lang="fr-FR" sz="1000"/>
                    </a:p>
                  </a:txBody>
                  <a:tcPr/>
                </a:tc>
                <a:extLst>
                  <a:ext uri="{0D108BD9-81ED-4DB2-BD59-A6C34878D82A}">
                    <a16:rowId xmlns:a16="http://schemas.microsoft.com/office/drawing/2014/main" val="2184753649"/>
                  </a:ext>
                </a:extLst>
              </a:tr>
              <a:tr h="589861">
                <a:tc>
                  <a:txBody>
                    <a:bodyPr/>
                    <a:lstStyle/>
                    <a:p>
                      <a:endParaRPr lang="fr-FR" sz="1000"/>
                    </a:p>
                  </a:txBody>
                  <a:tcPr/>
                </a:tc>
                <a:tc>
                  <a:txBody>
                    <a:bodyPr/>
                    <a:lstStyle/>
                    <a:p>
                      <a:endParaRPr lang="fr-FR" sz="1000"/>
                    </a:p>
                  </a:txBody>
                  <a:tcPr/>
                </a:tc>
                <a:tc>
                  <a:txBody>
                    <a:bodyPr/>
                    <a:lstStyle/>
                    <a:p>
                      <a:endParaRPr lang="fr-FR" sz="1000"/>
                    </a:p>
                  </a:txBody>
                  <a:tcPr/>
                </a:tc>
                <a:tc>
                  <a:txBody>
                    <a:bodyPr/>
                    <a:lstStyle/>
                    <a:p>
                      <a:pPr algn="ctr" fontAlgn="ctr"/>
                      <a:r>
                        <a:rPr lang="fr-FR" sz="1000" b="0" i="0" u="none" strike="noStrike" dirty="0">
                          <a:solidFill>
                            <a:srgbClr val="000000"/>
                          </a:solidFill>
                          <a:effectLst/>
                          <a:latin typeface="Calibri" panose="020F0502020204030204" pitchFamily="34" charset="0"/>
                          <a:hlinkClick r:id="rId21" action="ppaction://hlinksldjump"/>
                        </a:rPr>
                        <a:t>Fournir à l’utilisateur un moyen de contrôle sur ses contenus et ses services afin de réduire les impacts environnementaux</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sz="1000"/>
                    </a:p>
                  </a:txBody>
                  <a:tcPr/>
                </a:tc>
                <a:tc>
                  <a:txBody>
                    <a:bodyPr/>
                    <a:lstStyle/>
                    <a:p>
                      <a:endParaRPr lang="fr-FR" sz="1000"/>
                    </a:p>
                  </a:txBody>
                  <a:tcPr/>
                </a:tc>
                <a:extLst>
                  <a:ext uri="{0D108BD9-81ED-4DB2-BD59-A6C34878D82A}">
                    <a16:rowId xmlns:a16="http://schemas.microsoft.com/office/drawing/2014/main" val="3838273610"/>
                  </a:ext>
                </a:extLst>
              </a:tr>
              <a:tr h="251643">
                <a:tc>
                  <a:txBody>
                    <a:bodyPr/>
                    <a:lstStyle/>
                    <a:p>
                      <a:endParaRPr lang="fr-FR" sz="1000"/>
                    </a:p>
                  </a:txBody>
                  <a:tcPr/>
                </a:tc>
                <a:tc>
                  <a:txBody>
                    <a:bodyPr/>
                    <a:lstStyle/>
                    <a:p>
                      <a:endParaRPr lang="fr-FR" sz="1000"/>
                    </a:p>
                  </a:txBody>
                  <a:tcPr/>
                </a:tc>
                <a:tc>
                  <a:txBody>
                    <a:bodyPr/>
                    <a:lstStyle/>
                    <a:p>
                      <a:endParaRPr lang="fr-FR" sz="1000"/>
                    </a:p>
                  </a:txBody>
                  <a:tcPr/>
                </a:tc>
                <a:tc>
                  <a:txBody>
                    <a:bodyPr/>
                    <a:lstStyle/>
                    <a:p>
                      <a:pPr algn="ctr" fontAlgn="ctr"/>
                      <a:r>
                        <a:rPr lang="fr-FR" sz="1000" b="0" i="0" u="none" strike="noStrike" dirty="0">
                          <a:solidFill>
                            <a:srgbClr val="000000"/>
                          </a:solidFill>
                          <a:effectLst/>
                          <a:latin typeface="Calibri" panose="020F0502020204030204" pitchFamily="34" charset="0"/>
                          <a:hlinkClick r:id="rId22" action="ppaction://hlinksldjump"/>
                        </a:rPr>
                        <a:t>Optimiser le parcours utilisateur.</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sz="1000"/>
                    </a:p>
                  </a:txBody>
                  <a:tcPr/>
                </a:tc>
                <a:tc>
                  <a:txBody>
                    <a:bodyPr/>
                    <a:lstStyle/>
                    <a:p>
                      <a:endParaRPr lang="fr-FR" sz="1000" dirty="0"/>
                    </a:p>
                  </a:txBody>
                  <a:tcPr/>
                </a:tc>
                <a:extLst>
                  <a:ext uri="{0D108BD9-81ED-4DB2-BD59-A6C34878D82A}">
                    <a16:rowId xmlns:a16="http://schemas.microsoft.com/office/drawing/2014/main" val="629681479"/>
                  </a:ext>
                </a:extLst>
              </a:tr>
            </a:tbl>
          </a:graphicData>
        </a:graphic>
      </p:graphicFrame>
    </p:spTree>
    <p:extLst>
      <p:ext uri="{BB962C8B-B14F-4D97-AF65-F5344CB8AC3E}">
        <p14:creationId xmlns:p14="http://schemas.microsoft.com/office/powerpoint/2010/main" val="293292308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a:solidFill>
                  <a:schemeClr val="bg1"/>
                </a:solidFill>
              </a:rPr>
              <a:t>Documents et outils associés</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7" name="ZoneTexte 6"/>
          <p:cNvSpPr txBox="1"/>
          <p:nvPr/>
        </p:nvSpPr>
        <p:spPr>
          <a:xfrm>
            <a:off x="44605" y="1325563"/>
            <a:ext cx="12101099" cy="1200329"/>
          </a:xfrm>
          <a:prstGeom prst="rect">
            <a:avLst/>
          </a:prstGeom>
          <a:noFill/>
        </p:spPr>
        <p:txBody>
          <a:bodyPr wrap="square" rtlCol="0">
            <a:spAutoFit/>
          </a:bodyPr>
          <a:lstStyle/>
          <a:p>
            <a:pPr lvl="0" eaLnBrk="0" fontAlgn="base" hangingPunct="0">
              <a:spcBef>
                <a:spcPct val="0"/>
              </a:spcBef>
              <a:spcAft>
                <a:spcPct val="0"/>
              </a:spcAft>
            </a:pPr>
            <a:r>
              <a:rPr lang="fr-FR" altLang="fr-FR" b="1" dirty="0" smtClean="0">
                <a:latin typeface="Arial" panose="020B0604020202020204" pitchFamily="34" charset="0"/>
              </a:rPr>
              <a:t>Cahier </a:t>
            </a:r>
            <a:r>
              <a:rPr lang="fr-FR" altLang="fr-FR" b="1" dirty="0">
                <a:latin typeface="Arial" panose="020B0604020202020204" pitchFamily="34" charset="0"/>
              </a:rPr>
              <a:t>des charges</a:t>
            </a:r>
            <a:r>
              <a:rPr lang="fr-FR" altLang="fr-FR" dirty="0">
                <a:latin typeface="Arial" panose="020B0604020202020204" pitchFamily="34" charset="0"/>
              </a:rPr>
              <a:t> : </a:t>
            </a:r>
            <a:r>
              <a:rPr lang="fr-FR" altLang="fr-FR" dirty="0" smtClean="0">
                <a:latin typeface="Arial" panose="020B0604020202020204" pitchFamily="34" charset="0"/>
              </a:rPr>
              <a:t>L'écoconception </a:t>
            </a:r>
            <a:r>
              <a:rPr lang="fr-FR" altLang="fr-FR" dirty="0">
                <a:latin typeface="Arial" panose="020B0604020202020204" pitchFamily="34" charset="0"/>
              </a:rPr>
              <a:t>pourrait être intégrée ici comme critère fonctionnel ou non fonctionnel, par exemple en imposant l'optimisation des ressources ou la minimisation de l'empreinte écologique des choix technologiques. </a:t>
            </a:r>
          </a:p>
          <a:p>
            <a:endParaRPr lang="fr-FR" dirty="0"/>
          </a:p>
        </p:txBody>
      </p:sp>
    </p:spTree>
    <p:extLst>
      <p:ext uri="{BB962C8B-B14F-4D97-AF65-F5344CB8AC3E}">
        <p14:creationId xmlns:p14="http://schemas.microsoft.com/office/powerpoint/2010/main" val="236681249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a:bodyPr>
          <a:lstStyle/>
          <a:p>
            <a:pPr lvl="0"/>
            <a:r>
              <a:rPr lang="fr-FR" sz="3200" dirty="0">
                <a:solidFill>
                  <a:prstClr val="white"/>
                </a:solidFill>
              </a:rPr>
              <a:t>Bonnes pratiques par phase métier :</a:t>
            </a:r>
          </a:p>
          <a:p>
            <a:r>
              <a:rPr lang="fr-FR" sz="4400" dirty="0" err="1" smtClean="0"/>
              <a:t>ArchitectureS</a:t>
            </a:r>
            <a:endParaRPr lang="fr-FR" sz="4400" dirty="0"/>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3364026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smtClean="0">
                <a:solidFill>
                  <a:schemeClr val="bg1"/>
                </a:solidFill>
              </a:rPr>
              <a:t>Architecture AS</a:t>
            </a:r>
            <a:endParaRPr lang="fr-FR" sz="3600" b="1" dirty="0">
              <a:solidFill>
                <a:schemeClr val="bg1"/>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6" name="Tableau 5"/>
          <p:cNvGraphicFramePr>
            <a:graphicFrameLocks noGrp="1"/>
          </p:cNvGraphicFramePr>
          <p:nvPr>
            <p:extLst>
              <p:ext uri="{D42A27DB-BD31-4B8C-83A1-F6EECF244321}">
                <p14:modId xmlns:p14="http://schemas.microsoft.com/office/powerpoint/2010/main" val="1730510336"/>
              </p:ext>
            </p:extLst>
          </p:nvPr>
        </p:nvGraphicFramePr>
        <p:xfrm>
          <a:off x="-4" y="1468518"/>
          <a:ext cx="12145710" cy="5206046"/>
        </p:xfrm>
        <a:graphic>
          <a:graphicData uri="http://schemas.openxmlformats.org/drawingml/2006/table">
            <a:tbl>
              <a:tblPr firstRow="1" bandRow="1">
                <a:tableStyleId>{5C22544A-7EE6-4342-B048-85BDC9FD1C3A}</a:tableStyleId>
              </a:tblPr>
              <a:tblGrid>
                <a:gridCol w="2024285">
                  <a:extLst>
                    <a:ext uri="{9D8B030D-6E8A-4147-A177-3AD203B41FA5}">
                      <a16:colId xmlns:a16="http://schemas.microsoft.com/office/drawing/2014/main" val="3121503248"/>
                    </a:ext>
                  </a:extLst>
                </a:gridCol>
                <a:gridCol w="2024285">
                  <a:extLst>
                    <a:ext uri="{9D8B030D-6E8A-4147-A177-3AD203B41FA5}">
                      <a16:colId xmlns:a16="http://schemas.microsoft.com/office/drawing/2014/main" val="2706557305"/>
                    </a:ext>
                  </a:extLst>
                </a:gridCol>
                <a:gridCol w="2024285">
                  <a:extLst>
                    <a:ext uri="{9D8B030D-6E8A-4147-A177-3AD203B41FA5}">
                      <a16:colId xmlns:a16="http://schemas.microsoft.com/office/drawing/2014/main" val="2110775995"/>
                    </a:ext>
                  </a:extLst>
                </a:gridCol>
                <a:gridCol w="2024285">
                  <a:extLst>
                    <a:ext uri="{9D8B030D-6E8A-4147-A177-3AD203B41FA5}">
                      <a16:colId xmlns:a16="http://schemas.microsoft.com/office/drawing/2014/main" val="3960840038"/>
                    </a:ext>
                  </a:extLst>
                </a:gridCol>
                <a:gridCol w="2024285">
                  <a:extLst>
                    <a:ext uri="{9D8B030D-6E8A-4147-A177-3AD203B41FA5}">
                      <a16:colId xmlns:a16="http://schemas.microsoft.com/office/drawing/2014/main" val="139066360"/>
                    </a:ext>
                  </a:extLst>
                </a:gridCol>
                <a:gridCol w="2024285">
                  <a:extLst>
                    <a:ext uri="{9D8B030D-6E8A-4147-A177-3AD203B41FA5}">
                      <a16:colId xmlns:a16="http://schemas.microsoft.com/office/drawing/2014/main" val="1513720254"/>
                    </a:ext>
                  </a:extLst>
                </a:gridCol>
              </a:tblGrid>
              <a:tr h="474629">
                <a:tc>
                  <a:txBody>
                    <a:bodyPr/>
                    <a:lstStyle/>
                    <a:p>
                      <a:pPr algn="ctr"/>
                      <a:r>
                        <a:rPr lang="fr-FR" sz="1000" dirty="0" smtClean="0"/>
                        <a:t>Service numérique utilisable</a:t>
                      </a:r>
                    </a:p>
                  </a:txBody>
                  <a:tcPr anchor="ctr"/>
                </a:tc>
                <a:tc>
                  <a:txBody>
                    <a:bodyPr/>
                    <a:lstStyle/>
                    <a:p>
                      <a:pPr algn="ctr"/>
                      <a:r>
                        <a:rPr lang="fr-FR" sz="1000" dirty="0" smtClean="0"/>
                        <a:t>Réduire la consommation de ressources : Optimisation de l'Expérience et de l'Interface Utilisateur </a:t>
                      </a:r>
                      <a:endParaRPr lang="fr-FR" sz="1000" dirty="0"/>
                    </a:p>
                  </a:txBody>
                  <a:tcPr anchor="ct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dirty="0" smtClean="0"/>
                        <a:t>Réduire la consommation de ressources : La solution intègre des pratiques d'écoconception</a:t>
                      </a:r>
                    </a:p>
                    <a:p>
                      <a:pPr algn="ctr"/>
                      <a:endParaRPr lang="fr-FR" sz="1000" dirty="0"/>
                    </a:p>
                  </a:txBody>
                  <a:tcPr anchor="ctr"/>
                </a:tc>
                <a:tc hMerge="1">
                  <a:txBody>
                    <a:bodyPr/>
                    <a:lstStyle/>
                    <a:p>
                      <a:pPr algn="ctr"/>
                      <a:endParaRPr lang="fr-FR" sz="1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dirty="0" smtClean="0"/>
                        <a:t>Moins d'infrastructure IT nécessaire</a:t>
                      </a:r>
                    </a:p>
                    <a:p>
                      <a:pPr algn="ctr"/>
                      <a:endParaRPr lang="fr-FR" sz="1000" dirty="0"/>
                    </a:p>
                  </a:txBody>
                  <a:tcPr anchor="ctr"/>
                </a:tc>
                <a:tc>
                  <a:txBody>
                    <a:bodyPr/>
                    <a:lstStyle/>
                    <a:p>
                      <a:pPr algn="l"/>
                      <a:r>
                        <a:rPr lang="fr-FR" sz="1200" dirty="0" smtClean="0"/>
                        <a:t>Libérer ressources IT</a:t>
                      </a:r>
                    </a:p>
                  </a:txBody>
                  <a:tcPr anchor="ctr"/>
                </a:tc>
                <a:extLst>
                  <a:ext uri="{0D108BD9-81ED-4DB2-BD59-A6C34878D82A}">
                    <a16:rowId xmlns:a16="http://schemas.microsoft.com/office/drawing/2014/main" val="1589042702"/>
                  </a:ext>
                </a:extLst>
              </a:tr>
              <a:tr h="541178">
                <a:tc>
                  <a:txBody>
                    <a:bodyPr/>
                    <a:lstStyle/>
                    <a:p>
                      <a:pPr algn="ctr" fontAlgn="ctr"/>
                      <a:r>
                        <a:rPr lang="fr-FR" sz="1000" b="0" i="0" u="none" strike="noStrike" dirty="0">
                          <a:solidFill>
                            <a:srgbClr val="000000"/>
                          </a:solidFill>
                          <a:effectLst/>
                          <a:latin typeface="Calibri" panose="020F0502020204030204" pitchFamily="34" charset="0"/>
                          <a:hlinkClick r:id="rId4" action="ppaction://hlinksldjump"/>
                        </a:rPr>
                        <a:t>Concevoir avec des technologies standard interopérables plutôt que des technologies spécifiques et fermées</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000" b="0" i="0" u="none" strike="noStrike" dirty="0">
                          <a:solidFill>
                            <a:srgbClr val="FF0000"/>
                          </a:solidFill>
                          <a:effectLst/>
                          <a:latin typeface="Calibri" panose="020F0502020204030204" pitchFamily="34" charset="0"/>
                          <a:hlinkClick r:id="rId5" action="ppaction://hlinksldjump"/>
                        </a:rPr>
                        <a:t>Limiter les analyses </a:t>
                      </a:r>
                      <a:r>
                        <a:rPr lang="fr-FR" sz="1000" b="0" i="0" u="none" strike="noStrike" dirty="0">
                          <a:solidFill>
                            <a:srgbClr val="000000"/>
                          </a:solidFill>
                          <a:effectLst/>
                          <a:latin typeface="Calibri" panose="020F0502020204030204" pitchFamily="34" charset="0"/>
                          <a:hlinkClick r:id="rId5" action="ppaction://hlinksldjump"/>
                        </a:rPr>
                        <a:t>statistiques et données récoltées avec les outils de </a:t>
                      </a:r>
                      <a:r>
                        <a:rPr lang="fr-FR" sz="1000" b="0" i="0" u="none" strike="noStrike" dirty="0" err="1">
                          <a:solidFill>
                            <a:srgbClr val="000000"/>
                          </a:solidFill>
                          <a:effectLst/>
                          <a:latin typeface="Calibri" panose="020F0502020204030204" pitchFamily="34" charset="0"/>
                          <a:hlinkClick r:id="rId5" action="ppaction://hlinksldjump"/>
                        </a:rPr>
                        <a:t>tracking</a:t>
                      </a:r>
                      <a:r>
                        <a:rPr lang="fr-FR" sz="1000" b="0" i="0" u="none" strike="noStrike" dirty="0">
                          <a:solidFill>
                            <a:srgbClr val="000000"/>
                          </a:solidFill>
                          <a:effectLst/>
                          <a:latin typeface="Calibri" panose="020F0502020204030204" pitchFamily="34" charset="0"/>
                          <a:hlinkClick r:id="rId5" action="ppaction://hlinksldjump"/>
                        </a:rPr>
                        <a:t> Ex : utilisation du mobile vs Desktop.</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smtClean="0">
                          <a:solidFill>
                            <a:srgbClr val="000000"/>
                          </a:solidFill>
                          <a:effectLst/>
                          <a:latin typeface="Calibri" panose="020F0502020204030204" pitchFamily="34" charset="0"/>
                          <a:hlinkClick r:id="rId6" action="ppaction://hlinksldjump"/>
                        </a:rPr>
                        <a:t>Limiter le nombre de requêtes lors de la saisie utilisateurs. </a:t>
                      </a:r>
                      <a:endParaRPr lang="fr-FR" sz="1000" b="0" i="0" u="none" strike="noStrike" dirty="0" smtClean="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smtClean="0">
                          <a:solidFill>
                            <a:srgbClr val="000000"/>
                          </a:solidFill>
                          <a:effectLst/>
                          <a:latin typeface="Calibri" panose="020F0502020204030204" pitchFamily="34" charset="0"/>
                          <a:hlinkClick r:id="rId7" action="ppaction://hlinksldjump"/>
                        </a:rPr>
                        <a:t>Recourir à un système de cache serveur pour les données les plus utilisées.</a:t>
                      </a:r>
                      <a:endParaRPr lang="fr-FR" sz="1000" b="0" i="0" u="none" strike="noStrike" dirty="0" smtClean="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smtClean="0">
                          <a:solidFill>
                            <a:srgbClr val="000000"/>
                          </a:solidFill>
                          <a:effectLst/>
                          <a:latin typeface="Calibri" panose="020F0502020204030204" pitchFamily="34" charset="0"/>
                          <a:hlinkClick r:id="rId8" action="ppaction://hlinksldjump"/>
                        </a:rPr>
                        <a:t>Héberger de façon distincte les données “chaudes” et “froides”.</a:t>
                      </a:r>
                      <a:endParaRPr lang="fr-FR" sz="1000" b="0" i="0" u="none" strike="noStrike" dirty="0" smtClean="0">
                        <a:solidFill>
                          <a:srgbClr val="000000"/>
                        </a:solidFill>
                        <a:effectLst/>
                        <a:latin typeface="Calibri" panose="020F0502020204030204" pitchFamily="34" charset="0"/>
                      </a:endParaRPr>
                    </a:p>
                  </a:txBody>
                  <a:tcPr marL="6350" marR="6350" marT="6350" marB="0" anchor="ctr"/>
                </a:tc>
                <a:tc>
                  <a:txBody>
                    <a:bodyPr/>
                    <a:lstStyle/>
                    <a:p>
                      <a:pPr algn="l" fontAlgn="ctr"/>
                      <a:r>
                        <a:rPr lang="fr-FR" sz="1000" b="0" i="0" u="none" strike="noStrike" dirty="0" smtClean="0">
                          <a:solidFill>
                            <a:srgbClr val="000000"/>
                          </a:solidFill>
                          <a:effectLst/>
                          <a:latin typeface="Calibri" panose="020F0502020204030204" pitchFamily="34" charset="0"/>
                          <a:hlinkClick r:id="rId9" action="ppaction://hlinksldjump"/>
                        </a:rPr>
                        <a:t>Stratégie de maintenance et de </a:t>
                      </a:r>
                      <a:r>
                        <a:rPr lang="fr-FR" sz="1000" b="0" i="0" u="none" strike="noStrike" dirty="0" err="1" smtClean="0">
                          <a:solidFill>
                            <a:srgbClr val="000000"/>
                          </a:solidFill>
                          <a:effectLst/>
                          <a:latin typeface="Calibri" panose="020F0502020204030204" pitchFamily="34" charset="0"/>
                          <a:hlinkClick r:id="rId9" action="ppaction://hlinksldjump"/>
                        </a:rPr>
                        <a:t>décommissionnement</a:t>
                      </a:r>
                      <a:r>
                        <a:rPr lang="fr-FR" sz="1000" b="0" i="0" u="none" strike="noStrike" dirty="0" smtClean="0">
                          <a:solidFill>
                            <a:srgbClr val="000000"/>
                          </a:solidFill>
                          <a:effectLst/>
                          <a:latin typeface="Calibri" panose="020F0502020204030204" pitchFamily="34" charset="0"/>
                          <a:hlinkClick r:id="rId9" action="ppaction://hlinksldjump"/>
                        </a:rPr>
                        <a:t> (fonctionnalité, composant et environnement)</a:t>
                      </a:r>
                      <a:endParaRPr lang="fr-FR" sz="1000" b="0" i="0" u="none" strike="noStrike" dirty="0" smtClean="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721339208"/>
                  </a:ext>
                </a:extLst>
              </a:tr>
              <a:tr h="626151">
                <a:tc>
                  <a:txBody>
                    <a:bodyPr/>
                    <a:lstStyle/>
                    <a:p>
                      <a:pPr algn="ctr" fontAlgn="ctr"/>
                      <a:r>
                        <a:rPr lang="fr-FR" sz="1000" b="0" i="0" u="none" strike="noStrike" dirty="0">
                          <a:solidFill>
                            <a:srgbClr val="FF0000"/>
                          </a:solidFill>
                          <a:effectLst/>
                          <a:latin typeface="Calibri" panose="020F0502020204030204" pitchFamily="34" charset="0"/>
                          <a:hlinkClick r:id="rId10" action="ppaction://hlinksldjump"/>
                        </a:rPr>
                        <a:t>Supporter</a:t>
                      </a:r>
                      <a:r>
                        <a:rPr lang="fr-FR" sz="1000" b="0" i="0" u="none" strike="noStrike" dirty="0">
                          <a:solidFill>
                            <a:srgbClr val="000000"/>
                          </a:solidFill>
                          <a:effectLst/>
                          <a:latin typeface="Calibri" panose="020F0502020204030204" pitchFamily="34" charset="0"/>
                          <a:hlinkClick r:id="rId10" action="ppaction://hlinksldjump"/>
                        </a:rPr>
                        <a:t> l’évolution techniques des protocole</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000" b="0" i="0" u="none" strike="noStrike" dirty="0">
                          <a:solidFill>
                            <a:srgbClr val="000000"/>
                          </a:solidFill>
                          <a:effectLst/>
                          <a:latin typeface="Calibri" panose="020F0502020204030204" pitchFamily="34" charset="0"/>
                          <a:hlinkClick r:id="rId11" action="ppaction://hlinksldjump"/>
                        </a:rPr>
                        <a:t>Instaurer des mécanismes de mises en cache pour la totalité des contenus transférés dont il a le contrôle.</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smtClean="0">
                          <a:solidFill>
                            <a:srgbClr val="000000"/>
                          </a:solidFill>
                          <a:effectLst/>
                          <a:latin typeface="Calibri" panose="020F0502020204030204" pitchFamily="34" charset="0"/>
                          <a:hlinkClick r:id="rId12" action="ppaction://hlinksldjump"/>
                        </a:rPr>
                        <a:t>Héberger les ressources statiques dont on est l’émetteur sur un même domaine.</a:t>
                      </a:r>
                      <a:endParaRPr lang="fr-FR" sz="1000" b="0" i="0" u="none" strike="noStrike" dirty="0" smtClean="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smtClean="0">
                          <a:solidFill>
                            <a:srgbClr val="000000"/>
                          </a:solidFill>
                          <a:effectLst/>
                          <a:latin typeface="Calibri" panose="020F0502020204030204" pitchFamily="34" charset="0"/>
                          <a:hlinkClick r:id="rId13" action="ppaction://hlinksldjump"/>
                        </a:rPr>
                        <a:t>Configurer le service pour transmettre depuis le serveur des contenus compressés au client qui les accepte.</a:t>
                      </a:r>
                      <a:endParaRPr lang="fr-FR" sz="1000" b="0" i="0" u="none" strike="noStrike" dirty="0" smtClean="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smtClean="0">
                          <a:solidFill>
                            <a:srgbClr val="000000"/>
                          </a:solidFill>
                          <a:effectLst/>
                          <a:latin typeface="Calibri" panose="020F0502020204030204" pitchFamily="34" charset="0"/>
                          <a:hlinkClick r:id="rId14" action="ppaction://hlinksldjump"/>
                        </a:rPr>
                        <a:t>Privilégier la déduplication des données.</a:t>
                      </a:r>
                      <a:endParaRPr lang="fr-FR" sz="1000" b="0" i="0" u="none" strike="noStrike" dirty="0" smtClean="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000" b="0" i="0" u="none" strike="noStrike" dirty="0" smtClean="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373209409"/>
                  </a:ext>
                </a:extLst>
              </a:tr>
              <a:tr h="626151">
                <a:tc>
                  <a:txBody>
                    <a:bodyPr/>
                    <a:lstStyle/>
                    <a:p>
                      <a:pPr algn="ctr" fontAlgn="ctr"/>
                      <a:r>
                        <a:rPr lang="fr-FR" sz="1000" b="0" i="0" u="none" strike="noStrike" dirty="0">
                          <a:solidFill>
                            <a:srgbClr val="000000"/>
                          </a:solidFill>
                          <a:effectLst/>
                          <a:latin typeface="Calibri" panose="020F0502020204030204" pitchFamily="34" charset="0"/>
                          <a:hlinkClick r:id="rId15" action="ppaction://hlinksldjump"/>
                        </a:rPr>
                        <a:t>Installer des mises à jour correctives pendant toute la durée de vie prévue des équipements et des logiciels liés au service </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000" b="0" i="0" u="none" strike="noStrike" dirty="0">
                          <a:solidFill>
                            <a:srgbClr val="000000"/>
                          </a:solidFill>
                          <a:effectLst/>
                          <a:latin typeface="Calibri" panose="020F0502020204030204" pitchFamily="34" charset="0"/>
                          <a:hlinkClick r:id="rId16" action="ppaction://hlinksldjump"/>
                        </a:rPr>
                        <a:t>Les documents à télécharger sont proposés au téléchargement par un système de </a:t>
                      </a:r>
                      <a:r>
                        <a:rPr lang="fr-FR" sz="1000" b="0" i="0" u="none" strike="noStrike" dirty="0" err="1">
                          <a:solidFill>
                            <a:srgbClr val="000000"/>
                          </a:solidFill>
                          <a:effectLst/>
                          <a:latin typeface="Calibri" panose="020F0502020204030204" pitchFamily="34" charset="0"/>
                          <a:hlinkClick r:id="rId16" action="ppaction://hlinksldjump"/>
                        </a:rPr>
                        <a:t>chapitrage</a:t>
                      </a:r>
                      <a:r>
                        <a:rPr lang="fr-FR" sz="1000" b="0" i="0" u="none" strike="noStrike" dirty="0">
                          <a:solidFill>
                            <a:srgbClr val="000000"/>
                          </a:solidFill>
                          <a:effectLst/>
                          <a:latin typeface="Calibri" panose="020F0502020204030204" pitchFamily="34" charset="0"/>
                          <a:hlinkClick r:id="rId16" action="ppaction://hlinksldjump"/>
                        </a:rPr>
                        <a:t> ou de résumé afin d’éviter de télécharger la totalité d’un document.</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smtClean="0">
                          <a:solidFill>
                            <a:srgbClr val="000000"/>
                          </a:solidFill>
                          <a:effectLst/>
                          <a:latin typeface="Calibri" panose="020F0502020204030204" pitchFamily="34" charset="0"/>
                          <a:hlinkClick r:id="rId17" action="ppaction://hlinksldjump"/>
                        </a:rPr>
                        <a:t>Utiliser un serveur asynchrone.</a:t>
                      </a:r>
                      <a:endParaRPr lang="fr-FR" sz="1000" b="0" i="0" u="none" strike="noStrike" dirty="0" smtClean="0">
                        <a:solidFill>
                          <a:srgbClr val="000000"/>
                        </a:solidFill>
                        <a:effectLst/>
                        <a:latin typeface="Calibri" panose="020F0502020204030204" pitchFamily="34" charset="0"/>
                      </a:endParaRPr>
                    </a:p>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smtClean="0">
                          <a:solidFill>
                            <a:srgbClr val="000000"/>
                          </a:solidFill>
                          <a:effectLst/>
                          <a:latin typeface="Calibri" panose="020F0502020204030204" pitchFamily="34" charset="0"/>
                          <a:hlinkClick r:id="rId18" action="ppaction://hlinksldjump"/>
                        </a:rPr>
                        <a:t>Mettre en cache les données calculées souvent utilisées.</a:t>
                      </a:r>
                      <a:endParaRPr lang="fr-FR" sz="1000" b="0" i="0" u="none" strike="noStrike" dirty="0" smtClean="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smtClean="0">
                          <a:solidFill>
                            <a:srgbClr val="000000"/>
                          </a:solidFill>
                          <a:effectLst/>
                          <a:latin typeface="Calibri" panose="020F0502020204030204" pitchFamily="34" charset="0"/>
                          <a:hlinkClick r:id="rId19" action="ppaction://hlinksldjump"/>
                        </a:rPr>
                        <a:t>Mettre en place une stratégie d’archivage et de</a:t>
                      </a:r>
                      <a:br>
                        <a:rPr lang="fr-FR" sz="1000" b="0" i="0" u="none" strike="noStrike" dirty="0" smtClean="0">
                          <a:solidFill>
                            <a:srgbClr val="000000"/>
                          </a:solidFill>
                          <a:effectLst/>
                          <a:latin typeface="Calibri" panose="020F0502020204030204" pitchFamily="34" charset="0"/>
                          <a:hlinkClick r:id="rId19" action="ppaction://hlinksldjump"/>
                        </a:rPr>
                      </a:br>
                      <a:r>
                        <a:rPr lang="fr-FR" sz="1000" b="0" i="0" u="none" strike="noStrike" dirty="0" smtClean="0">
                          <a:solidFill>
                            <a:srgbClr val="000000"/>
                          </a:solidFill>
                          <a:effectLst/>
                          <a:latin typeface="Calibri" panose="020F0502020204030204" pitchFamily="34" charset="0"/>
                          <a:hlinkClick r:id="rId19" action="ppaction://hlinksldjump"/>
                        </a:rPr>
                        <a:t>suppression, automatique ou manuelle, des contenus obsolètes ou périmés </a:t>
                      </a:r>
                      <a:endParaRPr lang="fr-FR" sz="1000" b="0" i="0" u="none" strike="noStrike" dirty="0" smtClean="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000" b="0" i="0" u="none" strike="noStrike" dirty="0" smtClean="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264369154"/>
                  </a:ext>
                </a:extLst>
              </a:tr>
              <a:tr h="755859">
                <a:tc>
                  <a:txBody>
                    <a:bodyPr/>
                    <a:lstStyle/>
                    <a:p>
                      <a:pPr algn="ctr" fontAlgn="ctr"/>
                      <a:r>
                        <a:rPr lang="fr-FR" sz="1000" b="0" i="0" u="none" strike="noStrike" dirty="0">
                          <a:solidFill>
                            <a:srgbClr val="000000"/>
                          </a:solidFill>
                          <a:effectLst/>
                          <a:latin typeface="Calibri" panose="020F0502020204030204" pitchFamily="34" charset="0"/>
                          <a:hlinkClick r:id="rId8" action="ppaction://hlinksldjump"/>
                        </a:rPr>
                        <a:t>Installer des mises à jour correctives indépendamment des mises à jour évolutives</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dirty="0"/>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smtClean="0">
                          <a:solidFill>
                            <a:srgbClr val="000000"/>
                          </a:solidFill>
                          <a:effectLst/>
                          <a:latin typeface="Calibri" panose="020F0502020204030204" pitchFamily="34" charset="0"/>
                          <a:hlinkClick r:id="rId20" action="ppaction://hlinksldjump"/>
                        </a:rPr>
                        <a:t>Optimiser les requêtes aux bases de données</a:t>
                      </a:r>
                      <a:endParaRPr lang="fr-FR" sz="1000" b="0" i="0" u="none" strike="noStrike" dirty="0" smtClean="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smtClean="0">
                          <a:solidFill>
                            <a:srgbClr val="000000"/>
                          </a:solidFill>
                          <a:effectLst/>
                          <a:latin typeface="Calibri" panose="020F0502020204030204" pitchFamily="34" charset="0"/>
                          <a:hlinkClick r:id="rId21" action="ppaction://hlinksldjump"/>
                        </a:rPr>
                        <a:t>Ne se connecter à une base de données que si nécessaire.</a:t>
                      </a:r>
                      <a:endParaRPr lang="fr-FR" sz="1000" b="0" i="0" u="none" strike="noStrike" dirty="0" smtClean="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smtClean="0">
                          <a:solidFill>
                            <a:srgbClr val="000000"/>
                          </a:solidFill>
                          <a:effectLst/>
                          <a:latin typeface="Calibri" panose="020F0502020204030204" pitchFamily="34" charset="0"/>
                          <a:hlinkClick r:id="rId22" action="ppaction://hlinksldjump"/>
                        </a:rPr>
                        <a:t>Définir des durées de conservation sur les données et documents en vue de leur suppression ou archivage passé ce délai</a:t>
                      </a:r>
                      <a:endParaRPr lang="fr-FR" sz="1000" b="0" i="0" u="none" strike="noStrike" dirty="0" smtClean="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000" b="0" i="0" u="none" strike="noStrike" dirty="0" smtClean="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635894025"/>
                  </a:ext>
                </a:extLst>
              </a:tr>
              <a:tr h="501956">
                <a:tc>
                  <a:txBody>
                    <a:bodyPr/>
                    <a:lstStyle/>
                    <a:p>
                      <a:pPr algn="ctr" fontAlgn="ctr"/>
                      <a:r>
                        <a:rPr lang="fr-FR" sz="1000" b="0" i="0" u="none" strike="noStrike" dirty="0">
                          <a:solidFill>
                            <a:srgbClr val="000000"/>
                          </a:solidFill>
                          <a:effectLst/>
                          <a:latin typeface="Calibri" panose="020F0502020204030204" pitchFamily="34" charset="0"/>
                          <a:hlinkClick r:id="rId23" action="ppaction://hlinksldjump"/>
                        </a:rPr>
                        <a:t>Définir la liste des profils de matériels que les utilisateurs vont pouvoir employer pour accéder au service.</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smtClean="0">
                          <a:solidFill>
                            <a:srgbClr val="000000"/>
                          </a:solidFill>
                          <a:effectLst/>
                          <a:latin typeface="Calibri" panose="020F0502020204030204" pitchFamily="34" charset="0"/>
                          <a:hlinkClick r:id="rId24" action="ppaction://hlinksldjump"/>
                        </a:rPr>
                        <a:t>Proposer un traitement asynchrone lorsque c'est possible.</a:t>
                      </a:r>
                      <a:endParaRPr lang="fr-FR" sz="1000" b="0" i="0" u="none" strike="noStrike" dirty="0" smtClean="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smtClean="0">
                          <a:solidFill>
                            <a:srgbClr val="000000"/>
                          </a:solidFill>
                          <a:effectLst/>
                          <a:latin typeface="Calibri" panose="020F0502020204030204" pitchFamily="34" charset="0"/>
                          <a:hlinkClick r:id="rId25" action="ppaction://hlinksldjump"/>
                        </a:rPr>
                        <a:t>Instaurer des mécanismes de mises en cache pour la totalité des contenus transférés dont il a le contrôle.</a:t>
                      </a:r>
                      <a:endParaRPr lang="fr-FR" sz="1000" b="0" i="0" u="none" strike="noStrike" dirty="0" smtClean="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smtClean="0">
                          <a:solidFill>
                            <a:srgbClr val="000000"/>
                          </a:solidFill>
                          <a:effectLst/>
                          <a:latin typeface="Calibri" panose="020F0502020204030204" pitchFamily="34" charset="0"/>
                          <a:hlinkClick r:id="rId26" action="ppaction://hlinksldjump"/>
                        </a:rPr>
                        <a:t>Archiver ou supprimer les données et documents après expiration de leur durée de conservation.</a:t>
                      </a:r>
                      <a:endParaRPr lang="fr-FR" sz="1000" b="0" i="0" u="none" strike="noStrike" dirty="0" smtClean="0">
                        <a:solidFill>
                          <a:srgbClr val="000000"/>
                        </a:solidFill>
                        <a:effectLst/>
                        <a:latin typeface="Calibri" panose="020F0502020204030204" pitchFamily="34" charset="0"/>
                      </a:endParaRPr>
                    </a:p>
                    <a:p>
                      <a:pPr marL="0" marR="0" lvl="0" indent="0" algn="ctr" defTabSz="914400" rtl="0" eaLnBrk="1" fontAlgn="ctr" latinLnBrk="0" hangingPunct="1">
                        <a:lnSpc>
                          <a:spcPct val="100000"/>
                        </a:lnSpc>
                        <a:spcBef>
                          <a:spcPts val="0"/>
                        </a:spcBef>
                        <a:spcAft>
                          <a:spcPts val="0"/>
                        </a:spcAft>
                        <a:buClrTx/>
                        <a:buSzTx/>
                        <a:buFontTx/>
                        <a:buNone/>
                        <a:tabLst/>
                        <a:defRPr/>
                      </a:pPr>
                      <a:endParaRPr lang="fr-FR" sz="1000" b="0" i="0" u="none" strike="noStrike" dirty="0" smtClean="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000" b="0" i="0" u="none" strike="noStrike" dirty="0" smtClean="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284410590"/>
                  </a:ext>
                </a:extLst>
              </a:tr>
              <a:tr h="292079">
                <a:tc>
                  <a:txBody>
                    <a:bodyPr/>
                    <a:lstStyle/>
                    <a:p>
                      <a:pPr algn="ctr" fontAlgn="ctr"/>
                      <a:r>
                        <a:rPr lang="fr-FR" sz="1000" b="0" i="0" u="none" strike="noStrike" dirty="0">
                          <a:solidFill>
                            <a:srgbClr val="000000"/>
                          </a:solidFill>
                          <a:effectLst/>
                          <a:latin typeface="Calibri" panose="020F0502020204030204" pitchFamily="34" charset="0"/>
                          <a:hlinkClick r:id="rId27" action="ppaction://hlinksldjump"/>
                        </a:rPr>
                        <a:t>Utilisable sur d’anciens modèles de terminaux</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smtClean="0">
                          <a:solidFill>
                            <a:srgbClr val="000000"/>
                          </a:solidFill>
                          <a:effectLst/>
                          <a:latin typeface="Calibri" panose="020F0502020204030204" pitchFamily="34" charset="0"/>
                          <a:hlinkClick r:id="rId28" action="ppaction://hlinksldjump"/>
                        </a:rPr>
                        <a:t>Privilégier HTTP/2 à HTTP/1 </a:t>
                      </a:r>
                      <a:endParaRPr lang="fr-FR" sz="1000" b="0" i="0" u="none" strike="noStrike" dirty="0" smtClean="0">
                        <a:solidFill>
                          <a:srgbClr val="000000"/>
                        </a:solidFill>
                        <a:effectLst/>
                        <a:latin typeface="Calibri" panose="020F0502020204030204" pitchFamily="34" charset="0"/>
                      </a:endParaRPr>
                    </a:p>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203344318"/>
                  </a:ext>
                </a:extLst>
              </a:tr>
              <a:tr h="433836">
                <a:tc>
                  <a:txBody>
                    <a:bodyPr/>
                    <a:lstStyle/>
                    <a:p>
                      <a:pPr algn="ctr" fontAlgn="ctr"/>
                      <a:r>
                        <a:rPr lang="fr-FR" sz="1000" b="0" i="0" u="none" strike="noStrike" dirty="0">
                          <a:solidFill>
                            <a:srgbClr val="000000"/>
                          </a:solidFill>
                          <a:effectLst/>
                          <a:latin typeface="Calibri" panose="020F0502020204030204" pitchFamily="34" charset="0"/>
                          <a:hlinkClick r:id="rId9" action="ppaction://hlinksldjump"/>
                        </a:rPr>
                        <a:t>S’adapter à différents types de terminaux d’affichage</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smtClean="0">
                          <a:solidFill>
                            <a:srgbClr val="000000"/>
                          </a:solidFill>
                          <a:effectLst/>
                          <a:latin typeface="Calibri" panose="020F0502020204030204" pitchFamily="34" charset="0"/>
                          <a:hlinkClick r:id="rId29" action="ppaction://hlinksldjump"/>
                        </a:rPr>
                        <a:t>Mettre en place un « Circuit </a:t>
                      </a:r>
                      <a:r>
                        <a:rPr lang="fr-FR" sz="1000" b="0" i="0" u="none" strike="noStrike" dirty="0" err="1" smtClean="0">
                          <a:solidFill>
                            <a:srgbClr val="000000"/>
                          </a:solidFill>
                          <a:effectLst/>
                          <a:latin typeface="Calibri" panose="020F0502020204030204" pitchFamily="34" charset="0"/>
                          <a:hlinkClick r:id="rId29" action="ppaction://hlinksldjump"/>
                        </a:rPr>
                        <a:t>breaker</a:t>
                      </a:r>
                      <a:r>
                        <a:rPr lang="fr-FR" sz="1000" b="0" i="0" u="none" strike="noStrike" dirty="0" smtClean="0">
                          <a:solidFill>
                            <a:srgbClr val="000000"/>
                          </a:solidFill>
                          <a:effectLst/>
                          <a:latin typeface="Calibri" panose="020F0502020204030204" pitchFamily="34" charset="0"/>
                          <a:hlinkClick r:id="rId29" action="ppaction://hlinksldjump"/>
                        </a:rPr>
                        <a:t> ».   </a:t>
                      </a:r>
                      <a:endParaRPr lang="fr-FR" sz="1000" b="0" i="0" u="none" strike="noStrike" dirty="0" smtClean="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000" b="0" i="0" u="none" strike="noStrike" dirty="0" smtClean="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000" b="0" i="0" u="none" strike="noStrike" dirty="0" smtClean="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000" b="0" i="0" u="none" strike="noStrike" dirty="0" smtClean="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4061792638"/>
                  </a:ext>
                </a:extLst>
              </a:tr>
              <a:tr h="377760">
                <a:tc>
                  <a:txBody>
                    <a:bodyPr/>
                    <a:lstStyle/>
                    <a:p>
                      <a:pPr algn="ctr" fontAlgn="ctr"/>
                      <a:r>
                        <a:rPr lang="fr-FR" sz="1000" b="0" i="0" u="none" strike="noStrike" dirty="0">
                          <a:solidFill>
                            <a:srgbClr val="000000"/>
                          </a:solidFill>
                          <a:effectLst/>
                          <a:latin typeface="Calibri" panose="020F0502020204030204" pitchFamily="34" charset="0"/>
                          <a:hlinkClick r:id="rId6" action="ppaction://hlinksldjump"/>
                        </a:rPr>
                        <a:t>Utilisable via une connexion bas débit ou hors connexion</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smtClean="0">
                          <a:solidFill>
                            <a:srgbClr val="000000"/>
                          </a:solidFill>
                          <a:effectLst/>
                          <a:latin typeface="Calibri" panose="020F0502020204030204" pitchFamily="34" charset="0"/>
                          <a:hlinkClick r:id="rId30" action="ppaction://hlinksldjump"/>
                        </a:rPr>
                        <a:t>Limiter le nombre de requêtes HTTP.</a:t>
                      </a:r>
                      <a:endParaRPr lang="fr-FR" sz="1000" b="0" i="0" u="none" strike="noStrike" dirty="0" smtClean="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000" b="0" i="0" u="none" strike="noStrike" dirty="0" smtClean="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000" b="0" i="0" u="none" strike="noStrike" dirty="0" smtClean="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000" b="0" i="0" u="none" strike="noStrike" dirty="0" smtClean="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527682605"/>
                  </a:ext>
                </a:extLst>
              </a:tr>
            </a:tbl>
          </a:graphicData>
        </a:graphic>
      </p:graphicFrame>
    </p:spTree>
    <p:extLst>
      <p:ext uri="{BB962C8B-B14F-4D97-AF65-F5344CB8AC3E}">
        <p14:creationId xmlns:p14="http://schemas.microsoft.com/office/powerpoint/2010/main" val="401880990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smtClean="0">
                <a:solidFill>
                  <a:schemeClr val="bg1"/>
                </a:solidFill>
              </a:rPr>
              <a:t>Architecture EST DATM</a:t>
            </a:r>
            <a:endParaRPr lang="fr-FR" sz="3600" b="1" dirty="0">
              <a:solidFill>
                <a:schemeClr val="bg1"/>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6" name="Tableau 5"/>
          <p:cNvGraphicFramePr>
            <a:graphicFrameLocks noGrp="1"/>
          </p:cNvGraphicFramePr>
          <p:nvPr>
            <p:extLst>
              <p:ext uri="{D42A27DB-BD31-4B8C-83A1-F6EECF244321}">
                <p14:modId xmlns:p14="http://schemas.microsoft.com/office/powerpoint/2010/main" val="4057218847"/>
              </p:ext>
            </p:extLst>
          </p:nvPr>
        </p:nvGraphicFramePr>
        <p:xfrm>
          <a:off x="-4" y="1468518"/>
          <a:ext cx="12145708" cy="4619766"/>
        </p:xfrm>
        <a:graphic>
          <a:graphicData uri="http://schemas.openxmlformats.org/drawingml/2006/table">
            <a:tbl>
              <a:tblPr firstRow="1" bandRow="1">
                <a:tableStyleId>{5C22544A-7EE6-4342-B048-85BDC9FD1C3A}</a:tableStyleId>
              </a:tblPr>
              <a:tblGrid>
                <a:gridCol w="3036427">
                  <a:extLst>
                    <a:ext uri="{9D8B030D-6E8A-4147-A177-3AD203B41FA5}">
                      <a16:colId xmlns:a16="http://schemas.microsoft.com/office/drawing/2014/main" val="2110775995"/>
                    </a:ext>
                  </a:extLst>
                </a:gridCol>
                <a:gridCol w="3036427">
                  <a:extLst>
                    <a:ext uri="{9D8B030D-6E8A-4147-A177-3AD203B41FA5}">
                      <a16:colId xmlns:a16="http://schemas.microsoft.com/office/drawing/2014/main" val="3960840038"/>
                    </a:ext>
                  </a:extLst>
                </a:gridCol>
                <a:gridCol w="3036427">
                  <a:extLst>
                    <a:ext uri="{9D8B030D-6E8A-4147-A177-3AD203B41FA5}">
                      <a16:colId xmlns:a16="http://schemas.microsoft.com/office/drawing/2014/main" val="2101341886"/>
                    </a:ext>
                  </a:extLst>
                </a:gridCol>
                <a:gridCol w="3036427">
                  <a:extLst>
                    <a:ext uri="{9D8B030D-6E8A-4147-A177-3AD203B41FA5}">
                      <a16:colId xmlns:a16="http://schemas.microsoft.com/office/drawing/2014/main" val="3676318539"/>
                    </a:ext>
                  </a:extLst>
                </a:gridCol>
              </a:tblGrid>
              <a:tr h="929653">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dirty="0" smtClean="0"/>
                        <a:t>Réduire la consommation de ressources : La solution intègre des pratiques d'écoconception</a:t>
                      </a:r>
                    </a:p>
                    <a:p>
                      <a:pPr algn="ctr"/>
                      <a:endParaRPr lang="fr-FR" sz="1000" dirty="0"/>
                    </a:p>
                  </a:txBody>
                  <a:tcPr anchor="ctr"/>
                </a:tc>
                <a:tc hMerge="1">
                  <a:txBody>
                    <a:bodyPr/>
                    <a:lstStyle/>
                    <a:p>
                      <a:pPr algn="ctr"/>
                      <a:endParaRPr lang="fr-FR" sz="1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dirty="0" smtClean="0"/>
                        <a:t>Méthodologie facilitant l'écoconception</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dirty="0" smtClean="0"/>
                        <a:t>Moins d'infrastructure IT nécessaire</a:t>
                      </a:r>
                    </a:p>
                  </a:txBody>
                  <a:tcPr anchor="ctr"/>
                </a:tc>
                <a:extLst>
                  <a:ext uri="{0D108BD9-81ED-4DB2-BD59-A6C34878D82A}">
                    <a16:rowId xmlns:a16="http://schemas.microsoft.com/office/drawing/2014/main" val="1589042702"/>
                  </a:ext>
                </a:extLst>
              </a:tr>
              <a:tr h="1226438">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smtClean="0">
                          <a:solidFill>
                            <a:srgbClr val="000000"/>
                          </a:solidFill>
                          <a:effectLst/>
                          <a:latin typeface="Calibri" panose="020F0502020204030204" pitchFamily="34" charset="0"/>
                          <a:hlinkClick r:id="rId4" action="ppaction://hlinksldjump"/>
                        </a:rPr>
                        <a:t>Utiliser un serveur asynchrone.</a:t>
                      </a:r>
                      <a:endParaRPr lang="fr-FR" sz="1000" b="0" i="0" u="none" strike="noStrike" dirty="0" smtClean="0">
                        <a:solidFill>
                          <a:srgbClr val="000000"/>
                        </a:solidFill>
                        <a:effectLst/>
                        <a:latin typeface="Calibri" panose="020F0502020204030204" pitchFamily="34" charset="0"/>
                      </a:endParaRPr>
                    </a:p>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smtClean="0">
                          <a:solidFill>
                            <a:srgbClr val="000000"/>
                          </a:solidFill>
                          <a:effectLst/>
                          <a:latin typeface="Calibri" panose="020F0502020204030204" pitchFamily="34" charset="0"/>
                          <a:hlinkClick r:id="rId5" action="ppaction://hlinksldjump"/>
                        </a:rPr>
                        <a:t>Mettre en cache les données calculées souvent utilisées.</a:t>
                      </a:r>
                      <a:endParaRPr lang="fr-FR" sz="1000" b="0" i="0" u="none" strike="noStrike" dirty="0" smtClean="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smtClean="0">
                          <a:solidFill>
                            <a:srgbClr val="000000"/>
                          </a:solidFill>
                          <a:effectLst/>
                          <a:latin typeface="Calibri" panose="020F0502020204030204" pitchFamily="34" charset="0"/>
                          <a:hlinkClick r:id="rId6" action="ppaction://hlinksldjump"/>
                        </a:rPr>
                        <a:t>Imposer aux fournisseurs du service de garantir une démarche de réduction des impacts environnementaux.</a:t>
                      </a:r>
                      <a:endParaRPr lang="fr-FR" sz="1000" b="0" i="0" u="none" strike="noStrike" dirty="0" smtClean="0">
                        <a:solidFill>
                          <a:srgbClr val="000000"/>
                        </a:solidFill>
                        <a:effectLst/>
                        <a:latin typeface="Calibri" panose="020F0502020204030204" pitchFamily="34" charset="0"/>
                      </a:endParaRPr>
                    </a:p>
                    <a:p>
                      <a:pPr marL="0" marR="0" lvl="0" indent="0" algn="ctr" defTabSz="914400" rtl="0" eaLnBrk="1" fontAlgn="ctr" latinLnBrk="0" hangingPunct="1">
                        <a:lnSpc>
                          <a:spcPct val="100000"/>
                        </a:lnSpc>
                        <a:spcBef>
                          <a:spcPts val="0"/>
                        </a:spcBef>
                        <a:spcAft>
                          <a:spcPts val="0"/>
                        </a:spcAft>
                        <a:buClrTx/>
                        <a:buSzTx/>
                        <a:buFontTx/>
                        <a:buNone/>
                        <a:tabLst/>
                        <a:defRPr/>
                      </a:pPr>
                      <a:endParaRPr lang="fr-FR" sz="1000" b="0" i="0" u="none" strike="noStrike" dirty="0" smtClean="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dirty="0" smtClean="0">
                          <a:hlinkClick r:id="rId7" action="ppaction://hlinksldjump"/>
                        </a:rPr>
                        <a:t>Répliquer les infrastructures d'hébergement de l'application sur plusieurs sites d'hébergement que si le niveau de service attendu l'impose</a:t>
                      </a:r>
                      <a:endParaRPr lang="fr-FR" sz="1000" dirty="0" smtClean="0"/>
                    </a:p>
                  </a:txBody>
                  <a:tcPr marL="6350" marR="6350" marT="6350" marB="0" anchor="ctr"/>
                </a:tc>
                <a:extLst>
                  <a:ext uri="{0D108BD9-81ED-4DB2-BD59-A6C34878D82A}">
                    <a16:rowId xmlns:a16="http://schemas.microsoft.com/office/drawing/2014/main" val="1264369154"/>
                  </a:ext>
                </a:extLst>
              </a:tr>
              <a:tr h="14804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smtClean="0">
                          <a:solidFill>
                            <a:srgbClr val="000000"/>
                          </a:solidFill>
                          <a:effectLst/>
                          <a:latin typeface="Calibri" panose="020F0502020204030204" pitchFamily="34" charset="0"/>
                          <a:hlinkClick r:id="rId8" action="ppaction://hlinksldjump"/>
                        </a:rPr>
                        <a:t>Optimiser les requêtes aux bases de données</a:t>
                      </a:r>
                      <a:endParaRPr lang="fr-FR" sz="1000" b="0" i="0" u="none" strike="noStrike" dirty="0" smtClean="0">
                        <a:solidFill>
                          <a:srgbClr val="000000"/>
                        </a:solidFill>
                        <a:effectLst/>
                        <a:latin typeface="Calibri" panose="020F0502020204030204" pitchFamily="34" charset="0"/>
                      </a:endParaRPr>
                    </a:p>
                  </a:txBody>
                  <a:tcPr marL="6350" marR="6350" marT="6350" marB="0" anchor="ctr"/>
                </a:tc>
                <a:tc>
                  <a:txBody>
                    <a:bodyPr/>
                    <a:lstStyle/>
                    <a:p>
                      <a:endParaRPr lang="fr-FR" dirty="0"/>
                    </a:p>
                  </a:txBody>
                  <a:tcPr marL="6350" marR="6350" marT="6350" marB="0" anchor="ctr"/>
                </a:tc>
                <a:tc>
                  <a:txBody>
                    <a:bodyPr/>
                    <a:lstStyle/>
                    <a:p>
                      <a:endParaRPr lang="fr-FR" dirty="0"/>
                    </a:p>
                  </a:txBody>
                  <a:tcPr marL="6350" marR="6350" marT="6350" marB="0" anchor="ctr"/>
                </a:tc>
                <a:tc>
                  <a:txBody>
                    <a:bodyPr/>
                    <a:lstStyle/>
                    <a:p>
                      <a:endParaRPr lang="fr-FR" dirty="0"/>
                    </a:p>
                  </a:txBody>
                  <a:tcPr marL="6350" marR="6350" marT="6350" marB="0" anchor="ctr"/>
                </a:tc>
                <a:extLst>
                  <a:ext uri="{0D108BD9-81ED-4DB2-BD59-A6C34878D82A}">
                    <a16:rowId xmlns:a16="http://schemas.microsoft.com/office/drawing/2014/main" val="2635894025"/>
                  </a:ext>
                </a:extLst>
              </a:tr>
              <a:tr h="983178">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smtClean="0">
                          <a:solidFill>
                            <a:srgbClr val="000000"/>
                          </a:solidFill>
                          <a:effectLst/>
                          <a:latin typeface="Calibri" panose="020F0502020204030204" pitchFamily="34" charset="0"/>
                          <a:hlinkClick r:id="rId9" action="ppaction://hlinksldjump"/>
                        </a:rPr>
                        <a:t>Proposer un traitement asynchrone lorsque c'est possible.</a:t>
                      </a:r>
                      <a:endParaRPr lang="fr-FR" sz="1000" b="0" i="0" u="none" strike="noStrike" dirty="0" smtClean="0">
                        <a:solidFill>
                          <a:srgbClr val="000000"/>
                        </a:solidFill>
                        <a:effectLst/>
                        <a:latin typeface="Calibri" panose="020F0502020204030204" pitchFamily="34" charset="0"/>
                      </a:endParaRPr>
                    </a:p>
                  </a:txBody>
                  <a:tcPr marL="6350" marR="6350" marT="6350" marB="0" anchor="ctr"/>
                </a:tc>
                <a:tc>
                  <a:txBody>
                    <a:bodyPr/>
                    <a:lstStyle/>
                    <a:p>
                      <a:endParaRPr lang="fr-FR" dirty="0"/>
                    </a:p>
                  </a:txBody>
                  <a:tcPr marL="6350" marR="6350" marT="6350" marB="0" anchor="ctr"/>
                </a:tc>
                <a:tc>
                  <a:txBody>
                    <a:bodyPr/>
                    <a:lstStyle/>
                    <a:p>
                      <a:endParaRPr lang="fr-FR" dirty="0"/>
                    </a:p>
                  </a:txBody>
                  <a:tcPr marL="6350" marR="6350" marT="6350" marB="0" anchor="ctr"/>
                </a:tc>
                <a:tc>
                  <a:txBody>
                    <a:bodyPr/>
                    <a:lstStyle/>
                    <a:p>
                      <a:endParaRPr lang="fr-FR" dirty="0"/>
                    </a:p>
                  </a:txBody>
                  <a:tcPr marL="6350" marR="6350" marT="6350" marB="0" anchor="ctr"/>
                </a:tc>
                <a:extLst>
                  <a:ext uri="{0D108BD9-81ED-4DB2-BD59-A6C34878D82A}">
                    <a16:rowId xmlns:a16="http://schemas.microsoft.com/office/drawing/2014/main" val="1284410590"/>
                  </a:ext>
                </a:extLst>
              </a:tr>
            </a:tbl>
          </a:graphicData>
        </a:graphic>
      </p:graphicFrame>
    </p:spTree>
    <p:extLst>
      <p:ext uri="{BB962C8B-B14F-4D97-AF65-F5344CB8AC3E}">
        <p14:creationId xmlns:p14="http://schemas.microsoft.com/office/powerpoint/2010/main" val="393550468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smtClean="0">
                <a:solidFill>
                  <a:schemeClr val="bg1"/>
                </a:solidFill>
              </a:rPr>
              <a:t>Architecture EST DASI</a:t>
            </a:r>
            <a:endParaRPr lang="fr-FR" sz="3600" b="1" dirty="0">
              <a:solidFill>
                <a:schemeClr val="bg1"/>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6" name="Tableau 5"/>
          <p:cNvGraphicFramePr>
            <a:graphicFrameLocks noGrp="1"/>
          </p:cNvGraphicFramePr>
          <p:nvPr>
            <p:extLst>
              <p:ext uri="{D42A27DB-BD31-4B8C-83A1-F6EECF244321}">
                <p14:modId xmlns:p14="http://schemas.microsoft.com/office/powerpoint/2010/main" val="2431528843"/>
              </p:ext>
            </p:extLst>
          </p:nvPr>
        </p:nvGraphicFramePr>
        <p:xfrm>
          <a:off x="-4" y="1468518"/>
          <a:ext cx="12192004" cy="3519061"/>
        </p:xfrm>
        <a:graphic>
          <a:graphicData uri="http://schemas.openxmlformats.org/drawingml/2006/table">
            <a:tbl>
              <a:tblPr firstRow="1" bandRow="1">
                <a:tableStyleId>{5C22544A-7EE6-4342-B048-85BDC9FD1C3A}</a:tableStyleId>
              </a:tblPr>
              <a:tblGrid>
                <a:gridCol w="6096002">
                  <a:extLst>
                    <a:ext uri="{9D8B030D-6E8A-4147-A177-3AD203B41FA5}">
                      <a16:colId xmlns:a16="http://schemas.microsoft.com/office/drawing/2014/main" val="2495026898"/>
                    </a:ext>
                  </a:extLst>
                </a:gridCol>
                <a:gridCol w="6096002">
                  <a:extLst>
                    <a:ext uri="{9D8B030D-6E8A-4147-A177-3AD203B41FA5}">
                      <a16:colId xmlns:a16="http://schemas.microsoft.com/office/drawing/2014/main" val="2946801675"/>
                    </a:ext>
                  </a:extLst>
                </a:gridCol>
              </a:tblGrid>
              <a:tr h="89122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dirty="0" smtClean="0"/>
                        <a:t>Méthodologie facilitant l'écoconception</a:t>
                      </a:r>
                    </a:p>
                  </a:txBody>
                  <a:tcPr anchor="ctr"/>
                </a:tc>
                <a:tc>
                  <a:txBody>
                    <a:bodyPr/>
                    <a:lstStyle/>
                    <a:p>
                      <a:pPr algn="ctr"/>
                      <a:r>
                        <a:rPr lang="fr-FR" sz="1000" dirty="0" smtClean="0"/>
                        <a:t>Moins d'infrastructure IT nécessaire</a:t>
                      </a:r>
                    </a:p>
                  </a:txBody>
                  <a:tcPr anchor="ctr"/>
                </a:tc>
                <a:extLst>
                  <a:ext uri="{0D108BD9-81ED-4DB2-BD59-A6C34878D82A}">
                    <a16:rowId xmlns:a16="http://schemas.microsoft.com/office/drawing/2014/main" val="1589042702"/>
                  </a:ext>
                </a:extLst>
              </a:tr>
              <a:tr h="262783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smtClean="0">
                          <a:solidFill>
                            <a:srgbClr val="000000"/>
                          </a:solidFill>
                          <a:effectLst/>
                          <a:latin typeface="Calibri" panose="020F0502020204030204" pitchFamily="34" charset="0"/>
                          <a:hlinkClick r:id="rId4" action="ppaction://hlinksldjump"/>
                        </a:rPr>
                        <a:t>Imposer aux fournisseurs du service de garantir une démarche de réduction des impacts environnementaux.</a:t>
                      </a:r>
                      <a:endParaRPr lang="fr-FR" sz="1000" b="0" i="0" u="none" strike="noStrike" dirty="0" smtClean="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dirty="0" smtClean="0">
                          <a:hlinkClick r:id="rId5" action="ppaction://hlinksldjump"/>
                        </a:rPr>
                        <a:t>Répliquer les infrastructures d'hébergement de l'application sur plusieurs sites d'hébergement que si le niveau de service attendu l'impose</a:t>
                      </a:r>
                      <a:endParaRPr lang="fr-FR" sz="1000" dirty="0" smtClean="0"/>
                    </a:p>
                    <a:p>
                      <a:pPr marL="0" marR="0" lvl="0" indent="0" algn="ctr" defTabSz="914400" rtl="0" eaLnBrk="1" fontAlgn="ctr" latinLnBrk="0" hangingPunct="1">
                        <a:lnSpc>
                          <a:spcPct val="100000"/>
                        </a:lnSpc>
                        <a:spcBef>
                          <a:spcPts val="0"/>
                        </a:spcBef>
                        <a:spcAft>
                          <a:spcPts val="0"/>
                        </a:spcAft>
                        <a:buClrTx/>
                        <a:buSzTx/>
                        <a:buFontTx/>
                        <a:buNone/>
                        <a:tabLst/>
                        <a:defRPr/>
                      </a:pPr>
                      <a:endParaRPr lang="fr-FR" sz="1000" b="0" i="0" u="none" strike="noStrike" dirty="0" smtClean="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264369154"/>
                  </a:ext>
                </a:extLst>
              </a:tr>
            </a:tbl>
          </a:graphicData>
        </a:graphic>
      </p:graphicFrame>
    </p:spTree>
    <p:extLst>
      <p:ext uri="{BB962C8B-B14F-4D97-AF65-F5344CB8AC3E}">
        <p14:creationId xmlns:p14="http://schemas.microsoft.com/office/powerpoint/2010/main" val="8007755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smtClean="0">
                <a:solidFill>
                  <a:schemeClr val="bg1"/>
                </a:solidFill>
              </a:rPr>
              <a:t>Architecture AT</a:t>
            </a:r>
            <a:endParaRPr lang="fr-FR" sz="3600" b="1" dirty="0">
              <a:solidFill>
                <a:schemeClr val="bg1"/>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6" name="Tableau 5"/>
          <p:cNvGraphicFramePr>
            <a:graphicFrameLocks noGrp="1"/>
          </p:cNvGraphicFramePr>
          <p:nvPr>
            <p:extLst>
              <p:ext uri="{D42A27DB-BD31-4B8C-83A1-F6EECF244321}">
                <p14:modId xmlns:p14="http://schemas.microsoft.com/office/powerpoint/2010/main" val="3209032136"/>
              </p:ext>
            </p:extLst>
          </p:nvPr>
        </p:nvGraphicFramePr>
        <p:xfrm>
          <a:off x="-4" y="1468518"/>
          <a:ext cx="12192004" cy="4629599"/>
        </p:xfrm>
        <a:graphic>
          <a:graphicData uri="http://schemas.openxmlformats.org/drawingml/2006/table">
            <a:tbl>
              <a:tblPr firstRow="1" bandRow="1">
                <a:tableStyleId>{5C22544A-7EE6-4342-B048-85BDC9FD1C3A}</a:tableStyleId>
              </a:tblPr>
              <a:tblGrid>
                <a:gridCol w="6096002">
                  <a:extLst>
                    <a:ext uri="{9D8B030D-6E8A-4147-A177-3AD203B41FA5}">
                      <a16:colId xmlns:a16="http://schemas.microsoft.com/office/drawing/2014/main" val="3121503248"/>
                    </a:ext>
                  </a:extLst>
                </a:gridCol>
                <a:gridCol w="6096002">
                  <a:extLst>
                    <a:ext uri="{9D8B030D-6E8A-4147-A177-3AD203B41FA5}">
                      <a16:colId xmlns:a16="http://schemas.microsoft.com/office/drawing/2014/main" val="139066360"/>
                    </a:ext>
                  </a:extLst>
                </a:gridCol>
              </a:tblGrid>
              <a:tr h="474629">
                <a:tc>
                  <a:txBody>
                    <a:bodyPr/>
                    <a:lstStyle/>
                    <a:p>
                      <a:pPr algn="ctr"/>
                      <a:r>
                        <a:rPr lang="fr-FR" sz="1000" dirty="0" smtClean="0"/>
                        <a:t>Service numérique utilisable</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dirty="0" smtClean="0"/>
                        <a:t>Moins d'infrastructure IT nécessaire</a:t>
                      </a:r>
                    </a:p>
                    <a:p>
                      <a:pPr algn="ctr"/>
                      <a:endParaRPr lang="fr-FR" sz="1000" dirty="0"/>
                    </a:p>
                  </a:txBody>
                  <a:tcPr anchor="ctr"/>
                </a:tc>
                <a:extLst>
                  <a:ext uri="{0D108BD9-81ED-4DB2-BD59-A6C34878D82A}">
                    <a16:rowId xmlns:a16="http://schemas.microsoft.com/office/drawing/2014/main" val="1589042702"/>
                  </a:ext>
                </a:extLst>
              </a:tr>
              <a:tr h="541178">
                <a:tc>
                  <a:txBody>
                    <a:bodyPr/>
                    <a:lstStyle/>
                    <a:p>
                      <a:pPr algn="ctr" fontAlgn="ctr"/>
                      <a:r>
                        <a:rPr lang="fr-FR" sz="1000" b="0" i="0" u="none" strike="noStrike" dirty="0">
                          <a:solidFill>
                            <a:srgbClr val="000000"/>
                          </a:solidFill>
                          <a:effectLst/>
                          <a:latin typeface="Calibri" panose="020F0502020204030204" pitchFamily="34" charset="0"/>
                          <a:hlinkClick r:id="rId4" action="ppaction://hlinksldjump"/>
                        </a:rPr>
                        <a:t>Concevoir avec des technologies standard interopérables plutôt que des technologies spécifiques et fermées</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ctr"/>
                      <a:r>
                        <a:rPr lang="fr-FR" sz="1000" b="0" i="0" u="none" strike="noStrike" dirty="0">
                          <a:solidFill>
                            <a:srgbClr val="FF0000"/>
                          </a:solidFill>
                          <a:effectLst/>
                          <a:latin typeface="Calibri" panose="020F0502020204030204" pitchFamily="34" charset="0"/>
                          <a:hlinkClick r:id="rId5" action="ppaction://hlinksldjump"/>
                        </a:rPr>
                        <a:t>Proposer des dimensionnements nominaux standards en adéquation avec les besoins et exigences </a:t>
                      </a:r>
                      <a:endParaRPr lang="fr-FR" sz="1000" b="0" i="0" u="none" strike="noStrike" dirty="0">
                        <a:solidFill>
                          <a:srgbClr val="FF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721339208"/>
                  </a:ext>
                </a:extLst>
              </a:tr>
              <a:tr h="626151">
                <a:tc>
                  <a:txBody>
                    <a:bodyPr/>
                    <a:lstStyle/>
                    <a:p>
                      <a:pPr algn="ctr" fontAlgn="ctr"/>
                      <a:r>
                        <a:rPr lang="fr-FR" sz="1000" b="0" i="0" u="none" strike="noStrike" dirty="0" smtClean="0">
                          <a:solidFill>
                            <a:srgbClr val="FF0000"/>
                          </a:solidFill>
                          <a:effectLst/>
                          <a:latin typeface="Calibri" panose="020F0502020204030204" pitchFamily="34" charset="0"/>
                          <a:hlinkClick r:id="rId6" action="ppaction://hlinksldjump"/>
                        </a:rPr>
                        <a:t>Supporter</a:t>
                      </a:r>
                      <a:r>
                        <a:rPr lang="fr-FR" sz="1000" b="0" i="0" u="none" strike="noStrike" dirty="0" smtClean="0">
                          <a:solidFill>
                            <a:srgbClr val="000000"/>
                          </a:solidFill>
                          <a:effectLst/>
                          <a:latin typeface="Calibri" panose="020F0502020204030204" pitchFamily="34" charset="0"/>
                          <a:hlinkClick r:id="rId6" action="ppaction://hlinksldjump"/>
                        </a:rPr>
                        <a:t> l’évolution techniques des protocole</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l" fontAlgn="ctr"/>
                      <a:r>
                        <a:rPr lang="fr-FR" sz="1000" b="0" i="0" u="none" strike="noStrike" dirty="0">
                          <a:solidFill>
                            <a:srgbClr val="000000"/>
                          </a:solidFill>
                          <a:effectLst/>
                          <a:latin typeface="Calibri" panose="020F0502020204030204" pitchFamily="34" charset="0"/>
                          <a:hlinkClick r:id="rId7" action="ppaction://hlinksldjump"/>
                        </a:rPr>
                        <a:t>Adapter la quantité de ressources IT utilisées en fonction de la consommation du service</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373209409"/>
                  </a:ext>
                </a:extLst>
              </a:tr>
              <a:tr h="626151">
                <a:tc>
                  <a:txBody>
                    <a:bodyPr/>
                    <a:lstStyle/>
                    <a:p>
                      <a:pPr algn="ctr" fontAlgn="ctr"/>
                      <a:r>
                        <a:rPr lang="fr-FR" sz="1000" b="0" i="0" u="none" strike="noStrike" dirty="0">
                          <a:solidFill>
                            <a:srgbClr val="000000"/>
                          </a:solidFill>
                          <a:effectLst/>
                          <a:latin typeface="Calibri" panose="020F0502020204030204" pitchFamily="34" charset="0"/>
                          <a:hlinkClick r:id="rId8" action="ppaction://hlinksldjump"/>
                        </a:rPr>
                        <a:t>Installer des mises à jour correctives pendant toute la durée de vie prévue des équipements et des logiciels liés au service </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a:p>
                  </a:txBody>
                  <a:tcPr marL="6350" marR="6350" marT="6350" marB="0" anchor="ctr"/>
                </a:tc>
                <a:extLst>
                  <a:ext uri="{0D108BD9-81ED-4DB2-BD59-A6C34878D82A}">
                    <a16:rowId xmlns:a16="http://schemas.microsoft.com/office/drawing/2014/main" val="1264369154"/>
                  </a:ext>
                </a:extLst>
              </a:tr>
              <a:tr h="755859">
                <a:tc>
                  <a:txBody>
                    <a:bodyPr/>
                    <a:lstStyle/>
                    <a:p>
                      <a:pPr algn="ctr" fontAlgn="ctr"/>
                      <a:r>
                        <a:rPr lang="fr-FR" sz="1000" b="0" i="0" u="none" strike="noStrike" dirty="0">
                          <a:solidFill>
                            <a:srgbClr val="000000"/>
                          </a:solidFill>
                          <a:effectLst/>
                          <a:latin typeface="Calibri" panose="020F0502020204030204" pitchFamily="34" charset="0"/>
                          <a:hlinkClick r:id="rId9" action="ppaction://hlinksldjump"/>
                        </a:rPr>
                        <a:t>Installer des mises à jour correctives indépendamment des mises à jour évolutives</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a:p>
                  </a:txBody>
                  <a:tcPr marL="6350" marR="6350" marT="6350" marB="0" anchor="ctr"/>
                </a:tc>
                <a:extLst>
                  <a:ext uri="{0D108BD9-81ED-4DB2-BD59-A6C34878D82A}">
                    <a16:rowId xmlns:a16="http://schemas.microsoft.com/office/drawing/2014/main" val="2635894025"/>
                  </a:ext>
                </a:extLst>
              </a:tr>
              <a:tr h="501956">
                <a:tc>
                  <a:txBody>
                    <a:bodyPr/>
                    <a:lstStyle/>
                    <a:p>
                      <a:pPr algn="ctr" fontAlgn="ctr"/>
                      <a:r>
                        <a:rPr lang="fr-FR" sz="1000" b="0" i="0" u="none" strike="noStrike" dirty="0">
                          <a:solidFill>
                            <a:srgbClr val="000000"/>
                          </a:solidFill>
                          <a:effectLst/>
                          <a:latin typeface="Calibri" panose="020F0502020204030204" pitchFamily="34" charset="0"/>
                          <a:hlinkClick r:id="rId10" action="ppaction://hlinksldjump"/>
                        </a:rPr>
                        <a:t>Définir la liste des profils de matériels que les utilisateurs vont pouvoir employer pour accéder au service.</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dirty="0"/>
                    </a:p>
                  </a:txBody>
                  <a:tcPr marL="6350" marR="6350" marT="6350" marB="0" anchor="ctr"/>
                </a:tc>
                <a:extLst>
                  <a:ext uri="{0D108BD9-81ED-4DB2-BD59-A6C34878D82A}">
                    <a16:rowId xmlns:a16="http://schemas.microsoft.com/office/drawing/2014/main" val="1284410590"/>
                  </a:ext>
                </a:extLst>
              </a:tr>
              <a:tr h="292079">
                <a:tc>
                  <a:txBody>
                    <a:bodyPr/>
                    <a:lstStyle/>
                    <a:p>
                      <a:pPr algn="ctr" fontAlgn="ctr"/>
                      <a:r>
                        <a:rPr lang="fr-FR" sz="1000" b="0" i="0" u="none" strike="noStrike" dirty="0">
                          <a:solidFill>
                            <a:srgbClr val="000000"/>
                          </a:solidFill>
                          <a:effectLst/>
                          <a:latin typeface="Calibri" panose="020F0502020204030204" pitchFamily="34" charset="0"/>
                          <a:hlinkClick r:id="rId11" action="ppaction://hlinksldjump"/>
                        </a:rPr>
                        <a:t>Utilisable sur d’anciens modèles de terminaux</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203344318"/>
                  </a:ext>
                </a:extLst>
              </a:tr>
              <a:tr h="433836">
                <a:tc>
                  <a:txBody>
                    <a:bodyPr/>
                    <a:lstStyle/>
                    <a:p>
                      <a:pPr algn="ctr" fontAlgn="ctr"/>
                      <a:r>
                        <a:rPr lang="fr-FR" sz="1000" b="0" i="0" u="none" strike="noStrike" dirty="0">
                          <a:solidFill>
                            <a:srgbClr val="000000"/>
                          </a:solidFill>
                          <a:effectLst/>
                          <a:latin typeface="Calibri" panose="020F0502020204030204" pitchFamily="34" charset="0"/>
                          <a:hlinkClick r:id="rId12" action="ppaction://hlinksldjump"/>
                        </a:rPr>
                        <a:t>S’adapter à différents types de terminaux d’affichage</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000" b="0" i="0" u="none" strike="noStrike" dirty="0" smtClean="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4061792638"/>
                  </a:ext>
                </a:extLst>
              </a:tr>
              <a:tr h="377760">
                <a:tc>
                  <a:txBody>
                    <a:bodyPr/>
                    <a:lstStyle/>
                    <a:p>
                      <a:pPr algn="ctr" fontAlgn="ctr"/>
                      <a:r>
                        <a:rPr lang="fr-FR" sz="1000" b="0" i="0" u="none" strike="noStrike" dirty="0">
                          <a:solidFill>
                            <a:srgbClr val="000000"/>
                          </a:solidFill>
                          <a:effectLst/>
                          <a:latin typeface="Calibri" panose="020F0502020204030204" pitchFamily="34" charset="0"/>
                          <a:hlinkClick r:id="rId13" action="ppaction://hlinksldjump"/>
                        </a:rPr>
                        <a:t>Utilisable via une connexion bas débit ou hors connexion</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000" b="0" i="0" u="none" strike="noStrike" dirty="0" smtClean="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527682605"/>
                  </a:ext>
                </a:extLst>
              </a:tr>
            </a:tbl>
          </a:graphicData>
        </a:graphic>
      </p:graphicFrame>
    </p:spTree>
    <p:extLst>
      <p:ext uri="{BB962C8B-B14F-4D97-AF65-F5344CB8AC3E}">
        <p14:creationId xmlns:p14="http://schemas.microsoft.com/office/powerpoint/2010/main" val="44881691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smtClean="0">
                <a:solidFill>
                  <a:schemeClr val="bg1"/>
                </a:solidFill>
              </a:rPr>
              <a:t>Architecture Exploitation</a:t>
            </a:r>
            <a:endParaRPr lang="fr-FR" sz="3600" b="1" dirty="0">
              <a:solidFill>
                <a:schemeClr val="bg1"/>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6" name="Tableau 5"/>
          <p:cNvGraphicFramePr>
            <a:graphicFrameLocks noGrp="1"/>
          </p:cNvGraphicFramePr>
          <p:nvPr>
            <p:extLst>
              <p:ext uri="{D42A27DB-BD31-4B8C-83A1-F6EECF244321}">
                <p14:modId xmlns:p14="http://schemas.microsoft.com/office/powerpoint/2010/main" val="2202364961"/>
              </p:ext>
            </p:extLst>
          </p:nvPr>
        </p:nvGraphicFramePr>
        <p:xfrm>
          <a:off x="-4" y="1468518"/>
          <a:ext cx="12192004" cy="4619767"/>
        </p:xfrm>
        <a:graphic>
          <a:graphicData uri="http://schemas.openxmlformats.org/drawingml/2006/table">
            <a:tbl>
              <a:tblPr firstRow="1" bandRow="1">
                <a:tableStyleId>{5C22544A-7EE6-4342-B048-85BDC9FD1C3A}</a:tableStyleId>
              </a:tblPr>
              <a:tblGrid>
                <a:gridCol w="12192004">
                  <a:extLst>
                    <a:ext uri="{9D8B030D-6E8A-4147-A177-3AD203B41FA5}">
                      <a16:colId xmlns:a16="http://schemas.microsoft.com/office/drawing/2014/main" val="139066360"/>
                    </a:ext>
                  </a:extLst>
                </a:gridCol>
              </a:tblGrid>
              <a:tr h="126969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dirty="0" smtClean="0"/>
                        <a:t>Moins d'infrastructure IT nécessaire</a:t>
                      </a:r>
                    </a:p>
                    <a:p>
                      <a:pPr algn="ctr"/>
                      <a:endParaRPr lang="fr-FR" sz="1000" dirty="0"/>
                    </a:p>
                  </a:txBody>
                  <a:tcPr anchor="ctr"/>
                </a:tc>
                <a:extLst>
                  <a:ext uri="{0D108BD9-81ED-4DB2-BD59-A6C34878D82A}">
                    <a16:rowId xmlns:a16="http://schemas.microsoft.com/office/drawing/2014/main" val="1589042702"/>
                  </a:ext>
                </a:extLst>
              </a:tr>
              <a:tr h="1675036">
                <a:tc>
                  <a:txBody>
                    <a:bodyPr/>
                    <a:lstStyle/>
                    <a:p>
                      <a:pPr algn="l" fontAlgn="ctr"/>
                      <a:r>
                        <a:rPr lang="fr-FR" sz="1000" b="0" i="0" u="none" strike="noStrike" dirty="0">
                          <a:solidFill>
                            <a:srgbClr val="000000"/>
                          </a:solidFill>
                          <a:effectLst/>
                          <a:latin typeface="Calibri" panose="020F0502020204030204" pitchFamily="34" charset="0"/>
                          <a:hlinkClick r:id="rId4" action="ppaction://hlinksldjump"/>
                        </a:rPr>
                        <a:t>Adapter la quantité de ressources IT utilisées en fonction de la consommation du service</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373209409"/>
                  </a:ext>
                </a:extLst>
              </a:tr>
              <a:tr h="16750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0" i="0" u="none" strike="noStrike" dirty="0" smtClean="0">
                          <a:solidFill>
                            <a:srgbClr val="000000"/>
                          </a:solidFill>
                          <a:effectLst/>
                          <a:latin typeface="Calibri" panose="020F0502020204030204" pitchFamily="34" charset="0"/>
                          <a:hlinkClick r:id="rId5" action="ppaction://hlinksldjump"/>
                        </a:rPr>
                        <a:t>Adapter la qualité de service et le niveau de disponibilité</a:t>
                      </a:r>
                      <a:endParaRPr lang="fr-FR" sz="1000" b="0" i="0" u="none" strike="noStrike" dirty="0" smtClean="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264369154"/>
                  </a:ext>
                </a:extLst>
              </a:tr>
            </a:tbl>
          </a:graphicData>
        </a:graphic>
      </p:graphicFrame>
    </p:spTree>
    <p:extLst>
      <p:ext uri="{BB962C8B-B14F-4D97-AF65-F5344CB8AC3E}">
        <p14:creationId xmlns:p14="http://schemas.microsoft.com/office/powerpoint/2010/main" val="6611892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smtClean="0">
                <a:solidFill>
                  <a:schemeClr val="bg1"/>
                </a:solidFill>
              </a:rPr>
              <a:t>Architecture AF</a:t>
            </a:r>
            <a:endParaRPr lang="fr-FR" sz="3600" b="1" dirty="0">
              <a:solidFill>
                <a:schemeClr val="bg1"/>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6" name="Tableau 5"/>
          <p:cNvGraphicFramePr>
            <a:graphicFrameLocks noGrp="1"/>
          </p:cNvGraphicFramePr>
          <p:nvPr>
            <p:extLst>
              <p:ext uri="{D42A27DB-BD31-4B8C-83A1-F6EECF244321}">
                <p14:modId xmlns:p14="http://schemas.microsoft.com/office/powerpoint/2010/main" val="341273982"/>
              </p:ext>
            </p:extLst>
          </p:nvPr>
        </p:nvGraphicFramePr>
        <p:xfrm>
          <a:off x="-4" y="1468518"/>
          <a:ext cx="12145708" cy="4619766"/>
        </p:xfrm>
        <a:graphic>
          <a:graphicData uri="http://schemas.openxmlformats.org/drawingml/2006/table">
            <a:tbl>
              <a:tblPr firstRow="1" bandRow="1">
                <a:tableStyleId>{5C22544A-7EE6-4342-B048-85BDC9FD1C3A}</a:tableStyleId>
              </a:tblPr>
              <a:tblGrid>
                <a:gridCol w="3036427">
                  <a:extLst>
                    <a:ext uri="{9D8B030D-6E8A-4147-A177-3AD203B41FA5}">
                      <a16:colId xmlns:a16="http://schemas.microsoft.com/office/drawing/2014/main" val="3121503248"/>
                    </a:ext>
                  </a:extLst>
                </a:gridCol>
                <a:gridCol w="3036427">
                  <a:extLst>
                    <a:ext uri="{9D8B030D-6E8A-4147-A177-3AD203B41FA5}">
                      <a16:colId xmlns:a16="http://schemas.microsoft.com/office/drawing/2014/main" val="2706557305"/>
                    </a:ext>
                  </a:extLst>
                </a:gridCol>
                <a:gridCol w="3036427">
                  <a:extLst>
                    <a:ext uri="{9D8B030D-6E8A-4147-A177-3AD203B41FA5}">
                      <a16:colId xmlns:a16="http://schemas.microsoft.com/office/drawing/2014/main" val="3960840038"/>
                    </a:ext>
                  </a:extLst>
                </a:gridCol>
                <a:gridCol w="3036427">
                  <a:extLst>
                    <a:ext uri="{9D8B030D-6E8A-4147-A177-3AD203B41FA5}">
                      <a16:colId xmlns:a16="http://schemas.microsoft.com/office/drawing/2014/main" val="139066360"/>
                    </a:ext>
                  </a:extLst>
                </a:gridCol>
              </a:tblGrid>
              <a:tr h="818143">
                <a:tc>
                  <a:txBody>
                    <a:bodyPr/>
                    <a:lstStyle/>
                    <a:p>
                      <a:pPr algn="ctr"/>
                      <a:r>
                        <a:rPr lang="fr-FR" sz="1000" dirty="0" smtClean="0"/>
                        <a:t>Service numérique utilisable</a:t>
                      </a:r>
                    </a:p>
                  </a:txBody>
                  <a:tcPr anchor="ctr"/>
                </a:tc>
                <a:tc>
                  <a:txBody>
                    <a:bodyPr/>
                    <a:lstStyle/>
                    <a:p>
                      <a:pPr algn="ctr"/>
                      <a:r>
                        <a:rPr lang="fr-FR" sz="1000" dirty="0" smtClean="0"/>
                        <a:t>Réduire la consommation de ressources : Optimisation de l'Expérience et de l'Interface Utilisateur </a:t>
                      </a:r>
                      <a:endParaRPr lang="fr-FR" sz="1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dirty="0" smtClean="0"/>
                        <a:t>Réduire la consommation de ressources : La solution intègre des pratiques d'écoconception</a:t>
                      </a:r>
                    </a:p>
                    <a:p>
                      <a:pPr algn="ctr"/>
                      <a:endParaRPr lang="fr-FR" sz="1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dirty="0" smtClean="0"/>
                        <a:t>Moins d'infrastructure IT nécessaire</a:t>
                      </a:r>
                    </a:p>
                    <a:p>
                      <a:pPr algn="ctr"/>
                      <a:endParaRPr lang="fr-FR" sz="1000" dirty="0"/>
                    </a:p>
                  </a:txBody>
                  <a:tcPr anchor="ctr"/>
                </a:tc>
                <a:extLst>
                  <a:ext uri="{0D108BD9-81ED-4DB2-BD59-A6C34878D82A}">
                    <a16:rowId xmlns:a16="http://schemas.microsoft.com/office/drawing/2014/main" val="1589042702"/>
                  </a:ext>
                </a:extLst>
              </a:tr>
              <a:tr h="807015">
                <a:tc>
                  <a:txBody>
                    <a:bodyPr/>
                    <a:lstStyle/>
                    <a:p>
                      <a:pPr algn="ctr" fontAlgn="ctr"/>
                      <a:r>
                        <a:rPr lang="fr-FR" sz="1000" b="0" i="0" u="none" strike="noStrike" dirty="0">
                          <a:solidFill>
                            <a:srgbClr val="000000"/>
                          </a:solidFill>
                          <a:effectLst/>
                          <a:latin typeface="Calibri" panose="020F0502020204030204" pitchFamily="34" charset="0"/>
                          <a:hlinkClick r:id="rId4" action="ppaction://hlinksldjump"/>
                        </a:rPr>
                        <a:t>Définir la liste des profils de matériels que les utilisateurs vont pouvoir employer pour accéder au service.</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000" b="0" i="0" u="none" strike="noStrike" dirty="0">
                          <a:solidFill>
                            <a:srgbClr val="FF0000"/>
                          </a:solidFill>
                          <a:effectLst/>
                          <a:latin typeface="Calibri" panose="020F0502020204030204" pitchFamily="34" charset="0"/>
                          <a:hlinkClick r:id="rId5" action="ppaction://hlinksldjump"/>
                        </a:rPr>
                        <a:t>Limiter les analyses </a:t>
                      </a:r>
                      <a:r>
                        <a:rPr lang="fr-FR" sz="1000" b="0" i="0" u="none" strike="noStrike" dirty="0">
                          <a:solidFill>
                            <a:srgbClr val="000000"/>
                          </a:solidFill>
                          <a:effectLst/>
                          <a:latin typeface="Calibri" panose="020F0502020204030204" pitchFamily="34" charset="0"/>
                          <a:hlinkClick r:id="rId5" action="ppaction://hlinksldjump"/>
                        </a:rPr>
                        <a:t>statistiques et données récoltées avec les outils de </a:t>
                      </a:r>
                      <a:r>
                        <a:rPr lang="fr-FR" sz="1000" b="0" i="0" u="none" strike="noStrike" dirty="0" err="1">
                          <a:solidFill>
                            <a:srgbClr val="000000"/>
                          </a:solidFill>
                          <a:effectLst/>
                          <a:latin typeface="Calibri" panose="020F0502020204030204" pitchFamily="34" charset="0"/>
                          <a:hlinkClick r:id="rId5" action="ppaction://hlinksldjump"/>
                        </a:rPr>
                        <a:t>tracking</a:t>
                      </a:r>
                      <a:r>
                        <a:rPr lang="fr-FR" sz="1000" b="0" i="0" u="none" strike="noStrike" dirty="0">
                          <a:solidFill>
                            <a:srgbClr val="000000"/>
                          </a:solidFill>
                          <a:effectLst/>
                          <a:latin typeface="Calibri" panose="020F0502020204030204" pitchFamily="34" charset="0"/>
                          <a:hlinkClick r:id="rId5" action="ppaction://hlinksldjump"/>
                        </a:rPr>
                        <a:t> Ex : utilisation du mobile vs Desktop.</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0" i="0" u="none" strike="noStrike" dirty="0" smtClean="0">
                          <a:solidFill>
                            <a:srgbClr val="000000"/>
                          </a:solidFill>
                          <a:effectLst/>
                          <a:latin typeface="Calibri" panose="020F0502020204030204" pitchFamily="34" charset="0"/>
                          <a:hlinkClick r:id="rId6" action="ppaction://hlinksldjump"/>
                        </a:rPr>
                        <a:t>Ne charger des données/du code que lorsqu'elles sont/il est nécessaire.</a:t>
                      </a:r>
                      <a:endParaRPr lang="fr-FR" sz="1000" b="0" i="0" u="none" strike="noStrike" dirty="0" smtClean="0">
                        <a:solidFill>
                          <a:srgbClr val="000000"/>
                        </a:solidFill>
                        <a:effectLst/>
                        <a:latin typeface="Calibri" panose="020F0502020204030204" pitchFamily="34" charset="0"/>
                      </a:endParaRP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smtClean="0">
                          <a:solidFill>
                            <a:srgbClr val="000000"/>
                          </a:solidFill>
                          <a:effectLst/>
                          <a:latin typeface="Calibri" panose="020F0502020204030204" pitchFamily="34" charset="0"/>
                          <a:hlinkClick r:id="rId7" action="ppaction://hlinksldjump"/>
                        </a:rPr>
                        <a:t>Héberger de façon distincte les données “chaudes” et “froides”.</a:t>
                      </a:r>
                      <a:endParaRPr lang="fr-FR" sz="1000" b="0" i="0" u="none" strike="noStrike" dirty="0" smtClean="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721339208"/>
                  </a:ext>
                </a:extLst>
              </a:tr>
              <a:tr h="933728">
                <a:tc>
                  <a:txBody>
                    <a:bodyPr/>
                    <a:lstStyle/>
                    <a:p>
                      <a:pPr algn="ctr" fontAlgn="ctr"/>
                      <a:r>
                        <a:rPr lang="fr-FR" sz="1000" b="0" i="0" u="none" strike="noStrike" dirty="0">
                          <a:solidFill>
                            <a:srgbClr val="000000"/>
                          </a:solidFill>
                          <a:effectLst/>
                          <a:latin typeface="Calibri" panose="020F0502020204030204" pitchFamily="34" charset="0"/>
                          <a:hlinkClick r:id="rId8" action="ppaction://hlinksldjump"/>
                        </a:rPr>
                        <a:t>Utilisable sur d’anciens modèles de terminaux</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dirty="0"/>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000" b="0" i="0" u="none" strike="noStrike" dirty="0" smtClean="0">
                          <a:solidFill>
                            <a:srgbClr val="000000"/>
                          </a:solidFill>
                          <a:effectLst/>
                          <a:latin typeface="Calibri" panose="020F0502020204030204" pitchFamily="34" charset="0"/>
                          <a:hlinkClick r:id="rId9" action="ppaction://hlinksldjump"/>
                        </a:rPr>
                        <a:t>Privilégier la déduplication des données.</a:t>
                      </a:r>
                      <a:endParaRPr lang="fr-FR" sz="1000" b="0" i="0" u="none" strike="noStrike" dirty="0" smtClean="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373209409"/>
                  </a:ext>
                </a:extLst>
              </a:tr>
              <a:tr h="933728">
                <a:tc>
                  <a:txBody>
                    <a:bodyPr/>
                    <a:lstStyle/>
                    <a:p>
                      <a:pPr algn="ctr" fontAlgn="ctr"/>
                      <a:r>
                        <a:rPr lang="fr-FR" sz="1000" b="0" i="0" u="none" strike="noStrike" dirty="0">
                          <a:solidFill>
                            <a:srgbClr val="000000"/>
                          </a:solidFill>
                          <a:effectLst/>
                          <a:latin typeface="Calibri" panose="020F0502020204030204" pitchFamily="34" charset="0"/>
                          <a:hlinkClick r:id="rId10" action="ppaction://hlinksldjump"/>
                        </a:rPr>
                        <a:t>S’adapter à différents types de terminaux d’affichage</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dirty="0"/>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0" i="0" u="none" strike="noStrike" dirty="0" smtClean="0">
                          <a:solidFill>
                            <a:srgbClr val="000000"/>
                          </a:solidFill>
                          <a:effectLst/>
                          <a:latin typeface="Calibri" panose="020F0502020204030204" pitchFamily="34" charset="0"/>
                          <a:hlinkClick r:id="rId11" action="ppaction://hlinksldjump"/>
                        </a:rPr>
                        <a:t>Archiver ou supprimer les données et documents après expiration de leur durée de conservation.</a:t>
                      </a:r>
                      <a:endParaRPr lang="fr-FR" sz="1000" b="0" i="0" u="none" strike="noStrike" dirty="0" smtClean="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264369154"/>
                  </a:ext>
                </a:extLst>
              </a:tr>
              <a:tr h="1127152">
                <a:tc>
                  <a:txBody>
                    <a:bodyPr/>
                    <a:lstStyle/>
                    <a:p>
                      <a:pPr algn="ctr" fontAlgn="ctr"/>
                      <a:r>
                        <a:rPr lang="fr-FR" sz="1000" b="0" i="0" u="none" strike="noStrike" dirty="0">
                          <a:solidFill>
                            <a:srgbClr val="000000"/>
                          </a:solidFill>
                          <a:effectLst/>
                          <a:latin typeface="Calibri" panose="020F0502020204030204" pitchFamily="34" charset="0"/>
                          <a:hlinkClick r:id="rId12" action="ppaction://hlinksldjump"/>
                        </a:rPr>
                        <a:t>Utilisable via une connexion bas débit ou hors connexion</a:t>
                      </a: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dirty="0"/>
                    </a:p>
                  </a:txBody>
                  <a:tcPr marL="6350" marR="6350" marT="6350" marB="0" anchor="ctr"/>
                </a:tc>
                <a:tc>
                  <a:txBody>
                    <a:bodyPr/>
                    <a:lstStyle/>
                    <a:p>
                      <a:endParaRPr lang="fr-FR" dirty="0"/>
                    </a:p>
                  </a:txBody>
                  <a:tcPr marL="6350" marR="6350" marT="6350" marB="0" anchor="ctr"/>
                </a:tc>
                <a:extLst>
                  <a:ext uri="{0D108BD9-81ED-4DB2-BD59-A6C34878D82A}">
                    <a16:rowId xmlns:a16="http://schemas.microsoft.com/office/drawing/2014/main" val="2635894025"/>
                  </a:ext>
                </a:extLst>
              </a:tr>
            </a:tbl>
          </a:graphicData>
        </a:graphic>
      </p:graphicFrame>
    </p:spTree>
    <p:extLst>
      <p:ext uri="{BB962C8B-B14F-4D97-AF65-F5344CB8AC3E}">
        <p14:creationId xmlns:p14="http://schemas.microsoft.com/office/powerpoint/2010/main" val="269696381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a:solidFill>
                  <a:schemeClr val="bg1"/>
                </a:solidFill>
              </a:rPr>
              <a:t>Documents et outils associés</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7" name="ZoneTexte 6"/>
          <p:cNvSpPr txBox="1"/>
          <p:nvPr/>
        </p:nvSpPr>
        <p:spPr>
          <a:xfrm>
            <a:off x="44605" y="1325563"/>
            <a:ext cx="12101099" cy="2031325"/>
          </a:xfrm>
          <a:prstGeom prst="rect">
            <a:avLst/>
          </a:prstGeom>
          <a:noFill/>
        </p:spPr>
        <p:txBody>
          <a:bodyPr wrap="square" rtlCol="0">
            <a:spAutoFit/>
          </a:bodyPr>
          <a:lstStyle/>
          <a:p>
            <a:pPr marL="285750" lvl="0" indent="-285750" eaLnBrk="0" fontAlgn="base" hangingPunct="0">
              <a:spcBef>
                <a:spcPct val="0"/>
              </a:spcBef>
              <a:spcAft>
                <a:spcPct val="0"/>
              </a:spcAft>
              <a:buFont typeface="Arial" panose="020B0604020202020204" pitchFamily="34" charset="0"/>
              <a:buChar char="•"/>
            </a:pPr>
            <a:r>
              <a:rPr lang="fr-FR" altLang="fr-FR" b="1" dirty="0" smtClean="0">
                <a:latin typeface="Arial" panose="020B0604020202020204" pitchFamily="34" charset="0"/>
              </a:rPr>
              <a:t>Document </a:t>
            </a:r>
            <a:r>
              <a:rPr lang="fr-FR" altLang="fr-FR" b="1" dirty="0">
                <a:latin typeface="Arial" panose="020B0604020202020204" pitchFamily="34" charset="0"/>
              </a:rPr>
              <a:t>d’architecture technique</a:t>
            </a:r>
            <a:r>
              <a:rPr lang="fr-FR" altLang="fr-FR" dirty="0">
                <a:latin typeface="Arial" panose="020B0604020202020204" pitchFamily="34" charset="0"/>
              </a:rPr>
              <a:t>: on pourrait intégrer des choix techniques respectueux de l'environnement, comme le choix de technologies moins énergivores, de langages de programmation plus optimisés, ou encore des solutions d'optimisation de la gestion des données</a:t>
            </a:r>
            <a:r>
              <a:rPr lang="fr-FR" altLang="fr-FR" dirty="0" smtClean="0">
                <a:latin typeface="Arial" panose="020B0604020202020204" pitchFamily="34" charset="0"/>
              </a:rPr>
              <a:t>.</a:t>
            </a:r>
          </a:p>
          <a:p>
            <a:pPr lvl="0" eaLnBrk="0" fontAlgn="base" hangingPunct="0">
              <a:spcBef>
                <a:spcPct val="0"/>
              </a:spcBef>
              <a:spcAft>
                <a:spcPct val="0"/>
              </a:spcAft>
            </a:pPr>
            <a:endParaRPr lang="fr-FR" dirty="0" smtClean="0"/>
          </a:p>
          <a:p>
            <a:pPr marL="285750" lvl="0" indent="-285750" eaLnBrk="0" fontAlgn="base" hangingPunct="0">
              <a:spcBef>
                <a:spcPct val="0"/>
              </a:spcBef>
              <a:spcAft>
                <a:spcPct val="0"/>
              </a:spcAft>
              <a:buFont typeface="Arial" panose="020B0604020202020204" pitchFamily="34" charset="0"/>
              <a:buChar char="•"/>
            </a:pPr>
            <a:r>
              <a:rPr lang="fr-FR" b="1" dirty="0"/>
              <a:t>Catalogue technologique de la CNAM côté </a:t>
            </a:r>
            <a:r>
              <a:rPr lang="fr-FR" b="1" dirty="0" smtClean="0"/>
              <a:t>serveur</a:t>
            </a:r>
          </a:p>
          <a:p>
            <a:pPr marL="285750" lvl="0" indent="-285750" eaLnBrk="0" fontAlgn="base" hangingPunct="0">
              <a:spcBef>
                <a:spcPct val="0"/>
              </a:spcBef>
              <a:spcAft>
                <a:spcPct val="0"/>
              </a:spcAft>
              <a:buFont typeface="Arial" panose="020B0604020202020204" pitchFamily="34" charset="0"/>
              <a:buChar char="•"/>
            </a:pPr>
            <a:endParaRPr lang="fr-FR" dirty="0"/>
          </a:p>
          <a:p>
            <a:pPr marL="285750" lvl="0" indent="-285750" eaLnBrk="0" fontAlgn="base" hangingPunct="0">
              <a:spcBef>
                <a:spcPct val="0"/>
              </a:spcBef>
              <a:spcAft>
                <a:spcPct val="0"/>
              </a:spcAft>
              <a:buFont typeface="Arial" panose="020B0604020202020204" pitchFamily="34" charset="0"/>
              <a:buChar char="•"/>
            </a:pPr>
            <a:r>
              <a:rPr lang="fr-FR" b="1" dirty="0"/>
              <a:t>L</a:t>
            </a:r>
            <a:r>
              <a:rPr lang="fr-FR" b="1" dirty="0" smtClean="0"/>
              <a:t>iste </a:t>
            </a:r>
            <a:r>
              <a:rPr lang="fr-FR" b="1" dirty="0"/>
              <a:t>de matériel utilisable par les utilisateurs finaux</a:t>
            </a:r>
          </a:p>
        </p:txBody>
      </p:sp>
    </p:spTree>
    <p:extLst>
      <p:ext uri="{BB962C8B-B14F-4D97-AF65-F5344CB8AC3E}">
        <p14:creationId xmlns:p14="http://schemas.microsoft.com/office/powerpoint/2010/main" val="359707795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a:bodyPr>
          <a:lstStyle/>
          <a:p>
            <a:pPr lvl="0"/>
            <a:r>
              <a:rPr lang="fr-FR" sz="3200" dirty="0">
                <a:solidFill>
                  <a:prstClr val="white"/>
                </a:solidFill>
              </a:rPr>
              <a:t>Bonnes pratiques par phase métier :</a:t>
            </a:r>
          </a:p>
          <a:p>
            <a:r>
              <a:rPr lang="fr-FR" sz="4400" dirty="0" err="1" smtClean="0"/>
              <a:t>Spec</a:t>
            </a:r>
            <a:r>
              <a:rPr lang="fr-FR" sz="4400" dirty="0" smtClean="0"/>
              <a:t> </a:t>
            </a:r>
            <a:r>
              <a:rPr lang="fr-FR" sz="4400" dirty="0"/>
              <a:t>Conception et Design</a:t>
            </a:r>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3778693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err="1" smtClean="0">
                <a:solidFill>
                  <a:schemeClr val="bg1"/>
                </a:solidFill>
              </a:rPr>
              <a:t>Spec</a:t>
            </a:r>
            <a:r>
              <a:rPr lang="fr-FR" sz="3600" b="1" dirty="0" smtClean="0">
                <a:solidFill>
                  <a:schemeClr val="bg1"/>
                </a:solidFill>
              </a:rPr>
              <a:t> </a:t>
            </a:r>
            <a:r>
              <a:rPr lang="fr-FR" sz="3600" b="1" dirty="0">
                <a:solidFill>
                  <a:schemeClr val="bg1"/>
                </a:solidFill>
              </a:rPr>
              <a:t>Conception et Design</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4" name="Tableau 3"/>
          <p:cNvGraphicFramePr>
            <a:graphicFrameLocks noGrp="1"/>
          </p:cNvGraphicFramePr>
          <p:nvPr>
            <p:extLst>
              <p:ext uri="{D42A27DB-BD31-4B8C-83A1-F6EECF244321}">
                <p14:modId xmlns:p14="http://schemas.microsoft.com/office/powerpoint/2010/main" val="1410882953"/>
              </p:ext>
            </p:extLst>
          </p:nvPr>
        </p:nvGraphicFramePr>
        <p:xfrm>
          <a:off x="0" y="1325558"/>
          <a:ext cx="12192000" cy="4861107"/>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761376910"/>
                    </a:ext>
                  </a:extLst>
                </a:gridCol>
                <a:gridCol w="4064000">
                  <a:extLst>
                    <a:ext uri="{9D8B030D-6E8A-4147-A177-3AD203B41FA5}">
                      <a16:colId xmlns:a16="http://schemas.microsoft.com/office/drawing/2014/main" val="503511487"/>
                    </a:ext>
                  </a:extLst>
                </a:gridCol>
                <a:gridCol w="4064000">
                  <a:extLst>
                    <a:ext uri="{9D8B030D-6E8A-4147-A177-3AD203B41FA5}">
                      <a16:colId xmlns:a16="http://schemas.microsoft.com/office/drawing/2014/main" val="2661709142"/>
                    </a:ext>
                  </a:extLst>
                </a:gridCol>
              </a:tblGrid>
              <a:tr h="816019">
                <a:tc>
                  <a:txBody>
                    <a:bodyPr/>
                    <a:lstStyle/>
                    <a:p>
                      <a:r>
                        <a:rPr lang="fr-FR" dirty="0" smtClean="0"/>
                        <a:t>Service numérique utilisable</a:t>
                      </a:r>
                    </a:p>
                  </a:txBody>
                  <a:tcPr/>
                </a:tc>
                <a:tc>
                  <a:txBody>
                    <a:bodyPr/>
                    <a:lstStyle/>
                    <a:p>
                      <a:r>
                        <a:rPr lang="fr-FR" dirty="0" smtClean="0"/>
                        <a:t>Réduire la consommation de ressources : La solution intègre des pratiques d'écoconception </a:t>
                      </a:r>
                      <a:endParaRPr lang="fr-FR" dirty="0"/>
                    </a:p>
                  </a:txBody>
                  <a:tcPr/>
                </a:tc>
                <a:tc>
                  <a:txBody>
                    <a:bodyPr/>
                    <a:lstStyle/>
                    <a:p>
                      <a:r>
                        <a:rPr lang="fr-FR" dirty="0" smtClean="0"/>
                        <a:t>Moins d'infrastructure IT nécessaire</a:t>
                      </a:r>
                    </a:p>
                  </a:txBody>
                  <a:tcPr/>
                </a:tc>
                <a:extLst>
                  <a:ext uri="{0D108BD9-81ED-4DB2-BD59-A6C34878D82A}">
                    <a16:rowId xmlns:a16="http://schemas.microsoft.com/office/drawing/2014/main" val="3217568030"/>
                  </a:ext>
                </a:extLst>
              </a:tr>
              <a:tr h="3946707">
                <a:tc>
                  <a:txBody>
                    <a:bodyPr/>
                    <a:lstStyle/>
                    <a:p>
                      <a:r>
                        <a:rPr lang="fr-FR" dirty="0" smtClean="0">
                          <a:hlinkClick r:id="rId4" action="ppaction://hlinksldjump"/>
                        </a:rPr>
                        <a:t>Utilisable sur d’anciennes versions de système d’exploitation et de navigateurs web </a:t>
                      </a:r>
                      <a:endParaRPr lang="fr-FR" dirty="0" smtClean="0"/>
                    </a:p>
                  </a:txBody>
                  <a:tcPr/>
                </a:tc>
                <a:tc>
                  <a:txBody>
                    <a:bodyPr/>
                    <a:lstStyle/>
                    <a:p>
                      <a:r>
                        <a:rPr lang="fr-FR" dirty="0" smtClean="0">
                          <a:hlinkClick r:id="rId5" action="ppaction://hlinksldjump"/>
                        </a:rPr>
                        <a:t>Héberger les ressources statiques dont on est l’émetteur sur un même domaine.</a:t>
                      </a:r>
                      <a:endParaRPr lang="fr-FR" dirty="0" smtClean="0"/>
                    </a:p>
                  </a:txBody>
                  <a:tcPr/>
                </a:tc>
                <a:tc>
                  <a:txBody>
                    <a:bodyPr/>
                    <a:lstStyle/>
                    <a:p>
                      <a:r>
                        <a:rPr lang="fr-FR" dirty="0" smtClean="0">
                          <a:hlinkClick r:id="rId6" action="ppaction://hlinksldjump"/>
                        </a:rPr>
                        <a:t>Mettre en place une stratégie d’archivage et de suppression, automatique ou manuelle, des contenus obsolètes ou périmés</a:t>
                      </a:r>
                      <a:endParaRPr lang="fr-FR" dirty="0" smtClean="0"/>
                    </a:p>
                  </a:txBody>
                  <a:tcPr/>
                </a:tc>
                <a:extLst>
                  <a:ext uri="{0D108BD9-81ED-4DB2-BD59-A6C34878D82A}">
                    <a16:rowId xmlns:a16="http://schemas.microsoft.com/office/drawing/2014/main" val="3297584107"/>
                  </a:ext>
                </a:extLst>
              </a:tr>
            </a:tbl>
          </a:graphicData>
        </a:graphic>
      </p:graphicFrame>
    </p:spTree>
    <p:extLst>
      <p:ext uri="{BB962C8B-B14F-4D97-AF65-F5344CB8AC3E}">
        <p14:creationId xmlns:p14="http://schemas.microsoft.com/office/powerpoint/2010/main" val="366882005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err="1" smtClean="0">
                <a:solidFill>
                  <a:schemeClr val="bg1"/>
                </a:solidFill>
              </a:rPr>
              <a:t>Spec</a:t>
            </a:r>
            <a:r>
              <a:rPr lang="fr-FR" sz="3600" b="1" dirty="0" smtClean="0">
                <a:solidFill>
                  <a:schemeClr val="bg1"/>
                </a:solidFill>
              </a:rPr>
              <a:t> </a:t>
            </a:r>
            <a:r>
              <a:rPr lang="fr-FR" sz="3600" b="1" dirty="0">
                <a:solidFill>
                  <a:schemeClr val="bg1"/>
                </a:solidFill>
              </a:rPr>
              <a:t>Conception et Design</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3" name="Tableau 2"/>
          <p:cNvGraphicFramePr>
            <a:graphicFrameLocks noGrp="1"/>
          </p:cNvGraphicFramePr>
          <p:nvPr>
            <p:extLst>
              <p:ext uri="{D42A27DB-BD31-4B8C-83A1-F6EECF244321}">
                <p14:modId xmlns:p14="http://schemas.microsoft.com/office/powerpoint/2010/main" val="2944921783"/>
              </p:ext>
            </p:extLst>
          </p:nvPr>
        </p:nvGraphicFramePr>
        <p:xfrm>
          <a:off x="0" y="1325564"/>
          <a:ext cx="12192000" cy="5043028"/>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4039753988"/>
                    </a:ext>
                  </a:extLst>
                </a:gridCol>
              </a:tblGrid>
              <a:tr h="271900">
                <a:tc>
                  <a:txBody>
                    <a:bodyPr/>
                    <a:lstStyle/>
                    <a:p>
                      <a:pPr algn="ctr"/>
                      <a:r>
                        <a:rPr lang="fr-FR" sz="1000" dirty="0" smtClean="0"/>
                        <a:t>Réduire la consommation de ressources : Optimisation de l'Expérience et de l'Interface Utilisateur </a:t>
                      </a:r>
                    </a:p>
                  </a:txBody>
                  <a:tcPr/>
                </a:tc>
                <a:extLst>
                  <a:ext uri="{0D108BD9-81ED-4DB2-BD59-A6C34878D82A}">
                    <a16:rowId xmlns:a16="http://schemas.microsoft.com/office/drawing/2014/main" val="1623471868"/>
                  </a:ext>
                </a:extLst>
              </a:tr>
              <a:tr h="180328">
                <a:tc>
                  <a:txBody>
                    <a:bodyPr/>
                    <a:lstStyle/>
                    <a:p>
                      <a:pPr algn="ctr" fontAlgn="ctr"/>
                      <a:r>
                        <a:rPr lang="fr-FR" sz="1000" b="0" i="0" u="none" strike="noStrike" dirty="0">
                          <a:solidFill>
                            <a:srgbClr val="000000"/>
                          </a:solidFill>
                          <a:effectLst/>
                          <a:latin typeface="Calibri" panose="020F0502020204030204" pitchFamily="34" charset="0"/>
                          <a:hlinkClick r:id="rId4" action="ppaction://hlinksldjump"/>
                        </a:rPr>
                        <a:t>Utiliser majoritairement des composants fonctionnels </a:t>
                      </a:r>
                      <a:r>
                        <a:rPr lang="fr-FR" sz="1000" b="0" i="0" u="none" strike="noStrike" dirty="0" smtClean="0">
                          <a:solidFill>
                            <a:srgbClr val="000000"/>
                          </a:solidFill>
                          <a:effectLst/>
                          <a:latin typeface="Calibri" panose="020F0502020204030204" pitchFamily="34" charset="0"/>
                          <a:hlinkClick r:id="rId4" action="ppaction://hlinksldjump"/>
                        </a:rPr>
                        <a:t>natifs.</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4050833211"/>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5" action="ppaction://hlinksldjump"/>
                        </a:rPr>
                        <a:t>Lecture des animations, vidéos et sons automatique désactivée.</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109643527"/>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6" action="ppaction://hlinksldjump"/>
                        </a:rPr>
                        <a:t>Utiliser uniquement du contenu vidéo, audio et animé porteur d’informations</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565318952"/>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7" action="ppaction://hlinksldjump"/>
                        </a:rPr>
                        <a:t>Opter pour les choix les plus sobres entre le texte, l’image, l’audio ou la vidéo, selon les besoins utilisateurs </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889115280"/>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8" action="ppaction://hlinksldjump"/>
                        </a:rPr>
                        <a:t>Utiliser un format de fichier adapté au contenu et au contexte de visualisation de chaque image</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276391849"/>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9" action="ppaction://hlinksldjump"/>
                        </a:rPr>
                        <a:t>Proposer des images dont le niveau de compression est adapté au contenu et au contexte de visualisation</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812834372"/>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10" action="ppaction://hlinksldjump"/>
                        </a:rPr>
                        <a:t>Utiliser pour chaque vidéo, une définition adaptée au contenu et au contexte de visualisation</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024078253"/>
                  </a:ext>
                </a:extLst>
              </a:tr>
              <a:tr h="210960">
                <a:tc>
                  <a:txBody>
                    <a:bodyPr/>
                    <a:lstStyle/>
                    <a:p>
                      <a:pPr algn="ctr" fontAlgn="ctr"/>
                      <a:r>
                        <a:rPr lang="fr-FR" sz="1000" b="0" i="0" u="none" strike="noStrike" dirty="0">
                          <a:solidFill>
                            <a:srgbClr val="000000"/>
                          </a:solidFill>
                          <a:effectLst/>
                          <a:latin typeface="Calibri" panose="020F0502020204030204" pitchFamily="34" charset="0"/>
                          <a:hlinkClick r:id="rId11" action="ppaction://hlinksldjump"/>
                        </a:rPr>
                        <a:t>Proposer des vidéos dont le mode de compression est efficace et adapté au contenu et au contexte de visualisation</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4262808689"/>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12" action="ppaction://hlinksldjump"/>
                        </a:rPr>
                        <a:t>Proposer un mode « écoute seule » pour ses vidéos</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599186717"/>
                  </a:ext>
                </a:extLst>
              </a:tr>
              <a:tr h="210960">
                <a:tc>
                  <a:txBody>
                    <a:bodyPr/>
                    <a:lstStyle/>
                    <a:p>
                      <a:pPr algn="ctr" fontAlgn="ctr"/>
                      <a:r>
                        <a:rPr lang="fr-FR" sz="1000" b="0" i="0" u="none" strike="noStrike" dirty="0">
                          <a:solidFill>
                            <a:srgbClr val="000000"/>
                          </a:solidFill>
                          <a:effectLst/>
                          <a:latin typeface="Calibri" panose="020F0502020204030204" pitchFamily="34" charset="0"/>
                          <a:hlinkClick r:id="rId13" action="ppaction://hlinksldjump"/>
                        </a:rPr>
                        <a:t>Proposer des contenus </a:t>
                      </a:r>
                      <a:r>
                        <a:rPr lang="fr-FR" sz="1000" b="0" i="0" u="none" strike="noStrike" dirty="0" err="1">
                          <a:solidFill>
                            <a:srgbClr val="000000"/>
                          </a:solidFill>
                          <a:effectLst/>
                          <a:latin typeface="Calibri" panose="020F0502020204030204" pitchFamily="34" charset="0"/>
                          <a:hlinkClick r:id="rId13" action="ppaction://hlinksldjump"/>
                        </a:rPr>
                        <a:t>audios</a:t>
                      </a:r>
                      <a:r>
                        <a:rPr lang="fr-FR" sz="1000" b="0" i="0" u="none" strike="noStrike" dirty="0">
                          <a:solidFill>
                            <a:srgbClr val="000000"/>
                          </a:solidFill>
                          <a:effectLst/>
                          <a:latin typeface="Calibri" panose="020F0502020204030204" pitchFamily="34" charset="0"/>
                          <a:hlinkClick r:id="rId13" action="ppaction://hlinksldjump"/>
                        </a:rPr>
                        <a:t> dont le mode de compression est adapté au contenu et au contexte d’écoute </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468451534"/>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14" action="ppaction://hlinksldjump"/>
                        </a:rPr>
                        <a:t>Utiliser un format de fichier adapté au contenu et au pour chaque document.</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206286331"/>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15" action="ppaction://hlinksldjump"/>
                        </a:rPr>
                        <a:t>Prendre en compte les impacts environnementaux des composants d’interface prêts à l’emploi utilisés</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774741562"/>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16" action="ppaction://hlinksldjump"/>
                        </a:rPr>
                        <a:t>Découper les CSS.</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349856046"/>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17" action="ppaction://hlinksldjump"/>
                        </a:rPr>
                        <a:t>Préférer la pagination au défilement infini</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601171650"/>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18" action="ppaction://hlinksldjump"/>
                        </a:rPr>
                        <a:t>Limiter nombre des polices de caractères téléchargées</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983690949"/>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19" action="ppaction://hlinksldjump"/>
                        </a:rPr>
                        <a:t>Simplifier le parcours</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401432651"/>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20" action="ppaction://hlinksldjump"/>
                        </a:rPr>
                        <a:t>Permettre à l’utilisateur d’activer ou non un service tiers. </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795310765"/>
                  </a:ext>
                </a:extLst>
              </a:tr>
              <a:tr h="210960">
                <a:tc>
                  <a:txBody>
                    <a:bodyPr/>
                    <a:lstStyle/>
                    <a:p>
                      <a:pPr algn="ctr" fontAlgn="ctr"/>
                      <a:r>
                        <a:rPr lang="fr-FR" sz="1000" b="0" i="0" u="none" strike="noStrike" dirty="0">
                          <a:solidFill>
                            <a:srgbClr val="000000"/>
                          </a:solidFill>
                          <a:effectLst/>
                          <a:latin typeface="Calibri" panose="020F0502020204030204" pitchFamily="34" charset="0"/>
                          <a:hlinkClick r:id="rId21" action="ppaction://hlinksldjump"/>
                        </a:rPr>
                        <a:t>Proposer des notifications uniquement lorsqu’elles sont nécessaires et permettre à l’utilisateur de contrôler celles qu’il reçoit. </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107823320"/>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22" action="ppaction://hlinksldjump"/>
                        </a:rPr>
                        <a:t>Eviter le recours à des procédés manipulatoires dans son interface utilisateur</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248139162"/>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23" action="ppaction://hlinksldjump"/>
                        </a:rPr>
                        <a:t>Informer l’utilisateur du format de saisie attendu avant sa validation</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651663202"/>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24" action="ppaction://hlinksldjump"/>
                        </a:rPr>
                        <a:t>Informer l’utilisateur, avant le transfert, des poids et formats de fichier attendus</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611873332"/>
                  </a:ext>
                </a:extLst>
              </a:tr>
              <a:tr h="210960">
                <a:tc>
                  <a:txBody>
                    <a:bodyPr/>
                    <a:lstStyle/>
                    <a:p>
                      <a:pPr algn="ctr" fontAlgn="ctr"/>
                      <a:r>
                        <a:rPr lang="fr-FR" sz="1000" b="0" i="0" u="none" strike="noStrike" dirty="0">
                          <a:solidFill>
                            <a:srgbClr val="000000"/>
                          </a:solidFill>
                          <a:effectLst/>
                          <a:latin typeface="Calibri" panose="020F0502020204030204" pitchFamily="34" charset="0"/>
                          <a:hlinkClick r:id="rId25" action="ppaction://hlinksldjump"/>
                        </a:rPr>
                        <a:t>Fournir à l’utilisateur un moyen de contrôle sur ses contenus et ses services afin de réduire les impacts environnementaux</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601052848"/>
                  </a:ext>
                </a:extLst>
              </a:tr>
              <a:tr h="177018">
                <a:tc>
                  <a:txBody>
                    <a:bodyPr/>
                    <a:lstStyle/>
                    <a:p>
                      <a:pPr algn="ctr" fontAlgn="ctr"/>
                      <a:r>
                        <a:rPr lang="fr-FR" sz="1000" b="0" i="0" u="none" strike="noStrike" dirty="0">
                          <a:solidFill>
                            <a:srgbClr val="000000"/>
                          </a:solidFill>
                          <a:effectLst/>
                          <a:latin typeface="Calibri" panose="020F0502020204030204" pitchFamily="34" charset="0"/>
                          <a:hlinkClick r:id="rId26" action="ppaction://hlinksldjump"/>
                        </a:rPr>
                        <a:t>Optimiser le parcours utilisateur.</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506185583"/>
                  </a:ext>
                </a:extLst>
              </a:tr>
              <a:tr h="280318">
                <a:tc>
                  <a:txBody>
                    <a:bodyPr/>
                    <a:lstStyle/>
                    <a:p>
                      <a:pPr algn="ctr" fontAlgn="ctr"/>
                      <a:r>
                        <a:rPr lang="fr-FR" sz="1000" b="0" i="0" u="none" strike="noStrike" dirty="0">
                          <a:solidFill>
                            <a:srgbClr val="000000"/>
                          </a:solidFill>
                          <a:effectLst/>
                          <a:latin typeface="Calibri" panose="020F0502020204030204" pitchFamily="34" charset="0"/>
                          <a:hlinkClick r:id="rId27" action="ppaction://hlinksldjump"/>
                        </a:rPr>
                        <a:t>Les documents à télécharger sont proposés au téléchargement par un système de </a:t>
                      </a:r>
                      <a:r>
                        <a:rPr lang="fr-FR" sz="1000" b="0" i="0" u="none" strike="noStrike" dirty="0" err="1">
                          <a:solidFill>
                            <a:srgbClr val="000000"/>
                          </a:solidFill>
                          <a:effectLst/>
                          <a:latin typeface="Calibri" panose="020F0502020204030204" pitchFamily="34" charset="0"/>
                          <a:hlinkClick r:id="rId27" action="ppaction://hlinksldjump"/>
                        </a:rPr>
                        <a:t>chapitrage</a:t>
                      </a:r>
                      <a:r>
                        <a:rPr lang="fr-FR" sz="1000" b="0" i="0" u="none" strike="noStrike" dirty="0">
                          <a:solidFill>
                            <a:srgbClr val="000000"/>
                          </a:solidFill>
                          <a:effectLst/>
                          <a:latin typeface="Calibri" panose="020F0502020204030204" pitchFamily="34" charset="0"/>
                          <a:hlinkClick r:id="rId27" action="ppaction://hlinksldjump"/>
                        </a:rPr>
                        <a:t> ou de résumé afin d’éviter de télécharger la totalité d’un document.</a:t>
                      </a:r>
                      <a:endParaRPr lang="fr-FR" sz="10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400736448"/>
                  </a:ext>
                </a:extLst>
              </a:tr>
              <a:tr h="280318">
                <a:tc>
                  <a:txBody>
                    <a:bodyPr/>
                    <a:lstStyle/>
                    <a:p>
                      <a:pPr algn="ctr" fontAlgn="ctr"/>
                      <a:r>
                        <a:rPr lang="fr-FR" sz="1000" b="0" i="0" u="none" strike="noStrike" dirty="0" smtClean="0">
                          <a:solidFill>
                            <a:srgbClr val="000000"/>
                          </a:solidFill>
                          <a:effectLst/>
                          <a:latin typeface="Calibri" panose="020F0502020204030204" pitchFamily="34" charset="0"/>
                          <a:hlinkClick r:id="rId28" action="ppaction://hlinksldjump"/>
                        </a:rPr>
                        <a:t>Les informations collectées sur le formulaire sont limitées au strict minimum.</a:t>
                      </a:r>
                      <a:endParaRPr lang="fr-FR" sz="1000" b="0" i="0" u="none" strike="noStrike" dirty="0" smtClean="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598264262"/>
                  </a:ext>
                </a:extLst>
              </a:tr>
            </a:tbl>
          </a:graphicData>
        </a:graphic>
      </p:graphicFrame>
    </p:spTree>
    <p:extLst>
      <p:ext uri="{BB962C8B-B14F-4D97-AF65-F5344CB8AC3E}">
        <p14:creationId xmlns:p14="http://schemas.microsoft.com/office/powerpoint/2010/main" val="183609805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a:solidFill>
                  <a:schemeClr val="bg1"/>
                </a:solidFill>
              </a:rPr>
              <a:t>Documents et outils associés</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7" name="ZoneTexte 6"/>
          <p:cNvSpPr txBox="1"/>
          <p:nvPr/>
        </p:nvSpPr>
        <p:spPr>
          <a:xfrm>
            <a:off x="44605" y="1325563"/>
            <a:ext cx="12101099" cy="1754326"/>
          </a:xfrm>
          <a:prstGeom prst="rect">
            <a:avLst/>
          </a:prstGeom>
          <a:noFill/>
        </p:spPr>
        <p:txBody>
          <a:bodyPr wrap="square" rtlCol="0">
            <a:spAutoFit/>
          </a:bodyPr>
          <a:lstStyle/>
          <a:p>
            <a:pPr marL="285750" lvl="0" indent="-285750" eaLnBrk="0" fontAlgn="base" hangingPunct="0">
              <a:spcBef>
                <a:spcPct val="0"/>
              </a:spcBef>
              <a:spcAft>
                <a:spcPct val="0"/>
              </a:spcAft>
              <a:buFont typeface="Arial" panose="020B0604020202020204" pitchFamily="34" charset="0"/>
              <a:buChar char="•"/>
            </a:pPr>
            <a:r>
              <a:rPr lang="fr-FR" b="1" dirty="0" smtClean="0">
                <a:latin typeface="Arial" panose="020B0604020202020204" pitchFamily="34" charset="0"/>
                <a:cs typeface="Arial" panose="020B0604020202020204" pitchFamily="34" charset="0"/>
              </a:rPr>
              <a:t>Design </a:t>
            </a:r>
            <a:r>
              <a:rPr lang="fr-FR" b="1" dirty="0">
                <a:latin typeface="Arial" panose="020B0604020202020204" pitchFamily="34" charset="0"/>
                <a:cs typeface="Arial" panose="020B0604020202020204" pitchFamily="34" charset="0"/>
              </a:rPr>
              <a:t>System</a:t>
            </a:r>
            <a:r>
              <a:rPr lang="fr-FR" dirty="0">
                <a:latin typeface="Arial" panose="020B0604020202020204" pitchFamily="34" charset="0"/>
                <a:cs typeface="Arial" panose="020B0604020202020204" pitchFamily="34" charset="0"/>
              </a:rPr>
              <a:t> : </a:t>
            </a:r>
            <a:r>
              <a:rPr lang="fr-FR" dirty="0" smtClean="0">
                <a:latin typeface="Arial" panose="020B0604020202020204" pitchFamily="34" charset="0"/>
                <a:cs typeface="Arial" panose="020B0604020202020204" pitchFamily="34" charset="0"/>
              </a:rPr>
              <a:t>Dans </a:t>
            </a:r>
            <a:r>
              <a:rPr lang="fr-FR" dirty="0">
                <a:latin typeface="Arial" panose="020B0604020202020204" pitchFamily="34" charset="0"/>
                <a:cs typeface="Arial" panose="020B0604020202020204" pitchFamily="34" charset="0"/>
              </a:rPr>
              <a:t>un contexte d'écoconception, l’UX Designer pourrait inclure des lignes directrices visant à réduire la consommation d’énergie liée au </a:t>
            </a:r>
            <a:r>
              <a:rPr lang="fr-FR" dirty="0" smtClean="0">
                <a:latin typeface="Arial" panose="020B0604020202020204" pitchFamily="34" charset="0"/>
                <a:cs typeface="Arial" panose="020B0604020202020204" pitchFamily="34" charset="0"/>
              </a:rPr>
              <a:t>design.</a:t>
            </a:r>
          </a:p>
          <a:p>
            <a:pPr marL="285750" indent="-285750" eaLnBrk="0" fontAlgn="base" hangingPunct="0">
              <a:spcBef>
                <a:spcPct val="0"/>
              </a:spcBef>
              <a:spcAft>
                <a:spcPct val="0"/>
              </a:spcAft>
              <a:buFont typeface="Arial" panose="020B0604020202020204" pitchFamily="34" charset="0"/>
              <a:buChar char="•"/>
            </a:pPr>
            <a:r>
              <a:rPr lang="fr-FR" b="1" dirty="0" smtClean="0"/>
              <a:t>Starter kit </a:t>
            </a:r>
          </a:p>
          <a:p>
            <a:pPr marL="285750" indent="-285750" eaLnBrk="0" fontAlgn="base" hangingPunct="0">
              <a:spcBef>
                <a:spcPct val="0"/>
              </a:spcBef>
              <a:spcAft>
                <a:spcPct val="0"/>
              </a:spcAft>
              <a:buFont typeface="Arial" panose="020B0604020202020204" pitchFamily="34" charset="0"/>
              <a:buChar char="•"/>
            </a:pPr>
            <a:r>
              <a:rPr lang="fr-FR" b="1" dirty="0" smtClean="0"/>
              <a:t>Dossier de conception</a:t>
            </a:r>
          </a:p>
          <a:p>
            <a:pPr marL="285750" indent="-285750" eaLnBrk="0" fontAlgn="base" hangingPunct="0">
              <a:spcBef>
                <a:spcPct val="0"/>
              </a:spcBef>
              <a:spcAft>
                <a:spcPct val="0"/>
              </a:spcAft>
              <a:buFont typeface="Arial" panose="020B0604020202020204" pitchFamily="34" charset="0"/>
              <a:buChar char="•"/>
            </a:pPr>
            <a:r>
              <a:rPr lang="fr-FR" b="1" dirty="0" err="1" smtClean="0"/>
              <a:t>Ecocode</a:t>
            </a:r>
            <a:r>
              <a:rPr lang="fr-FR" dirty="0" smtClean="0"/>
              <a:t/>
            </a:r>
            <a:br>
              <a:rPr lang="fr-FR" dirty="0" smtClean="0"/>
            </a:br>
            <a:endParaRPr lang="fr-FR" dirty="0">
              <a:solidFill>
                <a:srgbClr val="000000"/>
              </a:solidFill>
              <a:latin typeface="Calibri" panose="020F0502020204030204" pitchFamily="34" charset="0"/>
            </a:endParaRPr>
          </a:p>
        </p:txBody>
      </p:sp>
      <p:graphicFrame>
        <p:nvGraphicFramePr>
          <p:cNvPr id="3" name="Tableau 2"/>
          <p:cNvGraphicFramePr>
            <a:graphicFrameLocks noGrp="1"/>
          </p:cNvGraphicFramePr>
          <p:nvPr>
            <p:extLst>
              <p:ext uri="{D42A27DB-BD31-4B8C-83A1-F6EECF244321}">
                <p14:modId xmlns:p14="http://schemas.microsoft.com/office/powerpoint/2010/main" val="837331001"/>
              </p:ext>
            </p:extLst>
          </p:nvPr>
        </p:nvGraphicFramePr>
        <p:xfrm>
          <a:off x="0" y="0"/>
          <a:ext cx="1193800" cy="173990"/>
        </p:xfrm>
        <a:graphic>
          <a:graphicData uri="http://schemas.openxmlformats.org/drawingml/2006/table">
            <a:tbl>
              <a:tblPr>
                <a:tableStyleId>{5C22544A-7EE6-4342-B048-85BDC9FD1C3A}</a:tableStyleId>
              </a:tblPr>
              <a:tblGrid>
                <a:gridCol w="1193800">
                  <a:extLst>
                    <a:ext uri="{9D8B030D-6E8A-4147-A177-3AD203B41FA5}">
                      <a16:colId xmlns:a16="http://schemas.microsoft.com/office/drawing/2014/main" val="4238517972"/>
                    </a:ext>
                  </a:extLst>
                </a:gridCol>
              </a:tblGrid>
              <a:tr h="0">
                <a:tc>
                  <a:txBody>
                    <a:bodyPr/>
                    <a:lstStyle/>
                    <a:p>
                      <a:pPr algn="ctr" fontAlgn="b"/>
                      <a:endParaRPr lang="fr-FR"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55049342"/>
                  </a:ext>
                </a:extLst>
              </a:tr>
            </a:tbl>
          </a:graphicData>
        </a:graphic>
      </p:graphicFrame>
    </p:spTree>
    <p:extLst>
      <p:ext uri="{BB962C8B-B14F-4D97-AF65-F5344CB8AC3E}">
        <p14:creationId xmlns:p14="http://schemas.microsoft.com/office/powerpoint/2010/main" val="398744627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a:bodyPr>
          <a:lstStyle/>
          <a:p>
            <a:pPr lvl="0"/>
            <a:r>
              <a:rPr lang="fr-FR" sz="3200" dirty="0">
                <a:solidFill>
                  <a:prstClr val="white"/>
                </a:solidFill>
              </a:rPr>
              <a:t>Bonnes pratiques par phase métier :</a:t>
            </a:r>
          </a:p>
          <a:p>
            <a:r>
              <a:rPr lang="fr-FR" sz="4400" dirty="0" smtClean="0"/>
              <a:t>développement  </a:t>
            </a:r>
            <a:r>
              <a:rPr lang="fr-FR" sz="4400" dirty="0"/>
              <a:t>Front end</a:t>
            </a:r>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34466914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smtClean="0">
                <a:solidFill>
                  <a:schemeClr val="bg1"/>
                </a:solidFill>
              </a:rPr>
              <a:t>Développement Front end</a:t>
            </a:r>
            <a:endParaRPr lang="fr-FR" sz="3600" b="1" dirty="0">
              <a:solidFill>
                <a:schemeClr val="bg1"/>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4" name="Tableau 3"/>
          <p:cNvGraphicFramePr>
            <a:graphicFrameLocks noGrp="1"/>
          </p:cNvGraphicFramePr>
          <p:nvPr>
            <p:extLst>
              <p:ext uri="{D42A27DB-BD31-4B8C-83A1-F6EECF244321}">
                <p14:modId xmlns:p14="http://schemas.microsoft.com/office/powerpoint/2010/main" val="2640623945"/>
              </p:ext>
            </p:extLst>
          </p:nvPr>
        </p:nvGraphicFramePr>
        <p:xfrm>
          <a:off x="0" y="1325563"/>
          <a:ext cx="12192000" cy="4687311"/>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8272009"/>
                    </a:ext>
                  </a:extLst>
                </a:gridCol>
                <a:gridCol w="6096000">
                  <a:extLst>
                    <a:ext uri="{9D8B030D-6E8A-4147-A177-3AD203B41FA5}">
                      <a16:colId xmlns:a16="http://schemas.microsoft.com/office/drawing/2014/main" val="3243828274"/>
                    </a:ext>
                  </a:extLst>
                </a:gridCol>
              </a:tblGrid>
              <a:tr h="552994">
                <a:tc>
                  <a:txBody>
                    <a:bodyPr/>
                    <a:lstStyle/>
                    <a:p>
                      <a:r>
                        <a:rPr lang="fr-FR" sz="1200" dirty="0" smtClean="0"/>
                        <a:t>Service numérique utilisable</a:t>
                      </a:r>
                    </a:p>
                  </a:txBody>
                  <a:tcPr/>
                </a:tc>
                <a:tc>
                  <a:txBody>
                    <a:bodyPr/>
                    <a:lstStyle/>
                    <a:p>
                      <a:r>
                        <a:rPr lang="fr-FR" sz="1200" dirty="0" smtClean="0"/>
                        <a:t>Méthodologie facilitant l'écoconception</a:t>
                      </a:r>
                    </a:p>
                  </a:txBody>
                  <a:tcPr/>
                </a:tc>
                <a:extLst>
                  <a:ext uri="{0D108BD9-81ED-4DB2-BD59-A6C34878D82A}">
                    <a16:rowId xmlns:a16="http://schemas.microsoft.com/office/drawing/2014/main" val="3673979815"/>
                  </a:ext>
                </a:extLst>
              </a:tr>
              <a:tr h="7122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4" action="ppaction://hlinksldjump"/>
                        </a:rPr>
                        <a:t>Concevoir avec des technologies standard interopérables plutôt que des technologies   spécifiques et fermées</a:t>
                      </a:r>
                      <a:endParaRPr lang="fr-FR" sz="12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5" action="ppaction://hlinksldjump"/>
                        </a:rPr>
                        <a:t>Concevoir le service avec une revue de conception et une revue de code pour réduire les impacts environnementaux de chaque fonctionnalité.</a:t>
                      </a:r>
                      <a:endParaRPr lang="fr-FR" sz="1200" dirty="0" smtClean="0"/>
                    </a:p>
                  </a:txBody>
                  <a:tcPr marL="6350" marR="6350" marT="6350" marB="0" anchor="ctr"/>
                </a:tc>
                <a:extLst>
                  <a:ext uri="{0D108BD9-81ED-4DB2-BD59-A6C34878D82A}">
                    <a16:rowId xmlns:a16="http://schemas.microsoft.com/office/drawing/2014/main" val="4151326890"/>
                  </a:ext>
                </a:extLst>
              </a:tr>
              <a:tr h="10512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6" action="ppaction://hlinksldjump"/>
                        </a:rPr>
                        <a:t>Supporter l’évolution techniques des protocole</a:t>
                      </a:r>
                      <a:endParaRPr lang="fr-FR" sz="12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smtClean="0">
                          <a:ln>
                            <a:noFill/>
                          </a:ln>
                          <a:solidFill>
                            <a:prstClr val="black"/>
                          </a:solidFill>
                          <a:effectLst/>
                          <a:uLnTx/>
                          <a:uFillTx/>
                          <a:latin typeface="+mn-lt"/>
                          <a:ea typeface="+mn-ea"/>
                          <a:cs typeface="+mn-cs"/>
                          <a:hlinkClick r:id="rId7" action="ppaction://hlinksldjump"/>
                        </a:rPr>
                        <a:t>Mettre en place des mesures comparatif d’impact d'une application lors d’une montée de version ou un remplacement d’application</a:t>
                      </a:r>
                      <a:endParaRPr kumimoji="0" lang="fr-FR" sz="1200" b="0" i="0" u="none" strike="noStrike" kern="1200" cap="none" spc="0" normalizeH="0" baseline="0" noProof="0" dirty="0" smtClean="0">
                        <a:ln>
                          <a:noFill/>
                        </a:ln>
                        <a:solidFill>
                          <a:prstClr val="black"/>
                        </a:solidFill>
                        <a:effectLst/>
                        <a:uLnTx/>
                        <a:uFillTx/>
                        <a:latin typeface="+mn-lt"/>
                        <a:ea typeface="+mn-ea"/>
                        <a:cs typeface="+mn-cs"/>
                      </a:endParaRPr>
                    </a:p>
                    <a:p>
                      <a:pPr algn="ctr" fontAlgn="ctr"/>
                      <a:endParaRPr lang="fr-FR" sz="12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094434116"/>
                  </a:ext>
                </a:extLst>
              </a:tr>
              <a:tr h="478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4" action="ppaction://hlinksldjump"/>
                        </a:rPr>
                        <a:t>Définir la liste des profils de matériels que les utilisateurs vont pouvoir employer pour accéder au service.</a:t>
                      </a:r>
                      <a:endParaRPr lang="fr-FR" sz="1200" dirty="0" smtClean="0"/>
                    </a:p>
                  </a:txBody>
                  <a:tcPr/>
                </a:tc>
                <a:tc>
                  <a:txBody>
                    <a:bodyPr/>
                    <a:lstStyle/>
                    <a:p>
                      <a:pPr algn="ctr" fontAlgn="ctr"/>
                      <a:endParaRPr lang="fr-FR" sz="12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17162621"/>
                  </a:ext>
                </a:extLst>
              </a:tr>
              <a:tr h="478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8" action="ppaction://hlinksldjump"/>
                        </a:rPr>
                        <a:t>Utilisable sur d’anciens modèles de terminaux</a:t>
                      </a:r>
                      <a:endParaRPr lang="fr-FR" sz="1200" dirty="0" smtClean="0"/>
                    </a:p>
                  </a:txBody>
                  <a:tcPr/>
                </a:tc>
                <a:tc>
                  <a:txBody>
                    <a:bodyPr/>
                    <a:lstStyle/>
                    <a:p>
                      <a:pPr algn="ctr" fontAlgn="ctr"/>
                      <a:endParaRPr lang="fr-FR" sz="12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625477069"/>
                  </a:ext>
                </a:extLst>
              </a:tr>
              <a:tr h="4584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9" action="ppaction://hlinksldjump"/>
                        </a:rPr>
                        <a:t>S’adapter à différents types de terminaux d’affichage</a:t>
                      </a:r>
                      <a:endParaRPr lang="fr-FR" sz="1200" dirty="0" smtClean="0"/>
                    </a:p>
                  </a:txBody>
                  <a:tcPr/>
                </a:tc>
                <a:tc>
                  <a:txBody>
                    <a:bodyPr/>
                    <a:lstStyle/>
                    <a:p>
                      <a:pPr algn="ctr" fontAlgn="ctr"/>
                      <a:endParaRPr lang="fr-FR" sz="12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653482149"/>
                  </a:ext>
                </a:extLst>
              </a:tr>
              <a:tr h="478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10" action="ppaction://hlinksldjump"/>
                        </a:rPr>
                        <a:t>Utilisable sur d’anciennes versions de système d’exploitation et de navigateurs web </a:t>
                      </a:r>
                      <a:endParaRPr lang="fr-FR" sz="1200" dirty="0" smtClean="0"/>
                    </a:p>
                  </a:txBody>
                  <a:tcPr/>
                </a:tc>
                <a:tc>
                  <a:txBody>
                    <a:bodyPr/>
                    <a:lstStyle/>
                    <a:p>
                      <a:pPr algn="ctr" fontAlgn="ctr"/>
                      <a:endParaRPr lang="fr-FR" sz="12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694287322"/>
                  </a:ext>
                </a:extLst>
              </a:tr>
              <a:tr h="478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11" action="ppaction://hlinksldjump"/>
                        </a:rPr>
                        <a:t>Utilisable via une connexion bas débit ou hors connexion</a:t>
                      </a:r>
                      <a:endParaRPr lang="fr-FR" sz="1200" dirty="0" smtClean="0"/>
                    </a:p>
                  </a:txBody>
                  <a:tcPr/>
                </a:tc>
                <a:tc>
                  <a:txBody>
                    <a:bodyPr/>
                    <a:lstStyle/>
                    <a:p>
                      <a:pPr algn="ctr" fontAlgn="ctr"/>
                      <a:endParaRPr lang="fr-FR" sz="12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303813006"/>
                  </a:ext>
                </a:extLst>
              </a:tr>
            </a:tbl>
          </a:graphicData>
        </a:graphic>
      </p:graphicFrame>
    </p:spTree>
    <p:extLst>
      <p:ext uri="{BB962C8B-B14F-4D97-AF65-F5344CB8AC3E}">
        <p14:creationId xmlns:p14="http://schemas.microsoft.com/office/powerpoint/2010/main" val="283425383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a:solidFill>
                  <a:schemeClr val="bg1"/>
                </a:solidFill>
              </a:rPr>
              <a:t>Développement Front end</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4" name="Tableau 3"/>
          <p:cNvGraphicFramePr>
            <a:graphicFrameLocks noGrp="1"/>
          </p:cNvGraphicFramePr>
          <p:nvPr>
            <p:extLst>
              <p:ext uri="{D42A27DB-BD31-4B8C-83A1-F6EECF244321}">
                <p14:modId xmlns:p14="http://schemas.microsoft.com/office/powerpoint/2010/main" val="1386253629"/>
              </p:ext>
            </p:extLst>
          </p:nvPr>
        </p:nvGraphicFramePr>
        <p:xfrm>
          <a:off x="0" y="1325563"/>
          <a:ext cx="12145704" cy="4762723"/>
        </p:xfrm>
        <a:graphic>
          <a:graphicData uri="http://schemas.openxmlformats.org/drawingml/2006/table">
            <a:tbl>
              <a:tblPr firstRow="1" bandRow="1">
                <a:tableStyleId>{5C22544A-7EE6-4342-B048-85BDC9FD1C3A}</a:tableStyleId>
              </a:tblPr>
              <a:tblGrid>
                <a:gridCol w="6072852">
                  <a:extLst>
                    <a:ext uri="{9D8B030D-6E8A-4147-A177-3AD203B41FA5}">
                      <a16:colId xmlns:a16="http://schemas.microsoft.com/office/drawing/2014/main" val="4133125543"/>
                    </a:ext>
                  </a:extLst>
                </a:gridCol>
                <a:gridCol w="6072852">
                  <a:extLst>
                    <a:ext uri="{9D8B030D-6E8A-4147-A177-3AD203B41FA5}">
                      <a16:colId xmlns:a16="http://schemas.microsoft.com/office/drawing/2014/main" val="31170069"/>
                    </a:ext>
                  </a:extLst>
                </a:gridCol>
              </a:tblGrid>
              <a:tr h="460821">
                <a:tc>
                  <a:txBody>
                    <a:bodyPr/>
                    <a:lstStyle/>
                    <a:p>
                      <a:r>
                        <a:rPr lang="fr-FR" sz="1000" dirty="0" smtClean="0"/>
                        <a:t>Réduire la consommation de ressources : Optimisation de l'Expérience et de l'Interface Utilisateur </a:t>
                      </a:r>
                    </a:p>
                  </a:txBody>
                  <a:tcPr/>
                </a:tc>
                <a:tc>
                  <a:txBody>
                    <a:bodyPr/>
                    <a:lstStyle/>
                    <a:p>
                      <a:r>
                        <a:rPr lang="fr-FR" sz="1000" dirty="0" smtClean="0"/>
                        <a:t>Réduire la consommation de ressources</a:t>
                      </a:r>
                      <a:r>
                        <a:rPr lang="fr-FR" sz="1000" baseline="0" dirty="0" smtClean="0"/>
                        <a:t> : </a:t>
                      </a:r>
                      <a:r>
                        <a:rPr lang="fr-FR" sz="1000" dirty="0" smtClean="0"/>
                        <a:t>La solution intègre des pratiques d'écoconception</a:t>
                      </a:r>
                    </a:p>
                  </a:txBody>
                  <a:tcPr/>
                </a:tc>
                <a:extLst>
                  <a:ext uri="{0D108BD9-81ED-4DB2-BD59-A6C34878D82A}">
                    <a16:rowId xmlns:a16="http://schemas.microsoft.com/office/drawing/2014/main" val="3673979815"/>
                  </a:ext>
                </a:extLst>
              </a:tr>
              <a:tr h="416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4" action="ppaction://hlinksldjump"/>
                        </a:rPr>
                        <a:t>Eviter de déclencher le chargement de ressources et de contenus inutilisés pour chaque fonctionnalité.</a:t>
                      </a:r>
                      <a:endParaRPr lang="fr-FR" sz="10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5" action="ppaction://hlinksldjump"/>
                        </a:rPr>
                        <a:t>Stocker les données statiques localement.</a:t>
                      </a:r>
                      <a:endParaRPr lang="fr-FR" sz="1000" dirty="0" smtClean="0"/>
                    </a:p>
                  </a:txBody>
                  <a:tcPr/>
                </a:tc>
                <a:extLst>
                  <a:ext uri="{0D108BD9-81ED-4DB2-BD59-A6C34878D82A}">
                    <a16:rowId xmlns:a16="http://schemas.microsoft.com/office/drawing/2014/main" val="4151326890"/>
                  </a:ext>
                </a:extLst>
              </a:tr>
              <a:tr h="5536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6" action="ppaction://hlinksldjump"/>
                        </a:rPr>
                        <a:t>Restreindre l’usage des capteurs des terminaux utilisateurs au besoin du service.</a:t>
                      </a:r>
                      <a:endParaRPr lang="fr-FR" sz="10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7" action="ppaction://hlinksldjump"/>
                        </a:rPr>
                        <a:t>Utiliser majoritairement des composants fonctionnels natifs</a:t>
                      </a:r>
                      <a:endParaRPr lang="fr-FR" sz="1000" dirty="0" smtClean="0"/>
                    </a:p>
                  </a:txBody>
                  <a:tcPr/>
                </a:tc>
                <a:extLst>
                  <a:ext uri="{0D108BD9-81ED-4DB2-BD59-A6C34878D82A}">
                    <a16:rowId xmlns:a16="http://schemas.microsoft.com/office/drawing/2014/main" val="1094434116"/>
                  </a:ext>
                </a:extLst>
              </a:tr>
              <a:tr h="2954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8" action="ppaction://hlinksldjump"/>
                        </a:rPr>
                        <a:t>N'utilisez que les portions indispensables des bibliothèques JavaScript et </a:t>
                      </a:r>
                      <a:r>
                        <a:rPr lang="fr-FR" sz="1000" dirty="0" err="1" smtClean="0">
                          <a:hlinkClick r:id="rId8" action="ppaction://hlinksldjump"/>
                        </a:rPr>
                        <a:t>frameworks</a:t>
                      </a:r>
                      <a:r>
                        <a:rPr lang="fr-FR" sz="1000" dirty="0" smtClean="0">
                          <a:hlinkClick r:id="rId8" action="ppaction://hlinksldjump"/>
                        </a:rPr>
                        <a:t> CSS. </a:t>
                      </a:r>
                      <a:endParaRPr lang="fr-FR" sz="10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4" action="ppaction://hlinksldjump"/>
                        </a:rPr>
                        <a:t>Se limiter au chargement des composants utilisés au sein des bibliothèques lorsque cela est possible.</a:t>
                      </a:r>
                      <a:endParaRPr lang="fr-FR" sz="1000" dirty="0" smtClean="0"/>
                    </a:p>
                  </a:txBody>
                  <a:tcPr/>
                </a:tc>
                <a:extLst>
                  <a:ext uri="{0D108BD9-81ED-4DB2-BD59-A6C34878D82A}">
                    <a16:rowId xmlns:a16="http://schemas.microsoft.com/office/drawing/2014/main" val="117162621"/>
                  </a:ext>
                </a:extLst>
              </a:tr>
              <a:tr h="2954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9" action="ppaction://hlinksldjump"/>
                        </a:rPr>
                        <a:t>Ne charger des données/du code que lorsqu'elles sont/il est nécessaire.</a:t>
                      </a:r>
                      <a:endParaRPr lang="fr-FR" sz="10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10" action="ppaction://hlinksldjump"/>
                        </a:rPr>
                        <a:t>Favoriser les pages statiques.</a:t>
                      </a:r>
                      <a:endParaRPr lang="fr-FR" sz="1000" dirty="0" smtClean="0"/>
                    </a:p>
                  </a:txBody>
                  <a:tcPr/>
                </a:tc>
                <a:extLst>
                  <a:ext uri="{0D108BD9-81ED-4DB2-BD59-A6C34878D82A}">
                    <a16:rowId xmlns:a16="http://schemas.microsoft.com/office/drawing/2014/main" val="1625477069"/>
                  </a:ext>
                </a:extLst>
              </a:tr>
              <a:tr h="3769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11" action="ppaction://hlinksldjump"/>
                        </a:rPr>
                        <a:t>Dimensionner les éléments graphiques et les médias correspondants au contexte d’affichage.</a:t>
                      </a:r>
                      <a:endParaRPr lang="fr-FR" sz="1000" dirty="0" smtClean="0"/>
                    </a:p>
                    <a:p>
                      <a:endParaRPr lang="fr-FR" sz="1000" dirty="0"/>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12" action="ppaction://hlinksldjump"/>
                        </a:rPr>
                        <a:t>Mettre en cache les objets souvent accédés en JavaScript.</a:t>
                      </a:r>
                      <a:endParaRPr lang="fr-FR" sz="1000" dirty="0" smtClean="0"/>
                    </a:p>
                  </a:txBody>
                  <a:tcPr/>
                </a:tc>
                <a:extLst>
                  <a:ext uri="{0D108BD9-81ED-4DB2-BD59-A6C34878D82A}">
                    <a16:rowId xmlns:a16="http://schemas.microsoft.com/office/drawing/2014/main" val="2653482149"/>
                  </a:ext>
                </a:extLst>
              </a:tr>
              <a:tr h="3618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13" action="ppaction://hlinksldjump"/>
                        </a:rPr>
                        <a:t>Instaurer des mécanismes de mises en cache pour la totalité des contenus transférés dont il a le contrôle.</a:t>
                      </a:r>
                      <a:endParaRPr lang="fr-FR" sz="10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14" action="ppaction://hlinksldjump"/>
                        </a:rPr>
                        <a:t>Limiter le nombre de requêtes HTTP.</a:t>
                      </a:r>
                      <a:endParaRPr lang="fr-FR" sz="1000" dirty="0" smtClean="0"/>
                    </a:p>
                  </a:txBody>
                  <a:tcPr/>
                </a:tc>
                <a:extLst>
                  <a:ext uri="{0D108BD9-81ED-4DB2-BD59-A6C34878D82A}">
                    <a16:rowId xmlns:a16="http://schemas.microsoft.com/office/drawing/2014/main" val="3694287322"/>
                  </a:ext>
                </a:extLst>
              </a:tr>
              <a:tr h="2954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15" action="ppaction://hlinksldjump"/>
                        </a:rPr>
                        <a:t>Mettre en place des techniques de compression sur la totalité des ressources transférées.</a:t>
                      </a:r>
                      <a:endParaRPr lang="fr-FR" sz="10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16" action="ppaction://hlinksldjump"/>
                        </a:rPr>
                        <a:t>Compresser les fichiers CSS, JavaScript, HTML et SVG.</a:t>
                      </a:r>
                      <a:endParaRPr lang="fr-FR" sz="1000" dirty="0" smtClean="0"/>
                    </a:p>
                  </a:txBody>
                  <a:tcPr/>
                </a:tc>
                <a:extLst>
                  <a:ext uri="{0D108BD9-81ED-4DB2-BD59-A6C34878D82A}">
                    <a16:rowId xmlns:a16="http://schemas.microsoft.com/office/drawing/2014/main" val="3303813006"/>
                  </a:ext>
                </a:extLst>
              </a:tr>
              <a:tr h="2954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err="1" smtClean="0">
                          <a:hlinkClick r:id="rId17" action="ppaction://hlinksldjump"/>
                        </a:rPr>
                        <a:t>Minifier</a:t>
                      </a:r>
                      <a:r>
                        <a:rPr lang="fr-FR" sz="1000" dirty="0" smtClean="0">
                          <a:hlinkClick r:id="rId17" action="ppaction://hlinksldjump"/>
                        </a:rPr>
                        <a:t> les fichiers CSS, JavaScript, HTML et SVG. </a:t>
                      </a:r>
                      <a:endParaRPr lang="fr-FR" sz="10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18" action="ppaction://hlinksldjump"/>
                        </a:rPr>
                        <a:t>Limiter le nombre de requêtes lors de la saisie utilisateurs. </a:t>
                      </a:r>
                      <a:endParaRPr lang="fr-FR" sz="1000" dirty="0" smtClean="0"/>
                    </a:p>
                  </a:txBody>
                  <a:tcPr/>
                </a:tc>
                <a:extLst>
                  <a:ext uri="{0D108BD9-81ED-4DB2-BD59-A6C34878D82A}">
                    <a16:rowId xmlns:a16="http://schemas.microsoft.com/office/drawing/2014/main" val="2359040613"/>
                  </a:ext>
                </a:extLst>
              </a:tr>
              <a:tr h="3769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16" action="ppaction://hlinksldjump"/>
                        </a:rPr>
                        <a:t>Limiter le nombre de CSS. </a:t>
                      </a:r>
                      <a:endParaRPr lang="fr-FR" sz="10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smtClean="0">
                          <a:ln>
                            <a:noFill/>
                          </a:ln>
                          <a:solidFill>
                            <a:prstClr val="black"/>
                          </a:solidFill>
                          <a:effectLst/>
                          <a:uLnTx/>
                          <a:uFillTx/>
                          <a:latin typeface="+mn-lt"/>
                          <a:ea typeface="+mn-ea"/>
                          <a:cs typeface="+mn-cs"/>
                          <a:hlinkClick r:id="rId19" action="ppaction://hlinksldjump"/>
                        </a:rPr>
                        <a:t>Mettre en place un « Circuit </a:t>
                      </a:r>
                      <a:r>
                        <a:rPr kumimoji="0" lang="fr-FR" sz="1000" b="0" i="0" u="none" strike="noStrike" kern="1200" cap="none" spc="0" normalizeH="0" baseline="0" noProof="0" dirty="0" err="1" smtClean="0">
                          <a:ln>
                            <a:noFill/>
                          </a:ln>
                          <a:solidFill>
                            <a:prstClr val="black"/>
                          </a:solidFill>
                          <a:effectLst/>
                          <a:uLnTx/>
                          <a:uFillTx/>
                          <a:latin typeface="+mn-lt"/>
                          <a:ea typeface="+mn-ea"/>
                          <a:cs typeface="+mn-cs"/>
                          <a:hlinkClick r:id="rId19" action="ppaction://hlinksldjump"/>
                        </a:rPr>
                        <a:t>breaker</a:t>
                      </a:r>
                      <a:r>
                        <a:rPr kumimoji="0" lang="fr-FR" sz="1000" b="0" i="0" u="none" strike="noStrike" kern="1200" cap="none" spc="0" normalizeH="0" baseline="0" noProof="0" dirty="0" smtClean="0">
                          <a:ln>
                            <a:noFill/>
                          </a:ln>
                          <a:solidFill>
                            <a:prstClr val="black"/>
                          </a:solidFill>
                          <a:effectLst/>
                          <a:uLnTx/>
                          <a:uFillTx/>
                          <a:latin typeface="+mn-lt"/>
                          <a:ea typeface="+mn-ea"/>
                          <a:cs typeface="+mn-cs"/>
                          <a:hlinkClick r:id="rId19" action="ppaction://hlinksldjump"/>
                        </a:rPr>
                        <a:t> ». </a:t>
                      </a:r>
                      <a:endParaRPr kumimoji="0" lang="fr-FR" sz="1000" b="0" i="0" u="none" strike="noStrike" kern="1200" cap="none" spc="0" normalizeH="0" baseline="0" noProof="0" dirty="0" smtClean="0">
                        <a:ln>
                          <a:noFill/>
                        </a:ln>
                        <a:solidFill>
                          <a:prstClr val="black"/>
                        </a:solidFill>
                        <a:effectLst/>
                        <a:uLnTx/>
                        <a:uFillTx/>
                        <a:latin typeface="+mn-lt"/>
                        <a:ea typeface="+mn-ea"/>
                        <a:cs typeface="+mn-cs"/>
                      </a:endParaRPr>
                    </a:p>
                    <a:p>
                      <a:endParaRPr lang="fr-FR" sz="1000" dirty="0"/>
                    </a:p>
                  </a:txBody>
                  <a:tcPr marL="6350" marR="6350" marT="6350" marB="0" anchor="ctr"/>
                </a:tc>
                <a:extLst>
                  <a:ext uri="{0D108BD9-81ED-4DB2-BD59-A6C34878D82A}">
                    <a16:rowId xmlns:a16="http://schemas.microsoft.com/office/drawing/2014/main" val="2534447913"/>
                  </a:ext>
                </a:extLst>
              </a:tr>
              <a:tr h="3618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20" action="ppaction://hlinksldjump"/>
                        </a:rPr>
                        <a:t>Préférer les CSS aux images.</a:t>
                      </a:r>
                      <a:endParaRPr lang="fr-FR" sz="1000" dirty="0" smtClean="0"/>
                    </a:p>
                  </a:txBody>
                  <a:tcPr/>
                </a:tc>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000" b="0" i="0" u="none" strike="noStrike" kern="1200" cap="none" spc="0" normalizeH="0" baseline="0" noProof="0" dirty="0" smtClean="0">
                          <a:ln>
                            <a:noFill/>
                          </a:ln>
                          <a:solidFill>
                            <a:prstClr val="black"/>
                          </a:solidFill>
                          <a:effectLst/>
                          <a:uLnTx/>
                          <a:uFillTx/>
                          <a:latin typeface="Calibri" panose="020F0502020204030204"/>
                          <a:ea typeface="+mn-ea"/>
                          <a:cs typeface="+mn-cs"/>
                          <a:hlinkClick r:id="rId21" action="ppaction://hlinksldjump"/>
                        </a:rPr>
                        <a:t>Choisir un format de données adapté</a:t>
                      </a:r>
                      <a:endParaRPr kumimoji="0" lang="fr-FR" sz="10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022192708"/>
                  </a:ext>
                </a:extLst>
              </a:tr>
              <a:tr h="2954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22" action="ppaction://hlinksldjump"/>
                        </a:rPr>
                        <a:t>Grouper les déclarations CSS similaires.</a:t>
                      </a:r>
                      <a:endParaRPr lang="fr-FR" sz="1000" dirty="0" smtClean="0"/>
                    </a:p>
                  </a:txBody>
                  <a:tcPr/>
                </a:tc>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000" b="0" i="0" u="none" strike="noStrike" kern="1200" cap="none" spc="0" normalizeH="0" baseline="0" noProof="0" dirty="0" smtClean="0">
                          <a:ln>
                            <a:noFill/>
                          </a:ln>
                          <a:solidFill>
                            <a:prstClr val="black"/>
                          </a:solidFill>
                          <a:effectLst/>
                          <a:uLnTx/>
                          <a:uFillTx/>
                          <a:latin typeface="Calibri" panose="020F0502020204030204"/>
                          <a:ea typeface="+mn-ea"/>
                          <a:cs typeface="+mn-cs"/>
                          <a:hlinkClick r:id="rId23" action="ppaction://hlinksldjump"/>
                        </a:rPr>
                        <a:t>Mettre les caches entièrement en RAM (</a:t>
                      </a:r>
                      <a:r>
                        <a:rPr kumimoji="0" lang="fr-FR" sz="1000" b="0" i="0" u="none" strike="noStrike" kern="1200" cap="none" spc="0" normalizeH="0" baseline="0" noProof="0" dirty="0" err="1" smtClean="0">
                          <a:ln>
                            <a:noFill/>
                          </a:ln>
                          <a:solidFill>
                            <a:prstClr val="black"/>
                          </a:solidFill>
                          <a:effectLst/>
                          <a:uLnTx/>
                          <a:uFillTx/>
                          <a:latin typeface="Calibri" panose="020F0502020204030204"/>
                          <a:ea typeface="+mn-ea"/>
                          <a:cs typeface="+mn-cs"/>
                          <a:hlinkClick r:id="rId23" action="ppaction://hlinksldjump"/>
                        </a:rPr>
                        <a:t>opcode</a:t>
                      </a:r>
                      <a:r>
                        <a:rPr kumimoji="0" lang="fr-FR" sz="1000" b="0" i="0" u="none" strike="noStrike" kern="1200" cap="none" spc="0" normalizeH="0" baseline="0" noProof="0" dirty="0" smtClean="0">
                          <a:ln>
                            <a:noFill/>
                          </a:ln>
                          <a:solidFill>
                            <a:prstClr val="black"/>
                          </a:solidFill>
                          <a:effectLst/>
                          <a:uLnTx/>
                          <a:uFillTx/>
                          <a:latin typeface="Calibri" panose="020F0502020204030204"/>
                          <a:ea typeface="+mn-ea"/>
                          <a:cs typeface="+mn-cs"/>
                          <a:hlinkClick r:id="rId23" action="ppaction://hlinksldjump"/>
                        </a:rPr>
                        <a:t> et </a:t>
                      </a:r>
                      <a:r>
                        <a:rPr kumimoji="0" lang="fr-FR" sz="1000" b="0" i="0" u="none" strike="noStrike" kern="1200" cap="none" spc="0" normalizeH="0" baseline="0" noProof="0" dirty="0" err="1" smtClean="0">
                          <a:ln>
                            <a:noFill/>
                          </a:ln>
                          <a:solidFill>
                            <a:prstClr val="black"/>
                          </a:solidFill>
                          <a:effectLst/>
                          <a:uLnTx/>
                          <a:uFillTx/>
                          <a:latin typeface="Calibri" panose="020F0502020204030204"/>
                          <a:ea typeface="+mn-ea"/>
                          <a:cs typeface="+mn-cs"/>
                          <a:hlinkClick r:id="rId23" action="ppaction://hlinksldjump"/>
                        </a:rPr>
                        <a:t>kvs</a:t>
                      </a:r>
                      <a:r>
                        <a:rPr kumimoji="0" lang="fr-FR" sz="1000" b="0" i="0" u="none" strike="noStrike" kern="1200" cap="none" spc="0" normalizeH="0" baseline="0" noProof="0" dirty="0" smtClean="0">
                          <a:ln>
                            <a:noFill/>
                          </a:ln>
                          <a:solidFill>
                            <a:prstClr val="black"/>
                          </a:solidFill>
                          <a:effectLst/>
                          <a:uLnTx/>
                          <a:uFillTx/>
                          <a:latin typeface="Calibri" panose="020F0502020204030204"/>
                          <a:ea typeface="+mn-ea"/>
                          <a:cs typeface="+mn-cs"/>
                          <a:hlinkClick r:id="rId23" action="ppaction://hlinksldjump"/>
                        </a:rPr>
                        <a:t>).</a:t>
                      </a:r>
                      <a:endParaRPr kumimoji="0" lang="fr-FR" sz="10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4024681116"/>
                  </a:ext>
                </a:extLst>
              </a:tr>
              <a:tr h="3769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24" action="ppaction://hlinksldjump"/>
                        </a:rPr>
                        <a:t>Utiliser les notations CSS abrégées.</a:t>
                      </a:r>
                      <a:endParaRPr lang="fr-FR" sz="10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25" action="ppaction://hlinksldjump"/>
                        </a:rPr>
                        <a:t>Proposer un traitement asynchrone lorsque c'est possible.</a:t>
                      </a:r>
                      <a:endParaRPr lang="fr-FR" sz="1000" dirty="0" smtClean="0"/>
                    </a:p>
                    <a:p>
                      <a:endParaRPr lang="fr-FR" sz="1000" dirty="0"/>
                    </a:p>
                  </a:txBody>
                  <a:tcPr marL="6350" marR="6350" marT="6350" marB="0" anchor="ctr"/>
                </a:tc>
                <a:extLst>
                  <a:ext uri="{0D108BD9-81ED-4DB2-BD59-A6C34878D82A}">
                    <a16:rowId xmlns:a16="http://schemas.microsoft.com/office/drawing/2014/main" val="1289055448"/>
                  </a:ext>
                </a:extLst>
              </a:tr>
            </a:tbl>
          </a:graphicData>
        </a:graphic>
      </p:graphicFrame>
    </p:spTree>
    <p:extLst>
      <p:ext uri="{BB962C8B-B14F-4D97-AF65-F5344CB8AC3E}">
        <p14:creationId xmlns:p14="http://schemas.microsoft.com/office/powerpoint/2010/main" val="35630311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a:solidFill>
                  <a:schemeClr val="bg1"/>
                </a:solidFill>
              </a:rPr>
              <a:t>Documents et outils associés</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7" name="ZoneTexte 6"/>
          <p:cNvSpPr txBox="1"/>
          <p:nvPr/>
        </p:nvSpPr>
        <p:spPr>
          <a:xfrm>
            <a:off x="44605" y="1325563"/>
            <a:ext cx="12101099" cy="2862322"/>
          </a:xfrm>
          <a:prstGeom prst="rect">
            <a:avLst/>
          </a:prstGeom>
          <a:noFill/>
        </p:spPr>
        <p:txBody>
          <a:bodyPr wrap="square" rtlCol="0">
            <a:spAutoFit/>
          </a:bodyPr>
          <a:lstStyle/>
          <a:p>
            <a:pPr lvl="0" eaLnBrk="0" fontAlgn="base" hangingPunct="0">
              <a:spcBef>
                <a:spcPct val="0"/>
              </a:spcBef>
              <a:spcAft>
                <a:spcPct val="0"/>
              </a:spcAft>
            </a:pPr>
            <a:endParaRPr lang="fr-FR"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fr-FR" b="1" dirty="0">
                <a:latin typeface="Arial" panose="020B0604020202020204" pitchFamily="34" charset="0"/>
                <a:cs typeface="Arial" panose="020B0604020202020204" pitchFamily="34" charset="0"/>
              </a:rPr>
              <a:t>Code source et documentation technique associée </a:t>
            </a:r>
            <a:r>
              <a:rPr lang="fr-FR" dirty="0">
                <a:latin typeface="Arial" panose="020B0604020202020204" pitchFamily="34" charset="0"/>
                <a:cs typeface="Arial" panose="020B0604020202020204" pitchFamily="34" charset="0"/>
              </a:rPr>
              <a:t>: L’intégration d’une logique d’écoconception dans le code peut se faire à travers la réduction de la complexité algorithmique, l’utilisation de techniques d’optimisation énergétique ou la gestion des données (réduction de la taille des bases de données, par exemple</a:t>
            </a:r>
            <a:r>
              <a:rPr lang="fr-FR" dirty="0" smtClean="0">
                <a:latin typeface="Arial" panose="020B0604020202020204" pitchFamily="34" charset="0"/>
                <a:cs typeface="Arial" panose="020B0604020202020204" pitchFamily="34" charset="0"/>
              </a:rPr>
              <a:t>).</a:t>
            </a:r>
          </a:p>
          <a:p>
            <a:pPr lvl="0" eaLnBrk="0" fontAlgn="base" hangingPunct="0">
              <a:spcBef>
                <a:spcPct val="0"/>
              </a:spcBef>
              <a:spcAft>
                <a:spcPct val="0"/>
              </a:spcAft>
            </a:pPr>
            <a:endParaRPr lang="fr-FR"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fr-FR" b="1" dirty="0" smtClean="0">
                <a:latin typeface="Arial" panose="020B0604020202020204" pitchFamily="34" charset="0"/>
                <a:cs typeface="Arial" panose="020B0604020202020204" pitchFamily="34" charset="0"/>
              </a:rPr>
              <a:t>Revue </a:t>
            </a:r>
            <a:r>
              <a:rPr lang="fr-FR" b="1" dirty="0">
                <a:latin typeface="Arial" panose="020B0604020202020204" pitchFamily="34" charset="0"/>
                <a:cs typeface="Arial" panose="020B0604020202020204" pitchFamily="34" charset="0"/>
              </a:rPr>
              <a:t>de code </a:t>
            </a:r>
            <a:r>
              <a:rPr lang="fr-FR" dirty="0">
                <a:latin typeface="Arial" panose="020B0604020202020204" pitchFamily="34" charset="0"/>
                <a:cs typeface="Arial" panose="020B0604020202020204" pitchFamily="34" charset="0"/>
              </a:rPr>
              <a:t>: Ce processus peut inclure des critères d'écoconception lors de la validation des développements, en vérifiant que le code respecte les bonnes pratiques en termes d'optimisation des ressources et de durabilité</a:t>
            </a:r>
            <a:r>
              <a:rPr lang="fr-FR" dirty="0" smtClean="0">
                <a:latin typeface="Arial" panose="020B0604020202020204" pitchFamily="34" charset="0"/>
                <a:cs typeface="Arial" panose="020B0604020202020204" pitchFamily="34" charset="0"/>
              </a:rPr>
              <a:t>.</a:t>
            </a:r>
          </a:p>
          <a:p>
            <a:pPr lvl="0" eaLnBrk="0" fontAlgn="base" hangingPunct="0">
              <a:spcBef>
                <a:spcPct val="0"/>
              </a:spcBef>
              <a:spcAft>
                <a:spcPct val="0"/>
              </a:spcAft>
            </a:pPr>
            <a:endParaRPr lang="fr-FR"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fr-FR" b="1" dirty="0" smtClean="0">
                <a:latin typeface="Arial" panose="020B0604020202020204" pitchFamily="34" charset="0"/>
                <a:cs typeface="Arial" panose="020B0604020202020204" pitchFamily="34" charset="0"/>
              </a:rPr>
              <a:t>Tests </a:t>
            </a:r>
            <a:r>
              <a:rPr lang="fr-FR" b="1" dirty="0">
                <a:latin typeface="Arial" panose="020B0604020202020204" pitchFamily="34" charset="0"/>
                <a:cs typeface="Arial" panose="020B0604020202020204" pitchFamily="34" charset="0"/>
              </a:rPr>
              <a:t>unitaires et d'intégration</a:t>
            </a:r>
            <a:r>
              <a:rPr lang="fr-FR" dirty="0">
                <a:latin typeface="Arial" panose="020B0604020202020204" pitchFamily="34" charset="0"/>
                <a:cs typeface="Arial" panose="020B0604020202020204" pitchFamily="34" charset="0"/>
              </a:rPr>
              <a:t> : Ces tests peuvent être utilisés pour valider des critères écologiques, par exemple en mesurant l'impact énergétique des différentes versions du système.</a:t>
            </a:r>
          </a:p>
        </p:txBody>
      </p:sp>
    </p:spTree>
    <p:extLst>
      <p:ext uri="{BB962C8B-B14F-4D97-AF65-F5344CB8AC3E}">
        <p14:creationId xmlns:p14="http://schemas.microsoft.com/office/powerpoint/2010/main" val="270431368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a:bodyPr>
          <a:lstStyle/>
          <a:p>
            <a:pPr lvl="0"/>
            <a:r>
              <a:rPr lang="fr-FR" sz="3200" dirty="0">
                <a:solidFill>
                  <a:prstClr val="white"/>
                </a:solidFill>
              </a:rPr>
              <a:t>Bonnes pratiques par phase métier :</a:t>
            </a:r>
          </a:p>
          <a:p>
            <a:r>
              <a:rPr lang="fr-FR" sz="4400" dirty="0" smtClean="0"/>
              <a:t>Développement </a:t>
            </a:r>
            <a:r>
              <a:rPr lang="fr-FR" sz="4400" dirty="0"/>
              <a:t>Back end</a:t>
            </a:r>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12713821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smtClean="0">
                <a:solidFill>
                  <a:schemeClr val="bg1"/>
                </a:solidFill>
              </a:rPr>
              <a:t>Développement </a:t>
            </a:r>
            <a:r>
              <a:rPr lang="fr-FR" sz="3600" b="1" dirty="0">
                <a:solidFill>
                  <a:schemeClr val="bg1"/>
                </a:solidFill>
              </a:rPr>
              <a:t>Back end</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3" name="Tableau 2"/>
          <p:cNvGraphicFramePr>
            <a:graphicFrameLocks noGrp="1"/>
          </p:cNvGraphicFramePr>
          <p:nvPr>
            <p:extLst>
              <p:ext uri="{D42A27DB-BD31-4B8C-83A1-F6EECF244321}">
                <p14:modId xmlns:p14="http://schemas.microsoft.com/office/powerpoint/2010/main" val="1905952191"/>
              </p:ext>
            </p:extLst>
          </p:nvPr>
        </p:nvGraphicFramePr>
        <p:xfrm>
          <a:off x="0" y="1321630"/>
          <a:ext cx="12192000" cy="4307038"/>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4162278407"/>
                    </a:ext>
                  </a:extLst>
                </a:gridCol>
                <a:gridCol w="3048000">
                  <a:extLst>
                    <a:ext uri="{9D8B030D-6E8A-4147-A177-3AD203B41FA5}">
                      <a16:colId xmlns:a16="http://schemas.microsoft.com/office/drawing/2014/main" val="108612435"/>
                    </a:ext>
                  </a:extLst>
                </a:gridCol>
                <a:gridCol w="3048000">
                  <a:extLst>
                    <a:ext uri="{9D8B030D-6E8A-4147-A177-3AD203B41FA5}">
                      <a16:colId xmlns:a16="http://schemas.microsoft.com/office/drawing/2014/main" val="972940847"/>
                    </a:ext>
                  </a:extLst>
                </a:gridCol>
                <a:gridCol w="3048000">
                  <a:extLst>
                    <a:ext uri="{9D8B030D-6E8A-4147-A177-3AD203B41FA5}">
                      <a16:colId xmlns:a16="http://schemas.microsoft.com/office/drawing/2014/main" val="2824974908"/>
                    </a:ext>
                  </a:extLst>
                </a:gridCol>
              </a:tblGrid>
              <a:tr h="481341">
                <a:tc>
                  <a:txBody>
                    <a:bodyPr/>
                    <a:lstStyle/>
                    <a:p>
                      <a:r>
                        <a:rPr lang="fr-FR" sz="1000" dirty="0" smtClean="0"/>
                        <a:t>Méthodologie facilitant l'écoconception</a:t>
                      </a:r>
                    </a:p>
                    <a:p>
                      <a:endParaRPr lang="fr-FR" sz="1000" dirty="0"/>
                    </a:p>
                  </a:txBody>
                  <a:tcPr/>
                </a:tc>
                <a:tc>
                  <a:txBody>
                    <a:bodyPr/>
                    <a:lstStyle/>
                    <a:p>
                      <a:r>
                        <a:rPr lang="fr-FR" sz="1000" dirty="0" smtClean="0"/>
                        <a:t>Réduire la consommation de ressources : </a:t>
                      </a:r>
                    </a:p>
                    <a:p>
                      <a:r>
                        <a:rPr lang="fr-FR" sz="1000" dirty="0" smtClean="0"/>
                        <a:t>Optimisation de l'Expérience et de l'Interface Utilisateur</a:t>
                      </a:r>
                    </a:p>
                  </a:txBody>
                  <a:tcPr/>
                </a:tc>
                <a:tc>
                  <a:txBody>
                    <a:bodyPr/>
                    <a:lstStyle/>
                    <a:p>
                      <a:r>
                        <a:rPr lang="fr-FR" sz="1000" dirty="0" smtClean="0"/>
                        <a:t>Réduire la consommation de ressources : La solution intègre des pratiques d'écoconception</a:t>
                      </a:r>
                      <a:endParaRPr lang="fr-FR" sz="1000" dirty="0"/>
                    </a:p>
                  </a:txBody>
                  <a:tcPr/>
                </a:tc>
                <a:tc>
                  <a:txBody>
                    <a:bodyPr/>
                    <a:lstStyle/>
                    <a:p>
                      <a:r>
                        <a:rPr lang="fr-FR" sz="1000" dirty="0" smtClean="0"/>
                        <a:t>Moins d'infrastructure IT nécessaire</a:t>
                      </a:r>
                    </a:p>
                    <a:p>
                      <a:endParaRPr lang="fr-FR" sz="1000" dirty="0"/>
                    </a:p>
                  </a:txBody>
                  <a:tcPr/>
                </a:tc>
                <a:extLst>
                  <a:ext uri="{0D108BD9-81ED-4DB2-BD59-A6C34878D82A}">
                    <a16:rowId xmlns:a16="http://schemas.microsoft.com/office/drawing/2014/main" val="1224545264"/>
                  </a:ext>
                </a:extLst>
              </a:tr>
              <a:tr h="4813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4" action="ppaction://hlinksldjump"/>
                        </a:rPr>
                        <a:t>Concevoir le service avec une revue de conception et une revue de code pour réduire les impacts environnementaux de chaque fonctionnalité.</a:t>
                      </a:r>
                      <a:endParaRPr lang="fr-FR" sz="1000" dirty="0" smtClean="0"/>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5" action="ppaction://hlinksldjump"/>
                        </a:rPr>
                        <a:t>Informer les utilisateurs d’un traitement en cours en arrière plan.</a:t>
                      </a:r>
                      <a:endParaRPr lang="fr-FR" sz="1000" dirty="0" smtClean="0"/>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6" action="ppaction://hlinksldjump"/>
                        </a:rPr>
                        <a:t>Limiter le nombre d'appels aux API HTTP. </a:t>
                      </a:r>
                      <a:endParaRPr lang="fr-FR" sz="1000" dirty="0" smtClean="0"/>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7" action="ppaction://hlinksldjump"/>
                        </a:rPr>
                        <a:t>Définir des durées de conservation sur les données et documents en vue de leur suppression ou archivage passé ce délai</a:t>
                      </a:r>
                      <a:endParaRPr lang="fr-FR" sz="1000" dirty="0" smtClean="0"/>
                    </a:p>
                  </a:txBody>
                  <a:tcPr/>
                </a:tc>
                <a:extLst>
                  <a:ext uri="{0D108BD9-81ED-4DB2-BD59-A6C34878D82A}">
                    <a16:rowId xmlns:a16="http://schemas.microsoft.com/office/drawing/2014/main" val="554156870"/>
                  </a:ext>
                </a:extLst>
              </a:tr>
              <a:tr h="4066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smtClean="0">
                          <a:ln>
                            <a:noFill/>
                          </a:ln>
                          <a:solidFill>
                            <a:prstClr val="black"/>
                          </a:solidFill>
                          <a:effectLst/>
                          <a:uLnTx/>
                          <a:uFillTx/>
                          <a:latin typeface="+mn-lt"/>
                          <a:ea typeface="+mn-ea"/>
                          <a:cs typeface="+mn-cs"/>
                          <a:hlinkClick r:id="rId8" action="ppaction://hlinksldjump"/>
                        </a:rPr>
                        <a:t>Mettre en place des mesures comparatif d’impact d'une application lors d’une montée de version ou un remplacement d’application</a:t>
                      </a:r>
                      <a:endParaRPr kumimoji="0" lang="fr-FR" sz="1000" b="0" i="0" u="none" strike="noStrike" kern="1200" cap="none" spc="0" normalizeH="0" baseline="0" noProof="0" dirty="0" smtClean="0">
                        <a:ln>
                          <a:noFill/>
                        </a:ln>
                        <a:solidFill>
                          <a:prstClr val="black"/>
                        </a:solidFill>
                        <a:effectLst/>
                        <a:uLnTx/>
                        <a:uFillTx/>
                        <a:latin typeface="+mn-lt"/>
                        <a:ea typeface="+mn-ea"/>
                        <a:cs typeface="+mn-cs"/>
                      </a:endParaRPr>
                    </a:p>
                  </a:txBody>
                  <a:tcPr marL="6350" marR="6350" marT="6350" marB="0" anchor="ctr"/>
                </a:tc>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000" b="0" i="0" u="none" strike="noStrike" kern="1200" cap="none" spc="0" normalizeH="0" baseline="0" noProof="0" dirty="0" smtClean="0">
                          <a:ln>
                            <a:noFill/>
                          </a:ln>
                          <a:solidFill>
                            <a:prstClr val="black"/>
                          </a:solidFill>
                          <a:effectLst/>
                          <a:uLnTx/>
                          <a:uFillTx/>
                          <a:latin typeface="+mn-lt"/>
                          <a:ea typeface="+mn-ea"/>
                          <a:cs typeface="+mn-cs"/>
                          <a:hlinkClick r:id="rId9" action="ppaction://hlinksldjump"/>
                        </a:rPr>
                        <a:t>Mettre en place un « Circuit </a:t>
                      </a:r>
                      <a:r>
                        <a:rPr kumimoji="0" lang="fr-FR" sz="1000" b="0" i="0" u="none" strike="noStrike" kern="1200" cap="none" spc="0" normalizeH="0" baseline="0" noProof="0" dirty="0" err="1" smtClean="0">
                          <a:ln>
                            <a:noFill/>
                          </a:ln>
                          <a:solidFill>
                            <a:prstClr val="black"/>
                          </a:solidFill>
                          <a:effectLst/>
                          <a:uLnTx/>
                          <a:uFillTx/>
                          <a:latin typeface="+mn-lt"/>
                          <a:ea typeface="+mn-ea"/>
                          <a:cs typeface="+mn-cs"/>
                          <a:hlinkClick r:id="rId9" action="ppaction://hlinksldjump"/>
                        </a:rPr>
                        <a:t>breaker</a:t>
                      </a:r>
                      <a:r>
                        <a:rPr kumimoji="0" lang="fr-FR" sz="1000" b="0" i="0" u="none" strike="noStrike" kern="1200" cap="none" spc="0" normalizeH="0" baseline="0" noProof="0" dirty="0" smtClean="0">
                          <a:ln>
                            <a:noFill/>
                          </a:ln>
                          <a:solidFill>
                            <a:prstClr val="black"/>
                          </a:solidFill>
                          <a:effectLst/>
                          <a:uLnTx/>
                          <a:uFillTx/>
                          <a:latin typeface="+mn-lt"/>
                          <a:ea typeface="+mn-ea"/>
                          <a:cs typeface="+mn-cs"/>
                          <a:hlinkClick r:id="rId9" action="ppaction://hlinksldjump"/>
                        </a:rPr>
                        <a:t> ». </a:t>
                      </a:r>
                      <a:endParaRPr kumimoji="0" lang="fr-FR" sz="1000" b="0" i="0" u="none" strike="noStrike" kern="1200" cap="none" spc="0" normalizeH="0" baseline="0" noProof="0" dirty="0" smtClean="0">
                        <a:ln>
                          <a:noFill/>
                        </a:ln>
                        <a:solidFill>
                          <a:prstClr val="black"/>
                        </a:solidFill>
                        <a:effectLst/>
                        <a:uLnTx/>
                        <a:uFillTx/>
                        <a:latin typeface="+mn-lt"/>
                        <a:ea typeface="+mn-ea"/>
                        <a:cs typeface="+mn-cs"/>
                      </a:endParaRPr>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10" action="ppaction://hlinksldjump"/>
                        </a:rPr>
                        <a:t>Archiver ou supprimer les données et documents après expiration de leur durée de conservation.</a:t>
                      </a:r>
                      <a:endParaRPr lang="fr-FR" sz="1000" dirty="0" smtClean="0"/>
                    </a:p>
                  </a:txBody>
                  <a:tcPr/>
                </a:tc>
                <a:extLst>
                  <a:ext uri="{0D108BD9-81ED-4DB2-BD59-A6C34878D82A}">
                    <a16:rowId xmlns:a16="http://schemas.microsoft.com/office/drawing/2014/main" val="59723624"/>
                  </a:ext>
                </a:extLst>
              </a:tr>
              <a:tr h="357307">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11" action="ppaction://hlinksldjump"/>
                        </a:rPr>
                        <a:t>Configurer le service pour transmettre depuis le serveur des contenus compressés au client qui les accepte.</a:t>
                      </a:r>
                      <a:endParaRPr lang="fr-FR" sz="1000" dirty="0" smtClean="0"/>
                    </a:p>
                  </a:txBody>
                  <a:tcPr marL="6350" marR="6350" marT="6350" marB="0" anchor="ctr"/>
                </a:tc>
                <a:tc>
                  <a:txBody>
                    <a:bodyPr/>
                    <a:lstStyle/>
                    <a:p>
                      <a:endParaRPr lang="fr-FR" sz="1000" dirty="0"/>
                    </a:p>
                  </a:txBody>
                  <a:tcPr/>
                </a:tc>
                <a:extLst>
                  <a:ext uri="{0D108BD9-81ED-4DB2-BD59-A6C34878D82A}">
                    <a16:rowId xmlns:a16="http://schemas.microsoft.com/office/drawing/2014/main" val="127966868"/>
                  </a:ext>
                </a:extLst>
              </a:tr>
              <a:tr h="357307">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12" action="ppaction://hlinksldjump"/>
                        </a:rPr>
                        <a:t>Optimiser les requêtes aux bases de données</a:t>
                      </a:r>
                      <a:endParaRPr lang="fr-FR" sz="1000" dirty="0" smtClean="0"/>
                    </a:p>
                  </a:txBody>
                  <a:tcPr marL="6350" marR="6350" marT="6350" marB="0" anchor="ctr"/>
                </a:tc>
                <a:tc>
                  <a:txBody>
                    <a:bodyPr/>
                    <a:lstStyle/>
                    <a:p>
                      <a:endParaRPr lang="fr-FR" sz="1000" dirty="0"/>
                    </a:p>
                  </a:txBody>
                  <a:tcPr/>
                </a:tc>
                <a:extLst>
                  <a:ext uri="{0D108BD9-81ED-4DB2-BD59-A6C34878D82A}">
                    <a16:rowId xmlns:a16="http://schemas.microsoft.com/office/drawing/2014/main" val="2647872327"/>
                  </a:ext>
                </a:extLst>
              </a:tr>
              <a:tr h="446634">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13" action="ppaction://hlinksldjump"/>
                        </a:rPr>
                        <a:t>Recourir à un système de cache serveur pour les données les plus utilisées.</a:t>
                      </a:r>
                      <a:endParaRPr lang="fr-FR" sz="1000" dirty="0" smtClean="0"/>
                    </a:p>
                  </a:txBody>
                  <a:tcPr/>
                </a:tc>
                <a:tc>
                  <a:txBody>
                    <a:bodyPr/>
                    <a:lstStyle/>
                    <a:p>
                      <a:endParaRPr lang="fr-FR" sz="1000"/>
                    </a:p>
                  </a:txBody>
                  <a:tcPr/>
                </a:tc>
                <a:extLst>
                  <a:ext uri="{0D108BD9-81ED-4DB2-BD59-A6C34878D82A}">
                    <a16:rowId xmlns:a16="http://schemas.microsoft.com/office/drawing/2014/main" val="496783823"/>
                  </a:ext>
                </a:extLst>
              </a:tr>
              <a:tr h="357307">
                <a:tc>
                  <a:txBody>
                    <a:bodyPr/>
                    <a:lstStyle/>
                    <a:p>
                      <a:endParaRPr lang="fr-FR" sz="1000"/>
                    </a:p>
                  </a:txBody>
                  <a:tcPr/>
                </a:tc>
                <a:tc>
                  <a:txBody>
                    <a:bodyPr/>
                    <a:lstStyle/>
                    <a:p>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14" action="ppaction://hlinksldjump"/>
                        </a:rPr>
                        <a:t>Utiliser majoritairement des composants fonctionnels natifs</a:t>
                      </a:r>
                      <a:endParaRPr lang="fr-FR" sz="1000" dirty="0" smtClean="0"/>
                    </a:p>
                  </a:txBody>
                  <a:tcPr/>
                </a:tc>
                <a:tc>
                  <a:txBody>
                    <a:bodyPr/>
                    <a:lstStyle/>
                    <a:p>
                      <a:endParaRPr lang="fr-FR" sz="1000"/>
                    </a:p>
                  </a:txBody>
                  <a:tcPr/>
                </a:tc>
                <a:extLst>
                  <a:ext uri="{0D108BD9-81ED-4DB2-BD59-A6C34878D82A}">
                    <a16:rowId xmlns:a16="http://schemas.microsoft.com/office/drawing/2014/main" val="4123147122"/>
                  </a:ext>
                </a:extLst>
              </a:tr>
              <a:tr h="357307">
                <a:tc>
                  <a:txBody>
                    <a:bodyPr/>
                    <a:lstStyle/>
                    <a:p>
                      <a:endParaRPr lang="fr-FR" sz="1000"/>
                    </a:p>
                  </a:txBody>
                  <a:tcPr/>
                </a:tc>
                <a:tc>
                  <a:txBody>
                    <a:bodyPr/>
                    <a:lstStyle/>
                    <a:p>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15" action="ppaction://hlinksldjump"/>
                        </a:rPr>
                        <a:t>Mettre en cache les données calculées souvent utilisées.</a:t>
                      </a:r>
                      <a:endParaRPr lang="fr-FR" sz="1000" dirty="0" smtClean="0"/>
                    </a:p>
                  </a:txBody>
                  <a:tcPr/>
                </a:tc>
                <a:tc>
                  <a:txBody>
                    <a:bodyPr/>
                    <a:lstStyle/>
                    <a:p>
                      <a:endParaRPr lang="fr-FR" sz="1000"/>
                    </a:p>
                  </a:txBody>
                  <a:tcPr/>
                </a:tc>
                <a:extLst>
                  <a:ext uri="{0D108BD9-81ED-4DB2-BD59-A6C34878D82A}">
                    <a16:rowId xmlns:a16="http://schemas.microsoft.com/office/drawing/2014/main" val="2552436455"/>
                  </a:ext>
                </a:extLst>
              </a:tr>
              <a:tr h="357307">
                <a:tc>
                  <a:txBody>
                    <a:bodyPr/>
                    <a:lstStyle/>
                    <a:p>
                      <a:endParaRPr lang="fr-FR" sz="1000"/>
                    </a:p>
                  </a:txBody>
                  <a:tcPr/>
                </a:tc>
                <a:tc>
                  <a:txBody>
                    <a:bodyPr/>
                    <a:lstStyle/>
                    <a:p>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16" action="ppaction://hlinksldjump"/>
                        </a:rPr>
                        <a:t>Éviter d'effectuer des requêtes SQL à l’intérieur d’une boucle.</a:t>
                      </a:r>
                      <a:endParaRPr lang="fr-FR" sz="1000" dirty="0" smtClean="0"/>
                    </a:p>
                  </a:txBody>
                  <a:tcPr/>
                </a:tc>
                <a:tc>
                  <a:txBody>
                    <a:bodyPr/>
                    <a:lstStyle/>
                    <a:p>
                      <a:endParaRPr lang="fr-FR" sz="1000"/>
                    </a:p>
                  </a:txBody>
                  <a:tcPr/>
                </a:tc>
                <a:extLst>
                  <a:ext uri="{0D108BD9-81ED-4DB2-BD59-A6C34878D82A}">
                    <a16:rowId xmlns:a16="http://schemas.microsoft.com/office/drawing/2014/main" val="3909419423"/>
                  </a:ext>
                </a:extLst>
              </a:tr>
              <a:tr h="357307">
                <a:tc>
                  <a:txBody>
                    <a:bodyPr/>
                    <a:lstStyle/>
                    <a:p>
                      <a:endParaRPr lang="fr-FR" sz="1000"/>
                    </a:p>
                  </a:txBody>
                  <a:tcPr/>
                </a:tc>
                <a:tc>
                  <a:txBody>
                    <a:bodyPr/>
                    <a:lstStyle/>
                    <a:p>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17" action="ppaction://hlinksldjump"/>
                        </a:rPr>
                        <a:t>Ne se connecter à une base de données que si nécessaire.</a:t>
                      </a:r>
                      <a:endParaRPr lang="fr-FR" sz="1000" dirty="0" smtClean="0"/>
                    </a:p>
                  </a:txBody>
                  <a:tcPr/>
                </a:tc>
                <a:tc>
                  <a:txBody>
                    <a:bodyPr/>
                    <a:lstStyle/>
                    <a:p>
                      <a:endParaRPr lang="fr-FR" sz="1000" dirty="0"/>
                    </a:p>
                  </a:txBody>
                  <a:tcPr/>
                </a:tc>
                <a:extLst>
                  <a:ext uri="{0D108BD9-81ED-4DB2-BD59-A6C34878D82A}">
                    <a16:rowId xmlns:a16="http://schemas.microsoft.com/office/drawing/2014/main" val="3327889341"/>
                  </a:ext>
                </a:extLst>
              </a:tr>
            </a:tbl>
          </a:graphicData>
        </a:graphic>
      </p:graphicFrame>
    </p:spTree>
    <p:extLst>
      <p:ext uri="{BB962C8B-B14F-4D97-AF65-F5344CB8AC3E}">
        <p14:creationId xmlns:p14="http://schemas.microsoft.com/office/powerpoint/2010/main" val="150734637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a:solidFill>
                  <a:schemeClr val="bg1"/>
                </a:solidFill>
              </a:rPr>
              <a:t>Documents et outils associés</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7" name="ZoneTexte 6"/>
          <p:cNvSpPr txBox="1"/>
          <p:nvPr/>
        </p:nvSpPr>
        <p:spPr>
          <a:xfrm>
            <a:off x="44605" y="1325563"/>
            <a:ext cx="12101099" cy="2862322"/>
          </a:xfrm>
          <a:prstGeom prst="rect">
            <a:avLst/>
          </a:prstGeom>
          <a:noFill/>
        </p:spPr>
        <p:txBody>
          <a:bodyPr wrap="square" rtlCol="0">
            <a:spAutoFit/>
          </a:bodyPr>
          <a:lstStyle/>
          <a:p>
            <a:pPr lvl="0" eaLnBrk="0" fontAlgn="base" hangingPunct="0">
              <a:spcBef>
                <a:spcPct val="0"/>
              </a:spcBef>
              <a:spcAft>
                <a:spcPct val="0"/>
              </a:spcAft>
            </a:pPr>
            <a:endParaRPr lang="fr-FR"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fr-FR" b="1" dirty="0">
                <a:latin typeface="Arial" panose="020B0604020202020204" pitchFamily="34" charset="0"/>
                <a:cs typeface="Arial" panose="020B0604020202020204" pitchFamily="34" charset="0"/>
              </a:rPr>
              <a:t>Code source et documentation technique associée </a:t>
            </a:r>
            <a:r>
              <a:rPr lang="fr-FR" dirty="0">
                <a:latin typeface="Arial" panose="020B0604020202020204" pitchFamily="34" charset="0"/>
                <a:cs typeface="Arial" panose="020B0604020202020204" pitchFamily="34" charset="0"/>
              </a:rPr>
              <a:t>: L’intégration d’une logique d’écoconception dans le code peut se faire à travers la réduction de la complexité algorithmique, l’utilisation de techniques d’optimisation énergétique ou la gestion des données (réduction de la taille des bases de données, par exemple</a:t>
            </a:r>
            <a:r>
              <a:rPr lang="fr-FR" dirty="0" smtClean="0">
                <a:latin typeface="Arial" panose="020B0604020202020204" pitchFamily="34" charset="0"/>
                <a:cs typeface="Arial" panose="020B0604020202020204" pitchFamily="34" charset="0"/>
              </a:rPr>
              <a:t>).</a:t>
            </a:r>
          </a:p>
          <a:p>
            <a:pPr lvl="0" eaLnBrk="0" fontAlgn="base" hangingPunct="0">
              <a:spcBef>
                <a:spcPct val="0"/>
              </a:spcBef>
              <a:spcAft>
                <a:spcPct val="0"/>
              </a:spcAft>
            </a:pPr>
            <a:endParaRPr lang="fr-FR"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fr-FR" b="1" dirty="0" smtClean="0">
                <a:latin typeface="Arial" panose="020B0604020202020204" pitchFamily="34" charset="0"/>
                <a:cs typeface="Arial" panose="020B0604020202020204" pitchFamily="34" charset="0"/>
              </a:rPr>
              <a:t>Revue </a:t>
            </a:r>
            <a:r>
              <a:rPr lang="fr-FR" b="1" dirty="0">
                <a:latin typeface="Arial" panose="020B0604020202020204" pitchFamily="34" charset="0"/>
                <a:cs typeface="Arial" panose="020B0604020202020204" pitchFamily="34" charset="0"/>
              </a:rPr>
              <a:t>de code </a:t>
            </a:r>
            <a:r>
              <a:rPr lang="fr-FR" dirty="0">
                <a:latin typeface="Arial" panose="020B0604020202020204" pitchFamily="34" charset="0"/>
                <a:cs typeface="Arial" panose="020B0604020202020204" pitchFamily="34" charset="0"/>
              </a:rPr>
              <a:t>: Ce processus peut inclure des critères d'écoconception lors de la validation des développements, en vérifiant que le code respecte les bonnes pratiques en termes d'optimisation des ressources et de durabilité</a:t>
            </a:r>
            <a:r>
              <a:rPr lang="fr-FR" dirty="0" smtClean="0">
                <a:latin typeface="Arial" panose="020B0604020202020204" pitchFamily="34" charset="0"/>
                <a:cs typeface="Arial" panose="020B0604020202020204" pitchFamily="34" charset="0"/>
              </a:rPr>
              <a:t>.</a:t>
            </a:r>
          </a:p>
          <a:p>
            <a:pPr lvl="0" eaLnBrk="0" fontAlgn="base" hangingPunct="0">
              <a:spcBef>
                <a:spcPct val="0"/>
              </a:spcBef>
              <a:spcAft>
                <a:spcPct val="0"/>
              </a:spcAft>
            </a:pPr>
            <a:endParaRPr lang="fr-FR"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fr-FR" b="1" dirty="0" smtClean="0">
                <a:latin typeface="Arial" panose="020B0604020202020204" pitchFamily="34" charset="0"/>
                <a:cs typeface="Arial" panose="020B0604020202020204" pitchFamily="34" charset="0"/>
              </a:rPr>
              <a:t>Tests </a:t>
            </a:r>
            <a:r>
              <a:rPr lang="fr-FR" b="1" dirty="0">
                <a:latin typeface="Arial" panose="020B0604020202020204" pitchFamily="34" charset="0"/>
                <a:cs typeface="Arial" panose="020B0604020202020204" pitchFamily="34" charset="0"/>
              </a:rPr>
              <a:t>unitaires et d'intégration</a:t>
            </a:r>
            <a:r>
              <a:rPr lang="fr-FR" dirty="0">
                <a:latin typeface="Arial" panose="020B0604020202020204" pitchFamily="34" charset="0"/>
                <a:cs typeface="Arial" panose="020B0604020202020204" pitchFamily="34" charset="0"/>
              </a:rPr>
              <a:t> : Ces tests peuvent être utilisés pour valider des critères écologiques, par exemple en mesurant l'impact énergétique des différentes versions du système.</a:t>
            </a:r>
          </a:p>
        </p:txBody>
      </p:sp>
    </p:spTree>
    <p:extLst>
      <p:ext uri="{BB962C8B-B14F-4D97-AF65-F5344CB8AC3E}">
        <p14:creationId xmlns:p14="http://schemas.microsoft.com/office/powerpoint/2010/main" val="236386714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a:bodyPr>
          <a:lstStyle/>
          <a:p>
            <a:pPr lvl="0"/>
            <a:r>
              <a:rPr lang="fr-FR" sz="3200" dirty="0">
                <a:solidFill>
                  <a:prstClr val="white"/>
                </a:solidFill>
              </a:rPr>
              <a:t>Bonnes pratiques par phase métier :</a:t>
            </a:r>
          </a:p>
          <a:p>
            <a:r>
              <a:rPr lang="fr-FR" sz="4400" dirty="0" smtClean="0"/>
              <a:t>environnements </a:t>
            </a:r>
            <a:r>
              <a:rPr lang="fr-FR" sz="4400" dirty="0"/>
              <a:t>: Conception de l’hébergement numérique</a:t>
            </a:r>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273284605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smtClean="0">
                <a:solidFill>
                  <a:schemeClr val="bg1"/>
                </a:solidFill>
              </a:rPr>
              <a:t>Environnements </a:t>
            </a:r>
            <a:r>
              <a:rPr lang="fr-FR" sz="3600" b="1" dirty="0">
                <a:solidFill>
                  <a:schemeClr val="bg1"/>
                </a:solidFill>
              </a:rPr>
              <a:t>: Conception de l’hébergement </a:t>
            </a:r>
            <a:r>
              <a:rPr lang="fr-FR" sz="3600" b="1" dirty="0" smtClean="0">
                <a:solidFill>
                  <a:schemeClr val="bg1"/>
                </a:solidFill>
              </a:rPr>
              <a:t>numérique</a:t>
            </a:r>
            <a:endParaRPr lang="fr-FR" sz="3600" b="1" dirty="0">
              <a:solidFill>
                <a:schemeClr val="bg1"/>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3" name="Tableau 2"/>
          <p:cNvGraphicFramePr>
            <a:graphicFrameLocks noGrp="1"/>
          </p:cNvGraphicFramePr>
          <p:nvPr>
            <p:extLst>
              <p:ext uri="{D42A27DB-BD31-4B8C-83A1-F6EECF244321}">
                <p14:modId xmlns:p14="http://schemas.microsoft.com/office/powerpoint/2010/main" val="1294112688"/>
              </p:ext>
            </p:extLst>
          </p:nvPr>
        </p:nvGraphicFramePr>
        <p:xfrm>
          <a:off x="0" y="1325563"/>
          <a:ext cx="12192000" cy="4817311"/>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4162278407"/>
                    </a:ext>
                  </a:extLst>
                </a:gridCol>
                <a:gridCol w="3048000">
                  <a:extLst>
                    <a:ext uri="{9D8B030D-6E8A-4147-A177-3AD203B41FA5}">
                      <a16:colId xmlns:a16="http://schemas.microsoft.com/office/drawing/2014/main" val="108612435"/>
                    </a:ext>
                  </a:extLst>
                </a:gridCol>
                <a:gridCol w="3048000">
                  <a:extLst>
                    <a:ext uri="{9D8B030D-6E8A-4147-A177-3AD203B41FA5}">
                      <a16:colId xmlns:a16="http://schemas.microsoft.com/office/drawing/2014/main" val="972940847"/>
                    </a:ext>
                  </a:extLst>
                </a:gridCol>
                <a:gridCol w="3048000">
                  <a:extLst>
                    <a:ext uri="{9D8B030D-6E8A-4147-A177-3AD203B41FA5}">
                      <a16:colId xmlns:a16="http://schemas.microsoft.com/office/drawing/2014/main" val="2824974908"/>
                    </a:ext>
                  </a:extLst>
                </a:gridCol>
              </a:tblGrid>
              <a:tr h="529335">
                <a:tc>
                  <a:txBody>
                    <a:bodyPr/>
                    <a:lstStyle/>
                    <a:p>
                      <a:r>
                        <a:rPr lang="fr-FR" sz="1000" dirty="0" smtClean="0"/>
                        <a:t>Méthodologie facilitant l'écoconception</a:t>
                      </a:r>
                    </a:p>
                    <a:p>
                      <a:endParaRPr lang="fr-FR" sz="1000" dirty="0"/>
                    </a:p>
                  </a:txBody>
                  <a:tcPr/>
                </a:tc>
                <a:tc>
                  <a:txBody>
                    <a:bodyPr/>
                    <a:lstStyle/>
                    <a:p>
                      <a:r>
                        <a:rPr lang="fr-FR" sz="1000" dirty="0" smtClean="0"/>
                        <a:t>Réduire la consommation de ressources</a:t>
                      </a:r>
                      <a:r>
                        <a:rPr lang="fr-FR" sz="1000" baseline="0" dirty="0" smtClean="0"/>
                        <a:t> : </a:t>
                      </a:r>
                      <a:r>
                        <a:rPr lang="fr-FR" sz="1000" dirty="0" smtClean="0"/>
                        <a:t>La solution intègre des pratiques d'écoconception</a:t>
                      </a:r>
                    </a:p>
                    <a:p>
                      <a:endParaRPr lang="fr-FR" sz="1000" dirty="0"/>
                    </a:p>
                  </a:txBody>
                  <a:tcPr/>
                </a:tc>
                <a:tc>
                  <a:txBody>
                    <a:bodyPr/>
                    <a:lstStyle/>
                    <a:p>
                      <a:r>
                        <a:rPr lang="fr-FR" sz="1000" dirty="0" smtClean="0"/>
                        <a:t>Moins d'infrastructure IT nécessaire</a:t>
                      </a:r>
                    </a:p>
                  </a:txBody>
                  <a:tcPr/>
                </a:tc>
                <a:tc>
                  <a:txBody>
                    <a:bodyPr/>
                    <a:lstStyle/>
                    <a:p>
                      <a:r>
                        <a:rPr lang="fr-FR" sz="1000" dirty="0" smtClean="0"/>
                        <a:t>Réduire la consommation d'énergie</a:t>
                      </a:r>
                    </a:p>
                    <a:p>
                      <a:endParaRPr lang="fr-FR" sz="1000" dirty="0"/>
                    </a:p>
                  </a:txBody>
                  <a:tcPr/>
                </a:tc>
                <a:extLst>
                  <a:ext uri="{0D108BD9-81ED-4DB2-BD59-A6C34878D82A}">
                    <a16:rowId xmlns:a16="http://schemas.microsoft.com/office/drawing/2014/main" val="1224545264"/>
                  </a:ext>
                </a:extLst>
              </a:tr>
              <a:tr h="310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4" action="ppaction://hlinksldjump"/>
                        </a:rPr>
                        <a:t>Exposer tous les indicateurs des fournisseurs</a:t>
                      </a:r>
                      <a:endParaRPr lang="fr-FR" sz="1000" dirty="0" smtClean="0"/>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5" action="ppaction://hlinksldjump"/>
                        </a:rPr>
                        <a:t>Installer le minimum requis sur le serveur.</a:t>
                      </a:r>
                      <a:endParaRPr lang="fr-FR" sz="10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6" action="ppaction://hlinksldjump"/>
                        </a:rPr>
                        <a:t>Attribuer la mémoire en fonction de l'usage réel</a:t>
                      </a:r>
                      <a:endParaRPr lang="fr-FR" sz="10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7" action="ppaction://hlinksldjump"/>
                        </a:rPr>
                        <a:t>Désactiver les cœurs non utilisés</a:t>
                      </a:r>
                      <a:endParaRPr lang="fr-FR" sz="1000" dirty="0" smtClean="0"/>
                    </a:p>
                  </a:txBody>
                  <a:tcPr/>
                </a:tc>
                <a:extLst>
                  <a:ext uri="{0D108BD9-81ED-4DB2-BD59-A6C34878D82A}">
                    <a16:rowId xmlns:a16="http://schemas.microsoft.com/office/drawing/2014/main" val="554156870"/>
                  </a:ext>
                </a:extLst>
              </a:tr>
              <a:tr h="382297">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8" action="ppaction://hlinksldjump"/>
                        </a:rPr>
                        <a:t>Réduire au nécessaire les logs des serveurs.</a:t>
                      </a:r>
                      <a:endParaRPr lang="fr-FR" sz="10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9" action="ppaction://hlinksldjump"/>
                        </a:rPr>
                        <a:t>Attribuer le nombre de cœurs en fonction de l'usage réel</a:t>
                      </a:r>
                      <a:endParaRPr lang="fr-FR" sz="10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10" action="ppaction://hlinksldjump"/>
                        </a:rPr>
                        <a:t>Optimiser l'efficacité énergétique des serveurs. </a:t>
                      </a:r>
                      <a:endParaRPr lang="fr-FR" sz="1000" dirty="0" smtClean="0"/>
                    </a:p>
                  </a:txBody>
                  <a:tcPr/>
                </a:tc>
                <a:extLst>
                  <a:ext uri="{0D108BD9-81ED-4DB2-BD59-A6C34878D82A}">
                    <a16:rowId xmlns:a16="http://schemas.microsoft.com/office/drawing/2014/main" val="2181656467"/>
                  </a:ext>
                </a:extLst>
              </a:tr>
              <a:tr h="382297">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fr-FR" sz="1000" b="0" i="0" u="none" strike="noStrike" dirty="0" smtClean="0">
                        <a:solidFill>
                          <a:srgbClr val="000000"/>
                        </a:solidFill>
                        <a:effectLst/>
                        <a:latin typeface="Calibri" panose="020F0502020204030204" pitchFamily="34" charset="0"/>
                      </a:endParaRPr>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11" action="ppaction://hlinksldjump"/>
                        </a:rPr>
                        <a:t>Optimiser la gestion des index</a:t>
                      </a:r>
                      <a:endParaRPr lang="fr-FR" sz="1000" dirty="0" smtClean="0"/>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12" action="ppaction://hlinksldjump"/>
                        </a:rPr>
                        <a:t>Dimensionner chaque typologie d'environnement par rapport à ces usages spécifiques</a:t>
                      </a:r>
                      <a:endParaRPr lang="fr-FR" sz="10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11" action="ppaction://hlinksldjump"/>
                        </a:rPr>
                        <a:t>Désactiver les environnements non utilisées</a:t>
                      </a:r>
                      <a:endParaRPr lang="fr-FR" sz="1000" dirty="0" smtClean="0"/>
                    </a:p>
                  </a:txBody>
                  <a:tcPr/>
                </a:tc>
                <a:extLst>
                  <a:ext uri="{0D108BD9-81ED-4DB2-BD59-A6C34878D82A}">
                    <a16:rowId xmlns:a16="http://schemas.microsoft.com/office/drawing/2014/main" val="59723624"/>
                  </a:ext>
                </a:extLst>
              </a:tr>
              <a:tr h="529335">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000" dirty="0" smtClean="0"/>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12" action="ppaction://hlinksldjump"/>
                        </a:rPr>
                        <a:t>Dans le cas des machines mutualisées, dimensionner par rapport au besoin maximal à instant t (et non en cumulatif global)</a:t>
                      </a:r>
                      <a:endParaRPr lang="fr-FR" sz="1000" dirty="0" smtClean="0"/>
                    </a:p>
                  </a:txBody>
                  <a:tcPr/>
                </a:tc>
                <a:tc>
                  <a:txBody>
                    <a:bodyPr/>
                    <a:lstStyle/>
                    <a:p>
                      <a:endParaRPr lang="fr-FR" sz="1000"/>
                    </a:p>
                  </a:txBody>
                  <a:tcPr/>
                </a:tc>
                <a:extLst>
                  <a:ext uri="{0D108BD9-81ED-4DB2-BD59-A6C34878D82A}">
                    <a16:rowId xmlns:a16="http://schemas.microsoft.com/office/drawing/2014/main" val="127966868"/>
                  </a:ext>
                </a:extLst>
              </a:tr>
              <a:tr h="594276">
                <a:tc>
                  <a:txBody>
                    <a:bodyPr/>
                    <a:lstStyle/>
                    <a:p>
                      <a:pPr algn="ctr" fontAlgn="ctr"/>
                      <a:endParaRPr lang="fr-FR" sz="1000" b="0" i="0" u="none" strike="noStrike" dirty="0">
                        <a:solidFill>
                          <a:srgbClr val="000000"/>
                        </a:solidFill>
                        <a:effectLst/>
                        <a:latin typeface="Calibri" panose="020F0502020204030204" pitchFamily="34" charset="0"/>
                      </a:endParaRPr>
                    </a:p>
                  </a:txBody>
                  <a:tcPr marL="6350" marR="6350" marT="6350" marB="0" anchor="ctr"/>
                </a:tc>
                <a:tc>
                  <a:txBody>
                    <a:bodyPr/>
                    <a:lstStyle/>
                    <a:p>
                      <a:endParaRPr lang="fr-FR" sz="1000" dirty="0"/>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13" action="ppaction://hlinksldjump"/>
                        </a:rPr>
                        <a:t>Eviter la duplication des machines virtuelles : redondance de partition seulement lorsque cela est nécessaire pour ce type d'environnement</a:t>
                      </a:r>
                      <a:endParaRPr lang="fr-FR" sz="1000" dirty="0" smtClean="0"/>
                    </a:p>
                    <a:p>
                      <a:endParaRPr lang="fr-FR" sz="1000" dirty="0"/>
                    </a:p>
                  </a:txBody>
                  <a:tcPr marL="6350" marR="6350" marT="6350" marB="0" anchor="ctr"/>
                </a:tc>
                <a:tc>
                  <a:txBody>
                    <a:bodyPr/>
                    <a:lstStyle/>
                    <a:p>
                      <a:endParaRPr lang="fr-FR" sz="1000"/>
                    </a:p>
                  </a:txBody>
                  <a:tcPr/>
                </a:tc>
                <a:extLst>
                  <a:ext uri="{0D108BD9-81ED-4DB2-BD59-A6C34878D82A}">
                    <a16:rowId xmlns:a16="http://schemas.microsoft.com/office/drawing/2014/main" val="2647872327"/>
                  </a:ext>
                </a:extLst>
              </a:tr>
              <a:tr h="248370">
                <a:tc>
                  <a:txBody>
                    <a:bodyPr/>
                    <a:lstStyle/>
                    <a:p>
                      <a:endParaRPr lang="fr-FR" sz="1000" dirty="0"/>
                    </a:p>
                  </a:txBody>
                  <a:tcPr/>
                </a:tc>
                <a:tc>
                  <a:txBody>
                    <a:bodyPr/>
                    <a:lstStyle/>
                    <a:p>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14" action="ppaction://hlinksldjump"/>
                        </a:rPr>
                        <a:t>Mettre en place un système de sauvegarde incrémentiel</a:t>
                      </a:r>
                      <a:endParaRPr lang="fr-FR" sz="1000" dirty="0" smtClean="0"/>
                    </a:p>
                  </a:txBody>
                  <a:tcPr marL="6350" marR="6350" marT="6350" marB="0" anchor="ctr"/>
                </a:tc>
                <a:tc>
                  <a:txBody>
                    <a:bodyPr/>
                    <a:lstStyle/>
                    <a:p>
                      <a:endParaRPr lang="fr-FR" sz="1000"/>
                    </a:p>
                  </a:txBody>
                  <a:tcPr/>
                </a:tc>
                <a:extLst>
                  <a:ext uri="{0D108BD9-81ED-4DB2-BD59-A6C34878D82A}">
                    <a16:rowId xmlns:a16="http://schemas.microsoft.com/office/drawing/2014/main" val="4123147122"/>
                  </a:ext>
                </a:extLst>
              </a:tr>
              <a:tr h="300201">
                <a:tc>
                  <a:txBody>
                    <a:bodyPr/>
                    <a:lstStyle/>
                    <a:p>
                      <a:endParaRPr lang="fr-FR" sz="1000"/>
                    </a:p>
                  </a:txBody>
                  <a:tcPr/>
                </a:tc>
                <a:tc>
                  <a:txBody>
                    <a:bodyPr/>
                    <a:lstStyle/>
                    <a:p>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15" action="ppaction://hlinksldjump"/>
                        </a:rPr>
                        <a:t>Dimensionner la taille du parc physique en adéquation avec le volume de machines virtuelles à exécuter</a:t>
                      </a:r>
                      <a:endParaRPr lang="fr-FR" sz="1000" dirty="0" smtClean="0"/>
                    </a:p>
                  </a:txBody>
                  <a:tcPr marL="6350" marR="6350" marT="6350" marB="0" anchor="ctr"/>
                </a:tc>
                <a:tc>
                  <a:txBody>
                    <a:bodyPr/>
                    <a:lstStyle/>
                    <a:p>
                      <a:endParaRPr lang="fr-FR" sz="1000"/>
                    </a:p>
                  </a:txBody>
                  <a:tcPr/>
                </a:tc>
                <a:extLst>
                  <a:ext uri="{0D108BD9-81ED-4DB2-BD59-A6C34878D82A}">
                    <a16:rowId xmlns:a16="http://schemas.microsoft.com/office/drawing/2014/main" val="2552436455"/>
                  </a:ext>
                </a:extLst>
              </a:tr>
              <a:tr h="529335">
                <a:tc>
                  <a:txBody>
                    <a:bodyPr/>
                    <a:lstStyle/>
                    <a:p>
                      <a:endParaRPr lang="fr-FR" sz="1000"/>
                    </a:p>
                  </a:txBody>
                  <a:tcPr/>
                </a:tc>
                <a:tc>
                  <a:txBody>
                    <a:bodyPr/>
                    <a:lstStyle/>
                    <a:p>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16" action="ppaction://hlinksldjump"/>
                        </a:rPr>
                        <a:t>Optimiser la sollicitation des environnements de développement, de </a:t>
                      </a:r>
                      <a:r>
                        <a:rPr lang="fr-FR" sz="1000" dirty="0" err="1" smtClean="0">
                          <a:hlinkClick r:id="rId16" action="ppaction://hlinksldjump"/>
                        </a:rPr>
                        <a:t>préproduction</a:t>
                      </a:r>
                      <a:r>
                        <a:rPr lang="fr-FR" sz="1000" dirty="0" smtClean="0">
                          <a:hlinkClick r:id="rId16" action="ppaction://hlinksldjump"/>
                        </a:rPr>
                        <a:t> ou de test en fonction de ses besoins</a:t>
                      </a:r>
                      <a:endParaRPr lang="fr-FR" sz="1000" dirty="0" smtClean="0"/>
                    </a:p>
                  </a:txBody>
                  <a:tcPr/>
                </a:tc>
                <a:tc>
                  <a:txBody>
                    <a:bodyPr/>
                    <a:lstStyle/>
                    <a:p>
                      <a:endParaRPr lang="fr-FR" sz="1000"/>
                    </a:p>
                  </a:txBody>
                  <a:tcPr/>
                </a:tc>
                <a:extLst>
                  <a:ext uri="{0D108BD9-81ED-4DB2-BD59-A6C34878D82A}">
                    <a16:rowId xmlns:a16="http://schemas.microsoft.com/office/drawing/2014/main" val="3909419423"/>
                  </a:ext>
                </a:extLst>
              </a:tr>
              <a:tr h="248370">
                <a:tc>
                  <a:txBody>
                    <a:bodyPr/>
                    <a:lstStyle/>
                    <a:p>
                      <a:endParaRPr lang="fr-FR" sz="1000"/>
                    </a:p>
                  </a:txBody>
                  <a:tcPr/>
                </a:tc>
                <a:tc>
                  <a:txBody>
                    <a:bodyPr/>
                    <a:lstStyle/>
                    <a:p>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17" action="ppaction://hlinksldjump"/>
                        </a:rPr>
                        <a:t>Les VM sont commandées au juste timing </a:t>
                      </a:r>
                      <a:endParaRPr lang="fr-FR" sz="1000" dirty="0" smtClean="0"/>
                    </a:p>
                  </a:txBody>
                  <a:tcPr/>
                </a:tc>
                <a:tc>
                  <a:txBody>
                    <a:bodyPr/>
                    <a:lstStyle/>
                    <a:p>
                      <a:endParaRPr lang="fr-FR" sz="1000"/>
                    </a:p>
                  </a:txBody>
                  <a:tcPr/>
                </a:tc>
                <a:extLst>
                  <a:ext uri="{0D108BD9-81ED-4DB2-BD59-A6C34878D82A}">
                    <a16:rowId xmlns:a16="http://schemas.microsoft.com/office/drawing/2014/main" val="3327889341"/>
                  </a:ext>
                </a:extLst>
              </a:tr>
              <a:tr h="382297">
                <a:tc>
                  <a:txBody>
                    <a:bodyPr/>
                    <a:lstStyle/>
                    <a:p>
                      <a:endParaRPr lang="fr-FR" sz="1000"/>
                    </a:p>
                  </a:txBody>
                  <a:tcPr/>
                </a:tc>
                <a:tc>
                  <a:txBody>
                    <a:bodyPr/>
                    <a:lstStyle/>
                    <a:p>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18" action="ppaction://hlinksldjump"/>
                        </a:rPr>
                        <a:t>Adapter la qualité de service et le niveau de disponibilité</a:t>
                      </a:r>
                      <a:endParaRPr lang="fr-FR" sz="1000" dirty="0" smtClean="0"/>
                    </a:p>
                  </a:txBody>
                  <a:tcPr/>
                </a:tc>
                <a:tc>
                  <a:txBody>
                    <a:bodyPr/>
                    <a:lstStyle/>
                    <a:p>
                      <a:endParaRPr lang="fr-FR" sz="1000" dirty="0"/>
                    </a:p>
                  </a:txBody>
                  <a:tcPr/>
                </a:tc>
                <a:extLst>
                  <a:ext uri="{0D108BD9-81ED-4DB2-BD59-A6C34878D82A}">
                    <a16:rowId xmlns:a16="http://schemas.microsoft.com/office/drawing/2014/main" val="4181382742"/>
                  </a:ext>
                </a:extLst>
              </a:tr>
              <a:tr h="248370">
                <a:tc>
                  <a:txBody>
                    <a:bodyPr/>
                    <a:lstStyle/>
                    <a:p>
                      <a:endParaRPr lang="fr-FR" sz="1000"/>
                    </a:p>
                  </a:txBody>
                  <a:tcPr/>
                </a:tc>
                <a:tc>
                  <a:txBody>
                    <a:bodyPr/>
                    <a:lstStyle/>
                    <a:p>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0" i="0" u="none" strike="noStrike" dirty="0" smtClean="0">
                          <a:solidFill>
                            <a:srgbClr val="000000"/>
                          </a:solidFill>
                          <a:effectLst/>
                          <a:latin typeface="Calibri" panose="020F0502020204030204" pitchFamily="34" charset="0"/>
                          <a:hlinkClick r:id="rId19" action="ppaction://hlinksldjump"/>
                        </a:rPr>
                        <a:t>Les VM sont commandées au juste besoin</a:t>
                      </a:r>
                      <a:r>
                        <a:rPr lang="fr-FR" sz="1000" b="0" i="0" u="none" strike="noStrike" dirty="0" smtClean="0">
                          <a:solidFill>
                            <a:srgbClr val="FF0000"/>
                          </a:solidFill>
                          <a:effectLst/>
                          <a:latin typeface="Calibri" panose="020F0502020204030204" pitchFamily="34" charset="0"/>
                          <a:hlinkClick r:id="rId19" action="ppaction://hlinksldjump"/>
                        </a:rPr>
                        <a:t> </a:t>
                      </a:r>
                      <a:endParaRPr lang="fr-FR" sz="1000" b="0" i="0" u="none" strike="noStrike" dirty="0" smtClean="0">
                        <a:solidFill>
                          <a:srgbClr val="000000"/>
                        </a:solidFill>
                        <a:effectLst/>
                        <a:latin typeface="Calibri" panose="020F0502020204030204" pitchFamily="34" charset="0"/>
                      </a:endParaRPr>
                    </a:p>
                  </a:txBody>
                  <a:tcPr/>
                </a:tc>
                <a:tc>
                  <a:txBody>
                    <a:bodyPr/>
                    <a:lstStyle/>
                    <a:p>
                      <a:endParaRPr lang="fr-FR" sz="1000" dirty="0"/>
                    </a:p>
                  </a:txBody>
                  <a:tcPr/>
                </a:tc>
                <a:extLst>
                  <a:ext uri="{0D108BD9-81ED-4DB2-BD59-A6C34878D82A}">
                    <a16:rowId xmlns:a16="http://schemas.microsoft.com/office/drawing/2014/main" val="584163202"/>
                  </a:ext>
                </a:extLst>
              </a:tr>
            </a:tbl>
          </a:graphicData>
        </a:graphic>
      </p:graphicFrame>
    </p:spTree>
    <p:extLst>
      <p:ext uri="{BB962C8B-B14F-4D97-AF65-F5344CB8AC3E}">
        <p14:creationId xmlns:p14="http://schemas.microsoft.com/office/powerpoint/2010/main" val="115424583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a:solidFill>
                  <a:schemeClr val="bg1"/>
                </a:solidFill>
              </a:rPr>
              <a:t>Documents et outils associés</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4" name="ZoneTexte 3"/>
          <p:cNvSpPr txBox="1"/>
          <p:nvPr/>
        </p:nvSpPr>
        <p:spPr>
          <a:xfrm>
            <a:off x="1" y="1484671"/>
            <a:ext cx="11897032" cy="1200329"/>
          </a:xfrm>
          <a:prstGeom prst="rect">
            <a:avLst/>
          </a:prstGeom>
          <a:noFill/>
        </p:spPr>
        <p:txBody>
          <a:bodyPr wrap="square" rtlCol="0">
            <a:spAutoFit/>
          </a:bodyPr>
          <a:lstStyle/>
          <a:p>
            <a:pPr marL="285750" indent="-285750" fontAlgn="b">
              <a:buFont typeface="Arial" panose="020B0604020202020204" pitchFamily="34" charset="0"/>
              <a:buChar char="•"/>
            </a:pPr>
            <a:r>
              <a:rPr lang="fr-FR" b="1" dirty="0" smtClean="0"/>
              <a:t>INVE</a:t>
            </a:r>
            <a:endParaRPr lang="fr-FR" b="1" dirty="0"/>
          </a:p>
          <a:p>
            <a:pPr marL="285750" indent="-285750" fontAlgn="b">
              <a:buFont typeface="Arial" panose="020B0604020202020204" pitchFamily="34" charset="0"/>
              <a:buChar char="•"/>
            </a:pPr>
            <a:r>
              <a:rPr lang="fr-FR" b="1" dirty="0"/>
              <a:t>Document de </a:t>
            </a:r>
            <a:r>
              <a:rPr lang="fr-FR" b="1" dirty="0" err="1"/>
              <a:t>mapping</a:t>
            </a:r>
            <a:r>
              <a:rPr lang="fr-FR" b="1" dirty="0"/>
              <a:t> (fichier </a:t>
            </a:r>
            <a:r>
              <a:rPr lang="fr-FR" b="1" dirty="0" err="1"/>
              <a:t>excel</a:t>
            </a:r>
            <a:r>
              <a:rPr lang="fr-FR" b="1" dirty="0"/>
              <a:t>) de DASI que pour les RF</a:t>
            </a:r>
          </a:p>
          <a:p>
            <a:pPr marL="285750" indent="-285750" fontAlgn="b">
              <a:buFont typeface="Arial" panose="020B0604020202020204" pitchFamily="34" charset="0"/>
              <a:buChar char="•"/>
            </a:pPr>
            <a:r>
              <a:rPr lang="fr-FR" b="1" dirty="0"/>
              <a:t>Document du CSH. </a:t>
            </a:r>
            <a:br>
              <a:rPr lang="fr-FR" b="1" dirty="0"/>
            </a:br>
            <a:endParaRPr lang="fr-FR" b="1" dirty="0"/>
          </a:p>
        </p:txBody>
      </p:sp>
    </p:spTree>
    <p:extLst>
      <p:ext uri="{BB962C8B-B14F-4D97-AF65-F5344CB8AC3E}">
        <p14:creationId xmlns:p14="http://schemas.microsoft.com/office/powerpoint/2010/main" val="46532206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a:bodyPr>
          <a:lstStyle/>
          <a:p>
            <a:pPr lvl="0"/>
            <a:r>
              <a:rPr lang="fr-FR" sz="3200" dirty="0">
                <a:solidFill>
                  <a:prstClr val="white"/>
                </a:solidFill>
              </a:rPr>
              <a:t>Bonnes pratiques par phase métier :</a:t>
            </a:r>
          </a:p>
          <a:p>
            <a:r>
              <a:rPr lang="fr-FR" sz="4400" dirty="0" smtClean="0"/>
              <a:t>RUN </a:t>
            </a:r>
            <a:r>
              <a:rPr lang="fr-FR" sz="4400" dirty="0"/>
              <a:t>: Maintenance &amp; fin de vie </a:t>
            </a:r>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18664270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smtClean="0">
                <a:solidFill>
                  <a:schemeClr val="bg1"/>
                </a:solidFill>
              </a:rPr>
              <a:t>RUN </a:t>
            </a:r>
            <a:r>
              <a:rPr lang="fr-FR" sz="3600" b="1" dirty="0">
                <a:solidFill>
                  <a:schemeClr val="bg1"/>
                </a:solidFill>
              </a:rPr>
              <a:t>: Maintenance &amp; fin de vie </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3" name="Tableau 2"/>
          <p:cNvGraphicFramePr>
            <a:graphicFrameLocks noGrp="1"/>
          </p:cNvGraphicFramePr>
          <p:nvPr>
            <p:extLst>
              <p:ext uri="{D42A27DB-BD31-4B8C-83A1-F6EECF244321}">
                <p14:modId xmlns:p14="http://schemas.microsoft.com/office/powerpoint/2010/main" val="2647655354"/>
              </p:ext>
            </p:extLst>
          </p:nvPr>
        </p:nvGraphicFramePr>
        <p:xfrm>
          <a:off x="0" y="1325560"/>
          <a:ext cx="12192000" cy="4651452"/>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4162278407"/>
                    </a:ext>
                  </a:extLst>
                </a:gridCol>
                <a:gridCol w="4064000">
                  <a:extLst>
                    <a:ext uri="{9D8B030D-6E8A-4147-A177-3AD203B41FA5}">
                      <a16:colId xmlns:a16="http://schemas.microsoft.com/office/drawing/2014/main" val="108612435"/>
                    </a:ext>
                  </a:extLst>
                </a:gridCol>
                <a:gridCol w="4064000">
                  <a:extLst>
                    <a:ext uri="{9D8B030D-6E8A-4147-A177-3AD203B41FA5}">
                      <a16:colId xmlns:a16="http://schemas.microsoft.com/office/drawing/2014/main" val="972940847"/>
                    </a:ext>
                  </a:extLst>
                </a:gridCol>
              </a:tblGrid>
              <a:tr h="336985">
                <a:tc>
                  <a:txBody>
                    <a:bodyPr/>
                    <a:lstStyle/>
                    <a:p>
                      <a:r>
                        <a:rPr lang="fr-FR" sz="1200" dirty="0" smtClean="0"/>
                        <a:t>Méthodologie facilitant l'écoconception</a:t>
                      </a:r>
                    </a:p>
                    <a:p>
                      <a:endParaRPr lang="fr-FR" sz="1200" dirty="0"/>
                    </a:p>
                  </a:txBody>
                  <a:tcPr/>
                </a:tc>
                <a:tc>
                  <a:txBody>
                    <a:bodyPr/>
                    <a:lstStyle/>
                    <a:p>
                      <a:r>
                        <a:rPr lang="fr-FR" sz="1200" dirty="0" smtClean="0"/>
                        <a:t>Moins d'infrastructure IT nécessaire</a:t>
                      </a:r>
                    </a:p>
                  </a:txBody>
                  <a:tcPr/>
                </a:tc>
                <a:tc>
                  <a:txBody>
                    <a:bodyPr/>
                    <a:lstStyle/>
                    <a:p>
                      <a:r>
                        <a:rPr lang="fr-FR" sz="1200" dirty="0" smtClean="0"/>
                        <a:t>Libérer ressources IT</a:t>
                      </a:r>
                    </a:p>
                  </a:txBody>
                  <a:tcPr/>
                </a:tc>
                <a:extLst>
                  <a:ext uri="{0D108BD9-81ED-4DB2-BD59-A6C34878D82A}">
                    <a16:rowId xmlns:a16="http://schemas.microsoft.com/office/drawing/2014/main" val="1224545264"/>
                  </a:ext>
                </a:extLst>
              </a:tr>
              <a:tr h="2097126">
                <a:tc>
                  <a:txBody>
                    <a:bodyPr/>
                    <a:lstStyle/>
                    <a:p>
                      <a:pPr algn="ctr" fontAlgn="ctr"/>
                      <a:r>
                        <a:rPr lang="fr-FR" sz="1200" b="0" i="0" u="none" strike="noStrike" dirty="0">
                          <a:solidFill>
                            <a:srgbClr val="000000"/>
                          </a:solidFill>
                          <a:effectLst/>
                          <a:latin typeface="Calibri" panose="020F0502020204030204" pitchFamily="34" charset="0"/>
                          <a:hlinkClick r:id="rId4" action="ppaction://hlinksldjump"/>
                        </a:rPr>
                        <a:t>Définir un responsable produit tout au long du cycle de vie</a:t>
                      </a:r>
                      <a:endParaRPr lang="fr-FR" sz="12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200" b="0" i="0" u="none" strike="noStrike" dirty="0">
                          <a:solidFill>
                            <a:srgbClr val="FF0000"/>
                          </a:solidFill>
                          <a:effectLst/>
                          <a:latin typeface="Calibri" panose="020F0502020204030204" pitchFamily="34" charset="0"/>
                          <a:hlinkClick r:id="rId5" action="ppaction://hlinksldjump"/>
                        </a:rPr>
                        <a:t>Dimensionner les ressources</a:t>
                      </a:r>
                      <a:r>
                        <a:rPr lang="fr-FR" sz="1200" b="0" i="0" u="none" strike="noStrike" dirty="0">
                          <a:solidFill>
                            <a:srgbClr val="000000"/>
                          </a:solidFill>
                          <a:effectLst/>
                          <a:latin typeface="Calibri" panose="020F0502020204030204" pitchFamily="34" charset="0"/>
                          <a:hlinkClick r:id="rId5" action="ppaction://hlinksldjump"/>
                        </a:rPr>
                        <a:t> des environnements au fur et à mesure de la progression réelle des sollicitations (ajuster régulièrement)</a:t>
                      </a:r>
                      <a:endParaRPr lang="fr-FR" sz="12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200" b="0" i="0" u="none" strike="noStrike" dirty="0" err="1">
                          <a:solidFill>
                            <a:srgbClr val="000000"/>
                          </a:solidFill>
                          <a:effectLst/>
                          <a:latin typeface="Calibri" panose="020F0502020204030204" pitchFamily="34" charset="0"/>
                          <a:hlinkClick r:id="rId6" action="ppaction://hlinksldjump"/>
                        </a:rPr>
                        <a:t>Décommissionnement</a:t>
                      </a:r>
                      <a:r>
                        <a:rPr lang="fr-FR" sz="1200" b="0" i="0" u="none" strike="noStrike" dirty="0">
                          <a:solidFill>
                            <a:srgbClr val="000000"/>
                          </a:solidFill>
                          <a:effectLst/>
                          <a:latin typeface="Calibri" panose="020F0502020204030204" pitchFamily="34" charset="0"/>
                          <a:hlinkClick r:id="rId6" action="ppaction://hlinksldjump"/>
                        </a:rPr>
                        <a:t> des composants et versions non utilisés</a:t>
                      </a:r>
                      <a:endParaRPr lang="fr-FR" sz="12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554156870"/>
                  </a:ext>
                </a:extLst>
              </a:tr>
              <a:tr h="2097126">
                <a:tc>
                  <a:txBody>
                    <a:bodyPr/>
                    <a:lstStyle/>
                    <a:p>
                      <a:pPr algn="ctr" fontAlgn="ctr"/>
                      <a:r>
                        <a:rPr lang="fr-FR" sz="1200" b="0" i="0" u="none" strike="noStrike" dirty="0">
                          <a:solidFill>
                            <a:srgbClr val="000000"/>
                          </a:solidFill>
                          <a:effectLst/>
                          <a:latin typeface="Calibri" panose="020F0502020204030204" pitchFamily="34" charset="0"/>
                          <a:hlinkClick r:id="rId7" action="ppaction://hlinksldjump"/>
                        </a:rPr>
                        <a:t>Suivre les différents indicateurs d’écoconception</a:t>
                      </a:r>
                      <a:endParaRPr lang="fr-FR" sz="12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200" b="0" i="0" u="none" strike="noStrike" dirty="0">
                          <a:solidFill>
                            <a:srgbClr val="FF0000"/>
                          </a:solidFill>
                          <a:effectLst/>
                          <a:latin typeface="Calibri" panose="020F0502020204030204" pitchFamily="34" charset="0"/>
                          <a:hlinkClick r:id="rId8" action="ppaction://hlinksldjump"/>
                        </a:rPr>
                        <a:t>Après un besoin temporaire d'augmentation de ressources (suite migration, suite problème, ….),</a:t>
                      </a:r>
                      <a:r>
                        <a:rPr lang="fr-FR" sz="1200" b="0" i="0" u="none" strike="noStrike" dirty="0">
                          <a:solidFill>
                            <a:srgbClr val="000000"/>
                          </a:solidFill>
                          <a:effectLst/>
                          <a:latin typeface="Calibri" panose="020F0502020204030204" pitchFamily="34" charset="0"/>
                          <a:hlinkClick r:id="rId8" action="ppaction://hlinksldjump"/>
                        </a:rPr>
                        <a:t> redimensionner les environnements et les ressources au juste besoin</a:t>
                      </a:r>
                      <a:endParaRPr lang="fr-FR" sz="12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fr-FR" sz="1200" b="0" i="0" u="none" strike="noStrike" dirty="0" err="1">
                          <a:solidFill>
                            <a:srgbClr val="000000"/>
                          </a:solidFill>
                          <a:effectLst/>
                          <a:latin typeface="Calibri" panose="020F0502020204030204" pitchFamily="34" charset="0"/>
                          <a:hlinkClick r:id="rId9" action="ppaction://hlinksldjump"/>
                        </a:rPr>
                        <a:t>Décommissionnement</a:t>
                      </a:r>
                      <a:r>
                        <a:rPr lang="fr-FR" sz="1200" b="0" i="0" u="none" strike="noStrike" dirty="0">
                          <a:solidFill>
                            <a:srgbClr val="000000"/>
                          </a:solidFill>
                          <a:effectLst/>
                          <a:latin typeface="Calibri" panose="020F0502020204030204" pitchFamily="34" charset="0"/>
                          <a:hlinkClick r:id="rId9" action="ppaction://hlinksldjump"/>
                        </a:rPr>
                        <a:t> des environnements non utilisés</a:t>
                      </a:r>
                      <a:endParaRPr lang="fr-FR" sz="12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181656467"/>
                  </a:ext>
                </a:extLst>
              </a:tr>
            </a:tbl>
          </a:graphicData>
        </a:graphic>
      </p:graphicFrame>
    </p:spTree>
    <p:extLst>
      <p:ext uri="{BB962C8B-B14F-4D97-AF65-F5344CB8AC3E}">
        <p14:creationId xmlns:p14="http://schemas.microsoft.com/office/powerpoint/2010/main" val="218977712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a:solidFill>
                  <a:schemeClr val="bg1"/>
                </a:solidFill>
              </a:rPr>
              <a:t>Documents et outils associés</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7" name="ZoneTexte 6"/>
          <p:cNvSpPr txBox="1"/>
          <p:nvPr/>
        </p:nvSpPr>
        <p:spPr>
          <a:xfrm>
            <a:off x="44605" y="1325563"/>
            <a:ext cx="12101099" cy="4524315"/>
          </a:xfrm>
          <a:prstGeom prst="rect">
            <a:avLst/>
          </a:prstGeom>
          <a:noFill/>
        </p:spPr>
        <p:txBody>
          <a:bodyPr wrap="square" rtlCol="0">
            <a:spAutoFit/>
          </a:bodyPr>
          <a:lstStyle/>
          <a:p>
            <a:pPr lvl="0" eaLnBrk="0" fontAlgn="base" hangingPunct="0">
              <a:spcBef>
                <a:spcPct val="0"/>
              </a:spcBef>
              <a:spcAft>
                <a:spcPct val="0"/>
              </a:spcAft>
            </a:pPr>
            <a:endParaRPr lang="fr-FR" sz="1600"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fr-FR" sz="1600" b="1" dirty="0">
                <a:latin typeface="Arial" panose="020B0604020202020204" pitchFamily="34" charset="0"/>
                <a:cs typeface="Arial" panose="020B0604020202020204" pitchFamily="34" charset="0"/>
              </a:rPr>
              <a:t>Document de gestion de la configuration : </a:t>
            </a:r>
            <a:r>
              <a:rPr lang="fr-FR" sz="1600" dirty="0" smtClean="0">
                <a:latin typeface="Arial" panose="020B0604020202020204" pitchFamily="34" charset="0"/>
                <a:cs typeface="Arial" panose="020B0604020202020204" pitchFamily="34" charset="0"/>
              </a:rPr>
              <a:t>L'écoconception </a:t>
            </a:r>
            <a:r>
              <a:rPr lang="fr-FR" sz="1600" dirty="0">
                <a:latin typeface="Arial" panose="020B0604020202020204" pitchFamily="34" charset="0"/>
                <a:cs typeface="Arial" panose="020B0604020202020204" pitchFamily="34" charset="0"/>
              </a:rPr>
              <a:t>peut y être incluse en choisissant des configurations matérielles plus économes en énergie ou en mettant en place une gestion dynamique des ressources pour réduire l'empreinte écologique en fonction des besoins réels</a:t>
            </a:r>
            <a:r>
              <a:rPr lang="fr-FR" sz="1600" dirty="0" smtClean="0">
                <a:latin typeface="Arial" panose="020B0604020202020204" pitchFamily="34" charset="0"/>
                <a:cs typeface="Arial" panose="020B0604020202020204" pitchFamily="34" charset="0"/>
              </a:rPr>
              <a:t>.</a:t>
            </a:r>
          </a:p>
          <a:p>
            <a:pPr lvl="0" eaLnBrk="0" fontAlgn="base" hangingPunct="0">
              <a:spcBef>
                <a:spcPct val="0"/>
              </a:spcBef>
              <a:spcAft>
                <a:spcPct val="0"/>
              </a:spcAft>
            </a:pPr>
            <a:endParaRPr lang="fr-FR" sz="1600" b="1"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fr-FR" sz="1600" b="1" dirty="0" smtClean="0">
                <a:latin typeface="Arial" panose="020B0604020202020204" pitchFamily="34" charset="0"/>
                <a:cs typeface="Arial" panose="020B0604020202020204" pitchFamily="34" charset="0"/>
              </a:rPr>
              <a:t>Plan </a:t>
            </a:r>
            <a:r>
              <a:rPr lang="fr-FR" sz="1600" b="1" dirty="0">
                <a:latin typeface="Arial" panose="020B0604020202020204" pitchFamily="34" charset="0"/>
                <a:cs typeface="Arial" panose="020B0604020202020204" pitchFamily="34" charset="0"/>
              </a:rPr>
              <a:t>de déploiement : </a:t>
            </a:r>
            <a:r>
              <a:rPr lang="fr-FR" sz="1600" dirty="0" smtClean="0">
                <a:latin typeface="Arial" panose="020B0604020202020204" pitchFamily="34" charset="0"/>
                <a:cs typeface="Arial" panose="020B0604020202020204" pitchFamily="34" charset="0"/>
              </a:rPr>
              <a:t>L'intégration </a:t>
            </a:r>
            <a:r>
              <a:rPr lang="fr-FR" sz="1600" dirty="0">
                <a:latin typeface="Arial" panose="020B0604020202020204" pitchFamily="34" charset="0"/>
                <a:cs typeface="Arial" panose="020B0604020202020204" pitchFamily="34" charset="0"/>
              </a:rPr>
              <a:t>de l'écoconception peut se faire en définissant des pratiques comme l'optimisation de l'usage des ressources lors du déploiement (par exemple, en choisissant des solutions cloud « vertes » ou en évitant les surcharges inutiles des infrastructures</a:t>
            </a:r>
            <a:r>
              <a:rPr lang="fr-FR" sz="1600" dirty="0" smtClean="0">
                <a:latin typeface="Arial" panose="020B0604020202020204" pitchFamily="34" charset="0"/>
                <a:cs typeface="Arial" panose="020B0604020202020204" pitchFamily="34" charset="0"/>
              </a:rPr>
              <a:t>).</a:t>
            </a:r>
          </a:p>
          <a:p>
            <a:pPr lvl="0" eaLnBrk="0" fontAlgn="base" hangingPunct="0">
              <a:spcBef>
                <a:spcPct val="0"/>
              </a:spcBef>
              <a:spcAft>
                <a:spcPct val="0"/>
              </a:spcAft>
            </a:pPr>
            <a:endParaRPr lang="fr-FR" sz="1600" b="1"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fr-FR" sz="1600" b="1" dirty="0" smtClean="0">
                <a:latin typeface="Arial" panose="020B0604020202020204" pitchFamily="34" charset="0"/>
                <a:cs typeface="Arial" panose="020B0604020202020204" pitchFamily="34" charset="0"/>
              </a:rPr>
              <a:t>Plan </a:t>
            </a:r>
            <a:r>
              <a:rPr lang="fr-FR" sz="1600" b="1" dirty="0">
                <a:latin typeface="Arial" panose="020B0604020202020204" pitchFamily="34" charset="0"/>
                <a:cs typeface="Arial" panose="020B0604020202020204" pitchFamily="34" charset="0"/>
              </a:rPr>
              <a:t>de maintenance et de mise à jour : </a:t>
            </a:r>
            <a:r>
              <a:rPr lang="fr-FR" sz="1600" dirty="0" smtClean="0">
                <a:latin typeface="Arial" panose="020B0604020202020204" pitchFamily="34" charset="0"/>
                <a:cs typeface="Arial" panose="020B0604020202020204" pitchFamily="34" charset="0"/>
              </a:rPr>
              <a:t>Vous </a:t>
            </a:r>
            <a:r>
              <a:rPr lang="fr-FR" sz="1600" dirty="0">
                <a:latin typeface="Arial" panose="020B0604020202020204" pitchFamily="34" charset="0"/>
                <a:cs typeface="Arial" panose="020B0604020202020204" pitchFamily="34" charset="0"/>
              </a:rPr>
              <a:t>pourriez y inclure des objectifs d'optimisation continue de l'empreinte écologique du système, par exemple en planifiant des mises à jour visant à réduire la consommation énergétique</a:t>
            </a:r>
            <a:r>
              <a:rPr lang="fr-FR" sz="1600" dirty="0" smtClean="0">
                <a:latin typeface="Arial" panose="020B0604020202020204" pitchFamily="34" charset="0"/>
                <a:cs typeface="Arial" panose="020B0604020202020204" pitchFamily="34" charset="0"/>
              </a:rPr>
              <a:t>.</a:t>
            </a:r>
          </a:p>
          <a:p>
            <a:pPr lvl="0" eaLnBrk="0" fontAlgn="base" hangingPunct="0">
              <a:spcBef>
                <a:spcPct val="0"/>
              </a:spcBef>
              <a:spcAft>
                <a:spcPct val="0"/>
              </a:spcAft>
            </a:pPr>
            <a:endParaRPr lang="fr-FR" sz="1600"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fr-FR" sz="1600" b="1" dirty="0">
                <a:latin typeface="Arial" panose="020B0604020202020204" pitchFamily="34" charset="0"/>
                <a:cs typeface="Arial" panose="020B0604020202020204" pitchFamily="34" charset="0"/>
              </a:rPr>
              <a:t>Plan de tests </a:t>
            </a:r>
            <a:r>
              <a:rPr lang="fr-FR" sz="1600" dirty="0">
                <a:latin typeface="Arial" panose="020B0604020202020204" pitchFamily="34" charset="0"/>
                <a:cs typeface="Arial" panose="020B0604020202020204" pitchFamily="34" charset="0"/>
              </a:rPr>
              <a:t>: Ce document définit les tests à réaliser pour valider la conformité du produit aux exigences. Vous pouvez y inclure des tests visant à évaluer l'impact environnemental du système, comme la mesure de la consommation d’énergie sous différentes charges</a:t>
            </a:r>
            <a:r>
              <a:rPr lang="fr-FR" sz="1600" dirty="0" smtClean="0">
                <a:latin typeface="Arial" panose="020B0604020202020204" pitchFamily="34" charset="0"/>
                <a:cs typeface="Arial" panose="020B0604020202020204" pitchFamily="34" charset="0"/>
              </a:rPr>
              <a:t>.</a:t>
            </a:r>
          </a:p>
          <a:p>
            <a:pPr lvl="0" eaLnBrk="0" fontAlgn="base" hangingPunct="0">
              <a:spcBef>
                <a:spcPct val="0"/>
              </a:spcBef>
              <a:spcAft>
                <a:spcPct val="0"/>
              </a:spcAft>
            </a:pPr>
            <a:endParaRPr lang="fr-FR" sz="1600"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fr-FR" sz="1600" b="1" dirty="0" smtClean="0">
                <a:latin typeface="Arial" panose="020B0604020202020204" pitchFamily="34" charset="0"/>
                <a:cs typeface="Arial" panose="020B0604020202020204" pitchFamily="34" charset="0"/>
              </a:rPr>
              <a:t>Rapports </a:t>
            </a:r>
            <a:r>
              <a:rPr lang="fr-FR" sz="1600" b="1" dirty="0">
                <a:latin typeface="Arial" panose="020B0604020202020204" pitchFamily="34" charset="0"/>
                <a:cs typeface="Arial" panose="020B0604020202020204" pitchFamily="34" charset="0"/>
              </a:rPr>
              <a:t>de tests </a:t>
            </a:r>
            <a:r>
              <a:rPr lang="fr-FR" sz="1600" dirty="0">
                <a:latin typeface="Arial" panose="020B0604020202020204" pitchFamily="34" charset="0"/>
                <a:cs typeface="Arial" panose="020B0604020202020204" pitchFamily="34" charset="0"/>
              </a:rPr>
              <a:t>: Les résultats des tests doivent inclure, si pertinent, des indicateurs écologiques (par exemple, consommation d’énergie ou temps de traitement).</a:t>
            </a:r>
          </a:p>
        </p:txBody>
      </p:sp>
    </p:spTree>
    <p:extLst>
      <p:ext uri="{BB962C8B-B14F-4D97-AF65-F5344CB8AC3E}">
        <p14:creationId xmlns:p14="http://schemas.microsoft.com/office/powerpoint/2010/main" val="162129861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a:bodyPr>
          <a:lstStyle/>
          <a:p>
            <a:pPr lvl="0"/>
            <a:r>
              <a:rPr lang="fr-FR" sz="3200" dirty="0">
                <a:solidFill>
                  <a:prstClr val="white"/>
                </a:solidFill>
              </a:rPr>
              <a:t>Bonnes pratiques par phase métier :</a:t>
            </a:r>
          </a:p>
          <a:p>
            <a:r>
              <a:rPr lang="fr-FR" sz="4400" dirty="0" smtClean="0"/>
              <a:t>Intelligence </a:t>
            </a:r>
            <a:r>
              <a:rPr lang="fr-FR" sz="4400" dirty="0"/>
              <a:t>Artificielle</a:t>
            </a:r>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2133680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sz="3600" b="1" dirty="0" smtClean="0">
                <a:solidFill>
                  <a:schemeClr val="bg1"/>
                </a:solidFill>
              </a:rPr>
              <a:t>Intelligence </a:t>
            </a:r>
            <a:r>
              <a:rPr lang="fr-FR" sz="3600" b="1" dirty="0">
                <a:solidFill>
                  <a:schemeClr val="bg1"/>
                </a:solidFill>
              </a:rPr>
              <a:t>Artificielle</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3" name="Tableau 2"/>
          <p:cNvGraphicFramePr>
            <a:graphicFrameLocks noGrp="1"/>
          </p:cNvGraphicFramePr>
          <p:nvPr>
            <p:extLst>
              <p:ext uri="{D42A27DB-BD31-4B8C-83A1-F6EECF244321}">
                <p14:modId xmlns:p14="http://schemas.microsoft.com/office/powerpoint/2010/main" val="3846640312"/>
              </p:ext>
            </p:extLst>
          </p:nvPr>
        </p:nvGraphicFramePr>
        <p:xfrm>
          <a:off x="0" y="1325560"/>
          <a:ext cx="12192000" cy="4762724"/>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4162278407"/>
                    </a:ext>
                  </a:extLst>
                </a:gridCol>
              </a:tblGrid>
              <a:tr h="333813">
                <a:tc>
                  <a:txBody>
                    <a:bodyPr/>
                    <a:lstStyle/>
                    <a:p>
                      <a:r>
                        <a:rPr lang="fr-FR" sz="1200" dirty="0" smtClean="0"/>
                        <a:t>Réduire la consommation de ressources : La solution intègre des pratiques d'écoconception </a:t>
                      </a:r>
                    </a:p>
                  </a:txBody>
                  <a:tcPr/>
                </a:tc>
                <a:extLst>
                  <a:ext uri="{0D108BD9-81ED-4DB2-BD59-A6C34878D82A}">
                    <a16:rowId xmlns:a16="http://schemas.microsoft.com/office/drawing/2014/main" val="1224545264"/>
                  </a:ext>
                </a:extLst>
              </a:tr>
              <a:tr h="4428911">
                <a:tc>
                  <a:txBody>
                    <a:bodyPr/>
                    <a:lstStyle/>
                    <a:p>
                      <a:pPr algn="ctr" fontAlgn="ctr"/>
                      <a:r>
                        <a:rPr lang="fr-FR" sz="1600" b="0" i="0" u="none" strike="noStrike" dirty="0">
                          <a:solidFill>
                            <a:srgbClr val="000000"/>
                          </a:solidFill>
                          <a:effectLst/>
                          <a:latin typeface="Calibri" panose="020F0502020204030204" pitchFamily="34" charset="0"/>
                          <a:hlinkClick r:id="rId4" action="ppaction://hlinksldjump"/>
                        </a:rPr>
                        <a:t>Eviter un usage non justifié et déraisonné d’une phase</a:t>
                      </a:r>
                      <a:br>
                        <a:rPr lang="fr-FR" sz="1600" b="0" i="0" u="none" strike="noStrike" dirty="0">
                          <a:solidFill>
                            <a:srgbClr val="000000"/>
                          </a:solidFill>
                          <a:effectLst/>
                          <a:latin typeface="Calibri" panose="020F0502020204030204" pitchFamily="34" charset="0"/>
                          <a:hlinkClick r:id="rId4" action="ppaction://hlinksldjump"/>
                        </a:rPr>
                      </a:br>
                      <a:r>
                        <a:rPr lang="fr-FR" sz="1600" b="0" i="0" u="none" strike="noStrike" dirty="0">
                          <a:solidFill>
                            <a:srgbClr val="000000"/>
                          </a:solidFill>
                          <a:effectLst/>
                          <a:latin typeface="Calibri" panose="020F0502020204030204" pitchFamily="34" charset="0"/>
                          <a:hlinkClick r:id="rId4" action="ppaction://hlinksldjump"/>
                        </a:rPr>
                        <a:t>d’entraînement</a:t>
                      </a:r>
                      <a:endParaRPr lang="fr-FR" sz="16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554156870"/>
                  </a:ext>
                </a:extLst>
              </a:tr>
            </a:tbl>
          </a:graphicData>
        </a:graphic>
      </p:graphicFrame>
    </p:spTree>
    <p:extLst>
      <p:ext uri="{BB962C8B-B14F-4D97-AF65-F5344CB8AC3E}">
        <p14:creationId xmlns:p14="http://schemas.microsoft.com/office/powerpoint/2010/main" val="318237144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a:bodyPr>
          <a:lstStyle/>
          <a:p>
            <a:r>
              <a:rPr lang="fr-FR" sz="4400" dirty="0"/>
              <a:t>Bonnes pratiques </a:t>
            </a:r>
            <a:endParaRPr lang="fr-FR" sz="4400" dirty="0" smtClean="0"/>
          </a:p>
          <a:p>
            <a:r>
              <a:rPr lang="fr-FR" sz="4400" dirty="0" smtClean="0"/>
              <a:t>par finalité</a:t>
            </a:r>
            <a:endParaRPr lang="fr-FR" sz="4400" dirty="0"/>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389570481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a:solidFill>
                  <a:schemeClr val="bg1"/>
                </a:solidFill>
              </a:rPr>
              <a:t>Bonnes pratiques par </a:t>
            </a:r>
            <a:r>
              <a:rPr lang="fr-FR" b="1" dirty="0" smtClean="0">
                <a:solidFill>
                  <a:schemeClr val="bg1"/>
                </a:solidFill>
              </a:rPr>
              <a:t>finalité</a:t>
            </a:r>
            <a:endParaRPr lang="fr-FR" b="1" dirty="0">
              <a:solidFill>
                <a:schemeClr val="bg1"/>
              </a:solidFill>
            </a:endParaRPr>
          </a:p>
        </p:txBody>
      </p:sp>
      <p:sp>
        <p:nvSpPr>
          <p:cNvPr id="3" name="Espace réservé du contenu 2"/>
          <p:cNvSpPr>
            <a:spLocks noGrp="1"/>
          </p:cNvSpPr>
          <p:nvPr>
            <p:ph idx="1"/>
          </p:nvPr>
        </p:nvSpPr>
        <p:spPr>
          <a:xfrm>
            <a:off x="0" y="1736946"/>
            <a:ext cx="12192000" cy="4351338"/>
          </a:xfrm>
        </p:spPr>
        <p:txBody>
          <a:bodyPr>
            <a:normAutofit fontScale="77500" lnSpcReduction="20000"/>
          </a:bodyPr>
          <a:lstStyle/>
          <a:p>
            <a:pPr marL="0" indent="0">
              <a:buNone/>
            </a:pPr>
            <a:r>
              <a:rPr lang="fr-FR" dirty="0">
                <a:solidFill>
                  <a:schemeClr val="accent5">
                    <a:lumMod val="75000"/>
                  </a:schemeClr>
                </a:solidFill>
              </a:rPr>
              <a:t>Dans cette partie, les bonnes pratiques </a:t>
            </a:r>
            <a:r>
              <a:rPr lang="fr-FR" dirty="0" smtClean="0">
                <a:solidFill>
                  <a:schemeClr val="accent5">
                    <a:lumMod val="75000"/>
                  </a:schemeClr>
                </a:solidFill>
              </a:rPr>
              <a:t>sont présentées </a:t>
            </a:r>
            <a:r>
              <a:rPr lang="fr-FR" dirty="0">
                <a:solidFill>
                  <a:schemeClr val="accent5">
                    <a:lumMod val="75000"/>
                  </a:schemeClr>
                </a:solidFill>
              </a:rPr>
              <a:t>par </a:t>
            </a:r>
            <a:r>
              <a:rPr lang="fr-FR" dirty="0" smtClean="0">
                <a:solidFill>
                  <a:schemeClr val="accent5">
                    <a:lumMod val="75000"/>
                  </a:schemeClr>
                </a:solidFill>
              </a:rPr>
              <a:t>finalité à atteindre </a:t>
            </a:r>
            <a:r>
              <a:rPr lang="fr-FR" dirty="0">
                <a:solidFill>
                  <a:schemeClr val="accent5">
                    <a:lumMod val="75000"/>
                  </a:schemeClr>
                </a:solidFill>
              </a:rPr>
              <a:t>et classées </a:t>
            </a:r>
            <a:r>
              <a:rPr lang="fr-FR" dirty="0" smtClean="0">
                <a:solidFill>
                  <a:schemeClr val="accent5">
                    <a:lumMod val="75000"/>
                  </a:schemeClr>
                </a:solidFill>
              </a:rPr>
              <a:t>par phase métier </a:t>
            </a:r>
            <a:r>
              <a:rPr lang="fr-FR" dirty="0">
                <a:solidFill>
                  <a:schemeClr val="accent5">
                    <a:lumMod val="75000"/>
                  </a:schemeClr>
                </a:solidFill>
              </a:rPr>
              <a:t>en </a:t>
            </a:r>
            <a:r>
              <a:rPr lang="fr-FR" dirty="0" smtClean="0">
                <a:solidFill>
                  <a:schemeClr val="accent5">
                    <a:lumMod val="75000"/>
                  </a:schemeClr>
                </a:solidFill>
              </a:rPr>
              <a:t>suivant </a:t>
            </a:r>
            <a:r>
              <a:rPr lang="fr-FR" dirty="0">
                <a:solidFill>
                  <a:schemeClr val="accent5">
                    <a:lumMod val="75000"/>
                  </a:schemeClr>
                </a:solidFill>
              </a:rPr>
              <a:t>les processus projets de la </a:t>
            </a:r>
            <a:r>
              <a:rPr lang="fr-FR" dirty="0" smtClean="0">
                <a:solidFill>
                  <a:schemeClr val="accent5">
                    <a:lumMod val="75000"/>
                  </a:schemeClr>
                </a:solidFill>
              </a:rPr>
              <a:t>CNAM.</a:t>
            </a:r>
            <a:endParaRPr lang="fr-FR" dirty="0">
              <a:solidFill>
                <a:schemeClr val="accent5">
                  <a:lumMod val="75000"/>
                </a:schemeClr>
              </a:solidFill>
            </a:endParaRPr>
          </a:p>
          <a:p>
            <a:pPr marL="0" indent="0">
              <a:buNone/>
            </a:pPr>
            <a:endParaRPr lang="fr-FR" dirty="0" smtClean="0">
              <a:solidFill>
                <a:schemeClr val="accent5">
                  <a:lumMod val="75000"/>
                </a:schemeClr>
              </a:solidFill>
            </a:endParaRPr>
          </a:p>
          <a:p>
            <a:pPr marL="0" indent="0">
              <a:buNone/>
            </a:pPr>
            <a:r>
              <a:rPr lang="fr-FR" u="sng" dirty="0" smtClean="0">
                <a:solidFill>
                  <a:schemeClr val="accent5">
                    <a:lumMod val="75000"/>
                  </a:schemeClr>
                </a:solidFill>
              </a:rPr>
              <a:t>Finalités : </a:t>
            </a:r>
          </a:p>
          <a:p>
            <a:pPr fontAlgn="b"/>
            <a:r>
              <a:rPr lang="fr-FR" dirty="0">
                <a:solidFill>
                  <a:schemeClr val="accent5">
                    <a:lumMod val="75000"/>
                  </a:schemeClr>
                </a:solidFill>
              </a:rPr>
              <a:t>Service numérique </a:t>
            </a:r>
            <a:r>
              <a:rPr lang="fr-FR" dirty="0" smtClean="0">
                <a:solidFill>
                  <a:schemeClr val="accent5">
                    <a:lumMod val="75000"/>
                  </a:schemeClr>
                </a:solidFill>
              </a:rPr>
              <a:t>utile</a:t>
            </a:r>
            <a:endParaRPr lang="fr-FR" dirty="0">
              <a:solidFill>
                <a:schemeClr val="accent5">
                  <a:lumMod val="75000"/>
                </a:schemeClr>
              </a:solidFill>
            </a:endParaRPr>
          </a:p>
          <a:p>
            <a:pPr fontAlgn="b"/>
            <a:r>
              <a:rPr lang="fr-FR" dirty="0">
                <a:solidFill>
                  <a:schemeClr val="accent5">
                    <a:lumMod val="75000"/>
                  </a:schemeClr>
                </a:solidFill>
              </a:rPr>
              <a:t>Service numérique </a:t>
            </a:r>
            <a:r>
              <a:rPr lang="fr-FR" dirty="0" smtClean="0">
                <a:solidFill>
                  <a:schemeClr val="accent5">
                    <a:lumMod val="75000"/>
                  </a:schemeClr>
                </a:solidFill>
              </a:rPr>
              <a:t>utilisable</a:t>
            </a:r>
            <a:endParaRPr lang="fr-FR" dirty="0">
              <a:solidFill>
                <a:schemeClr val="accent5">
                  <a:lumMod val="75000"/>
                </a:schemeClr>
              </a:solidFill>
            </a:endParaRPr>
          </a:p>
          <a:p>
            <a:pPr fontAlgn="b"/>
            <a:r>
              <a:rPr lang="fr-FR" dirty="0">
                <a:solidFill>
                  <a:schemeClr val="accent5">
                    <a:lumMod val="75000"/>
                  </a:schemeClr>
                </a:solidFill>
              </a:rPr>
              <a:t>Méthodologie facilitant </a:t>
            </a:r>
            <a:r>
              <a:rPr lang="fr-FR" dirty="0" smtClean="0">
                <a:solidFill>
                  <a:schemeClr val="accent5">
                    <a:lumMod val="75000"/>
                  </a:schemeClr>
                </a:solidFill>
              </a:rPr>
              <a:t>l'écoconception</a:t>
            </a:r>
            <a:endParaRPr lang="fr-FR" dirty="0">
              <a:solidFill>
                <a:schemeClr val="accent5">
                  <a:lumMod val="75000"/>
                </a:schemeClr>
              </a:solidFill>
            </a:endParaRPr>
          </a:p>
          <a:p>
            <a:pPr fontAlgn="b"/>
            <a:r>
              <a:rPr lang="fr-FR" dirty="0">
                <a:solidFill>
                  <a:schemeClr val="accent5">
                    <a:lumMod val="75000"/>
                  </a:schemeClr>
                </a:solidFill>
              </a:rPr>
              <a:t>Réduire la consommation de ressources : Optimisation de l'Expérience et de l'Interface Utilisateur</a:t>
            </a:r>
          </a:p>
          <a:p>
            <a:pPr fontAlgn="b"/>
            <a:r>
              <a:rPr lang="fr-FR" dirty="0">
                <a:solidFill>
                  <a:schemeClr val="accent5">
                    <a:lumMod val="75000"/>
                  </a:schemeClr>
                </a:solidFill>
              </a:rPr>
              <a:t>Réduire la consommation de ressources : La solution intègre des pratiques d'écoconception</a:t>
            </a:r>
          </a:p>
          <a:p>
            <a:pPr fontAlgn="b"/>
            <a:r>
              <a:rPr lang="fr-FR" dirty="0">
                <a:solidFill>
                  <a:schemeClr val="accent5">
                    <a:lumMod val="75000"/>
                  </a:schemeClr>
                </a:solidFill>
              </a:rPr>
              <a:t>Moins d'infrastructure IT nécessaire</a:t>
            </a:r>
          </a:p>
          <a:p>
            <a:pPr fontAlgn="b"/>
            <a:r>
              <a:rPr lang="fr-FR" dirty="0">
                <a:solidFill>
                  <a:schemeClr val="accent5">
                    <a:lumMod val="75000"/>
                  </a:schemeClr>
                </a:solidFill>
              </a:rPr>
              <a:t>Libérer ressources IT</a:t>
            </a:r>
          </a:p>
          <a:p>
            <a:pPr fontAlgn="b"/>
            <a:r>
              <a:rPr lang="fr-FR" dirty="0">
                <a:solidFill>
                  <a:schemeClr val="accent5">
                    <a:lumMod val="75000"/>
                  </a:schemeClr>
                </a:solidFill>
              </a:rPr>
              <a:t>Réduire la consommation d'énergie</a:t>
            </a:r>
          </a:p>
          <a:p>
            <a:pPr fontAlgn="b"/>
            <a:endParaRPr lang="fr-FR" dirty="0">
              <a:solidFill>
                <a:srgbClr val="284780"/>
              </a:solidFill>
              <a:latin typeface="Calibri" panose="020F0502020204030204" pitchFamily="34" charset="0"/>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357847939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fontScale="85000" lnSpcReduction="10000"/>
          </a:bodyPr>
          <a:lstStyle/>
          <a:p>
            <a:r>
              <a:rPr lang="fr-FR" sz="4400" dirty="0" smtClean="0"/>
              <a:t>Finalité : Service </a:t>
            </a:r>
            <a:r>
              <a:rPr lang="fr-FR" sz="4400" dirty="0"/>
              <a:t>numérique </a:t>
            </a:r>
            <a:r>
              <a:rPr lang="fr-FR" sz="4400" dirty="0" smtClean="0"/>
              <a:t>utile :</a:t>
            </a:r>
          </a:p>
          <a:p>
            <a:r>
              <a:rPr lang="fr-FR" sz="3000" dirty="0"/>
              <a:t>Concevoir le service numérique </a:t>
            </a:r>
            <a:r>
              <a:rPr lang="fr-FR" sz="3000" dirty="0" smtClean="0"/>
              <a:t>avec </a:t>
            </a:r>
            <a:r>
              <a:rPr lang="fr-FR" sz="3000" dirty="0"/>
              <a:t>des choix répondant à des réels besoins et non à des « envies »</a:t>
            </a:r>
            <a:endParaRPr lang="fr-FR" sz="3000" b="0" dirty="0">
              <a:solidFill>
                <a:srgbClr val="000000"/>
              </a:solidFill>
            </a:endParaRPr>
          </a:p>
          <a:p>
            <a:endParaRPr lang="fr-FR" sz="4400" dirty="0"/>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339161803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2290916"/>
            <a:ext cx="12192000" cy="3797368"/>
          </a:xfrm>
        </p:spPr>
        <p:txBody>
          <a:bodyPr numCol="2" spcCol="360000">
            <a:noAutofit/>
          </a:bodyPr>
          <a:lstStyle/>
          <a:p>
            <a:pPr marL="0" indent="0">
              <a:buNone/>
            </a:pPr>
            <a:endParaRPr lang="fr-FR" sz="1050" b="1" dirty="0" smtClean="0"/>
          </a:p>
          <a:p>
            <a:pPr marL="0" indent="0">
              <a:buNone/>
            </a:pPr>
            <a:endParaRPr lang="fr-FR" sz="1050" b="1" dirty="0"/>
          </a:p>
          <a:p>
            <a:pPr marL="0" indent="0">
              <a:buNone/>
            </a:pPr>
            <a:endParaRPr lang="fr-FR" sz="1050" b="1" dirty="0" smtClean="0"/>
          </a:p>
          <a:p>
            <a:pPr marL="0" indent="0">
              <a:buNone/>
            </a:pPr>
            <a:endParaRPr lang="fr-FR" sz="1050" b="1" dirty="0" smtClean="0"/>
          </a:p>
          <a:p>
            <a:pPr marL="0" indent="0">
              <a:buNone/>
            </a:pPr>
            <a:endParaRPr lang="fr-FR" sz="1050" b="1" dirty="0"/>
          </a:p>
          <a:p>
            <a:pPr marL="0" indent="0">
              <a:buNone/>
            </a:pPr>
            <a:endParaRPr lang="fr-FR" sz="1050" b="1" dirty="0" smtClean="0"/>
          </a:p>
          <a:p>
            <a:pPr marL="0" indent="0">
              <a:buNone/>
            </a:pPr>
            <a:endParaRPr lang="fr-FR" sz="1050" b="1" dirty="0"/>
          </a:p>
          <a:p>
            <a:pPr marL="0" indent="0">
              <a:buNone/>
            </a:pPr>
            <a:endParaRPr lang="fr-FR" sz="1050" b="1" dirty="0" smtClean="0"/>
          </a:p>
          <a:p>
            <a:pPr marL="0" indent="0">
              <a:buNone/>
            </a:pPr>
            <a:endParaRPr lang="fr-FR" sz="1050" b="1" dirty="0"/>
          </a:p>
          <a:p>
            <a:pPr marL="0" indent="0">
              <a:buNone/>
            </a:pPr>
            <a:endParaRPr lang="fr-FR" sz="1050" b="1" dirty="0"/>
          </a:p>
        </p:txBody>
      </p:sp>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S’assurer que ma solution répond aux besoins essentiels et qu'elle sera / est utilisée</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738664"/>
          </a:xfrm>
          <a:prstGeom prst="rect">
            <a:avLst/>
          </a:prstGeom>
          <a:noFill/>
        </p:spPr>
        <p:txBody>
          <a:bodyPr wrap="square" numCol="1" rtlCol="0">
            <a:spAutoFit/>
          </a:bodyPr>
          <a:lstStyle/>
          <a:p>
            <a:r>
              <a:rPr lang="fr-FR" sz="1400" u="sng" dirty="0"/>
              <a:t>Principes directeurs</a:t>
            </a:r>
            <a:r>
              <a:rPr lang="fr-FR" sz="1400" b="1" dirty="0"/>
              <a:t> : </a:t>
            </a:r>
            <a:r>
              <a:rPr lang="fr-FR" sz="1400" dirty="0"/>
              <a:t>Evaluer et rationaliser les besoins fonctionnels et exigences </a:t>
            </a:r>
            <a:endParaRPr lang="fr-FR" sz="1400" dirty="0" smtClean="0"/>
          </a:p>
          <a:p>
            <a:r>
              <a:rPr lang="fr-FR" sz="1400" u="sng" dirty="0" smtClean="0"/>
              <a:t>Finalité</a:t>
            </a:r>
            <a:r>
              <a:rPr lang="fr-FR" sz="1400" dirty="0" smtClean="0"/>
              <a:t> : Concevoir </a:t>
            </a:r>
            <a:r>
              <a:rPr lang="fr-FR" sz="1400" dirty="0"/>
              <a:t>le service numérique </a:t>
            </a:r>
            <a:r>
              <a:rPr lang="fr-FR" sz="1400" dirty="0" smtClean="0"/>
              <a:t>avec </a:t>
            </a:r>
            <a:r>
              <a:rPr lang="fr-FR" sz="1400" dirty="0"/>
              <a:t>des choix répondant à des réels besoins et non à des </a:t>
            </a:r>
            <a:r>
              <a:rPr lang="fr-FR" sz="1400" dirty="0" smtClean="0"/>
              <a:t>« envies » .</a:t>
            </a:r>
            <a:endParaRPr lang="fr-FR" sz="1400" dirty="0"/>
          </a:p>
          <a:p>
            <a:r>
              <a:rPr lang="fr-FR" sz="1400" u="sng" dirty="0" smtClean="0"/>
              <a:t>Mesures ciblées </a:t>
            </a:r>
            <a:r>
              <a:rPr lang="fr-FR" sz="1400" b="1" dirty="0" smtClean="0"/>
              <a:t>: </a:t>
            </a:r>
            <a:r>
              <a:rPr lang="it-IT" sz="1400" dirty="0" smtClean="0"/>
              <a:t>Mesure projet ?</a:t>
            </a:r>
            <a:endParaRPr lang="it-IT" sz="1400" dirty="0"/>
          </a:p>
        </p:txBody>
      </p:sp>
      <p:graphicFrame>
        <p:nvGraphicFramePr>
          <p:cNvPr id="4" name="Tableau 3"/>
          <p:cNvGraphicFramePr>
            <a:graphicFrameLocks noGrp="1"/>
          </p:cNvGraphicFramePr>
          <p:nvPr>
            <p:extLst>
              <p:ext uri="{D42A27DB-BD31-4B8C-83A1-F6EECF244321}">
                <p14:modId xmlns:p14="http://schemas.microsoft.com/office/powerpoint/2010/main" val="2271872864"/>
              </p:ext>
            </p:extLst>
          </p:nvPr>
        </p:nvGraphicFramePr>
        <p:xfrm>
          <a:off x="0" y="2290914"/>
          <a:ext cx="12192000" cy="357068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933048249"/>
                    </a:ext>
                  </a:extLst>
                </a:gridCol>
                <a:gridCol w="6096000">
                  <a:extLst>
                    <a:ext uri="{9D8B030D-6E8A-4147-A177-3AD203B41FA5}">
                      <a16:colId xmlns:a16="http://schemas.microsoft.com/office/drawing/2014/main" val="1506296028"/>
                    </a:ext>
                  </a:extLst>
                </a:gridCol>
              </a:tblGrid>
              <a:tr h="465464">
                <a:tc>
                  <a:txBody>
                    <a:bodyPr/>
                    <a:lstStyle/>
                    <a:p>
                      <a:r>
                        <a:rPr lang="fr-FR" dirty="0" smtClean="0"/>
                        <a:t>Phase Cadrage : CDC/</a:t>
                      </a:r>
                      <a:r>
                        <a:rPr lang="fr-FR" dirty="0" err="1" smtClean="0"/>
                        <a:t>Spec</a:t>
                      </a:r>
                      <a:r>
                        <a:rPr lang="fr-FR" dirty="0" smtClean="0"/>
                        <a:t> </a:t>
                      </a:r>
                    </a:p>
                  </a:txBody>
                  <a:tcPr/>
                </a:tc>
                <a:tc>
                  <a:txBody>
                    <a:bodyPr/>
                    <a:lstStyle/>
                    <a:p>
                      <a:r>
                        <a:rPr lang="fr-FR" dirty="0" smtClean="0"/>
                        <a:t>Phase Cadrage  : Architecture (sécurité)</a:t>
                      </a:r>
                    </a:p>
                  </a:txBody>
                  <a:tcPr/>
                </a:tc>
                <a:extLst>
                  <a:ext uri="{0D108BD9-81ED-4DB2-BD59-A6C34878D82A}">
                    <a16:rowId xmlns:a16="http://schemas.microsoft.com/office/drawing/2014/main" val="3102533660"/>
                  </a:ext>
                </a:extLst>
              </a:tr>
              <a:tr h="1836349">
                <a:tc>
                  <a:txBody>
                    <a:bodyPr/>
                    <a:lstStyle/>
                    <a:p>
                      <a:pPr marL="0" indent="0">
                        <a:buNone/>
                      </a:pPr>
                      <a:r>
                        <a:rPr lang="fr-FR" sz="1800" dirty="0" smtClean="0">
                          <a:hlinkClick r:id="rId4" action="ppaction://hlinksldjump"/>
                        </a:rPr>
                        <a:t>Le site a été audité avant sa refonte afin d’avoir des données concrètes sur l’avant/après : mesurer pour se comparer, mesurer pour itérer, mesurer pour prouver</a:t>
                      </a:r>
                      <a:endParaRPr lang="fr-FR" sz="18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5" action="ppaction://hlinksldjump"/>
                        </a:rPr>
                        <a:t>Recours à un niveau de chiffrement adapté à ses besoins</a:t>
                      </a:r>
                      <a:endParaRPr lang="fr-FR" sz="1800" dirty="0" smtClean="0"/>
                    </a:p>
                  </a:txBody>
                  <a:tcPr/>
                </a:tc>
                <a:extLst>
                  <a:ext uri="{0D108BD9-81ED-4DB2-BD59-A6C34878D82A}">
                    <a16:rowId xmlns:a16="http://schemas.microsoft.com/office/drawing/2014/main" val="3968125650"/>
                  </a:ext>
                </a:extLst>
              </a:tr>
              <a:tr h="4654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6" action="ppaction://hlinksldjump"/>
                        </a:rPr>
                        <a:t>Définition des cibles utilisateurs</a:t>
                      </a:r>
                      <a:endParaRPr lang="fr-FR" sz="1800" dirty="0" smtClean="0"/>
                    </a:p>
                  </a:txBody>
                  <a:tcPr/>
                </a:tc>
                <a:tc>
                  <a:txBody>
                    <a:bodyPr/>
                    <a:lstStyle/>
                    <a:p>
                      <a:endParaRPr lang="fr-FR"/>
                    </a:p>
                  </a:txBody>
                  <a:tcPr/>
                </a:tc>
                <a:extLst>
                  <a:ext uri="{0D108BD9-81ED-4DB2-BD59-A6C34878D82A}">
                    <a16:rowId xmlns:a16="http://schemas.microsoft.com/office/drawing/2014/main" val="2916713283"/>
                  </a:ext>
                </a:extLst>
              </a:tr>
              <a:tr h="8034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7" action="ppaction://hlinksldjump"/>
                        </a:rPr>
                        <a:t>Quantifier précisément le besoin pour chaque fonctionnalité</a:t>
                      </a:r>
                      <a:endParaRPr lang="fr-FR" sz="1800" dirty="0" smtClean="0"/>
                    </a:p>
                  </a:txBody>
                  <a:tcPr/>
                </a:tc>
                <a:tc>
                  <a:txBody>
                    <a:bodyPr/>
                    <a:lstStyle/>
                    <a:p>
                      <a:endParaRPr lang="fr-FR" dirty="0"/>
                    </a:p>
                  </a:txBody>
                  <a:tcPr/>
                </a:tc>
                <a:extLst>
                  <a:ext uri="{0D108BD9-81ED-4DB2-BD59-A6C34878D82A}">
                    <a16:rowId xmlns:a16="http://schemas.microsoft.com/office/drawing/2014/main" val="3497317641"/>
                  </a:ext>
                </a:extLst>
              </a:tr>
            </a:tbl>
          </a:graphicData>
        </a:graphic>
      </p:graphicFrame>
    </p:spTree>
    <p:extLst>
      <p:ext uri="{BB962C8B-B14F-4D97-AF65-F5344CB8AC3E}">
        <p14:creationId xmlns:p14="http://schemas.microsoft.com/office/powerpoint/2010/main" val="336840833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7" y="2254197"/>
            <a:ext cx="9449588" cy="2970945"/>
          </a:xfrm>
        </p:spPr>
        <p:txBody>
          <a:bodyPr>
            <a:normAutofit fontScale="40000" lnSpcReduction="20000"/>
          </a:bodyPr>
          <a:lstStyle/>
          <a:p>
            <a:r>
              <a:rPr lang="fr-FR" sz="10000" dirty="0">
                <a:solidFill>
                  <a:prstClr val="white"/>
                </a:solidFill>
              </a:rPr>
              <a:t>Finalité : </a:t>
            </a:r>
            <a:r>
              <a:rPr lang="fr-FR" sz="10000" dirty="0" smtClean="0"/>
              <a:t>Service </a:t>
            </a:r>
            <a:r>
              <a:rPr lang="fr-FR" sz="10000" dirty="0"/>
              <a:t>numérique </a:t>
            </a:r>
            <a:r>
              <a:rPr lang="fr-FR" sz="10000" dirty="0" smtClean="0"/>
              <a:t>utilisable</a:t>
            </a:r>
          </a:p>
          <a:p>
            <a:r>
              <a:rPr lang="fr-FR" sz="7000" dirty="0"/>
              <a:t>Service numérique utilisable sur un parc matériel le plus large possible (coté terminaux utilisateur et coté serveur) et ceci de façon pérenne</a:t>
            </a:r>
            <a:r>
              <a:rPr lang="fr-FR" sz="7000" dirty="0" smtClean="0"/>
              <a:t>.</a:t>
            </a:r>
            <a:endParaRPr lang="fr-FR" sz="7000" dirty="0"/>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142425569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Etre au plus près des technologies et versions "standards</a:t>
            </a:r>
            <a:r>
              <a:rPr lang="fr-FR" b="1" dirty="0" smtClean="0">
                <a:solidFill>
                  <a:schemeClr val="bg1"/>
                </a:solidFill>
              </a:rPr>
              <a:t>"</a:t>
            </a:r>
            <a:endParaRPr lang="fr-FR" b="1" dirty="0">
              <a:solidFill>
                <a:schemeClr val="bg1"/>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738664"/>
          </a:xfrm>
          <a:prstGeom prst="rect">
            <a:avLst/>
          </a:prstGeom>
          <a:noFill/>
        </p:spPr>
        <p:txBody>
          <a:bodyPr wrap="square" rtlCol="0">
            <a:spAutoFit/>
          </a:bodyPr>
          <a:lstStyle/>
          <a:p>
            <a:r>
              <a:rPr lang="fr-FR" sz="1400" u="sng" dirty="0"/>
              <a:t>Principes directeurs</a:t>
            </a:r>
            <a:r>
              <a:rPr lang="fr-FR" sz="1400" b="1" dirty="0"/>
              <a:t> : </a:t>
            </a:r>
            <a:r>
              <a:rPr lang="fr-FR" sz="1400" dirty="0"/>
              <a:t>Evaluer et rationaliser les besoins fonctionnels et exigences </a:t>
            </a:r>
          </a:p>
          <a:p>
            <a:r>
              <a:rPr lang="fr-FR" sz="1400" u="sng" dirty="0" smtClean="0"/>
              <a:t>Finalité</a:t>
            </a:r>
            <a:r>
              <a:rPr lang="fr-FR" sz="1400" dirty="0" smtClean="0"/>
              <a:t> </a:t>
            </a:r>
            <a:r>
              <a:rPr lang="fr-FR" sz="1400" dirty="0"/>
              <a:t>: </a:t>
            </a:r>
            <a:r>
              <a:rPr lang="fr-FR" sz="1400" dirty="0" smtClean="0"/>
              <a:t> </a:t>
            </a:r>
            <a:r>
              <a:rPr lang="fr-FR" sz="1400" dirty="0"/>
              <a:t>S</a:t>
            </a:r>
            <a:r>
              <a:rPr lang="fr-FR" sz="1400" dirty="0" smtClean="0"/>
              <a:t>ervice </a:t>
            </a:r>
            <a:r>
              <a:rPr lang="fr-FR" sz="1400" dirty="0"/>
              <a:t>numérique </a:t>
            </a:r>
            <a:r>
              <a:rPr lang="fr-FR" sz="1400" dirty="0" smtClean="0"/>
              <a:t>utilisable </a:t>
            </a:r>
            <a:r>
              <a:rPr lang="fr-FR" sz="1400" dirty="0"/>
              <a:t>sur un parc matériel le plus large possible (coté terminaux utilisateur et coté serveur) et ceci de façon </a:t>
            </a:r>
            <a:r>
              <a:rPr lang="fr-FR" sz="1400" dirty="0" smtClean="0"/>
              <a:t>pérenne.</a:t>
            </a:r>
            <a:endParaRPr lang="fr-FR" sz="1400" dirty="0"/>
          </a:p>
          <a:p>
            <a:r>
              <a:rPr lang="fr-FR" sz="1400" u="sng" dirty="0" smtClean="0"/>
              <a:t>Mesures ciblées </a:t>
            </a:r>
            <a:r>
              <a:rPr lang="fr-FR" sz="1400" b="1" dirty="0" smtClean="0"/>
              <a:t>: </a:t>
            </a:r>
            <a:r>
              <a:rPr lang="it-IT" sz="1400" dirty="0"/>
              <a:t>Mesure projet ?</a:t>
            </a:r>
          </a:p>
        </p:txBody>
      </p:sp>
      <p:graphicFrame>
        <p:nvGraphicFramePr>
          <p:cNvPr id="8" name="Tableau 7"/>
          <p:cNvGraphicFramePr>
            <a:graphicFrameLocks noGrp="1"/>
          </p:cNvGraphicFramePr>
          <p:nvPr>
            <p:extLst>
              <p:ext uri="{D42A27DB-BD31-4B8C-83A1-F6EECF244321}">
                <p14:modId xmlns:p14="http://schemas.microsoft.com/office/powerpoint/2010/main" val="451293426"/>
              </p:ext>
            </p:extLst>
          </p:nvPr>
        </p:nvGraphicFramePr>
        <p:xfrm>
          <a:off x="0" y="2637663"/>
          <a:ext cx="12192000" cy="31750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986413526"/>
                    </a:ext>
                  </a:extLst>
                </a:gridCol>
                <a:gridCol w="4064000">
                  <a:extLst>
                    <a:ext uri="{9D8B030D-6E8A-4147-A177-3AD203B41FA5}">
                      <a16:colId xmlns:a16="http://schemas.microsoft.com/office/drawing/2014/main" val="1195354066"/>
                    </a:ext>
                  </a:extLst>
                </a:gridCol>
                <a:gridCol w="4064000">
                  <a:extLst>
                    <a:ext uri="{9D8B030D-6E8A-4147-A177-3AD203B41FA5}">
                      <a16:colId xmlns:a16="http://schemas.microsoft.com/office/drawing/2014/main" val="2728934999"/>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smtClean="0"/>
                        <a:t>Phase Gestion projet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smtClean="0"/>
                        <a:t>Phase Cadrage  : Architecture AS/AT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smtClean="0"/>
                        <a:t>Phase de Développement : Front end </a:t>
                      </a:r>
                    </a:p>
                  </a:txBody>
                  <a:tcPr/>
                </a:tc>
                <a:extLst>
                  <a:ext uri="{0D108BD9-81ED-4DB2-BD59-A6C34878D82A}">
                    <a16:rowId xmlns:a16="http://schemas.microsoft.com/office/drawing/2014/main" val="252792433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smtClean="0">
                          <a:hlinkClick r:id="rId4" action="ppaction://hlinksldjump"/>
                        </a:rPr>
                        <a:t>Installer des mises à jour correctives pendant toute la durée de vie prévue des équipements et des logiciels liés au service </a:t>
                      </a:r>
                      <a:endParaRPr lang="fr-FR" sz="16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smtClean="0">
                          <a:hlinkClick r:id="rId5" action="ppaction://hlinksldjump"/>
                        </a:rPr>
                        <a:t>Concevoir avec des technologies standard interopérables plutôt que des technologies spécifiques et fermées</a:t>
                      </a:r>
                      <a:endParaRPr lang="fr-FR" sz="16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smtClean="0">
                          <a:hlinkClick r:id="rId5" action="ppaction://hlinksldjump"/>
                        </a:rPr>
                        <a:t>Concevoir avec des technologies standard interopérables plutôt que des technologies   spécifiques et fermées</a:t>
                      </a:r>
                      <a:endParaRPr lang="fr-FR" sz="1600" dirty="0" smtClean="0"/>
                    </a:p>
                  </a:txBody>
                  <a:tcPr/>
                </a:tc>
                <a:extLst>
                  <a:ext uri="{0D108BD9-81ED-4DB2-BD59-A6C34878D82A}">
                    <a16:rowId xmlns:a16="http://schemas.microsoft.com/office/drawing/2014/main" val="275393789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smtClean="0">
                          <a:hlinkClick r:id="rId6" action="ppaction://hlinksldjump"/>
                        </a:rPr>
                        <a:t>Installer des mises à jour correctives indépendamment des mises à jour évolutives</a:t>
                      </a:r>
                      <a:endParaRPr lang="fr-FR" sz="16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smtClean="0">
                          <a:hlinkClick r:id="rId4" action="ppaction://hlinksldjump"/>
                        </a:rPr>
                        <a:t>Supporter l’évolution techniques des protocole</a:t>
                      </a:r>
                      <a:endParaRPr lang="fr-FR" sz="16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smtClean="0">
                          <a:hlinkClick r:id="rId4" action="ppaction://hlinksldjump"/>
                        </a:rPr>
                        <a:t>Supporter l’évolution techniques des protocole</a:t>
                      </a:r>
                      <a:endParaRPr lang="fr-FR" sz="1600" dirty="0" smtClean="0"/>
                    </a:p>
                  </a:txBody>
                  <a:tcPr/>
                </a:tc>
                <a:extLst>
                  <a:ext uri="{0D108BD9-81ED-4DB2-BD59-A6C34878D82A}">
                    <a16:rowId xmlns:a16="http://schemas.microsoft.com/office/drawing/2014/main" val="3443556695"/>
                  </a:ext>
                </a:extLst>
              </a:tr>
              <a:tr h="370840">
                <a:tc>
                  <a:txBody>
                    <a:bodyPr/>
                    <a:lstStyle/>
                    <a:p>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smtClean="0">
                          <a:hlinkClick r:id="rId6" action="ppaction://hlinksldjump"/>
                        </a:rPr>
                        <a:t>Installer des mises à jour correctives pendant toute la durée de vie prévue des équipements et des logiciels liés au service </a:t>
                      </a:r>
                      <a:endParaRPr lang="fr-FR" sz="1600" dirty="0" smtClean="0"/>
                    </a:p>
                  </a:txBody>
                  <a:tcPr/>
                </a:tc>
                <a:tc>
                  <a:txBody>
                    <a:bodyPr/>
                    <a:lstStyle/>
                    <a:p>
                      <a:endParaRPr lang="fr-FR" sz="1600"/>
                    </a:p>
                  </a:txBody>
                  <a:tcPr/>
                </a:tc>
                <a:extLst>
                  <a:ext uri="{0D108BD9-81ED-4DB2-BD59-A6C34878D82A}">
                    <a16:rowId xmlns:a16="http://schemas.microsoft.com/office/drawing/2014/main" val="4143304988"/>
                  </a:ext>
                </a:extLst>
              </a:tr>
              <a:tr h="370840">
                <a:tc>
                  <a:txBody>
                    <a:bodyPr/>
                    <a:lstStyle/>
                    <a:p>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smtClean="0">
                          <a:hlinkClick r:id="rId7" action="ppaction://hlinksldjump"/>
                        </a:rPr>
                        <a:t>Installer des mises à jour correctives indépendamment des mises à jour évolutives</a:t>
                      </a:r>
                      <a:endParaRPr lang="fr-FR" sz="1600" dirty="0" smtClean="0"/>
                    </a:p>
                  </a:txBody>
                  <a:tcPr/>
                </a:tc>
                <a:tc>
                  <a:txBody>
                    <a:bodyPr/>
                    <a:lstStyle/>
                    <a:p>
                      <a:endParaRPr lang="fr-FR" sz="1600" dirty="0"/>
                    </a:p>
                  </a:txBody>
                  <a:tcPr/>
                </a:tc>
                <a:extLst>
                  <a:ext uri="{0D108BD9-81ED-4DB2-BD59-A6C34878D82A}">
                    <a16:rowId xmlns:a16="http://schemas.microsoft.com/office/drawing/2014/main" val="2036953554"/>
                  </a:ext>
                </a:extLst>
              </a:tr>
            </a:tbl>
          </a:graphicData>
        </a:graphic>
      </p:graphicFrame>
    </p:spTree>
    <p:extLst>
      <p:ext uri="{BB962C8B-B14F-4D97-AF65-F5344CB8AC3E}">
        <p14:creationId xmlns:p14="http://schemas.microsoft.com/office/powerpoint/2010/main" val="4170684627"/>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S’assurer que ma solution est utilisable </a:t>
            </a:r>
            <a:r>
              <a:rPr lang="fr-FR" b="1" dirty="0" smtClean="0">
                <a:solidFill>
                  <a:schemeClr val="bg1"/>
                </a:solidFill>
              </a:rPr>
              <a:t>et </a:t>
            </a:r>
            <a:r>
              <a:rPr lang="fr-FR" b="1" dirty="0">
                <a:solidFill>
                  <a:schemeClr val="bg1"/>
                </a:solidFill>
              </a:rPr>
              <a:t>minimise les contraintes sur les terminaux et matériel utilisé</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738664"/>
          </a:xfrm>
          <a:prstGeom prst="rect">
            <a:avLst/>
          </a:prstGeom>
          <a:noFill/>
        </p:spPr>
        <p:txBody>
          <a:bodyPr wrap="square" numCol="1" rtlCol="0">
            <a:spAutoFit/>
          </a:bodyPr>
          <a:lstStyle/>
          <a:p>
            <a:r>
              <a:rPr lang="fr-FR" sz="1400" u="sng" dirty="0"/>
              <a:t>Principes directeurs</a:t>
            </a:r>
            <a:r>
              <a:rPr lang="fr-FR" sz="1400" b="1" dirty="0"/>
              <a:t> : </a:t>
            </a:r>
            <a:r>
              <a:rPr lang="fr-FR" sz="1400" dirty="0"/>
              <a:t>Evaluer et rationaliser les besoins fonctionnels et exigences </a:t>
            </a:r>
          </a:p>
          <a:p>
            <a:r>
              <a:rPr lang="fr-FR" sz="1400" u="sng" dirty="0" smtClean="0"/>
              <a:t>Finalité</a:t>
            </a:r>
            <a:r>
              <a:rPr lang="fr-FR" sz="1400" dirty="0" smtClean="0"/>
              <a:t> </a:t>
            </a:r>
            <a:r>
              <a:rPr lang="fr-FR" sz="1400" dirty="0"/>
              <a:t>: </a:t>
            </a:r>
            <a:r>
              <a:rPr lang="fr-FR" sz="1400" dirty="0" smtClean="0"/>
              <a:t>Service </a:t>
            </a:r>
            <a:r>
              <a:rPr lang="fr-FR" sz="1400" dirty="0"/>
              <a:t>numérique </a:t>
            </a:r>
            <a:r>
              <a:rPr lang="fr-FR" sz="1400" dirty="0" smtClean="0"/>
              <a:t>utilisable </a:t>
            </a:r>
            <a:r>
              <a:rPr lang="fr-FR" sz="1400" dirty="0"/>
              <a:t>sur un parc matériel le plus large possible (coté terminaux utilisateur et coté serveur) et ceci de façon </a:t>
            </a:r>
            <a:r>
              <a:rPr lang="fr-FR" sz="1400" dirty="0" smtClean="0"/>
              <a:t>pérenne.</a:t>
            </a:r>
            <a:endParaRPr lang="fr-FR" sz="1400" dirty="0"/>
          </a:p>
          <a:p>
            <a:r>
              <a:rPr lang="fr-FR" sz="1400" u="sng" dirty="0" smtClean="0"/>
              <a:t>Mesures ciblées </a:t>
            </a:r>
            <a:r>
              <a:rPr lang="fr-FR" sz="1400" b="1" dirty="0" smtClean="0"/>
              <a:t>: </a:t>
            </a:r>
            <a:r>
              <a:rPr lang="it-IT" sz="1400" dirty="0"/>
              <a:t>Mesure projet ?</a:t>
            </a:r>
          </a:p>
        </p:txBody>
      </p:sp>
      <p:graphicFrame>
        <p:nvGraphicFramePr>
          <p:cNvPr id="4" name="Tableau 3"/>
          <p:cNvGraphicFramePr>
            <a:graphicFrameLocks noGrp="1"/>
          </p:cNvGraphicFramePr>
          <p:nvPr>
            <p:extLst>
              <p:ext uri="{D42A27DB-BD31-4B8C-83A1-F6EECF244321}">
                <p14:modId xmlns:p14="http://schemas.microsoft.com/office/powerpoint/2010/main" val="3638285903"/>
              </p:ext>
            </p:extLst>
          </p:nvPr>
        </p:nvGraphicFramePr>
        <p:xfrm>
          <a:off x="0" y="2219239"/>
          <a:ext cx="12192000" cy="353568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4113844565"/>
                    </a:ext>
                  </a:extLst>
                </a:gridCol>
                <a:gridCol w="3048000">
                  <a:extLst>
                    <a:ext uri="{9D8B030D-6E8A-4147-A177-3AD203B41FA5}">
                      <a16:colId xmlns:a16="http://schemas.microsoft.com/office/drawing/2014/main" val="1105630143"/>
                    </a:ext>
                  </a:extLst>
                </a:gridCol>
                <a:gridCol w="3048000">
                  <a:extLst>
                    <a:ext uri="{9D8B030D-6E8A-4147-A177-3AD203B41FA5}">
                      <a16:colId xmlns:a16="http://schemas.microsoft.com/office/drawing/2014/main" val="2051914151"/>
                    </a:ext>
                  </a:extLst>
                </a:gridCol>
                <a:gridCol w="3048000">
                  <a:extLst>
                    <a:ext uri="{9D8B030D-6E8A-4147-A177-3AD203B41FA5}">
                      <a16:colId xmlns:a16="http://schemas.microsoft.com/office/drawing/2014/main" val="1203458143"/>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smtClean="0"/>
                        <a:t>Phase Cadrage : CDC/</a:t>
                      </a:r>
                      <a:r>
                        <a:rPr lang="fr-FR" sz="1400" b="1" dirty="0" err="1" smtClean="0"/>
                        <a:t>Spec</a:t>
                      </a:r>
                      <a:endParaRPr lang="fr-FR" sz="1400" b="1"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smtClean="0"/>
                        <a:t>Phase Cadrage  : Architecture AS/AF/AT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smtClean="0"/>
                        <a:t>Phase </a:t>
                      </a:r>
                      <a:r>
                        <a:rPr lang="fr-FR" sz="1400" b="1" dirty="0" err="1" smtClean="0"/>
                        <a:t>Spec</a:t>
                      </a:r>
                      <a:r>
                        <a:rPr lang="fr-FR" sz="1400" b="1" dirty="0" smtClean="0"/>
                        <a:t>-Conception Fonctionnelle &amp; Design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smtClean="0"/>
                        <a:t>Phase de Développement : Front end </a:t>
                      </a:r>
                    </a:p>
                  </a:txBody>
                  <a:tcPr/>
                </a:tc>
                <a:extLst>
                  <a:ext uri="{0D108BD9-81ED-4DB2-BD59-A6C34878D82A}">
                    <a16:rowId xmlns:a16="http://schemas.microsoft.com/office/drawing/2014/main" val="47475235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4" action="ppaction://hlinksldjump"/>
                        </a:rPr>
                        <a:t>Définir la liste des profils de matériels que les utilisateurs vont pouvoir employer pour accéder au service.</a:t>
                      </a:r>
                      <a:endParaRPr lang="fr-FR" sz="14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4" action="ppaction://hlinksldjump"/>
                        </a:rPr>
                        <a:t>Définir la liste des profils de matériels que les utilisateurs vont pouvoir employer pour accéder au service.</a:t>
                      </a:r>
                      <a:endParaRPr lang="fr-FR" sz="14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5" action="ppaction://hlinksldjump"/>
                        </a:rPr>
                        <a:t>Utilisable sur d’anciennes versions de système d’exploitation et de navigateurs web </a:t>
                      </a:r>
                      <a:endParaRPr lang="fr-FR" sz="14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6" action="ppaction://hlinksldjump"/>
                        </a:rPr>
                        <a:t>Définir la liste des profils de matériels que les utilisateurs vont pouvoir employer pour accéder au service.</a:t>
                      </a:r>
                      <a:endParaRPr lang="fr-FR" sz="1400" dirty="0" smtClean="0"/>
                    </a:p>
                  </a:txBody>
                  <a:tcPr/>
                </a:tc>
                <a:extLst>
                  <a:ext uri="{0D108BD9-81ED-4DB2-BD59-A6C34878D82A}">
                    <a16:rowId xmlns:a16="http://schemas.microsoft.com/office/drawing/2014/main" val="314444080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7" action="ppaction://hlinksldjump"/>
                        </a:rPr>
                        <a:t>Utilisable sur d’anciens modèles de terminaux</a:t>
                      </a:r>
                      <a:endParaRPr lang="fr-FR" sz="14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7" action="ppaction://hlinksldjump"/>
                        </a:rPr>
                        <a:t>Utilisable sur d’anciens modèles de terminaux</a:t>
                      </a:r>
                      <a:endParaRPr lang="fr-FR" sz="1400" dirty="0" smtClean="0"/>
                    </a:p>
                  </a:txBody>
                  <a:tcPr/>
                </a:tc>
                <a:tc>
                  <a:txBody>
                    <a:bodyPr/>
                    <a:lstStyle/>
                    <a:p>
                      <a:endParaRPr lang="fr-FR"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4" action="ppaction://hlinksldjump"/>
                        </a:rPr>
                        <a:t>Utilisable sur d’anciens modèles de terminaux</a:t>
                      </a:r>
                      <a:endParaRPr lang="fr-FR" sz="1400" dirty="0" smtClean="0"/>
                    </a:p>
                  </a:txBody>
                  <a:tcPr/>
                </a:tc>
                <a:extLst>
                  <a:ext uri="{0D108BD9-81ED-4DB2-BD59-A6C34878D82A}">
                    <a16:rowId xmlns:a16="http://schemas.microsoft.com/office/drawing/2014/main" val="67665225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8" action="ppaction://hlinksldjump"/>
                        </a:rPr>
                        <a:t>S’adapter à différents types de terminaux d’affichage</a:t>
                      </a:r>
                      <a:endParaRPr lang="fr-FR" sz="14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8" action="ppaction://hlinksldjump"/>
                        </a:rPr>
                        <a:t>S’adapter à différents types de terminaux d’affichage</a:t>
                      </a:r>
                      <a:endParaRPr lang="fr-FR" sz="1400" dirty="0" smtClean="0"/>
                    </a:p>
                  </a:txBody>
                  <a:tcPr/>
                </a:tc>
                <a:tc>
                  <a:txBody>
                    <a:bodyPr/>
                    <a:lstStyle/>
                    <a:p>
                      <a:endParaRPr lang="fr-FR"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7" action="ppaction://hlinksldjump"/>
                        </a:rPr>
                        <a:t>S’adapter à différents types de terminaux d’affichage</a:t>
                      </a:r>
                      <a:endParaRPr lang="fr-FR" sz="1400" dirty="0" smtClean="0"/>
                    </a:p>
                  </a:txBody>
                  <a:tcPr/>
                </a:tc>
                <a:extLst>
                  <a:ext uri="{0D108BD9-81ED-4DB2-BD59-A6C34878D82A}">
                    <a16:rowId xmlns:a16="http://schemas.microsoft.com/office/drawing/2014/main" val="85205205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9" action="ppaction://hlinksldjump"/>
                        </a:rPr>
                        <a:t>Utilisable via une connexion bas débit ou hors connexion</a:t>
                      </a:r>
                      <a:endParaRPr lang="fr-FR" sz="14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9" action="ppaction://hlinksldjump"/>
                        </a:rPr>
                        <a:t>Utilisable via une connexion bas débit ou hors connexion</a:t>
                      </a:r>
                      <a:endParaRPr lang="fr-FR" sz="1400" dirty="0" smtClean="0"/>
                    </a:p>
                  </a:txBody>
                  <a:tcPr/>
                </a:tc>
                <a:tc>
                  <a:txBody>
                    <a:bodyPr/>
                    <a:lstStyle/>
                    <a:p>
                      <a:endParaRPr lang="fr-FR"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5" action="ppaction://hlinksldjump"/>
                        </a:rPr>
                        <a:t>Utilisable sur d’anciennes versions de système d’exploitation et de navigateurs web </a:t>
                      </a:r>
                      <a:endParaRPr lang="fr-FR" sz="1400" dirty="0" smtClean="0"/>
                    </a:p>
                  </a:txBody>
                  <a:tcPr/>
                </a:tc>
                <a:extLst>
                  <a:ext uri="{0D108BD9-81ED-4DB2-BD59-A6C34878D82A}">
                    <a16:rowId xmlns:a16="http://schemas.microsoft.com/office/drawing/2014/main" val="2903072311"/>
                  </a:ext>
                </a:extLst>
              </a:tr>
              <a:tr h="370840">
                <a:tc>
                  <a:txBody>
                    <a:bodyPr/>
                    <a:lstStyle/>
                    <a:p>
                      <a:endParaRPr lang="fr-FR" sz="1400"/>
                    </a:p>
                  </a:txBody>
                  <a:tcPr/>
                </a:tc>
                <a:tc>
                  <a:txBody>
                    <a:bodyPr/>
                    <a:lstStyle/>
                    <a:p>
                      <a:endParaRPr lang="fr-FR" sz="1400"/>
                    </a:p>
                  </a:txBody>
                  <a:tcPr/>
                </a:tc>
                <a:tc>
                  <a:txBody>
                    <a:bodyPr/>
                    <a:lstStyle/>
                    <a:p>
                      <a:endParaRPr lang="fr-FR"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10" action="ppaction://hlinksldjump"/>
                        </a:rPr>
                        <a:t>Utilisable via une connexion bas débit ou hors connexion</a:t>
                      </a:r>
                      <a:endParaRPr lang="fr-FR" sz="1400" dirty="0" smtClean="0"/>
                    </a:p>
                  </a:txBody>
                  <a:tcPr/>
                </a:tc>
                <a:extLst>
                  <a:ext uri="{0D108BD9-81ED-4DB2-BD59-A6C34878D82A}">
                    <a16:rowId xmlns:a16="http://schemas.microsoft.com/office/drawing/2014/main" val="684340568"/>
                  </a:ext>
                </a:extLst>
              </a:tr>
            </a:tbl>
          </a:graphicData>
        </a:graphic>
      </p:graphicFrame>
    </p:spTree>
    <p:extLst>
      <p:ext uri="{BB962C8B-B14F-4D97-AF65-F5344CB8AC3E}">
        <p14:creationId xmlns:p14="http://schemas.microsoft.com/office/powerpoint/2010/main" val="322675080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7"/>
            <a:ext cx="8334647" cy="3284454"/>
          </a:xfrm>
        </p:spPr>
        <p:txBody>
          <a:bodyPr>
            <a:normAutofit/>
          </a:bodyPr>
          <a:lstStyle/>
          <a:p>
            <a:r>
              <a:rPr lang="fr-FR" sz="4000" dirty="0"/>
              <a:t>Finalité : Méthodologie facilitant </a:t>
            </a:r>
            <a:r>
              <a:rPr lang="fr-FR" sz="4000" dirty="0" smtClean="0"/>
              <a:t>l'écoconception</a:t>
            </a:r>
          </a:p>
          <a:p>
            <a:r>
              <a:rPr lang="fr-FR" sz="2800" dirty="0"/>
              <a:t>Appliquer des méthodes facilitant la prise en compte de l'</a:t>
            </a:r>
            <a:r>
              <a:rPr lang="fr-FR" sz="2800" dirty="0" err="1"/>
              <a:t>eco-conception</a:t>
            </a:r>
            <a:r>
              <a:rPr lang="fr-FR" sz="2800" dirty="0"/>
              <a:t> dans les projets</a:t>
            </a:r>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2572051546"/>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a:solidFill>
                  <a:schemeClr val="bg1"/>
                </a:solidFill>
              </a:rPr>
              <a:t>Appliquer des méthodes d’écoconception dans la méthodologie projet</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738664"/>
          </a:xfrm>
          <a:prstGeom prst="rect">
            <a:avLst/>
          </a:prstGeom>
          <a:noFill/>
        </p:spPr>
        <p:txBody>
          <a:bodyPr wrap="square" rtlCol="0">
            <a:spAutoFit/>
          </a:bodyPr>
          <a:lstStyle/>
          <a:p>
            <a:r>
              <a:rPr lang="fr-FR" sz="1400" u="sng" dirty="0"/>
              <a:t>Principes directeurs</a:t>
            </a:r>
            <a:r>
              <a:rPr lang="fr-FR" sz="1400" b="1" dirty="0"/>
              <a:t> : </a:t>
            </a:r>
            <a:r>
              <a:rPr lang="fr-FR" sz="1400" dirty="0"/>
              <a:t>Piloter l'empreinte environnementale des projets </a:t>
            </a:r>
          </a:p>
          <a:p>
            <a:r>
              <a:rPr lang="fr-FR" sz="1400" u="sng" dirty="0" smtClean="0"/>
              <a:t>Finalité</a:t>
            </a:r>
            <a:r>
              <a:rPr lang="fr-FR" sz="1400" dirty="0" smtClean="0"/>
              <a:t> </a:t>
            </a:r>
            <a:r>
              <a:rPr lang="fr-FR" sz="1400" dirty="0"/>
              <a:t>: </a:t>
            </a:r>
            <a:r>
              <a:rPr lang="fr-FR" sz="1400" dirty="0" smtClean="0"/>
              <a:t>Appliquer </a:t>
            </a:r>
            <a:r>
              <a:rPr lang="fr-FR" sz="1400" dirty="0"/>
              <a:t>des méthodes facilitant la prise en compte de l'</a:t>
            </a:r>
            <a:r>
              <a:rPr lang="fr-FR" sz="1400" dirty="0" err="1"/>
              <a:t>eco-conception</a:t>
            </a:r>
            <a:r>
              <a:rPr lang="fr-FR" sz="1400" dirty="0"/>
              <a:t> dans les </a:t>
            </a:r>
            <a:r>
              <a:rPr lang="fr-FR" sz="1400" dirty="0" smtClean="0"/>
              <a:t>projets.</a:t>
            </a:r>
            <a:endParaRPr lang="fr-FR" sz="1400" dirty="0"/>
          </a:p>
          <a:p>
            <a:r>
              <a:rPr lang="fr-FR" sz="1400" u="sng" dirty="0" smtClean="0"/>
              <a:t>Mesures ciblées </a:t>
            </a:r>
            <a:r>
              <a:rPr lang="fr-FR" sz="1400" b="1" dirty="0" smtClean="0"/>
              <a:t>: </a:t>
            </a:r>
            <a:r>
              <a:rPr lang="it-IT" sz="1400" dirty="0"/>
              <a:t>Mesure </a:t>
            </a:r>
            <a:r>
              <a:rPr lang="it-IT" sz="1400" dirty="0" smtClean="0"/>
              <a:t>projet</a:t>
            </a:r>
            <a:endParaRPr lang="it-IT" sz="1400" dirty="0"/>
          </a:p>
        </p:txBody>
      </p:sp>
      <p:graphicFrame>
        <p:nvGraphicFramePr>
          <p:cNvPr id="4" name="Tableau 3"/>
          <p:cNvGraphicFramePr>
            <a:graphicFrameLocks noGrp="1"/>
          </p:cNvGraphicFramePr>
          <p:nvPr>
            <p:extLst>
              <p:ext uri="{D42A27DB-BD31-4B8C-83A1-F6EECF244321}">
                <p14:modId xmlns:p14="http://schemas.microsoft.com/office/powerpoint/2010/main" val="2492868435"/>
              </p:ext>
            </p:extLst>
          </p:nvPr>
        </p:nvGraphicFramePr>
        <p:xfrm>
          <a:off x="-1" y="2064227"/>
          <a:ext cx="12192000" cy="398763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81377852"/>
                    </a:ext>
                  </a:extLst>
                </a:gridCol>
                <a:gridCol w="2032000">
                  <a:extLst>
                    <a:ext uri="{9D8B030D-6E8A-4147-A177-3AD203B41FA5}">
                      <a16:colId xmlns:a16="http://schemas.microsoft.com/office/drawing/2014/main" val="2380736549"/>
                    </a:ext>
                  </a:extLst>
                </a:gridCol>
                <a:gridCol w="2032000">
                  <a:extLst>
                    <a:ext uri="{9D8B030D-6E8A-4147-A177-3AD203B41FA5}">
                      <a16:colId xmlns:a16="http://schemas.microsoft.com/office/drawing/2014/main" val="1365068281"/>
                    </a:ext>
                  </a:extLst>
                </a:gridCol>
                <a:gridCol w="2032000">
                  <a:extLst>
                    <a:ext uri="{9D8B030D-6E8A-4147-A177-3AD203B41FA5}">
                      <a16:colId xmlns:a16="http://schemas.microsoft.com/office/drawing/2014/main" val="4212488340"/>
                    </a:ext>
                  </a:extLst>
                </a:gridCol>
                <a:gridCol w="2032000">
                  <a:extLst>
                    <a:ext uri="{9D8B030D-6E8A-4147-A177-3AD203B41FA5}">
                      <a16:colId xmlns:a16="http://schemas.microsoft.com/office/drawing/2014/main" val="2630873006"/>
                    </a:ext>
                  </a:extLst>
                </a:gridCol>
                <a:gridCol w="2032000">
                  <a:extLst>
                    <a:ext uri="{9D8B030D-6E8A-4147-A177-3AD203B41FA5}">
                      <a16:colId xmlns:a16="http://schemas.microsoft.com/office/drawing/2014/main" val="2945870067"/>
                    </a:ext>
                  </a:extLst>
                </a:gridCol>
              </a:tblGrid>
              <a:tr h="3917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1" dirty="0" smtClean="0"/>
                        <a:t>Phase Gouvernance/Stratégie SI</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1" dirty="0" smtClean="0"/>
                        <a:t>Phase Cadrage : Gestion projet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1" dirty="0" smtClean="0"/>
                        <a:t>Phase Cadrage  : Architecture AS/AT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1" dirty="0" smtClean="0"/>
                        <a:t>Phase de Développement : Front end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1" dirty="0" smtClean="0"/>
                        <a:t>Phase de Développement : Back end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1" dirty="0" smtClean="0"/>
                        <a:t>Phase RUN : Maintenance &amp; fin de vie </a:t>
                      </a:r>
                    </a:p>
                  </a:txBody>
                  <a:tcPr/>
                </a:tc>
                <a:extLst>
                  <a:ext uri="{0D108BD9-81ED-4DB2-BD59-A6C34878D82A}">
                    <a16:rowId xmlns:a16="http://schemas.microsoft.com/office/drawing/2014/main" val="4003041941"/>
                  </a:ext>
                </a:extLst>
              </a:tr>
              <a:tr h="10184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dirty="0" smtClean="0">
                          <a:hlinkClick r:id="rId4" action="ppaction://hlinksldjump"/>
                        </a:rPr>
                        <a:t>Identifier un référent en écoconception numérique</a:t>
                      </a:r>
                      <a:endParaRPr lang="fr-FR" sz="11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dirty="0" smtClean="0">
                          <a:hlinkClick r:id="rId5" action="ppaction://hlinksldjump"/>
                        </a:rPr>
                        <a:t>Identifier un référent en écoconception numérique</a:t>
                      </a:r>
                      <a:endParaRPr lang="fr-FR" sz="11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dirty="0" smtClean="0">
                          <a:hlinkClick r:id="rId6" action="ppaction://hlinksldjump"/>
                        </a:rPr>
                        <a:t>Concevoir le service avec une revue de conception et une revue de code pour réduire les impacts environnementaux de chaque fonctionnalité.</a:t>
                      </a:r>
                      <a:endParaRPr lang="fr-FR" sz="11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dirty="0" smtClean="0">
                          <a:hlinkClick r:id="rId6" action="ppaction://hlinksldjump"/>
                        </a:rPr>
                        <a:t>Concevoir le service avec une revue de conception et une revue de code pour réduire les impacts environnementaux de chaque fonctionnalité.</a:t>
                      </a:r>
                      <a:endParaRPr lang="fr-FR" sz="11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dirty="0" smtClean="0">
                          <a:hlinkClick r:id="rId7" action="ppaction://hlinksldjump"/>
                        </a:rPr>
                        <a:t>Concevoir le service avec une revue de conception et une revue de code pour réduire les impacts environnementaux de chaque fonctionnalité.</a:t>
                      </a:r>
                      <a:endParaRPr lang="fr-FR" sz="11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dirty="0" smtClean="0">
                          <a:hlinkClick r:id="rId8" action="ppaction://hlinksldjump"/>
                        </a:rPr>
                        <a:t>Définir un responsable produit tout au long du cycle de vie</a:t>
                      </a:r>
                      <a:endParaRPr lang="fr-FR" sz="1100" dirty="0" smtClean="0"/>
                    </a:p>
                  </a:txBody>
                  <a:tcPr/>
                </a:tc>
                <a:extLst>
                  <a:ext uri="{0D108BD9-81ED-4DB2-BD59-A6C34878D82A}">
                    <a16:rowId xmlns:a16="http://schemas.microsoft.com/office/drawing/2014/main" val="797648650"/>
                  </a:ext>
                </a:extLst>
              </a:tr>
              <a:tr h="7050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dirty="0" smtClean="0">
                          <a:hlinkClick r:id="rId9" action="ppaction://hlinksldjump"/>
                        </a:rPr>
                        <a:t>Fixer des objectifs en matière de réduction ou de limitation de ses propres impacts environnementaux</a:t>
                      </a:r>
                      <a:endParaRPr lang="fr-FR" sz="11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dirty="0" smtClean="0">
                          <a:hlinkClick r:id="rId10" action="ppaction://hlinksldjump"/>
                        </a:rPr>
                        <a:t>Fixer des objectifs en matière de réduction ou de limitation de ses propres impacts environnementaux</a:t>
                      </a:r>
                      <a:endParaRPr lang="fr-FR" sz="1100" dirty="0" smtClean="0"/>
                    </a:p>
                  </a:txBody>
                  <a:tcPr/>
                </a:tc>
                <a:tc>
                  <a:txBody>
                    <a:bodyPr/>
                    <a:lstStyle/>
                    <a:p>
                      <a:endParaRPr lang="fr-FR" sz="1100"/>
                    </a:p>
                  </a:txBody>
                  <a:tcPr/>
                </a:tc>
                <a:tc>
                  <a:txBody>
                    <a:bodyPr/>
                    <a:lstStyle/>
                    <a:p>
                      <a:endParaRPr lang="fr-FR" sz="1100"/>
                    </a:p>
                  </a:txBody>
                  <a:tcPr/>
                </a:tc>
                <a:tc>
                  <a:txBody>
                    <a:bodyPr/>
                    <a:lstStyle/>
                    <a:p>
                      <a:endParaRPr lang="fr-FR" sz="1100"/>
                    </a:p>
                  </a:txBody>
                  <a:tcPr/>
                </a:tc>
                <a:tc>
                  <a:txBody>
                    <a:bodyPr/>
                    <a:lstStyle/>
                    <a:p>
                      <a:endParaRPr lang="fr-FR" sz="1100"/>
                    </a:p>
                  </a:txBody>
                  <a:tcPr/>
                </a:tc>
                <a:extLst>
                  <a:ext uri="{0D108BD9-81ED-4DB2-BD59-A6C34878D82A}">
                    <a16:rowId xmlns:a16="http://schemas.microsoft.com/office/drawing/2014/main" val="1506116007"/>
                  </a:ext>
                </a:extLst>
              </a:tr>
              <a:tr h="10184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dirty="0" smtClean="0">
                          <a:hlinkClick r:id="rId6" action="ppaction://hlinksldjump"/>
                        </a:rPr>
                        <a:t>Concevoir le service avec une revue de conception et une revue de code pour réduire les impacts environnementaux de chaque fonctionnalité.</a:t>
                      </a:r>
                      <a:endParaRPr lang="fr-FR" sz="1100" b="1"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dirty="0" smtClean="0">
                          <a:hlinkClick r:id="rId7" action="ppaction://hlinksldjump"/>
                        </a:rPr>
                        <a:t>Concevoir le service avec une revue de conception et une revue de code pour réduire les impacts environnementaux de chaque fonctionnalité.</a:t>
                      </a:r>
                      <a:endParaRPr lang="fr-FR" sz="1100" b="1" dirty="0" smtClean="0"/>
                    </a:p>
                  </a:txBody>
                  <a:tcPr/>
                </a:tc>
                <a:tc>
                  <a:txBody>
                    <a:bodyPr/>
                    <a:lstStyle/>
                    <a:p>
                      <a:endParaRPr lang="fr-FR" sz="1100"/>
                    </a:p>
                  </a:txBody>
                  <a:tcPr/>
                </a:tc>
                <a:tc>
                  <a:txBody>
                    <a:bodyPr/>
                    <a:lstStyle/>
                    <a:p>
                      <a:endParaRPr lang="fr-FR" sz="1100"/>
                    </a:p>
                  </a:txBody>
                  <a:tcPr/>
                </a:tc>
                <a:tc>
                  <a:txBody>
                    <a:bodyPr/>
                    <a:lstStyle/>
                    <a:p>
                      <a:endParaRPr lang="fr-FR" sz="1100"/>
                    </a:p>
                  </a:txBody>
                  <a:tcPr/>
                </a:tc>
                <a:tc>
                  <a:txBody>
                    <a:bodyPr/>
                    <a:lstStyle/>
                    <a:p>
                      <a:endParaRPr lang="fr-FR" sz="1100"/>
                    </a:p>
                  </a:txBody>
                  <a:tcPr/>
                </a:tc>
                <a:extLst>
                  <a:ext uri="{0D108BD9-81ED-4DB2-BD59-A6C34878D82A}">
                    <a16:rowId xmlns:a16="http://schemas.microsoft.com/office/drawing/2014/main" val="73123442"/>
                  </a:ext>
                </a:extLst>
              </a:tr>
              <a:tr h="7050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dirty="0" smtClean="0">
                          <a:hlinkClick r:id="rId4" action="ppaction://hlinksldjump"/>
                        </a:rPr>
                        <a:t>Mettre en place des Revues régulière pour s’assurer du respect de sa démarche d’écoconception</a:t>
                      </a:r>
                      <a:endParaRPr lang="fr-FR" sz="1100" dirty="0" smtClean="0"/>
                    </a:p>
                  </a:txBody>
                  <a:tcPr/>
                </a:tc>
                <a:tc>
                  <a:txBody>
                    <a:bodyPr/>
                    <a:lstStyle/>
                    <a:p>
                      <a:endParaRPr lang="fr-FR" sz="1100"/>
                    </a:p>
                  </a:txBody>
                  <a:tcPr/>
                </a:tc>
                <a:tc>
                  <a:txBody>
                    <a:bodyPr/>
                    <a:lstStyle/>
                    <a:p>
                      <a:endParaRPr lang="fr-FR" sz="1100"/>
                    </a:p>
                  </a:txBody>
                  <a:tcPr/>
                </a:tc>
                <a:tc>
                  <a:txBody>
                    <a:bodyPr/>
                    <a:lstStyle/>
                    <a:p>
                      <a:endParaRPr lang="fr-FR" sz="1100"/>
                    </a:p>
                  </a:txBody>
                  <a:tcPr/>
                </a:tc>
                <a:tc>
                  <a:txBody>
                    <a:bodyPr/>
                    <a:lstStyle/>
                    <a:p>
                      <a:endParaRPr lang="fr-FR" sz="1100"/>
                    </a:p>
                  </a:txBody>
                  <a:tcPr/>
                </a:tc>
                <a:tc>
                  <a:txBody>
                    <a:bodyPr/>
                    <a:lstStyle/>
                    <a:p>
                      <a:endParaRPr lang="fr-FR" sz="1100" dirty="0"/>
                    </a:p>
                  </a:txBody>
                  <a:tcPr/>
                </a:tc>
                <a:extLst>
                  <a:ext uri="{0D108BD9-81ED-4DB2-BD59-A6C34878D82A}">
                    <a16:rowId xmlns:a16="http://schemas.microsoft.com/office/drawing/2014/main" val="690477155"/>
                  </a:ext>
                </a:extLst>
              </a:tr>
            </a:tbl>
          </a:graphicData>
        </a:graphic>
      </p:graphicFrame>
    </p:spTree>
    <p:extLst>
      <p:ext uri="{BB962C8B-B14F-4D97-AF65-F5344CB8AC3E}">
        <p14:creationId xmlns:p14="http://schemas.microsoft.com/office/powerpoint/2010/main" val="2366123075"/>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fontScale="90000"/>
          </a:bodyPr>
          <a:lstStyle/>
          <a:p>
            <a:pPr algn="ctr"/>
            <a:r>
              <a:rPr lang="fr-FR" b="1" dirty="0">
                <a:solidFill>
                  <a:schemeClr val="bg1"/>
                </a:solidFill>
              </a:rPr>
              <a:t>Imposer aux fournisseurs et/ou partenaires participant à l'élaboration du service une démarche environnementale</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738664"/>
          </a:xfrm>
          <a:prstGeom prst="rect">
            <a:avLst/>
          </a:prstGeom>
          <a:noFill/>
        </p:spPr>
        <p:txBody>
          <a:bodyPr wrap="square" rtlCol="0">
            <a:spAutoFit/>
          </a:bodyPr>
          <a:lstStyle/>
          <a:p>
            <a:r>
              <a:rPr lang="fr-FR" sz="1400" u="sng" dirty="0"/>
              <a:t>Principes directeurs</a:t>
            </a:r>
            <a:r>
              <a:rPr lang="fr-FR" sz="1400" b="1" dirty="0"/>
              <a:t> : </a:t>
            </a:r>
            <a:r>
              <a:rPr lang="fr-FR" sz="1400" dirty="0"/>
              <a:t>Piloter l'empreinte environnementale des projets </a:t>
            </a:r>
          </a:p>
          <a:p>
            <a:r>
              <a:rPr lang="fr-FR" sz="1400" u="sng" dirty="0" smtClean="0"/>
              <a:t>Finalité</a:t>
            </a:r>
            <a:r>
              <a:rPr lang="fr-FR" sz="1400" dirty="0" smtClean="0"/>
              <a:t> </a:t>
            </a:r>
            <a:r>
              <a:rPr lang="fr-FR" sz="1400" dirty="0"/>
              <a:t>: </a:t>
            </a:r>
            <a:r>
              <a:rPr lang="fr-FR" sz="1400" dirty="0" smtClean="0"/>
              <a:t>Appliquer </a:t>
            </a:r>
            <a:r>
              <a:rPr lang="fr-FR" sz="1400" dirty="0"/>
              <a:t>des méthodes facilitant la prise en compte de l'</a:t>
            </a:r>
            <a:r>
              <a:rPr lang="fr-FR" sz="1400" dirty="0" err="1"/>
              <a:t>eco-conception</a:t>
            </a:r>
            <a:r>
              <a:rPr lang="fr-FR" sz="1400" dirty="0"/>
              <a:t> dans les </a:t>
            </a:r>
            <a:r>
              <a:rPr lang="fr-FR" sz="1400" dirty="0" smtClean="0"/>
              <a:t>projets.</a:t>
            </a:r>
            <a:endParaRPr lang="fr-FR" sz="1400" dirty="0"/>
          </a:p>
          <a:p>
            <a:r>
              <a:rPr lang="fr-FR" sz="1400" u="sng" dirty="0" smtClean="0"/>
              <a:t>Mesures ciblées </a:t>
            </a:r>
            <a:r>
              <a:rPr lang="fr-FR" sz="1400" b="1" dirty="0" smtClean="0"/>
              <a:t>: </a:t>
            </a:r>
            <a:r>
              <a:rPr lang="it-IT" sz="1400" dirty="0"/>
              <a:t>Mesure </a:t>
            </a:r>
            <a:r>
              <a:rPr lang="it-IT" sz="1400" dirty="0" smtClean="0"/>
              <a:t>projet.</a:t>
            </a:r>
            <a:endParaRPr lang="it-IT" sz="1400" dirty="0"/>
          </a:p>
        </p:txBody>
      </p:sp>
      <p:graphicFrame>
        <p:nvGraphicFramePr>
          <p:cNvPr id="4" name="Tableau 3"/>
          <p:cNvGraphicFramePr>
            <a:graphicFrameLocks noGrp="1"/>
          </p:cNvGraphicFramePr>
          <p:nvPr>
            <p:extLst>
              <p:ext uri="{D42A27DB-BD31-4B8C-83A1-F6EECF244321}">
                <p14:modId xmlns:p14="http://schemas.microsoft.com/office/powerpoint/2010/main" val="3092733164"/>
              </p:ext>
            </p:extLst>
          </p:nvPr>
        </p:nvGraphicFramePr>
        <p:xfrm>
          <a:off x="0" y="3389790"/>
          <a:ext cx="12192000" cy="1585974"/>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291401073"/>
                    </a:ext>
                  </a:extLst>
                </a:gridCol>
                <a:gridCol w="4064000">
                  <a:extLst>
                    <a:ext uri="{9D8B030D-6E8A-4147-A177-3AD203B41FA5}">
                      <a16:colId xmlns:a16="http://schemas.microsoft.com/office/drawing/2014/main" val="949024929"/>
                    </a:ext>
                  </a:extLst>
                </a:gridCol>
                <a:gridCol w="4064000">
                  <a:extLst>
                    <a:ext uri="{9D8B030D-6E8A-4147-A177-3AD203B41FA5}">
                      <a16:colId xmlns:a16="http://schemas.microsoft.com/office/drawing/2014/main" val="1334560259"/>
                    </a:ext>
                  </a:extLst>
                </a:gridCol>
              </a:tblGrid>
              <a:tr h="6393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smtClean="0"/>
                        <a:t>Phase Gestion projet (avec appui achat)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smtClean="0"/>
                        <a:t>Phase Cadrage : CDC/</a:t>
                      </a:r>
                      <a:r>
                        <a:rPr lang="fr-FR" sz="1800" b="1" dirty="0" err="1" smtClean="0"/>
                        <a:t>Spec</a:t>
                      </a:r>
                      <a:r>
                        <a:rPr lang="fr-FR" sz="1800" b="1" dirty="0" smtClean="0"/>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smtClean="0"/>
                        <a:t>Phase Cadrage  : </a:t>
                      </a:r>
                      <a:r>
                        <a:rPr lang="fr-FR" sz="1800" b="1" smtClean="0"/>
                        <a:t>Architecture  Expert socle techno DATM/DASI</a:t>
                      </a:r>
                    </a:p>
                  </a:txBody>
                  <a:tcPr/>
                </a:tc>
                <a:extLst>
                  <a:ext uri="{0D108BD9-81ED-4DB2-BD59-A6C34878D82A}">
                    <a16:rowId xmlns:a16="http://schemas.microsoft.com/office/drawing/2014/main" val="3320946044"/>
                  </a:ext>
                </a:extLst>
              </a:tr>
              <a:tr h="9458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4" action="ppaction://hlinksldjump"/>
                        </a:rPr>
                        <a:t>Imposer aux fournisseurs du service de garantir une démarche de réduction des impacts environnementaux.</a:t>
                      </a:r>
                      <a:endParaRPr lang="fr-FR" sz="18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4" action="ppaction://hlinksldjump"/>
                        </a:rPr>
                        <a:t>Imposer aux fournisseurs du service de garantir une démarche de réduction des impacts environnementaux.</a:t>
                      </a:r>
                      <a:endParaRPr lang="fr-FR" sz="18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4" action="ppaction://hlinksldjump"/>
                        </a:rPr>
                        <a:t>Imposer aux fournisseurs du service de garantir une démarche de réduction des impacts environnementaux.</a:t>
                      </a:r>
                      <a:endParaRPr lang="fr-FR" sz="1800" dirty="0" smtClean="0"/>
                    </a:p>
                  </a:txBody>
                  <a:tcPr/>
                </a:tc>
                <a:extLst>
                  <a:ext uri="{0D108BD9-81ED-4DB2-BD59-A6C34878D82A}">
                    <a16:rowId xmlns:a16="http://schemas.microsoft.com/office/drawing/2014/main" val="1612025371"/>
                  </a:ext>
                </a:extLst>
              </a:tr>
            </a:tbl>
          </a:graphicData>
        </a:graphic>
      </p:graphicFrame>
    </p:spTree>
    <p:extLst>
      <p:ext uri="{BB962C8B-B14F-4D97-AF65-F5344CB8AC3E}">
        <p14:creationId xmlns:p14="http://schemas.microsoft.com/office/powerpoint/2010/main" val="168171936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Suivre les impacts coté </a:t>
            </a:r>
            <a:r>
              <a:rPr lang="fr-FR" b="1" dirty="0" err="1">
                <a:solidFill>
                  <a:schemeClr val="bg1"/>
                </a:solidFill>
              </a:rPr>
              <a:t>Datacenters</a:t>
            </a:r>
            <a:endParaRPr lang="fr-FR" b="1" dirty="0">
              <a:solidFill>
                <a:schemeClr val="bg1"/>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7" name="ZoneTexte 6"/>
          <p:cNvSpPr txBox="1"/>
          <p:nvPr/>
        </p:nvSpPr>
        <p:spPr>
          <a:xfrm>
            <a:off x="0" y="1325563"/>
            <a:ext cx="12192000" cy="738664"/>
          </a:xfrm>
          <a:prstGeom prst="rect">
            <a:avLst/>
          </a:prstGeom>
          <a:noFill/>
        </p:spPr>
        <p:txBody>
          <a:bodyPr wrap="square" rtlCol="0">
            <a:spAutoFit/>
          </a:bodyPr>
          <a:lstStyle/>
          <a:p>
            <a:pPr lvl="0"/>
            <a:r>
              <a:rPr lang="fr-FR" sz="1400" u="sng" dirty="0">
                <a:solidFill>
                  <a:prstClr val="black"/>
                </a:solidFill>
              </a:rPr>
              <a:t>Principes directeurs</a:t>
            </a:r>
            <a:r>
              <a:rPr lang="fr-FR" sz="1400" b="1" dirty="0">
                <a:solidFill>
                  <a:prstClr val="black"/>
                </a:solidFill>
              </a:rPr>
              <a:t> : </a:t>
            </a:r>
            <a:r>
              <a:rPr lang="fr-FR" sz="1400" dirty="0">
                <a:solidFill>
                  <a:prstClr val="black"/>
                </a:solidFill>
              </a:rPr>
              <a:t>Piloter l'empreinte environnementale des projets </a:t>
            </a:r>
          </a:p>
          <a:p>
            <a:pPr lvl="0"/>
            <a:r>
              <a:rPr lang="fr-FR" sz="1400" u="sng" dirty="0">
                <a:solidFill>
                  <a:prstClr val="black"/>
                </a:solidFill>
              </a:rPr>
              <a:t>Finalité</a:t>
            </a:r>
            <a:r>
              <a:rPr lang="fr-FR" sz="1400" dirty="0">
                <a:solidFill>
                  <a:prstClr val="black"/>
                </a:solidFill>
              </a:rPr>
              <a:t> : Appliquer des méthodes facilitant la prise en compte de l'</a:t>
            </a:r>
            <a:r>
              <a:rPr lang="fr-FR" sz="1400" dirty="0" err="1">
                <a:solidFill>
                  <a:prstClr val="black"/>
                </a:solidFill>
              </a:rPr>
              <a:t>eco-conception</a:t>
            </a:r>
            <a:r>
              <a:rPr lang="fr-FR" sz="1400" dirty="0">
                <a:solidFill>
                  <a:prstClr val="black"/>
                </a:solidFill>
              </a:rPr>
              <a:t> dans les projets.</a:t>
            </a:r>
          </a:p>
          <a:p>
            <a:pPr lvl="0"/>
            <a:r>
              <a:rPr lang="fr-FR" sz="1400" u="sng" dirty="0">
                <a:solidFill>
                  <a:prstClr val="black"/>
                </a:solidFill>
              </a:rPr>
              <a:t>Mesures ciblées </a:t>
            </a:r>
            <a:r>
              <a:rPr lang="fr-FR" sz="1400" b="1" dirty="0">
                <a:solidFill>
                  <a:prstClr val="black"/>
                </a:solidFill>
              </a:rPr>
              <a:t>: </a:t>
            </a:r>
            <a:r>
              <a:rPr lang="it-IT" sz="1400" dirty="0" smtClean="0">
                <a:solidFill>
                  <a:prstClr val="black"/>
                </a:solidFill>
              </a:rPr>
              <a:t>Mesure Hébergement</a:t>
            </a:r>
            <a:endParaRPr lang="it-IT" sz="1400" dirty="0">
              <a:solidFill>
                <a:prstClr val="black"/>
              </a:solidFill>
            </a:endParaRPr>
          </a:p>
        </p:txBody>
      </p:sp>
      <p:graphicFrame>
        <p:nvGraphicFramePr>
          <p:cNvPr id="4" name="Tableau 3"/>
          <p:cNvGraphicFramePr>
            <a:graphicFrameLocks noGrp="1"/>
          </p:cNvGraphicFramePr>
          <p:nvPr>
            <p:extLst>
              <p:ext uri="{D42A27DB-BD31-4B8C-83A1-F6EECF244321}">
                <p14:modId xmlns:p14="http://schemas.microsoft.com/office/powerpoint/2010/main" val="3698241777"/>
              </p:ext>
            </p:extLst>
          </p:nvPr>
        </p:nvGraphicFramePr>
        <p:xfrm>
          <a:off x="0" y="3156495"/>
          <a:ext cx="12192000" cy="9197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2738580685"/>
                    </a:ext>
                  </a:extLst>
                </a:gridCol>
              </a:tblGrid>
              <a:tr h="459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smtClean="0"/>
                        <a:t>Phase d’environnement : Conception de l’hébergement numérique</a:t>
                      </a:r>
                    </a:p>
                  </a:txBody>
                  <a:tcPr/>
                </a:tc>
                <a:extLst>
                  <a:ext uri="{0D108BD9-81ED-4DB2-BD59-A6C34878D82A}">
                    <a16:rowId xmlns:a16="http://schemas.microsoft.com/office/drawing/2014/main" val="3198630643"/>
                  </a:ext>
                </a:extLst>
              </a:tr>
              <a:tr h="459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4" action="ppaction://hlinksldjump"/>
                        </a:rPr>
                        <a:t>Exposer tous les indicateurs des fournisseurs</a:t>
                      </a:r>
                      <a:endParaRPr lang="fr-FR" sz="1800" dirty="0" smtClean="0"/>
                    </a:p>
                  </a:txBody>
                  <a:tcPr/>
                </a:tc>
                <a:extLst>
                  <a:ext uri="{0D108BD9-81ED-4DB2-BD59-A6C34878D82A}">
                    <a16:rowId xmlns:a16="http://schemas.microsoft.com/office/drawing/2014/main" val="730456596"/>
                  </a:ext>
                </a:extLst>
              </a:tr>
            </a:tbl>
          </a:graphicData>
        </a:graphic>
      </p:graphicFrame>
    </p:spTree>
    <p:extLst>
      <p:ext uri="{BB962C8B-B14F-4D97-AF65-F5344CB8AC3E}">
        <p14:creationId xmlns:p14="http://schemas.microsoft.com/office/powerpoint/2010/main" val="3703605494"/>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Suivre les impacts du service numérique</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738664"/>
          </a:xfrm>
          <a:prstGeom prst="rect">
            <a:avLst/>
          </a:prstGeom>
          <a:noFill/>
        </p:spPr>
        <p:txBody>
          <a:bodyPr wrap="square" numCol="1" rtlCol="0">
            <a:spAutoFit/>
          </a:bodyPr>
          <a:lstStyle/>
          <a:p>
            <a:pPr lvl="0"/>
            <a:r>
              <a:rPr lang="fr-FR" sz="1400" u="sng" dirty="0">
                <a:solidFill>
                  <a:prstClr val="black"/>
                </a:solidFill>
              </a:rPr>
              <a:t>Principes directeurs</a:t>
            </a:r>
            <a:r>
              <a:rPr lang="fr-FR" sz="1400" b="1" dirty="0">
                <a:solidFill>
                  <a:prstClr val="black"/>
                </a:solidFill>
              </a:rPr>
              <a:t> : </a:t>
            </a:r>
            <a:r>
              <a:rPr lang="fr-FR" sz="1400" dirty="0">
                <a:solidFill>
                  <a:prstClr val="black"/>
                </a:solidFill>
              </a:rPr>
              <a:t>Piloter l'empreinte environnementale des projets </a:t>
            </a:r>
          </a:p>
          <a:p>
            <a:pPr lvl="0"/>
            <a:r>
              <a:rPr lang="fr-FR" sz="1400" u="sng" dirty="0">
                <a:solidFill>
                  <a:prstClr val="black"/>
                </a:solidFill>
              </a:rPr>
              <a:t>Finalité</a:t>
            </a:r>
            <a:r>
              <a:rPr lang="fr-FR" sz="1400" dirty="0">
                <a:solidFill>
                  <a:prstClr val="black"/>
                </a:solidFill>
              </a:rPr>
              <a:t> : Appliquer des méthodes facilitant la prise en compte de l'</a:t>
            </a:r>
            <a:r>
              <a:rPr lang="fr-FR" sz="1400" dirty="0" err="1">
                <a:solidFill>
                  <a:prstClr val="black"/>
                </a:solidFill>
              </a:rPr>
              <a:t>eco-conception</a:t>
            </a:r>
            <a:r>
              <a:rPr lang="fr-FR" sz="1400" dirty="0">
                <a:solidFill>
                  <a:prstClr val="black"/>
                </a:solidFill>
              </a:rPr>
              <a:t> dans les projets.</a:t>
            </a:r>
          </a:p>
          <a:p>
            <a:r>
              <a:rPr lang="fr-FR" sz="1400" u="sng" dirty="0" smtClean="0"/>
              <a:t>Mesures ciblées </a:t>
            </a:r>
            <a:r>
              <a:rPr lang="fr-FR" sz="1400" b="1" dirty="0" smtClean="0"/>
              <a:t>: </a:t>
            </a:r>
            <a:r>
              <a:rPr lang="it-IT" sz="1400" dirty="0"/>
              <a:t>Mesure </a:t>
            </a:r>
            <a:r>
              <a:rPr lang="it-IT" sz="1400" dirty="0" smtClean="0"/>
              <a:t>projet.</a:t>
            </a:r>
            <a:endParaRPr lang="it-IT" sz="1400" dirty="0"/>
          </a:p>
        </p:txBody>
      </p:sp>
      <p:graphicFrame>
        <p:nvGraphicFramePr>
          <p:cNvPr id="4" name="Tableau 3"/>
          <p:cNvGraphicFramePr>
            <a:graphicFrameLocks noGrp="1"/>
          </p:cNvGraphicFramePr>
          <p:nvPr>
            <p:extLst>
              <p:ext uri="{D42A27DB-BD31-4B8C-83A1-F6EECF244321}">
                <p14:modId xmlns:p14="http://schemas.microsoft.com/office/powerpoint/2010/main" val="1539004194"/>
              </p:ext>
            </p:extLst>
          </p:nvPr>
        </p:nvGraphicFramePr>
        <p:xfrm>
          <a:off x="0" y="3257261"/>
          <a:ext cx="12192000" cy="237744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734860509"/>
                    </a:ext>
                  </a:extLst>
                </a:gridCol>
                <a:gridCol w="3048000">
                  <a:extLst>
                    <a:ext uri="{9D8B030D-6E8A-4147-A177-3AD203B41FA5}">
                      <a16:colId xmlns:a16="http://schemas.microsoft.com/office/drawing/2014/main" val="1402698682"/>
                    </a:ext>
                  </a:extLst>
                </a:gridCol>
                <a:gridCol w="3048000">
                  <a:extLst>
                    <a:ext uri="{9D8B030D-6E8A-4147-A177-3AD203B41FA5}">
                      <a16:colId xmlns:a16="http://schemas.microsoft.com/office/drawing/2014/main" val="470793696"/>
                    </a:ext>
                  </a:extLst>
                </a:gridCol>
                <a:gridCol w="3048000">
                  <a:extLst>
                    <a:ext uri="{9D8B030D-6E8A-4147-A177-3AD203B41FA5}">
                      <a16:colId xmlns:a16="http://schemas.microsoft.com/office/drawing/2014/main" val="2401788742"/>
                    </a:ext>
                  </a:extLst>
                </a:gridCol>
              </a:tblGrid>
              <a:tr h="4308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smtClean="0"/>
                        <a:t>Phase de Développement : Front end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smtClean="0"/>
                        <a:t>Phase de Développement : Back end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smtClean="0"/>
                        <a:t>Phase d’environnement : Conception de l’hébergement numérique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smtClean="0"/>
                        <a:t>Phase RUN : Maintenance &amp; fin de vie </a:t>
                      </a:r>
                    </a:p>
                  </a:txBody>
                  <a:tcPr/>
                </a:tc>
                <a:extLst>
                  <a:ext uri="{0D108BD9-81ED-4DB2-BD59-A6C34878D82A}">
                    <a16:rowId xmlns:a16="http://schemas.microsoft.com/office/drawing/2014/main" val="1259095976"/>
                  </a:ext>
                </a:extLst>
              </a:tr>
              <a:tr h="8000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smtClean="0">
                          <a:ln>
                            <a:noFill/>
                          </a:ln>
                          <a:solidFill>
                            <a:prstClr val="black"/>
                          </a:solidFill>
                          <a:effectLst/>
                          <a:uLnTx/>
                          <a:uFillTx/>
                          <a:latin typeface="Calibri" panose="020F0502020204030204"/>
                          <a:ea typeface="+mn-ea"/>
                          <a:cs typeface="+mn-cs"/>
                          <a:hlinkClick r:id="rId4" action="ppaction://hlinksldjump"/>
                        </a:rPr>
                        <a:t>Mettre en place des mesures comparatif d’impact d'une application lors d’une montée de version ou un remplacement d’application</a:t>
                      </a:r>
                      <a:endParaRPr kumimoji="0" lang="fr-FR" sz="1800" b="0" i="0" u="none" strike="noStrike" kern="1200" cap="none" spc="0" normalizeH="0" baseline="0" noProof="0" dirty="0" smtClean="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smtClean="0">
                          <a:ln>
                            <a:noFill/>
                          </a:ln>
                          <a:solidFill>
                            <a:prstClr val="black"/>
                          </a:solidFill>
                          <a:effectLst/>
                          <a:uLnTx/>
                          <a:uFillTx/>
                          <a:latin typeface="Calibri" panose="020F0502020204030204"/>
                          <a:ea typeface="+mn-ea"/>
                          <a:cs typeface="+mn-cs"/>
                          <a:hlinkClick r:id="rId4" action="ppaction://hlinksldjump"/>
                        </a:rPr>
                        <a:t>Mettre en place des mesures comparatif d’impact d'une application lors d’une montée de version ou un remplacement d’application</a:t>
                      </a:r>
                      <a:endParaRPr kumimoji="0" lang="fr-FR" sz="1800" b="0" i="0" u="none" strike="noStrike" kern="1200" cap="none" spc="0" normalizeH="0" baseline="0" noProof="0" dirty="0" smtClean="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4" action="ppaction://hlinksldjump"/>
                        </a:rPr>
                        <a:t>Mettre en place des mesures comparatif d’impact d'une application lors d’une montée de version ou un remplacement d’application</a:t>
                      </a:r>
                      <a:endParaRPr lang="fr-FR" sz="18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5" action="ppaction://hlinksldjump"/>
                        </a:rPr>
                        <a:t>Suivre les différents indicateurs d’écoconception</a:t>
                      </a:r>
                      <a:endParaRPr lang="fr-FR" sz="1800" dirty="0" smtClean="0"/>
                    </a:p>
                  </a:txBody>
                  <a:tcPr/>
                </a:tc>
                <a:extLst>
                  <a:ext uri="{0D108BD9-81ED-4DB2-BD59-A6C34878D82A}">
                    <a16:rowId xmlns:a16="http://schemas.microsoft.com/office/drawing/2014/main" val="1054093798"/>
                  </a:ext>
                </a:extLst>
              </a:tr>
            </a:tbl>
          </a:graphicData>
        </a:graphic>
      </p:graphicFrame>
    </p:spTree>
    <p:extLst>
      <p:ext uri="{BB962C8B-B14F-4D97-AF65-F5344CB8AC3E}">
        <p14:creationId xmlns:p14="http://schemas.microsoft.com/office/powerpoint/2010/main" val="1890486929"/>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3146067"/>
          </a:xfrm>
        </p:spPr>
        <p:txBody>
          <a:bodyPr>
            <a:normAutofit/>
          </a:bodyPr>
          <a:lstStyle/>
          <a:p>
            <a:r>
              <a:rPr lang="fr-FR" sz="4000" dirty="0"/>
              <a:t>Finalité : Réduire la consommation de </a:t>
            </a:r>
            <a:r>
              <a:rPr lang="fr-FR" sz="4000" dirty="0" smtClean="0"/>
              <a:t>ressources</a:t>
            </a:r>
          </a:p>
          <a:p>
            <a:r>
              <a:rPr lang="fr-FR" sz="3000" dirty="0"/>
              <a:t>Optimisation de l'Expérience et de l'Interface Utilisateur</a:t>
            </a:r>
          </a:p>
          <a:p>
            <a:endParaRPr lang="fr-FR" sz="4400" dirty="0" smtClean="0"/>
          </a:p>
          <a:p>
            <a:endParaRPr lang="fr-FR" sz="4400" dirty="0"/>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54022340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Eviter le recours à des ressources inutiles coté terminal utilisateur</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954107"/>
          </a:xfrm>
          <a:prstGeom prst="rect">
            <a:avLst/>
          </a:prstGeom>
          <a:noFill/>
        </p:spPr>
        <p:txBody>
          <a:bodyPr wrap="square" rtlCol="0">
            <a:spAutoFit/>
          </a:bodyPr>
          <a:lstStyle/>
          <a:p>
            <a:pPr lvl="0"/>
            <a:r>
              <a:rPr lang="fr-FR" sz="1400" u="sng" dirty="0">
                <a:solidFill>
                  <a:prstClr val="black"/>
                </a:solidFill>
              </a:rPr>
              <a:t>Principes directeurs</a:t>
            </a:r>
            <a:r>
              <a:rPr lang="fr-FR" sz="1400" b="1" dirty="0">
                <a:solidFill>
                  <a:prstClr val="black"/>
                </a:solidFill>
              </a:rPr>
              <a:t> : </a:t>
            </a:r>
            <a:r>
              <a:rPr lang="fr-FR" sz="1400" dirty="0">
                <a:solidFill>
                  <a:prstClr val="black"/>
                </a:solidFill>
              </a:rPr>
              <a:t>Optimisation de l'Expérience et de l'Interface Utilisateur : Permettre d’optimiser le parcours utilisateur et de fabriquer l’IHM au « stricte » niveau de fonctionnalités attendues par les utilisateurs finaux avec une conception, fabrication et ergonomie intégrant les recommandations du « Guide d’Ecoconception ».</a:t>
            </a:r>
          </a:p>
          <a:p>
            <a:r>
              <a:rPr lang="fr-FR" sz="1400" u="sng" dirty="0" smtClean="0"/>
              <a:t>Finalité</a:t>
            </a:r>
            <a:r>
              <a:rPr lang="fr-FR" sz="1400" dirty="0" smtClean="0"/>
              <a:t> </a:t>
            </a:r>
            <a:r>
              <a:rPr lang="fr-FR" sz="1400" dirty="0"/>
              <a:t>: </a:t>
            </a:r>
            <a:r>
              <a:rPr lang="fr-FR" sz="1400" dirty="0" smtClean="0"/>
              <a:t>Minimiser </a:t>
            </a:r>
            <a:r>
              <a:rPr lang="fr-FR" sz="1400" dirty="0"/>
              <a:t>la consommation de ressources  terminal utilisateur pour ce service </a:t>
            </a:r>
            <a:r>
              <a:rPr lang="fr-FR" sz="1400" dirty="0" smtClean="0"/>
              <a:t>numérique.</a:t>
            </a:r>
          </a:p>
          <a:p>
            <a:r>
              <a:rPr lang="fr-FR" sz="1400" u="sng" dirty="0" smtClean="0"/>
              <a:t>Mesures ciblées </a:t>
            </a:r>
            <a:r>
              <a:rPr lang="fr-FR" sz="1400" b="1" dirty="0" smtClean="0"/>
              <a:t>: </a:t>
            </a:r>
            <a:r>
              <a:rPr lang="it-IT" sz="1400" dirty="0"/>
              <a:t>Mesure software</a:t>
            </a:r>
          </a:p>
        </p:txBody>
      </p:sp>
      <p:graphicFrame>
        <p:nvGraphicFramePr>
          <p:cNvPr id="4" name="Tableau 3"/>
          <p:cNvGraphicFramePr>
            <a:graphicFrameLocks noGrp="1"/>
          </p:cNvGraphicFramePr>
          <p:nvPr>
            <p:extLst>
              <p:ext uri="{D42A27DB-BD31-4B8C-83A1-F6EECF244321}">
                <p14:modId xmlns:p14="http://schemas.microsoft.com/office/powerpoint/2010/main" val="1462384588"/>
              </p:ext>
            </p:extLst>
          </p:nvPr>
        </p:nvGraphicFramePr>
        <p:xfrm>
          <a:off x="0" y="2339244"/>
          <a:ext cx="12192000" cy="344424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3927347069"/>
                    </a:ext>
                  </a:extLst>
                </a:gridCol>
                <a:gridCol w="3048000">
                  <a:extLst>
                    <a:ext uri="{9D8B030D-6E8A-4147-A177-3AD203B41FA5}">
                      <a16:colId xmlns:a16="http://schemas.microsoft.com/office/drawing/2014/main" val="232392135"/>
                    </a:ext>
                  </a:extLst>
                </a:gridCol>
                <a:gridCol w="3048000">
                  <a:extLst>
                    <a:ext uri="{9D8B030D-6E8A-4147-A177-3AD203B41FA5}">
                      <a16:colId xmlns:a16="http://schemas.microsoft.com/office/drawing/2014/main" val="2187365473"/>
                    </a:ext>
                  </a:extLst>
                </a:gridCol>
                <a:gridCol w="3048000">
                  <a:extLst>
                    <a:ext uri="{9D8B030D-6E8A-4147-A177-3AD203B41FA5}">
                      <a16:colId xmlns:a16="http://schemas.microsoft.com/office/drawing/2014/main" val="1417596317"/>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smtClean="0"/>
                        <a:t>Phase Cadrage : CDC/</a:t>
                      </a:r>
                      <a:r>
                        <a:rPr lang="fr-FR" sz="1400" b="1" dirty="0" err="1" smtClean="0"/>
                        <a:t>Spec</a:t>
                      </a:r>
                      <a:r>
                        <a:rPr lang="fr-FR" sz="1400" b="1" dirty="0" smtClean="0"/>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smtClean="0"/>
                        <a:t>Phase Cadrage  : Architecture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smtClean="0"/>
                        <a:t>Phase </a:t>
                      </a:r>
                      <a:r>
                        <a:rPr lang="fr-FR" sz="1400" b="1" dirty="0" err="1" smtClean="0"/>
                        <a:t>Spec</a:t>
                      </a:r>
                      <a:r>
                        <a:rPr lang="fr-FR" sz="1400" b="1" dirty="0" smtClean="0"/>
                        <a:t>-Conception Fonctionnelle &amp; Design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smtClean="0"/>
                        <a:t>Phase de Développement : Front end </a:t>
                      </a:r>
                    </a:p>
                  </a:txBody>
                  <a:tcPr/>
                </a:tc>
                <a:extLst>
                  <a:ext uri="{0D108BD9-81ED-4DB2-BD59-A6C34878D82A}">
                    <a16:rowId xmlns:a16="http://schemas.microsoft.com/office/drawing/2014/main" val="57421513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4" action="ppaction://hlinksldjump"/>
                        </a:rPr>
                        <a:t>Limiter les analyses statistiques et données récoltées avec les outils de </a:t>
                      </a:r>
                      <a:r>
                        <a:rPr lang="fr-FR" sz="1400" dirty="0" err="1" smtClean="0">
                          <a:hlinkClick r:id="rId4" action="ppaction://hlinksldjump"/>
                        </a:rPr>
                        <a:t>tracking</a:t>
                      </a:r>
                      <a:r>
                        <a:rPr lang="fr-FR" sz="1400" dirty="0" smtClean="0">
                          <a:hlinkClick r:id="rId4" action="ppaction://hlinksldjump"/>
                        </a:rPr>
                        <a:t> Ex : utilisation du mobile vs Desktop.</a:t>
                      </a:r>
                      <a:endParaRPr lang="fr-FR" sz="14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4" action="ppaction://hlinksldjump"/>
                        </a:rPr>
                        <a:t>Limiter les analyses statistiques et données récoltées avec les outils de </a:t>
                      </a:r>
                      <a:r>
                        <a:rPr lang="fr-FR" sz="1400" dirty="0" err="1" smtClean="0">
                          <a:hlinkClick r:id="rId4" action="ppaction://hlinksldjump"/>
                        </a:rPr>
                        <a:t>tracking</a:t>
                      </a:r>
                      <a:r>
                        <a:rPr lang="fr-FR" sz="1400" dirty="0" smtClean="0">
                          <a:hlinkClick r:id="rId4" action="ppaction://hlinksldjump"/>
                        </a:rPr>
                        <a:t> Ex : utilisation du mobile vs Desktop.</a:t>
                      </a:r>
                      <a:endParaRPr lang="fr-FR" sz="14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5" action="ppaction://hlinksldjump"/>
                        </a:rPr>
                        <a:t>Utiliser majoritairement des composants fonctionnels natifs du système d’exploitation.</a:t>
                      </a:r>
                      <a:endParaRPr lang="fr-FR" sz="14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6" action="ppaction://hlinksldjump"/>
                        </a:rPr>
                        <a:t>Eviter de déclencher le chargement de ressources et de contenus inutilisés pour chaque fonctionnalité.</a:t>
                      </a:r>
                      <a:endParaRPr lang="fr-FR" sz="1400" dirty="0" smtClean="0"/>
                    </a:p>
                  </a:txBody>
                  <a:tcPr/>
                </a:tc>
                <a:extLst>
                  <a:ext uri="{0D108BD9-81ED-4DB2-BD59-A6C34878D82A}">
                    <a16:rowId xmlns:a16="http://schemas.microsoft.com/office/drawing/2014/main" val="3674886203"/>
                  </a:ext>
                </a:extLst>
              </a:tr>
              <a:tr h="370840">
                <a:tc>
                  <a:txBody>
                    <a:bodyPr/>
                    <a:lstStyle/>
                    <a:p>
                      <a:endParaRPr lang="fr-FR"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7" action="ppaction://hlinksldjump"/>
                        </a:rPr>
                        <a:t>Ne charger des données/du code que lorsqu'elles sont/il est nécessaire.</a:t>
                      </a:r>
                      <a:endParaRPr lang="fr-FR" sz="1400" dirty="0" smtClean="0"/>
                    </a:p>
                  </a:txBody>
                  <a:tcPr/>
                </a:tc>
                <a:tc>
                  <a:txBody>
                    <a:bodyPr/>
                    <a:lstStyle/>
                    <a:p>
                      <a:endParaRPr lang="fr-FR"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8" action="ppaction://hlinksldjump"/>
                        </a:rPr>
                        <a:t>Restreindre l’usage des capteurs des terminaux utilisateurs au besoin du service.</a:t>
                      </a:r>
                      <a:endParaRPr lang="fr-FR" sz="1400" dirty="0" smtClean="0"/>
                    </a:p>
                  </a:txBody>
                  <a:tcPr/>
                </a:tc>
                <a:extLst>
                  <a:ext uri="{0D108BD9-81ED-4DB2-BD59-A6C34878D82A}">
                    <a16:rowId xmlns:a16="http://schemas.microsoft.com/office/drawing/2014/main" val="3045413468"/>
                  </a:ext>
                </a:extLst>
              </a:tr>
              <a:tr h="370840">
                <a:tc>
                  <a:txBody>
                    <a:bodyPr/>
                    <a:lstStyle/>
                    <a:p>
                      <a:endParaRPr lang="fr-FR" sz="1400"/>
                    </a:p>
                  </a:txBody>
                  <a:tcPr/>
                </a:tc>
                <a:tc>
                  <a:txBody>
                    <a:bodyPr/>
                    <a:lstStyle/>
                    <a:p>
                      <a:endParaRPr lang="fr-FR" sz="1400"/>
                    </a:p>
                  </a:txBody>
                  <a:tcPr/>
                </a:tc>
                <a:tc>
                  <a:txBody>
                    <a:bodyPr/>
                    <a:lstStyle/>
                    <a:p>
                      <a:endParaRPr lang="fr-FR"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9" action="ppaction://hlinksldjump"/>
                        </a:rPr>
                        <a:t>N'utilisez que les portions indispensables des bibliothèques JavaScript et </a:t>
                      </a:r>
                      <a:r>
                        <a:rPr lang="fr-FR" sz="1400" dirty="0" err="1" smtClean="0">
                          <a:hlinkClick r:id="rId9" action="ppaction://hlinksldjump"/>
                        </a:rPr>
                        <a:t>frameworks</a:t>
                      </a:r>
                      <a:r>
                        <a:rPr lang="fr-FR" sz="1400" dirty="0" smtClean="0">
                          <a:hlinkClick r:id="rId9" action="ppaction://hlinksldjump"/>
                        </a:rPr>
                        <a:t> CSS. </a:t>
                      </a:r>
                      <a:endParaRPr lang="fr-FR" sz="1400" dirty="0" smtClean="0"/>
                    </a:p>
                  </a:txBody>
                  <a:tcPr/>
                </a:tc>
                <a:extLst>
                  <a:ext uri="{0D108BD9-81ED-4DB2-BD59-A6C34878D82A}">
                    <a16:rowId xmlns:a16="http://schemas.microsoft.com/office/drawing/2014/main" val="667910402"/>
                  </a:ext>
                </a:extLst>
              </a:tr>
              <a:tr h="370840">
                <a:tc>
                  <a:txBody>
                    <a:bodyPr/>
                    <a:lstStyle/>
                    <a:p>
                      <a:endParaRPr lang="fr-FR" sz="1400" dirty="0"/>
                    </a:p>
                  </a:txBody>
                  <a:tcPr/>
                </a:tc>
                <a:tc>
                  <a:txBody>
                    <a:bodyPr/>
                    <a:lstStyle/>
                    <a:p>
                      <a:endParaRPr lang="fr-FR" sz="1400"/>
                    </a:p>
                  </a:txBody>
                  <a:tcPr/>
                </a:tc>
                <a:tc>
                  <a:txBody>
                    <a:bodyPr/>
                    <a:lstStyle/>
                    <a:p>
                      <a:endParaRPr lang="fr-FR"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7" action="ppaction://hlinksldjump"/>
                        </a:rPr>
                        <a:t>Ne charger des données/du code que lorsqu'elles sont/il est nécessaire.</a:t>
                      </a:r>
                      <a:endParaRPr lang="fr-FR" sz="1400" dirty="0" smtClean="0"/>
                    </a:p>
                  </a:txBody>
                  <a:tcPr/>
                </a:tc>
                <a:extLst>
                  <a:ext uri="{0D108BD9-81ED-4DB2-BD59-A6C34878D82A}">
                    <a16:rowId xmlns:a16="http://schemas.microsoft.com/office/drawing/2014/main" val="751049515"/>
                  </a:ext>
                </a:extLst>
              </a:tr>
            </a:tbl>
          </a:graphicData>
        </a:graphic>
      </p:graphicFrame>
    </p:spTree>
    <p:extLst>
      <p:ext uri="{BB962C8B-B14F-4D97-AF65-F5344CB8AC3E}">
        <p14:creationId xmlns:p14="http://schemas.microsoft.com/office/powerpoint/2010/main" val="2490615470"/>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Favoriser le bon fonctionnement des navigateurs</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8" name="ZoneTexte 7"/>
          <p:cNvSpPr txBox="1"/>
          <p:nvPr/>
        </p:nvSpPr>
        <p:spPr>
          <a:xfrm>
            <a:off x="0" y="1325563"/>
            <a:ext cx="12192000" cy="954107"/>
          </a:xfrm>
          <a:prstGeom prst="rect">
            <a:avLst/>
          </a:prstGeom>
          <a:noFill/>
        </p:spPr>
        <p:txBody>
          <a:bodyPr wrap="square" rtlCol="0">
            <a:spAutoFit/>
          </a:bodyPr>
          <a:lstStyle/>
          <a:p>
            <a:pPr lvl="0"/>
            <a:r>
              <a:rPr lang="fr-FR" sz="1400" u="sng" dirty="0">
                <a:solidFill>
                  <a:prstClr val="black"/>
                </a:solidFill>
              </a:rPr>
              <a:t>Principes directeurs</a:t>
            </a:r>
            <a:r>
              <a:rPr lang="fr-FR" sz="1400" b="1" dirty="0">
                <a:solidFill>
                  <a:prstClr val="black"/>
                </a:solidFill>
              </a:rPr>
              <a:t> : </a:t>
            </a:r>
            <a:r>
              <a:rPr lang="fr-FR" sz="1400" dirty="0">
                <a:solidFill>
                  <a:prstClr val="black"/>
                </a:solidFill>
              </a:rPr>
              <a:t>Optimisation de l'Expérience et de l'Interface Utilisateur : Permettre d’optimiser le parcours utilisateur et de fabriquer l’IHM au « stricte » niveau de fonctionnalités attendues par les utilisateurs finaux avec une conception, fabrication et ergonomie intégrant les recommandations du « Guide d’Ecoconception ».</a:t>
            </a:r>
          </a:p>
          <a:p>
            <a:pPr lvl="0"/>
            <a:r>
              <a:rPr lang="fr-FR" sz="1400" u="sng" dirty="0" smtClean="0">
                <a:solidFill>
                  <a:prstClr val="black"/>
                </a:solidFill>
              </a:rPr>
              <a:t>Finalité</a:t>
            </a:r>
            <a:r>
              <a:rPr lang="fr-FR" sz="1400" dirty="0" smtClean="0">
                <a:solidFill>
                  <a:prstClr val="black"/>
                </a:solidFill>
              </a:rPr>
              <a:t> </a:t>
            </a:r>
            <a:r>
              <a:rPr lang="fr-FR" sz="1400" dirty="0">
                <a:solidFill>
                  <a:prstClr val="black"/>
                </a:solidFill>
              </a:rPr>
              <a:t>: Minimiser la consommation de ressources  terminal utilisateur pour ce service numérique.</a:t>
            </a:r>
          </a:p>
          <a:p>
            <a:pPr lvl="0"/>
            <a:r>
              <a:rPr lang="fr-FR" sz="1400" u="sng" dirty="0">
                <a:solidFill>
                  <a:prstClr val="black"/>
                </a:solidFill>
              </a:rPr>
              <a:t>Mesures ciblées </a:t>
            </a:r>
            <a:r>
              <a:rPr lang="fr-FR" sz="1400" b="1" dirty="0">
                <a:solidFill>
                  <a:prstClr val="black"/>
                </a:solidFill>
              </a:rPr>
              <a:t>: </a:t>
            </a:r>
            <a:r>
              <a:rPr lang="it-IT" sz="1400" dirty="0"/>
              <a:t>Mesure software</a:t>
            </a:r>
            <a:endParaRPr lang="it-IT" sz="1400" dirty="0">
              <a:solidFill>
                <a:prstClr val="black"/>
              </a:solidFill>
            </a:endParaRPr>
          </a:p>
        </p:txBody>
      </p:sp>
      <p:graphicFrame>
        <p:nvGraphicFramePr>
          <p:cNvPr id="4" name="Tableau 3"/>
          <p:cNvGraphicFramePr>
            <a:graphicFrameLocks noGrp="1"/>
          </p:cNvGraphicFramePr>
          <p:nvPr>
            <p:extLst>
              <p:ext uri="{D42A27DB-BD31-4B8C-83A1-F6EECF244321}">
                <p14:modId xmlns:p14="http://schemas.microsoft.com/office/powerpoint/2010/main" val="676227483"/>
              </p:ext>
            </p:extLst>
          </p:nvPr>
        </p:nvGraphicFramePr>
        <p:xfrm>
          <a:off x="0" y="2362325"/>
          <a:ext cx="12192000" cy="3725958"/>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3849596759"/>
                    </a:ext>
                  </a:extLst>
                </a:gridCol>
              </a:tblGrid>
              <a:tr h="6209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dirty="0" smtClean="0"/>
                        <a:t>Phase </a:t>
                      </a:r>
                      <a:r>
                        <a:rPr lang="fr-FR" sz="1600" b="1" dirty="0" err="1" smtClean="0"/>
                        <a:t>Spec</a:t>
                      </a:r>
                      <a:r>
                        <a:rPr lang="fr-FR" sz="1600" b="1" dirty="0" smtClean="0"/>
                        <a:t>-Conception Fonctionnelle &amp; Design</a:t>
                      </a:r>
                    </a:p>
                  </a:txBody>
                  <a:tcPr/>
                </a:tc>
                <a:extLst>
                  <a:ext uri="{0D108BD9-81ED-4DB2-BD59-A6C34878D82A}">
                    <a16:rowId xmlns:a16="http://schemas.microsoft.com/office/drawing/2014/main" val="3398736933"/>
                  </a:ext>
                </a:extLst>
              </a:tr>
              <a:tr h="6209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smtClean="0">
                          <a:hlinkClick r:id="rId4" action="ppaction://hlinksldjump"/>
                        </a:rPr>
                        <a:t>Rendre les éléments du DOM invisibles lors de leur modification.</a:t>
                      </a:r>
                      <a:endParaRPr lang="fr-FR" sz="1600" dirty="0" smtClean="0"/>
                    </a:p>
                  </a:txBody>
                  <a:tcPr/>
                </a:tc>
                <a:extLst>
                  <a:ext uri="{0D108BD9-81ED-4DB2-BD59-A6C34878D82A}">
                    <a16:rowId xmlns:a16="http://schemas.microsoft.com/office/drawing/2014/main" val="357067234"/>
                  </a:ext>
                </a:extLst>
              </a:tr>
              <a:tr h="6209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smtClean="0">
                          <a:hlinkClick r:id="rId5" action="ppaction://hlinksldjump"/>
                        </a:rPr>
                        <a:t>Modifier plusieurs propriétés CSS en 1 seule fois.</a:t>
                      </a:r>
                      <a:endParaRPr lang="fr-FR" sz="1600" dirty="0" smtClean="0"/>
                    </a:p>
                  </a:txBody>
                  <a:tcPr/>
                </a:tc>
                <a:extLst>
                  <a:ext uri="{0D108BD9-81ED-4DB2-BD59-A6C34878D82A}">
                    <a16:rowId xmlns:a16="http://schemas.microsoft.com/office/drawing/2014/main" val="2911384224"/>
                  </a:ext>
                </a:extLst>
              </a:tr>
              <a:tr h="6209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smtClean="0">
                          <a:hlinkClick r:id="rId6" action="ppaction://hlinksldjump"/>
                        </a:rPr>
                        <a:t>Réduire les accès au DOM via JavaScript.</a:t>
                      </a:r>
                      <a:endParaRPr lang="fr-FR" sz="1600" dirty="0" smtClean="0"/>
                    </a:p>
                  </a:txBody>
                  <a:tcPr/>
                </a:tc>
                <a:extLst>
                  <a:ext uri="{0D108BD9-81ED-4DB2-BD59-A6C34878D82A}">
                    <a16:rowId xmlns:a16="http://schemas.microsoft.com/office/drawing/2014/main" val="330674544"/>
                  </a:ext>
                </a:extLst>
              </a:tr>
              <a:tr h="6209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smtClean="0">
                          <a:hlinkClick r:id="rId7" action="ppaction://hlinksldjump"/>
                        </a:rPr>
                        <a:t>Valider les pages auprès du W3C.</a:t>
                      </a:r>
                      <a:endParaRPr lang="fr-FR" sz="1600" dirty="0" smtClean="0"/>
                    </a:p>
                  </a:txBody>
                  <a:tcPr/>
                </a:tc>
                <a:extLst>
                  <a:ext uri="{0D108BD9-81ED-4DB2-BD59-A6C34878D82A}">
                    <a16:rowId xmlns:a16="http://schemas.microsoft.com/office/drawing/2014/main" val="1171707507"/>
                  </a:ext>
                </a:extLst>
              </a:tr>
              <a:tr h="6209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smtClean="0">
                          <a:hlinkClick r:id="rId8" action="ppaction://hlinksldjump"/>
                        </a:rPr>
                        <a:t>Écrire des sélecteurs CSS efficaces. </a:t>
                      </a:r>
                      <a:endParaRPr lang="fr-FR" sz="1600" dirty="0" smtClean="0"/>
                    </a:p>
                  </a:txBody>
                  <a:tcPr/>
                </a:tc>
                <a:extLst>
                  <a:ext uri="{0D108BD9-81ED-4DB2-BD59-A6C34878D82A}">
                    <a16:rowId xmlns:a16="http://schemas.microsoft.com/office/drawing/2014/main" val="1723061447"/>
                  </a:ext>
                </a:extLst>
              </a:tr>
            </a:tbl>
          </a:graphicData>
        </a:graphic>
      </p:graphicFrame>
    </p:spTree>
    <p:extLst>
      <p:ext uri="{BB962C8B-B14F-4D97-AF65-F5344CB8AC3E}">
        <p14:creationId xmlns:p14="http://schemas.microsoft.com/office/powerpoint/2010/main" val="2123774670"/>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Limiter le poids par écran</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954107"/>
          </a:xfrm>
          <a:prstGeom prst="rect">
            <a:avLst/>
          </a:prstGeom>
          <a:noFill/>
        </p:spPr>
        <p:txBody>
          <a:bodyPr wrap="square" numCol="1" rtlCol="0">
            <a:spAutoFit/>
          </a:bodyPr>
          <a:lstStyle/>
          <a:p>
            <a:pPr lvl="0"/>
            <a:r>
              <a:rPr lang="fr-FR" sz="1400" u="sng" dirty="0">
                <a:solidFill>
                  <a:prstClr val="black"/>
                </a:solidFill>
              </a:rPr>
              <a:t>Principes directeurs</a:t>
            </a:r>
            <a:r>
              <a:rPr lang="fr-FR" sz="1400" b="1" dirty="0">
                <a:solidFill>
                  <a:prstClr val="black"/>
                </a:solidFill>
              </a:rPr>
              <a:t> : </a:t>
            </a:r>
            <a:r>
              <a:rPr lang="fr-FR" sz="1400" dirty="0">
                <a:solidFill>
                  <a:prstClr val="black"/>
                </a:solidFill>
              </a:rPr>
              <a:t>Optimisation de l'Expérience et de l'Interface Utilisateur : Permettre d’optimiser le parcours utilisateur et de fabriquer l’IHM au « stricte » niveau de fonctionnalités attendues par les utilisateurs finaux avec une conception, fabrication et ergonomie intégrant les recommandations du « Guide d’Ecoconception ».</a:t>
            </a:r>
          </a:p>
          <a:p>
            <a:pPr lvl="0"/>
            <a:r>
              <a:rPr lang="fr-FR" sz="1400" u="sng" dirty="0" smtClean="0">
                <a:solidFill>
                  <a:prstClr val="black"/>
                </a:solidFill>
              </a:rPr>
              <a:t>Finalité</a:t>
            </a:r>
            <a:r>
              <a:rPr lang="fr-FR" sz="1400" dirty="0" smtClean="0">
                <a:solidFill>
                  <a:prstClr val="black"/>
                </a:solidFill>
              </a:rPr>
              <a:t> </a:t>
            </a:r>
            <a:r>
              <a:rPr lang="fr-FR" sz="1400" dirty="0">
                <a:solidFill>
                  <a:prstClr val="black"/>
                </a:solidFill>
              </a:rPr>
              <a:t>: Minimiser la consommation de ressources  terminal utilisateur pour ce service numérique.</a:t>
            </a:r>
          </a:p>
          <a:p>
            <a:pPr lvl="0"/>
            <a:r>
              <a:rPr lang="fr-FR" sz="1400" u="sng" dirty="0">
                <a:solidFill>
                  <a:prstClr val="black"/>
                </a:solidFill>
              </a:rPr>
              <a:t>Mesures ciblées </a:t>
            </a:r>
            <a:r>
              <a:rPr lang="fr-FR" sz="1400" b="1" dirty="0">
                <a:solidFill>
                  <a:prstClr val="black"/>
                </a:solidFill>
              </a:rPr>
              <a:t>: </a:t>
            </a:r>
            <a:r>
              <a:rPr lang="it-IT" sz="1400" dirty="0"/>
              <a:t>Mesure software</a:t>
            </a:r>
            <a:endParaRPr lang="it-IT" sz="1400" dirty="0">
              <a:solidFill>
                <a:prstClr val="black"/>
              </a:solidFill>
            </a:endParaRPr>
          </a:p>
        </p:txBody>
      </p:sp>
      <p:graphicFrame>
        <p:nvGraphicFramePr>
          <p:cNvPr id="4" name="Tableau 3"/>
          <p:cNvGraphicFramePr>
            <a:graphicFrameLocks noGrp="1"/>
          </p:cNvGraphicFramePr>
          <p:nvPr>
            <p:extLst>
              <p:ext uri="{D42A27DB-BD31-4B8C-83A1-F6EECF244321}">
                <p14:modId xmlns:p14="http://schemas.microsoft.com/office/powerpoint/2010/main" val="845597523"/>
              </p:ext>
            </p:extLst>
          </p:nvPr>
        </p:nvGraphicFramePr>
        <p:xfrm>
          <a:off x="0" y="3430402"/>
          <a:ext cx="12192000" cy="1168652"/>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3784178496"/>
                    </a:ext>
                  </a:extLst>
                </a:gridCol>
              </a:tblGrid>
              <a:tr h="5843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smtClean="0"/>
                        <a:t>Phase </a:t>
                      </a:r>
                      <a:r>
                        <a:rPr lang="fr-FR" sz="1800" b="1" dirty="0" err="1" smtClean="0"/>
                        <a:t>Spec</a:t>
                      </a:r>
                      <a:r>
                        <a:rPr lang="fr-FR" sz="1800" b="1" dirty="0" smtClean="0"/>
                        <a:t>-Conception Fonctionnelle &amp; Design</a:t>
                      </a:r>
                    </a:p>
                  </a:txBody>
                  <a:tcPr/>
                </a:tc>
                <a:extLst>
                  <a:ext uri="{0D108BD9-81ED-4DB2-BD59-A6C34878D82A}">
                    <a16:rowId xmlns:a16="http://schemas.microsoft.com/office/drawing/2014/main" val="3046346355"/>
                  </a:ext>
                </a:extLst>
              </a:tr>
              <a:tr h="5843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4" action="ppaction://hlinksldjump"/>
                        </a:rPr>
                        <a:t>S’astreindre à un poids maximum par écran et une limite de requête par écran </a:t>
                      </a:r>
                      <a:endParaRPr lang="fr-FR" sz="1800" dirty="0" smtClean="0"/>
                    </a:p>
                  </a:txBody>
                  <a:tcPr/>
                </a:tc>
                <a:extLst>
                  <a:ext uri="{0D108BD9-81ED-4DB2-BD59-A6C34878D82A}">
                    <a16:rowId xmlns:a16="http://schemas.microsoft.com/office/drawing/2014/main" val="1965673422"/>
                  </a:ext>
                </a:extLst>
              </a:tr>
            </a:tbl>
          </a:graphicData>
        </a:graphic>
      </p:graphicFrame>
    </p:spTree>
    <p:extLst>
      <p:ext uri="{BB962C8B-B14F-4D97-AF65-F5344CB8AC3E}">
        <p14:creationId xmlns:p14="http://schemas.microsoft.com/office/powerpoint/2010/main" val="2035375378"/>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Optimiser les contenus </a:t>
            </a:r>
            <a:r>
              <a:rPr lang="fr-FR" b="1" dirty="0" err="1">
                <a:solidFill>
                  <a:schemeClr val="bg1"/>
                </a:solidFill>
              </a:rPr>
              <a:t>multi-média</a:t>
            </a:r>
            <a:endParaRPr lang="fr-FR" b="1" dirty="0">
              <a:solidFill>
                <a:schemeClr val="bg1"/>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1115690"/>
          </a:xfrm>
          <a:prstGeom prst="rect">
            <a:avLst/>
          </a:prstGeom>
          <a:noFill/>
        </p:spPr>
        <p:txBody>
          <a:bodyPr wrap="square" numCol="1" rtlCol="0">
            <a:spAutoFit/>
          </a:bodyPr>
          <a:lstStyle/>
          <a:p>
            <a:pPr lvl="0"/>
            <a:r>
              <a:rPr lang="fr-FR" sz="1400" u="sng" dirty="0">
                <a:solidFill>
                  <a:prstClr val="black"/>
                </a:solidFill>
              </a:rPr>
              <a:t>Principes directeurs</a:t>
            </a:r>
            <a:r>
              <a:rPr lang="fr-FR" sz="1400" b="1" dirty="0">
                <a:solidFill>
                  <a:prstClr val="black"/>
                </a:solidFill>
              </a:rPr>
              <a:t> : </a:t>
            </a:r>
            <a:r>
              <a:rPr lang="fr-FR" sz="1400" dirty="0">
                <a:solidFill>
                  <a:prstClr val="black"/>
                </a:solidFill>
              </a:rPr>
              <a:t>Optimisation de l'Expérience et de l'Interface Utilisateur : Permettre d’optimiser le parcours utilisateur et de fabriquer l’IHM au « stricte » niveau de fonctionnalités attendues par les utilisateurs finaux avec une conception, fabrication et ergonomie intégrant les recommandations du « Guide d’Ecoconception ».</a:t>
            </a:r>
          </a:p>
          <a:p>
            <a:pPr lvl="0"/>
            <a:r>
              <a:rPr lang="fr-FR" sz="1400" u="sng" dirty="0" smtClean="0">
                <a:solidFill>
                  <a:prstClr val="black"/>
                </a:solidFill>
              </a:rPr>
              <a:t>Finalité</a:t>
            </a:r>
            <a:r>
              <a:rPr lang="fr-FR" sz="1400" dirty="0" smtClean="0">
                <a:solidFill>
                  <a:prstClr val="black"/>
                </a:solidFill>
              </a:rPr>
              <a:t> </a:t>
            </a:r>
            <a:r>
              <a:rPr lang="fr-FR" sz="1400" dirty="0">
                <a:solidFill>
                  <a:prstClr val="black"/>
                </a:solidFill>
              </a:rPr>
              <a:t>: Minimiser la consommation de ressources  terminal utilisateur pour ce service numérique.</a:t>
            </a:r>
          </a:p>
          <a:p>
            <a:pPr lvl="0"/>
            <a:r>
              <a:rPr lang="fr-FR" sz="1400" u="sng" dirty="0">
                <a:solidFill>
                  <a:prstClr val="black"/>
                </a:solidFill>
              </a:rPr>
              <a:t>Mesures ciblées </a:t>
            </a:r>
            <a:r>
              <a:rPr lang="fr-FR" sz="1400" b="1" dirty="0">
                <a:solidFill>
                  <a:prstClr val="black"/>
                </a:solidFill>
              </a:rPr>
              <a:t>: </a:t>
            </a:r>
            <a:r>
              <a:rPr lang="it-IT" sz="1400" dirty="0"/>
              <a:t>Mesure software</a:t>
            </a:r>
            <a:endParaRPr lang="it-IT" sz="1050" dirty="0"/>
          </a:p>
          <a:p>
            <a:endParaRPr lang="it-IT" sz="1050" dirty="0"/>
          </a:p>
        </p:txBody>
      </p:sp>
      <p:graphicFrame>
        <p:nvGraphicFramePr>
          <p:cNvPr id="4" name="Tableau 3"/>
          <p:cNvGraphicFramePr>
            <a:graphicFrameLocks noGrp="1"/>
          </p:cNvGraphicFramePr>
          <p:nvPr>
            <p:extLst>
              <p:ext uri="{D42A27DB-BD31-4B8C-83A1-F6EECF244321}">
                <p14:modId xmlns:p14="http://schemas.microsoft.com/office/powerpoint/2010/main" val="1470775768"/>
              </p:ext>
            </p:extLst>
          </p:nvPr>
        </p:nvGraphicFramePr>
        <p:xfrm>
          <a:off x="0" y="2360046"/>
          <a:ext cx="12192000" cy="37490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846538332"/>
                    </a:ext>
                  </a:extLst>
                </a:gridCol>
                <a:gridCol w="6096000">
                  <a:extLst>
                    <a:ext uri="{9D8B030D-6E8A-4147-A177-3AD203B41FA5}">
                      <a16:colId xmlns:a16="http://schemas.microsoft.com/office/drawing/2014/main" val="2862535949"/>
                    </a:ext>
                  </a:extLst>
                </a:gridCol>
              </a:tblGrid>
              <a:tr h="2727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dirty="0" smtClean="0"/>
                        <a:t>Phase </a:t>
                      </a:r>
                      <a:r>
                        <a:rPr lang="fr-FR" sz="1200" b="1" dirty="0" err="1" smtClean="0"/>
                        <a:t>Spec</a:t>
                      </a:r>
                      <a:r>
                        <a:rPr lang="fr-FR" sz="1200" b="1" dirty="0" smtClean="0"/>
                        <a:t>-Conception Fonctionnelle &amp; Design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dirty="0" smtClean="0"/>
                        <a:t>Phase de Développement : Front end</a:t>
                      </a:r>
                    </a:p>
                  </a:txBody>
                  <a:tcPr/>
                </a:tc>
                <a:extLst>
                  <a:ext uri="{0D108BD9-81ED-4DB2-BD59-A6C34878D82A}">
                    <a16:rowId xmlns:a16="http://schemas.microsoft.com/office/drawing/2014/main" val="347983186"/>
                  </a:ext>
                </a:extLst>
              </a:tr>
              <a:tr h="2727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4" action="ppaction://hlinksldjump"/>
                        </a:rPr>
                        <a:t>Utiliser un format de fichier adapté au contenu et au contexte de visualisation de chaque image</a:t>
                      </a:r>
                      <a:endParaRPr lang="fr-FR" sz="12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5" action="ppaction://hlinksldjump"/>
                        </a:rPr>
                        <a:t>Dimensionner les éléments graphiques et les médias correspondants au contexte d’affichage.</a:t>
                      </a:r>
                      <a:endParaRPr lang="fr-FR" sz="1200" dirty="0" smtClean="0"/>
                    </a:p>
                  </a:txBody>
                  <a:tcPr/>
                </a:tc>
                <a:extLst>
                  <a:ext uri="{0D108BD9-81ED-4DB2-BD59-A6C34878D82A}">
                    <a16:rowId xmlns:a16="http://schemas.microsoft.com/office/drawing/2014/main" val="950832125"/>
                  </a:ext>
                </a:extLst>
              </a:tr>
              <a:tr h="4546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6" action="ppaction://hlinksldjump"/>
                        </a:rPr>
                        <a:t>Proposer des images dont le niveau de compression est adapté au contenu et au contexte de visualisation</a:t>
                      </a:r>
                      <a:endParaRPr lang="fr-FR" sz="1200" dirty="0" smtClean="0"/>
                    </a:p>
                  </a:txBody>
                  <a:tcPr/>
                </a:tc>
                <a:tc>
                  <a:txBody>
                    <a:bodyPr/>
                    <a:lstStyle/>
                    <a:p>
                      <a:endParaRPr lang="fr-FR" sz="1200"/>
                    </a:p>
                  </a:txBody>
                  <a:tcPr/>
                </a:tc>
                <a:extLst>
                  <a:ext uri="{0D108BD9-81ED-4DB2-BD59-A6C34878D82A}">
                    <a16:rowId xmlns:a16="http://schemas.microsoft.com/office/drawing/2014/main" val="2865147288"/>
                  </a:ext>
                </a:extLst>
              </a:tr>
              <a:tr h="2727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7" action="ppaction://hlinksldjump"/>
                        </a:rPr>
                        <a:t>Utiliser pour chaque vidéo, une définition adaptée au contenu et au contexte de visualisation</a:t>
                      </a:r>
                      <a:endParaRPr lang="fr-FR" sz="1200" dirty="0" smtClean="0"/>
                    </a:p>
                  </a:txBody>
                  <a:tcPr/>
                </a:tc>
                <a:tc>
                  <a:txBody>
                    <a:bodyPr/>
                    <a:lstStyle/>
                    <a:p>
                      <a:endParaRPr lang="fr-FR" sz="1200"/>
                    </a:p>
                  </a:txBody>
                  <a:tcPr/>
                </a:tc>
                <a:extLst>
                  <a:ext uri="{0D108BD9-81ED-4DB2-BD59-A6C34878D82A}">
                    <a16:rowId xmlns:a16="http://schemas.microsoft.com/office/drawing/2014/main" val="1571440612"/>
                  </a:ext>
                </a:extLst>
              </a:tr>
              <a:tr h="4546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8" action="ppaction://hlinksldjump"/>
                        </a:rPr>
                        <a:t>Proposer des vidéos dont le mode de compression est efficace et adapté au contenu et au contexte de visualisation</a:t>
                      </a:r>
                      <a:endParaRPr lang="fr-FR" sz="1200" dirty="0" smtClean="0"/>
                    </a:p>
                  </a:txBody>
                  <a:tcPr/>
                </a:tc>
                <a:tc>
                  <a:txBody>
                    <a:bodyPr/>
                    <a:lstStyle/>
                    <a:p>
                      <a:endParaRPr lang="fr-FR" sz="1200"/>
                    </a:p>
                  </a:txBody>
                  <a:tcPr/>
                </a:tc>
                <a:extLst>
                  <a:ext uri="{0D108BD9-81ED-4DB2-BD59-A6C34878D82A}">
                    <a16:rowId xmlns:a16="http://schemas.microsoft.com/office/drawing/2014/main" val="1390434862"/>
                  </a:ext>
                </a:extLst>
              </a:tr>
              <a:tr h="2727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9" action="ppaction://hlinksldjump"/>
                        </a:rPr>
                        <a:t>Proposer un mode « écoute seule » pour ses vidéos</a:t>
                      </a:r>
                      <a:endParaRPr lang="fr-FR" sz="1200" dirty="0" smtClean="0"/>
                    </a:p>
                  </a:txBody>
                  <a:tcPr/>
                </a:tc>
                <a:tc>
                  <a:txBody>
                    <a:bodyPr/>
                    <a:lstStyle/>
                    <a:p>
                      <a:endParaRPr lang="fr-FR" sz="1200"/>
                    </a:p>
                  </a:txBody>
                  <a:tcPr/>
                </a:tc>
                <a:extLst>
                  <a:ext uri="{0D108BD9-81ED-4DB2-BD59-A6C34878D82A}">
                    <a16:rowId xmlns:a16="http://schemas.microsoft.com/office/drawing/2014/main" val="2838176971"/>
                  </a:ext>
                </a:extLst>
              </a:tr>
              <a:tr h="4546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10" action="ppaction://hlinksldjump"/>
                        </a:rPr>
                        <a:t>Proposer des contenus </a:t>
                      </a:r>
                      <a:r>
                        <a:rPr lang="fr-FR" sz="1200" dirty="0" err="1" smtClean="0">
                          <a:hlinkClick r:id="rId10" action="ppaction://hlinksldjump"/>
                        </a:rPr>
                        <a:t>audios</a:t>
                      </a:r>
                      <a:r>
                        <a:rPr lang="fr-FR" sz="1200" dirty="0" smtClean="0">
                          <a:hlinkClick r:id="rId10" action="ppaction://hlinksldjump"/>
                        </a:rPr>
                        <a:t> dont le mode de compression est adapté au contenu et au contexte d’écoute </a:t>
                      </a:r>
                      <a:endParaRPr lang="fr-FR" sz="1200" dirty="0" smtClean="0"/>
                    </a:p>
                  </a:txBody>
                  <a:tcPr/>
                </a:tc>
                <a:tc>
                  <a:txBody>
                    <a:bodyPr/>
                    <a:lstStyle/>
                    <a:p>
                      <a:endParaRPr lang="fr-FR" sz="1200" dirty="0"/>
                    </a:p>
                  </a:txBody>
                  <a:tcPr/>
                </a:tc>
                <a:extLst>
                  <a:ext uri="{0D108BD9-81ED-4DB2-BD59-A6C34878D82A}">
                    <a16:rowId xmlns:a16="http://schemas.microsoft.com/office/drawing/2014/main" val="1376313449"/>
                  </a:ext>
                </a:extLst>
              </a:tr>
              <a:tr h="2727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11" action="ppaction://hlinksldjump"/>
                        </a:rPr>
                        <a:t>Utiliser un format de fichier adapté au contenu et au pour chaque document.</a:t>
                      </a:r>
                      <a:endParaRPr lang="fr-FR" sz="1200" dirty="0" smtClean="0"/>
                    </a:p>
                  </a:txBody>
                  <a:tcPr/>
                </a:tc>
                <a:tc>
                  <a:txBody>
                    <a:bodyPr/>
                    <a:lstStyle/>
                    <a:p>
                      <a:endParaRPr lang="fr-FR" sz="1200" dirty="0"/>
                    </a:p>
                  </a:txBody>
                  <a:tcPr/>
                </a:tc>
                <a:extLst>
                  <a:ext uri="{0D108BD9-81ED-4DB2-BD59-A6C34878D82A}">
                    <a16:rowId xmlns:a16="http://schemas.microsoft.com/office/drawing/2014/main" val="1805475227"/>
                  </a:ext>
                </a:extLst>
              </a:tr>
              <a:tr h="2727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12" action="ppaction://hlinksldjump"/>
                        </a:rPr>
                        <a:t>Lecture des animations, vidéos et sons automatique désactivée.</a:t>
                      </a:r>
                      <a:endParaRPr lang="fr-FR" sz="1200" dirty="0" smtClean="0"/>
                    </a:p>
                  </a:txBody>
                  <a:tcPr/>
                </a:tc>
                <a:tc>
                  <a:txBody>
                    <a:bodyPr/>
                    <a:lstStyle/>
                    <a:p>
                      <a:endParaRPr lang="fr-FR" sz="1200" dirty="0"/>
                    </a:p>
                  </a:txBody>
                  <a:tcPr/>
                </a:tc>
                <a:extLst>
                  <a:ext uri="{0D108BD9-81ED-4DB2-BD59-A6C34878D82A}">
                    <a16:rowId xmlns:a16="http://schemas.microsoft.com/office/drawing/2014/main" val="226219273"/>
                  </a:ext>
                </a:extLst>
              </a:tr>
              <a:tr h="2727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13" action="ppaction://hlinksldjump"/>
                        </a:rPr>
                        <a:t>Utiliser uniquement du contenu vidéo, audio et animé porteur d’informations</a:t>
                      </a:r>
                      <a:endParaRPr lang="fr-FR" sz="1200" dirty="0" smtClean="0"/>
                    </a:p>
                  </a:txBody>
                  <a:tcPr/>
                </a:tc>
                <a:tc>
                  <a:txBody>
                    <a:bodyPr/>
                    <a:lstStyle/>
                    <a:p>
                      <a:endParaRPr lang="fr-FR" sz="1200" dirty="0"/>
                    </a:p>
                  </a:txBody>
                  <a:tcPr/>
                </a:tc>
                <a:extLst>
                  <a:ext uri="{0D108BD9-81ED-4DB2-BD59-A6C34878D82A}">
                    <a16:rowId xmlns:a16="http://schemas.microsoft.com/office/drawing/2014/main" val="3865033488"/>
                  </a:ext>
                </a:extLst>
              </a:tr>
              <a:tr h="4546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14" action="ppaction://hlinksldjump"/>
                        </a:rPr>
                        <a:t>Opter pour les choix les plus sobres entre le texte, l’image, l’audio ou la vidéo, selon les besoins utilisateurs </a:t>
                      </a:r>
                      <a:endParaRPr lang="fr-FR" sz="1200" dirty="0" smtClean="0"/>
                    </a:p>
                  </a:txBody>
                  <a:tcPr/>
                </a:tc>
                <a:tc>
                  <a:txBody>
                    <a:bodyPr/>
                    <a:lstStyle/>
                    <a:p>
                      <a:endParaRPr lang="fr-FR" sz="1200" dirty="0"/>
                    </a:p>
                  </a:txBody>
                  <a:tcPr/>
                </a:tc>
                <a:extLst>
                  <a:ext uri="{0D108BD9-81ED-4DB2-BD59-A6C34878D82A}">
                    <a16:rowId xmlns:a16="http://schemas.microsoft.com/office/drawing/2014/main" val="4042447865"/>
                  </a:ext>
                </a:extLst>
              </a:tr>
            </a:tbl>
          </a:graphicData>
        </a:graphic>
      </p:graphicFrame>
    </p:spTree>
    <p:extLst>
      <p:ext uri="{BB962C8B-B14F-4D97-AF65-F5344CB8AC3E}">
        <p14:creationId xmlns:p14="http://schemas.microsoft.com/office/powerpoint/2010/main" val="2937277954"/>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Optimiser les ressources d'Interface Utilisateur</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954107"/>
          </a:xfrm>
          <a:prstGeom prst="rect">
            <a:avLst/>
          </a:prstGeom>
          <a:noFill/>
        </p:spPr>
        <p:txBody>
          <a:bodyPr wrap="square" numCol="1" rtlCol="0">
            <a:spAutoFit/>
          </a:bodyPr>
          <a:lstStyle/>
          <a:p>
            <a:pPr lvl="0"/>
            <a:r>
              <a:rPr lang="fr-FR" sz="1400" u="sng" dirty="0">
                <a:solidFill>
                  <a:prstClr val="black"/>
                </a:solidFill>
              </a:rPr>
              <a:t>Principes directeurs</a:t>
            </a:r>
            <a:r>
              <a:rPr lang="fr-FR" sz="1400" b="1" dirty="0">
                <a:solidFill>
                  <a:prstClr val="black"/>
                </a:solidFill>
              </a:rPr>
              <a:t> : </a:t>
            </a:r>
            <a:r>
              <a:rPr lang="fr-FR" sz="1400" dirty="0">
                <a:solidFill>
                  <a:prstClr val="black"/>
                </a:solidFill>
              </a:rPr>
              <a:t>Optimisation de l'Expérience et de l'Interface Utilisateur : Permettre d’optimiser le parcours utilisateur et de fabriquer l’IHM au « stricte » niveau de fonctionnalités attendues par les utilisateurs finaux avec une conception, fabrication et ergonomie intégrant les recommandations du « Guide d’Ecoconception ».</a:t>
            </a:r>
          </a:p>
          <a:p>
            <a:pPr lvl="0"/>
            <a:r>
              <a:rPr lang="fr-FR" sz="1400" u="sng" dirty="0" smtClean="0">
                <a:solidFill>
                  <a:prstClr val="black"/>
                </a:solidFill>
              </a:rPr>
              <a:t>Finalité</a:t>
            </a:r>
            <a:r>
              <a:rPr lang="fr-FR" sz="1400" dirty="0" smtClean="0">
                <a:solidFill>
                  <a:prstClr val="black"/>
                </a:solidFill>
              </a:rPr>
              <a:t> </a:t>
            </a:r>
            <a:r>
              <a:rPr lang="fr-FR" sz="1400" dirty="0">
                <a:solidFill>
                  <a:prstClr val="black"/>
                </a:solidFill>
              </a:rPr>
              <a:t>: Minimiser la consommation de ressources  terminal utilisateur pour ce service numérique.</a:t>
            </a:r>
          </a:p>
          <a:p>
            <a:pPr lvl="0"/>
            <a:r>
              <a:rPr lang="fr-FR" sz="1400" u="sng" dirty="0">
                <a:solidFill>
                  <a:prstClr val="black"/>
                </a:solidFill>
              </a:rPr>
              <a:t>Mesures ciblées </a:t>
            </a:r>
            <a:r>
              <a:rPr lang="fr-FR" sz="1400" b="1" dirty="0">
                <a:solidFill>
                  <a:prstClr val="black"/>
                </a:solidFill>
              </a:rPr>
              <a:t>: </a:t>
            </a:r>
            <a:r>
              <a:rPr lang="it-IT" sz="1400" dirty="0"/>
              <a:t>Mesure software</a:t>
            </a:r>
            <a:endParaRPr lang="it-IT" sz="1400" dirty="0">
              <a:solidFill>
                <a:prstClr val="black"/>
              </a:solidFill>
            </a:endParaRPr>
          </a:p>
        </p:txBody>
      </p:sp>
      <p:graphicFrame>
        <p:nvGraphicFramePr>
          <p:cNvPr id="4" name="Tableau 3"/>
          <p:cNvGraphicFramePr>
            <a:graphicFrameLocks noGrp="1"/>
          </p:cNvGraphicFramePr>
          <p:nvPr>
            <p:extLst>
              <p:ext uri="{D42A27DB-BD31-4B8C-83A1-F6EECF244321}">
                <p14:modId xmlns:p14="http://schemas.microsoft.com/office/powerpoint/2010/main" val="1636343508"/>
              </p:ext>
            </p:extLst>
          </p:nvPr>
        </p:nvGraphicFramePr>
        <p:xfrm>
          <a:off x="0" y="2429336"/>
          <a:ext cx="12145704" cy="3408680"/>
        </p:xfrm>
        <a:graphic>
          <a:graphicData uri="http://schemas.openxmlformats.org/drawingml/2006/table">
            <a:tbl>
              <a:tblPr firstRow="1" bandRow="1">
                <a:tableStyleId>{5C22544A-7EE6-4342-B048-85BDC9FD1C3A}</a:tableStyleId>
              </a:tblPr>
              <a:tblGrid>
                <a:gridCol w="4048568">
                  <a:extLst>
                    <a:ext uri="{9D8B030D-6E8A-4147-A177-3AD203B41FA5}">
                      <a16:colId xmlns:a16="http://schemas.microsoft.com/office/drawing/2014/main" val="397283347"/>
                    </a:ext>
                  </a:extLst>
                </a:gridCol>
                <a:gridCol w="4048568">
                  <a:extLst>
                    <a:ext uri="{9D8B030D-6E8A-4147-A177-3AD203B41FA5}">
                      <a16:colId xmlns:a16="http://schemas.microsoft.com/office/drawing/2014/main" val="706839738"/>
                    </a:ext>
                  </a:extLst>
                </a:gridCol>
                <a:gridCol w="4048568">
                  <a:extLst>
                    <a:ext uri="{9D8B030D-6E8A-4147-A177-3AD203B41FA5}">
                      <a16:colId xmlns:a16="http://schemas.microsoft.com/office/drawing/2014/main" val="621788345"/>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smtClean="0"/>
                        <a:t>Phase Cadrage  : Architecture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smtClean="0"/>
                        <a:t>Phase </a:t>
                      </a:r>
                      <a:r>
                        <a:rPr lang="fr-FR" sz="1400" b="1" dirty="0" err="1" smtClean="0"/>
                        <a:t>Spec</a:t>
                      </a:r>
                      <a:r>
                        <a:rPr lang="fr-FR" sz="1400" b="1" dirty="0" smtClean="0"/>
                        <a:t>-Conception Fonctionnelle &amp; Design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dirty="0" smtClean="0"/>
                        <a:t>Phase de Développement : Front end</a:t>
                      </a:r>
                    </a:p>
                  </a:txBody>
                  <a:tcPr/>
                </a:tc>
                <a:extLst>
                  <a:ext uri="{0D108BD9-81ED-4DB2-BD59-A6C34878D82A}">
                    <a16:rowId xmlns:a16="http://schemas.microsoft.com/office/drawing/2014/main" val="267122893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4" action="ppaction://hlinksldjump"/>
                        </a:rPr>
                        <a:t>Prendre en compte les impacts environnementaux des composants d’interface prêts à l’emploi utilisés</a:t>
                      </a:r>
                      <a:endParaRPr lang="fr-FR" sz="14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4" action="ppaction://hlinksldjump"/>
                        </a:rPr>
                        <a:t>Prendre en compte les impacts environnementaux des composants d’interface prêts à l’emploi utilisés</a:t>
                      </a:r>
                      <a:endParaRPr lang="fr-FR" sz="14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5" action="ppaction://hlinksldjump"/>
                        </a:rPr>
                        <a:t>Instaurer des mécanismes de mises en cache pour la totalité des contenus transférés dont il a le contrôle.</a:t>
                      </a:r>
                      <a:endParaRPr lang="fr-FR" sz="1400" dirty="0" smtClean="0"/>
                    </a:p>
                  </a:txBody>
                  <a:tcPr/>
                </a:tc>
                <a:extLst>
                  <a:ext uri="{0D108BD9-81ED-4DB2-BD59-A6C34878D82A}">
                    <a16:rowId xmlns:a16="http://schemas.microsoft.com/office/drawing/2014/main" val="311563527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6" action="ppaction://hlinksldjump"/>
                        </a:rPr>
                        <a:t>Instaurer des mécanismes de mises en cache pour la totalité des contenus transférés dont il a le contrôle.</a:t>
                      </a:r>
                      <a:endParaRPr lang="fr-FR" sz="14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7" action="ppaction://hlinksldjump"/>
                        </a:rPr>
                        <a:t>Préférer la pagination au défilement infini</a:t>
                      </a:r>
                      <a:endParaRPr lang="fr-FR" sz="14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8" action="ppaction://hlinksldjump"/>
                        </a:rPr>
                        <a:t>Mettre en place des techniques de compression sur la totalité des ressources transférées.</a:t>
                      </a:r>
                      <a:endParaRPr lang="fr-FR" sz="1400" dirty="0" smtClean="0"/>
                    </a:p>
                  </a:txBody>
                  <a:tcPr/>
                </a:tc>
                <a:extLst>
                  <a:ext uri="{0D108BD9-81ED-4DB2-BD59-A6C34878D82A}">
                    <a16:rowId xmlns:a16="http://schemas.microsoft.com/office/drawing/2014/main" val="15036188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8" action="ppaction://hlinksldjump"/>
                        </a:rPr>
                        <a:t>Mettre en place des techniques de compression sur la totalité des ressources transférées.</a:t>
                      </a:r>
                      <a:endParaRPr lang="fr-FR" sz="14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9" action="ppaction://hlinksldjump"/>
                        </a:rPr>
                        <a:t>Limiter nombre des polices de caractères téléchargées</a:t>
                      </a:r>
                      <a:endParaRPr lang="fr-FR" sz="14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err="1" smtClean="0">
                          <a:hlinkClick r:id="rId10" action="ppaction://hlinksldjump"/>
                        </a:rPr>
                        <a:t>Minifier</a:t>
                      </a:r>
                      <a:r>
                        <a:rPr lang="fr-FR" sz="1400" dirty="0" smtClean="0">
                          <a:hlinkClick r:id="rId10" action="ppaction://hlinksldjump"/>
                        </a:rPr>
                        <a:t> les fichiers CSS, JavaScript, HTML et SVG. </a:t>
                      </a:r>
                      <a:endParaRPr lang="fr-FR" sz="1400" dirty="0" smtClean="0"/>
                    </a:p>
                  </a:txBody>
                  <a:tcPr/>
                </a:tc>
                <a:extLst>
                  <a:ext uri="{0D108BD9-81ED-4DB2-BD59-A6C34878D82A}">
                    <a16:rowId xmlns:a16="http://schemas.microsoft.com/office/drawing/2014/main" val="2127130278"/>
                  </a:ext>
                </a:extLst>
              </a:tr>
              <a:tr h="370840">
                <a:tc>
                  <a:txBody>
                    <a:bodyPr/>
                    <a:lstStyle/>
                    <a:p>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11" action="ppaction://hlinksldjump"/>
                        </a:rPr>
                        <a:t>Découper les CSS</a:t>
                      </a:r>
                      <a:endParaRPr lang="fr-FR" sz="14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12" action="ppaction://hlinksldjump"/>
                        </a:rPr>
                        <a:t>Limiter le nombre de CSS. </a:t>
                      </a:r>
                      <a:endParaRPr lang="fr-FR" sz="1400" dirty="0" smtClean="0"/>
                    </a:p>
                  </a:txBody>
                  <a:tcPr/>
                </a:tc>
                <a:extLst>
                  <a:ext uri="{0D108BD9-81ED-4DB2-BD59-A6C34878D82A}">
                    <a16:rowId xmlns:a16="http://schemas.microsoft.com/office/drawing/2014/main" val="1205306373"/>
                  </a:ext>
                </a:extLst>
              </a:tr>
              <a:tr h="370840">
                <a:tc>
                  <a:txBody>
                    <a:bodyPr/>
                    <a:lstStyle/>
                    <a:p>
                      <a:endParaRPr lang="fr-FR" sz="1400"/>
                    </a:p>
                  </a:txBody>
                  <a:tcPr/>
                </a:tc>
                <a:tc>
                  <a:txBody>
                    <a:bodyPr/>
                    <a:lstStyle/>
                    <a:p>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13" action="ppaction://hlinksldjump"/>
                        </a:rPr>
                        <a:t>Préférer les CSS aux images.</a:t>
                      </a:r>
                      <a:endParaRPr lang="fr-FR" sz="1400" dirty="0" smtClean="0"/>
                    </a:p>
                  </a:txBody>
                  <a:tcPr/>
                </a:tc>
                <a:extLst>
                  <a:ext uri="{0D108BD9-81ED-4DB2-BD59-A6C34878D82A}">
                    <a16:rowId xmlns:a16="http://schemas.microsoft.com/office/drawing/2014/main" val="3353377420"/>
                  </a:ext>
                </a:extLst>
              </a:tr>
              <a:tr h="370840">
                <a:tc>
                  <a:txBody>
                    <a:bodyPr/>
                    <a:lstStyle/>
                    <a:p>
                      <a:endParaRPr lang="fr-FR" sz="1400"/>
                    </a:p>
                  </a:txBody>
                  <a:tcPr/>
                </a:tc>
                <a:tc>
                  <a:txBody>
                    <a:bodyPr/>
                    <a:lstStyle/>
                    <a:p>
                      <a:endParaRPr lang="fr-F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14" action="ppaction://hlinksldjump"/>
                        </a:rPr>
                        <a:t>Grouper les déclarations CSS similaires.</a:t>
                      </a:r>
                      <a:endParaRPr lang="fr-FR" sz="1400" dirty="0" smtClean="0"/>
                    </a:p>
                  </a:txBody>
                  <a:tcPr/>
                </a:tc>
                <a:extLst>
                  <a:ext uri="{0D108BD9-81ED-4DB2-BD59-A6C34878D82A}">
                    <a16:rowId xmlns:a16="http://schemas.microsoft.com/office/drawing/2014/main" val="2477177451"/>
                  </a:ext>
                </a:extLst>
              </a:tr>
              <a:tr h="370840">
                <a:tc>
                  <a:txBody>
                    <a:bodyPr/>
                    <a:lstStyle/>
                    <a:p>
                      <a:endParaRPr lang="fr-FR" sz="1400"/>
                    </a:p>
                  </a:txBody>
                  <a:tcPr/>
                </a:tc>
                <a:tc>
                  <a:txBody>
                    <a:bodyPr/>
                    <a:lstStyle/>
                    <a:p>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hlinkClick r:id="rId15" action="ppaction://hlinksldjump"/>
                        </a:rPr>
                        <a:t>Utiliser les notations CSS abrégées.</a:t>
                      </a:r>
                      <a:endParaRPr lang="fr-FR" sz="1400" dirty="0" smtClean="0"/>
                    </a:p>
                  </a:txBody>
                  <a:tcPr/>
                </a:tc>
                <a:extLst>
                  <a:ext uri="{0D108BD9-81ED-4DB2-BD59-A6C34878D82A}">
                    <a16:rowId xmlns:a16="http://schemas.microsoft.com/office/drawing/2014/main" val="1534842684"/>
                  </a:ext>
                </a:extLst>
              </a:tr>
            </a:tbl>
          </a:graphicData>
        </a:graphic>
      </p:graphicFrame>
    </p:spTree>
    <p:extLst>
      <p:ext uri="{BB962C8B-B14F-4D97-AF65-F5344CB8AC3E}">
        <p14:creationId xmlns:p14="http://schemas.microsoft.com/office/powerpoint/2010/main" val="251547440"/>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fontScale="90000"/>
          </a:bodyPr>
          <a:lstStyle/>
          <a:p>
            <a:pPr algn="ctr"/>
            <a:r>
              <a:rPr lang="fr-FR" b="1" dirty="0">
                <a:solidFill>
                  <a:schemeClr val="bg1"/>
                </a:solidFill>
              </a:rPr>
              <a:t>Optimiser l'</a:t>
            </a:r>
            <a:r>
              <a:rPr lang="fr-FR" b="1" dirty="0" err="1">
                <a:solidFill>
                  <a:schemeClr val="bg1"/>
                </a:solidFill>
              </a:rPr>
              <a:t>intéraction</a:t>
            </a:r>
            <a:r>
              <a:rPr lang="fr-FR" b="1" dirty="0">
                <a:solidFill>
                  <a:schemeClr val="bg1"/>
                </a:solidFill>
              </a:rPr>
              <a:t> avec l'utilisateur pour minimiser le temps passé sur son terminal, le "poids" des échanges</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7" name="ZoneTexte 6"/>
          <p:cNvSpPr txBox="1"/>
          <p:nvPr/>
        </p:nvSpPr>
        <p:spPr>
          <a:xfrm>
            <a:off x="0" y="1325563"/>
            <a:ext cx="12192000" cy="954107"/>
          </a:xfrm>
          <a:prstGeom prst="rect">
            <a:avLst/>
          </a:prstGeom>
          <a:noFill/>
        </p:spPr>
        <p:txBody>
          <a:bodyPr wrap="square" numCol="1" rtlCol="0">
            <a:spAutoFit/>
          </a:bodyPr>
          <a:lstStyle/>
          <a:p>
            <a:pPr lvl="0"/>
            <a:r>
              <a:rPr lang="fr-FR" sz="1400" u="sng" dirty="0">
                <a:solidFill>
                  <a:prstClr val="black"/>
                </a:solidFill>
              </a:rPr>
              <a:t>Principes directeurs</a:t>
            </a:r>
            <a:r>
              <a:rPr lang="fr-FR" sz="1400" b="1" dirty="0">
                <a:solidFill>
                  <a:prstClr val="black"/>
                </a:solidFill>
              </a:rPr>
              <a:t> : </a:t>
            </a:r>
            <a:r>
              <a:rPr lang="fr-FR" sz="1400" dirty="0">
                <a:solidFill>
                  <a:prstClr val="black"/>
                </a:solidFill>
              </a:rPr>
              <a:t>Optimisation de l'Expérience et de l'Interface Utilisateur : Permettre d’optimiser le parcours utilisateur et de fabriquer l’IHM au « stricte » niveau de fonctionnalités attendues par les utilisateurs finaux avec une conception</a:t>
            </a:r>
            <a:r>
              <a:rPr lang="fr-FR" sz="1400" dirty="0" smtClean="0">
                <a:solidFill>
                  <a:prstClr val="black"/>
                </a:solidFill>
              </a:rPr>
              <a:t>, </a:t>
            </a:r>
            <a:r>
              <a:rPr lang="fr-FR" sz="1400" dirty="0">
                <a:solidFill>
                  <a:prstClr val="black"/>
                </a:solidFill>
              </a:rPr>
              <a:t>fabrication et ergonomie intégrant les recommandations du « Guide d’Ecoconception ».</a:t>
            </a:r>
          </a:p>
          <a:p>
            <a:pPr lvl="0"/>
            <a:r>
              <a:rPr lang="fr-FR" sz="1400" u="sng" dirty="0">
                <a:solidFill>
                  <a:prstClr val="black"/>
                </a:solidFill>
              </a:rPr>
              <a:t>Finalité</a:t>
            </a:r>
            <a:r>
              <a:rPr lang="fr-FR" sz="1400" dirty="0">
                <a:solidFill>
                  <a:prstClr val="black"/>
                </a:solidFill>
              </a:rPr>
              <a:t> : Minimiser la consommation de ressources  terminal utilisateur pour ce service numérique.</a:t>
            </a:r>
          </a:p>
          <a:p>
            <a:pPr lvl="0"/>
            <a:r>
              <a:rPr lang="fr-FR" sz="1400" u="sng" dirty="0">
                <a:solidFill>
                  <a:prstClr val="black"/>
                </a:solidFill>
              </a:rPr>
              <a:t>Mesures ciblées </a:t>
            </a:r>
            <a:r>
              <a:rPr lang="fr-FR" sz="1400" b="1" dirty="0">
                <a:solidFill>
                  <a:prstClr val="black"/>
                </a:solidFill>
              </a:rPr>
              <a:t>: </a:t>
            </a:r>
            <a:r>
              <a:rPr lang="it-IT" sz="1400" dirty="0">
                <a:solidFill>
                  <a:prstClr val="black"/>
                </a:solidFill>
              </a:rPr>
              <a:t>Mesure software</a:t>
            </a:r>
          </a:p>
        </p:txBody>
      </p:sp>
      <p:graphicFrame>
        <p:nvGraphicFramePr>
          <p:cNvPr id="4" name="Tableau 3"/>
          <p:cNvGraphicFramePr>
            <a:graphicFrameLocks noGrp="1"/>
          </p:cNvGraphicFramePr>
          <p:nvPr>
            <p:extLst>
              <p:ext uri="{D42A27DB-BD31-4B8C-83A1-F6EECF244321}">
                <p14:modId xmlns:p14="http://schemas.microsoft.com/office/powerpoint/2010/main" val="1298487209"/>
              </p:ext>
            </p:extLst>
          </p:nvPr>
        </p:nvGraphicFramePr>
        <p:xfrm>
          <a:off x="-2" y="2279670"/>
          <a:ext cx="12192000" cy="388620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3087688475"/>
                    </a:ext>
                  </a:extLst>
                </a:gridCol>
                <a:gridCol w="2438400">
                  <a:extLst>
                    <a:ext uri="{9D8B030D-6E8A-4147-A177-3AD203B41FA5}">
                      <a16:colId xmlns:a16="http://schemas.microsoft.com/office/drawing/2014/main" val="626762122"/>
                    </a:ext>
                  </a:extLst>
                </a:gridCol>
                <a:gridCol w="2438400">
                  <a:extLst>
                    <a:ext uri="{9D8B030D-6E8A-4147-A177-3AD203B41FA5}">
                      <a16:colId xmlns:a16="http://schemas.microsoft.com/office/drawing/2014/main" val="3302391784"/>
                    </a:ext>
                  </a:extLst>
                </a:gridCol>
                <a:gridCol w="2438400">
                  <a:extLst>
                    <a:ext uri="{9D8B030D-6E8A-4147-A177-3AD203B41FA5}">
                      <a16:colId xmlns:a16="http://schemas.microsoft.com/office/drawing/2014/main" val="1950439056"/>
                    </a:ext>
                  </a:extLst>
                </a:gridCol>
                <a:gridCol w="2438400">
                  <a:extLst>
                    <a:ext uri="{9D8B030D-6E8A-4147-A177-3AD203B41FA5}">
                      <a16:colId xmlns:a16="http://schemas.microsoft.com/office/drawing/2014/main" val="492592472"/>
                    </a:ext>
                  </a:extLst>
                </a:gridCol>
              </a:tblGrid>
              <a:tr h="2049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b="1" dirty="0" smtClean="0"/>
                        <a:t>Phase Cadrage : CDC/</a:t>
                      </a:r>
                      <a:r>
                        <a:rPr lang="fr-FR" sz="900" b="1" dirty="0" err="1" smtClean="0"/>
                        <a:t>Spec</a:t>
                      </a:r>
                      <a:r>
                        <a:rPr lang="fr-FR" sz="900" b="1" dirty="0" smtClean="0"/>
                        <a:t> </a:t>
                      </a:r>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900" b="1" dirty="0" smtClean="0"/>
                        <a:t>Phase </a:t>
                      </a:r>
                      <a:r>
                        <a:rPr lang="fr-FR" sz="900" b="1" dirty="0" err="1" smtClean="0"/>
                        <a:t>Spec</a:t>
                      </a:r>
                      <a:r>
                        <a:rPr lang="fr-FR" sz="900" b="1" dirty="0" smtClean="0"/>
                        <a:t>-Conception Fonctionnelle &amp; Design</a:t>
                      </a: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900" b="1"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b="1" dirty="0" smtClean="0"/>
                        <a:t>Phase Cadrage  : Architecture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b="1" dirty="0" smtClean="0"/>
                        <a:t>Phase de Développement : Back end</a:t>
                      </a:r>
                    </a:p>
                  </a:txBody>
                  <a:tcPr/>
                </a:tc>
                <a:extLst>
                  <a:ext uri="{0D108BD9-81ED-4DB2-BD59-A6C34878D82A}">
                    <a16:rowId xmlns:a16="http://schemas.microsoft.com/office/drawing/2014/main" val="2262339732"/>
                  </a:ext>
                </a:extLst>
              </a:tr>
              <a:tr h="4509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smtClean="0">
                          <a:hlinkClick r:id="rId4" action="ppaction://hlinksldjump"/>
                        </a:rPr>
                        <a:t>Privilégier une approche « mobile first », à défaut un chargement adaptatif .</a:t>
                      </a:r>
                      <a:endParaRPr lang="fr-FR" sz="9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smtClean="0">
                          <a:hlinkClick r:id="rId5" action="ppaction://hlinksldjump"/>
                        </a:rPr>
                        <a:t>Simplifier le parcours</a:t>
                      </a:r>
                      <a:endParaRPr lang="fr-FR" sz="9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smtClean="0">
                          <a:hlinkClick r:id="rId6" action="ppaction://hlinksldjump"/>
                        </a:rPr>
                        <a:t>Optimiser le parcours utilisateur.</a:t>
                      </a:r>
                      <a:endParaRPr lang="fr-FR" sz="9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smtClean="0">
                          <a:hlinkClick r:id="rId7" action="ppaction://hlinksldjump"/>
                        </a:rPr>
                        <a:t>Les documents à télécharger sont proposés au téléchargement par un système de </a:t>
                      </a:r>
                      <a:r>
                        <a:rPr lang="fr-FR" sz="900" dirty="0" err="1" smtClean="0">
                          <a:hlinkClick r:id="rId7" action="ppaction://hlinksldjump"/>
                        </a:rPr>
                        <a:t>chapitrage</a:t>
                      </a:r>
                      <a:r>
                        <a:rPr lang="fr-FR" sz="900" dirty="0" smtClean="0">
                          <a:hlinkClick r:id="rId7" action="ppaction://hlinksldjump"/>
                        </a:rPr>
                        <a:t> ou de résumé afin d’éviter de télécharger la totalité d’un document.</a:t>
                      </a:r>
                      <a:endParaRPr lang="fr-FR" sz="9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smtClean="0">
                          <a:hlinkClick r:id="rId8" action="ppaction://hlinksldjump"/>
                        </a:rPr>
                        <a:t>Informer les utilisateurs d’un traitement en cours en arrière plan.</a:t>
                      </a:r>
                      <a:endParaRPr lang="fr-FR" sz="900" dirty="0" smtClean="0"/>
                    </a:p>
                  </a:txBody>
                  <a:tcPr/>
                </a:tc>
                <a:extLst>
                  <a:ext uri="{0D108BD9-81ED-4DB2-BD59-A6C34878D82A}">
                    <a16:rowId xmlns:a16="http://schemas.microsoft.com/office/drawing/2014/main" val="1114829607"/>
                  </a:ext>
                </a:extLst>
              </a:tr>
              <a:tr h="2049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smtClean="0">
                          <a:hlinkClick r:id="rId5" action="ppaction://hlinksldjump"/>
                        </a:rPr>
                        <a:t>Simplifier le parcours</a:t>
                      </a:r>
                      <a:endParaRPr lang="fr-FR" sz="9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smtClean="0">
                          <a:hlinkClick r:id="rId9" action="ppaction://hlinksldjump"/>
                        </a:rPr>
                        <a:t>Permettre à l’utilisateur d’activer ou non un service tiers. </a:t>
                      </a:r>
                      <a:endParaRPr lang="fr-FR" sz="9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smtClean="0">
                          <a:hlinkClick r:id="rId10" action="ppaction://hlinksldjump"/>
                        </a:rPr>
                        <a:t>Les documents à télécharger sont proposés au téléchargement par un système de </a:t>
                      </a:r>
                      <a:r>
                        <a:rPr lang="fr-FR" sz="900" dirty="0" err="1" smtClean="0">
                          <a:hlinkClick r:id="rId10" action="ppaction://hlinksldjump"/>
                        </a:rPr>
                        <a:t>chapitrage</a:t>
                      </a:r>
                      <a:r>
                        <a:rPr lang="fr-FR" sz="900" dirty="0" smtClean="0">
                          <a:hlinkClick r:id="rId10" action="ppaction://hlinksldjump"/>
                        </a:rPr>
                        <a:t> ou de résumé afin d’éviter de télécharger la totalité d’un document.</a:t>
                      </a:r>
                      <a:endParaRPr lang="fr-FR" sz="900" dirty="0" smtClean="0"/>
                    </a:p>
                  </a:txBody>
                  <a:tcPr/>
                </a:tc>
                <a:tc>
                  <a:txBody>
                    <a:bodyPr/>
                    <a:lstStyle/>
                    <a:p>
                      <a:endParaRPr lang="fr-FR" sz="900"/>
                    </a:p>
                  </a:txBody>
                  <a:tcPr/>
                </a:tc>
                <a:tc>
                  <a:txBody>
                    <a:bodyPr/>
                    <a:lstStyle/>
                    <a:p>
                      <a:endParaRPr lang="fr-FR" sz="900" dirty="0"/>
                    </a:p>
                  </a:txBody>
                  <a:tcPr/>
                </a:tc>
                <a:extLst>
                  <a:ext uri="{0D108BD9-81ED-4DB2-BD59-A6C34878D82A}">
                    <a16:rowId xmlns:a16="http://schemas.microsoft.com/office/drawing/2014/main" val="2002745378"/>
                  </a:ext>
                </a:extLst>
              </a:tr>
              <a:tr h="4509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smtClean="0">
                          <a:hlinkClick r:id="rId9" action="ppaction://hlinksldjump"/>
                        </a:rPr>
                        <a:t>Permettre à l’utilisateur d’activer ou non un service tiers. </a:t>
                      </a:r>
                      <a:endParaRPr lang="fr-FR" sz="9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smtClean="0">
                          <a:hlinkClick r:id="rId11" action="ppaction://hlinksldjump"/>
                        </a:rPr>
                        <a:t>Proposer des notifications uniquement lorsqu’elles sont nécessaires et permettre à l’utilisateur de contrôler celles qu’il reçoit. </a:t>
                      </a:r>
                      <a:endParaRPr lang="fr-FR" sz="9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b="0" i="0" u="none" strike="noStrike" dirty="0" smtClean="0">
                          <a:solidFill>
                            <a:srgbClr val="000000"/>
                          </a:solidFill>
                          <a:effectLst/>
                          <a:latin typeface="Calibri" panose="020F0502020204030204" pitchFamily="34" charset="0"/>
                          <a:hlinkClick r:id="rId12" action="ppaction://hlinksldjump"/>
                        </a:rPr>
                        <a:t>Les informations collectées sur le formulaire sont limitées au strict minimum.</a:t>
                      </a:r>
                      <a:endParaRPr lang="fr-FR" sz="900" b="0" i="0" u="none" strike="noStrike" dirty="0" smtClean="0">
                        <a:solidFill>
                          <a:srgbClr val="000000"/>
                        </a:solidFill>
                        <a:effectLst/>
                        <a:latin typeface="Calibri" panose="020F0502020204030204" pitchFamily="34" charset="0"/>
                      </a:endParaRPr>
                    </a:p>
                  </a:txBody>
                  <a:tcPr/>
                </a:tc>
                <a:tc>
                  <a:txBody>
                    <a:bodyPr/>
                    <a:lstStyle/>
                    <a:p>
                      <a:endParaRPr lang="fr-FR" sz="900"/>
                    </a:p>
                  </a:txBody>
                  <a:tcPr/>
                </a:tc>
                <a:tc>
                  <a:txBody>
                    <a:bodyPr/>
                    <a:lstStyle/>
                    <a:p>
                      <a:endParaRPr lang="fr-FR" sz="900"/>
                    </a:p>
                  </a:txBody>
                  <a:tcPr/>
                </a:tc>
                <a:extLst>
                  <a:ext uri="{0D108BD9-81ED-4DB2-BD59-A6C34878D82A}">
                    <a16:rowId xmlns:a16="http://schemas.microsoft.com/office/drawing/2014/main" val="3681381182"/>
                  </a:ext>
                </a:extLst>
              </a:tr>
              <a:tr h="4509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smtClean="0">
                          <a:hlinkClick r:id="rId11" action="ppaction://hlinksldjump"/>
                        </a:rPr>
                        <a:t>Proposer des notifications uniquement lorsqu’elles sont nécessaires et permettre à l’utilisateur de contrôler celles qu’il reçoit. </a:t>
                      </a:r>
                      <a:endParaRPr lang="fr-FR" sz="9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smtClean="0">
                          <a:hlinkClick r:id="rId13" action="ppaction://hlinksldjump"/>
                        </a:rPr>
                        <a:t>Eviter le recours à des procédés manipulatoires dans son interface utilisateur</a:t>
                      </a:r>
                      <a:endParaRPr lang="fr-FR" sz="900" dirty="0" smtClean="0"/>
                    </a:p>
                  </a:txBody>
                  <a:tcPr/>
                </a:tc>
                <a:tc>
                  <a:txBody>
                    <a:bodyPr/>
                    <a:lstStyle/>
                    <a:p>
                      <a:endParaRPr lang="fr-FR" dirty="0"/>
                    </a:p>
                  </a:txBody>
                  <a:tcPr/>
                </a:tc>
                <a:tc>
                  <a:txBody>
                    <a:bodyPr/>
                    <a:lstStyle/>
                    <a:p>
                      <a:endParaRPr lang="fr-FR" sz="900"/>
                    </a:p>
                  </a:txBody>
                  <a:tcPr/>
                </a:tc>
                <a:tc>
                  <a:txBody>
                    <a:bodyPr/>
                    <a:lstStyle/>
                    <a:p>
                      <a:endParaRPr lang="fr-FR" sz="900"/>
                    </a:p>
                  </a:txBody>
                  <a:tcPr/>
                </a:tc>
                <a:extLst>
                  <a:ext uri="{0D108BD9-81ED-4DB2-BD59-A6C34878D82A}">
                    <a16:rowId xmlns:a16="http://schemas.microsoft.com/office/drawing/2014/main" val="1003512085"/>
                  </a:ext>
                </a:extLst>
              </a:tr>
              <a:tr h="3279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smtClean="0">
                          <a:hlinkClick r:id="rId13" action="ppaction://hlinksldjump"/>
                        </a:rPr>
                        <a:t>Eviter le recours à des procédés manipulatoires dans son interface utilisateur</a:t>
                      </a:r>
                      <a:endParaRPr lang="fr-FR" sz="9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smtClean="0">
                          <a:hlinkClick r:id="rId14" action="ppaction://hlinksldjump"/>
                        </a:rPr>
                        <a:t>Informer l’utilisateur du format de saisie attendu avant sa validation</a:t>
                      </a:r>
                      <a:endParaRPr lang="fr-FR" sz="9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900" dirty="0" smtClean="0"/>
                    </a:p>
                  </a:txBody>
                  <a:tcPr/>
                </a:tc>
                <a:tc>
                  <a:txBody>
                    <a:bodyPr/>
                    <a:lstStyle/>
                    <a:p>
                      <a:endParaRPr lang="fr-FR" sz="900"/>
                    </a:p>
                  </a:txBody>
                  <a:tcPr/>
                </a:tc>
                <a:tc>
                  <a:txBody>
                    <a:bodyPr/>
                    <a:lstStyle/>
                    <a:p>
                      <a:endParaRPr lang="fr-FR" sz="900"/>
                    </a:p>
                  </a:txBody>
                  <a:tcPr/>
                </a:tc>
                <a:extLst>
                  <a:ext uri="{0D108BD9-81ED-4DB2-BD59-A6C34878D82A}">
                    <a16:rowId xmlns:a16="http://schemas.microsoft.com/office/drawing/2014/main" val="2193210555"/>
                  </a:ext>
                </a:extLst>
              </a:tr>
              <a:tr h="3279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smtClean="0">
                          <a:hlinkClick r:id="rId15" action="ppaction://hlinksldjump"/>
                        </a:rPr>
                        <a:t>Fournir à l’utilisateur un moyen de contrôle sur ses contenus et ses services afin de réduire les impacts environnementaux</a:t>
                      </a:r>
                      <a:endParaRPr lang="fr-FR" sz="9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smtClean="0">
                          <a:hlinkClick r:id="rId16" action="ppaction://hlinksldjump"/>
                        </a:rPr>
                        <a:t>Informer l’utilisateur, avant le transfert, des poids et formats de fichier attendus</a:t>
                      </a:r>
                      <a:endParaRPr lang="fr-FR" sz="9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900" dirty="0" smtClean="0"/>
                    </a:p>
                  </a:txBody>
                  <a:tcPr/>
                </a:tc>
                <a:tc>
                  <a:txBody>
                    <a:bodyPr/>
                    <a:lstStyle/>
                    <a:p>
                      <a:endParaRPr lang="fr-FR" sz="900"/>
                    </a:p>
                  </a:txBody>
                  <a:tcPr/>
                </a:tc>
                <a:tc>
                  <a:txBody>
                    <a:bodyPr/>
                    <a:lstStyle/>
                    <a:p>
                      <a:endParaRPr lang="fr-FR" sz="900"/>
                    </a:p>
                  </a:txBody>
                  <a:tcPr/>
                </a:tc>
                <a:extLst>
                  <a:ext uri="{0D108BD9-81ED-4DB2-BD59-A6C34878D82A}">
                    <a16:rowId xmlns:a16="http://schemas.microsoft.com/office/drawing/2014/main" val="3437402648"/>
                  </a:ext>
                </a:extLst>
              </a:tr>
              <a:tr h="3279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smtClean="0">
                          <a:hlinkClick r:id="rId17" action="ppaction://hlinksldjump"/>
                        </a:rPr>
                        <a:t>Optimiser le parcours utilisateur.</a:t>
                      </a:r>
                      <a:endParaRPr lang="fr-FR" sz="9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dirty="0" smtClean="0">
                          <a:hlinkClick r:id="rId7" action="ppaction://hlinksldjump"/>
                        </a:rPr>
                        <a:t>Fournir à l’utilisateur un moyen de contrôle sur ses contenus et ses services afin de réduire les impacts environnementaux</a:t>
                      </a:r>
                      <a:endParaRPr lang="fr-FR" sz="9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900" dirty="0" smtClean="0"/>
                    </a:p>
                  </a:txBody>
                  <a:tcPr/>
                </a:tc>
                <a:tc>
                  <a:txBody>
                    <a:bodyPr/>
                    <a:lstStyle/>
                    <a:p>
                      <a:endParaRPr lang="fr-FR" sz="900"/>
                    </a:p>
                  </a:txBody>
                  <a:tcPr/>
                </a:tc>
                <a:tc>
                  <a:txBody>
                    <a:bodyPr/>
                    <a:lstStyle/>
                    <a:p>
                      <a:endParaRPr lang="fr-FR" sz="900" dirty="0"/>
                    </a:p>
                  </a:txBody>
                  <a:tcPr/>
                </a:tc>
                <a:extLst>
                  <a:ext uri="{0D108BD9-81ED-4DB2-BD59-A6C34878D82A}">
                    <a16:rowId xmlns:a16="http://schemas.microsoft.com/office/drawing/2014/main" val="2499017744"/>
                  </a:ext>
                </a:extLst>
              </a:tr>
            </a:tbl>
          </a:graphicData>
        </a:graphic>
      </p:graphicFrame>
    </p:spTree>
    <p:extLst>
      <p:ext uri="{BB962C8B-B14F-4D97-AF65-F5344CB8AC3E}">
        <p14:creationId xmlns:p14="http://schemas.microsoft.com/office/powerpoint/2010/main" val="642687359"/>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3146067"/>
          </a:xfrm>
        </p:spPr>
        <p:txBody>
          <a:bodyPr>
            <a:normAutofit/>
          </a:bodyPr>
          <a:lstStyle/>
          <a:p>
            <a:r>
              <a:rPr lang="fr-FR" sz="4000" dirty="0"/>
              <a:t>Finalité : Réduire la consommation de </a:t>
            </a:r>
            <a:r>
              <a:rPr lang="fr-FR" sz="4000" dirty="0" smtClean="0"/>
              <a:t>ressources</a:t>
            </a:r>
          </a:p>
          <a:p>
            <a:r>
              <a:rPr lang="fr-FR" sz="3000" dirty="0"/>
              <a:t>La solution intègre des pratiques d'écoconception</a:t>
            </a:r>
          </a:p>
          <a:p>
            <a:endParaRPr lang="fr-FR" sz="4400" dirty="0" smtClean="0"/>
          </a:p>
          <a:p>
            <a:endParaRPr lang="fr-FR" sz="4400" dirty="0"/>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17075274"/>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Optimiser les traitements "lourds" coté terminal utilisateur</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954107"/>
          </a:xfrm>
          <a:prstGeom prst="rect">
            <a:avLst/>
          </a:prstGeom>
          <a:noFill/>
        </p:spPr>
        <p:txBody>
          <a:bodyPr wrap="square" numCol="1" rtlCol="0">
            <a:spAutoFit/>
          </a:bodyPr>
          <a:lstStyle/>
          <a:p>
            <a:r>
              <a:rPr lang="fr-FR" sz="1400" u="sng" dirty="0"/>
              <a:t>Principes directeurs</a:t>
            </a:r>
            <a:r>
              <a:rPr lang="fr-FR" sz="1400" b="1" dirty="0"/>
              <a:t> : </a:t>
            </a:r>
            <a:r>
              <a:rPr lang="fr-FR" sz="1400" dirty="0"/>
              <a:t>Permettre de réduire l’empreinte carbone du logiciel en optimisant les ressources nécessaires à son exécution (infrastructure, mémoire, CPU, espace de stockage, réseau) et sa maintenance.</a:t>
            </a:r>
          </a:p>
          <a:p>
            <a:r>
              <a:rPr lang="fr-FR" sz="1400" u="sng" dirty="0" smtClean="0"/>
              <a:t>Finalité</a:t>
            </a:r>
            <a:r>
              <a:rPr lang="fr-FR" sz="1400" dirty="0" smtClean="0"/>
              <a:t> </a:t>
            </a:r>
            <a:r>
              <a:rPr lang="fr-FR" sz="1400" dirty="0"/>
              <a:t>: La solution intègre des pratiques d'écoconception : Minimiser la consommation de ressources  terminal utilisateur pour ce service </a:t>
            </a:r>
            <a:r>
              <a:rPr lang="fr-FR" sz="1400" dirty="0" smtClean="0"/>
              <a:t>numérique.</a:t>
            </a:r>
            <a:endParaRPr lang="fr-FR" sz="1400" dirty="0"/>
          </a:p>
          <a:p>
            <a:r>
              <a:rPr lang="fr-FR" sz="1400" u="sng" dirty="0" smtClean="0"/>
              <a:t>Mesures ciblées </a:t>
            </a:r>
            <a:r>
              <a:rPr lang="fr-FR" sz="1400" b="1" dirty="0" smtClean="0"/>
              <a:t>: </a:t>
            </a:r>
            <a:r>
              <a:rPr lang="it-IT" sz="1400" dirty="0"/>
              <a:t>Mesure software</a:t>
            </a:r>
          </a:p>
        </p:txBody>
      </p:sp>
      <p:graphicFrame>
        <p:nvGraphicFramePr>
          <p:cNvPr id="4" name="Tableau 3"/>
          <p:cNvGraphicFramePr>
            <a:graphicFrameLocks noGrp="1"/>
          </p:cNvGraphicFramePr>
          <p:nvPr>
            <p:extLst>
              <p:ext uri="{D42A27DB-BD31-4B8C-83A1-F6EECF244321}">
                <p14:modId xmlns:p14="http://schemas.microsoft.com/office/powerpoint/2010/main" val="4244741553"/>
              </p:ext>
            </p:extLst>
          </p:nvPr>
        </p:nvGraphicFramePr>
        <p:xfrm>
          <a:off x="0" y="2960119"/>
          <a:ext cx="12192000" cy="249428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3729124947"/>
                    </a:ext>
                  </a:extLst>
                </a:gridCol>
                <a:gridCol w="6096000">
                  <a:extLst>
                    <a:ext uri="{9D8B030D-6E8A-4147-A177-3AD203B41FA5}">
                      <a16:colId xmlns:a16="http://schemas.microsoft.com/office/drawing/2014/main" val="2307035806"/>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smtClean="0"/>
                        <a:t>Phase Cadrage  : Architecture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smtClean="0"/>
                        <a:t>Phase de Développement : Front end </a:t>
                      </a:r>
                    </a:p>
                  </a:txBody>
                  <a:tcPr/>
                </a:tc>
                <a:extLst>
                  <a:ext uri="{0D108BD9-81ED-4DB2-BD59-A6C34878D82A}">
                    <a16:rowId xmlns:a16="http://schemas.microsoft.com/office/drawing/2014/main" val="352806987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4" action="ppaction://hlinksldjump"/>
                        </a:rPr>
                        <a:t>Stocker les données statiques localement.</a:t>
                      </a:r>
                      <a:endParaRPr lang="fr-FR" sz="18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4" action="ppaction://hlinksldjump"/>
                        </a:rPr>
                        <a:t>Stocker les données statiques localement.</a:t>
                      </a:r>
                      <a:endParaRPr lang="fr-FR" sz="1800" dirty="0" smtClean="0"/>
                    </a:p>
                  </a:txBody>
                  <a:tcPr/>
                </a:tc>
                <a:extLst>
                  <a:ext uri="{0D108BD9-81ED-4DB2-BD59-A6C34878D82A}">
                    <a16:rowId xmlns:a16="http://schemas.microsoft.com/office/drawing/2014/main" val="2127058828"/>
                  </a:ext>
                </a:extLst>
              </a:tr>
              <a:tr h="370840">
                <a:tc>
                  <a:txBody>
                    <a:bodyPr/>
                    <a:lstStyle/>
                    <a:p>
                      <a:endParaRPr lang="fr-FR" sz="18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5" action="ppaction://hlinksldjump"/>
                        </a:rPr>
                        <a:t>Utiliser majoritairement des composants fonctionnels natifs</a:t>
                      </a:r>
                      <a:endParaRPr lang="fr-FR" sz="1800" dirty="0" smtClean="0"/>
                    </a:p>
                  </a:txBody>
                  <a:tcPr/>
                </a:tc>
                <a:extLst>
                  <a:ext uri="{0D108BD9-81ED-4DB2-BD59-A6C34878D82A}">
                    <a16:rowId xmlns:a16="http://schemas.microsoft.com/office/drawing/2014/main" val="2123824166"/>
                  </a:ext>
                </a:extLst>
              </a:tr>
              <a:tr h="370840">
                <a:tc>
                  <a:txBody>
                    <a:bodyPr/>
                    <a:lstStyle/>
                    <a:p>
                      <a:endParaRPr lang="fr-FR" sz="18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6" action="ppaction://hlinksldjump"/>
                        </a:rPr>
                        <a:t>Se limiter au chargement des composants utilisés au sein des bibliothèques lorsque cela est possible.</a:t>
                      </a:r>
                      <a:endParaRPr lang="fr-FR" sz="1800" dirty="0" smtClean="0"/>
                    </a:p>
                  </a:txBody>
                  <a:tcPr/>
                </a:tc>
                <a:extLst>
                  <a:ext uri="{0D108BD9-81ED-4DB2-BD59-A6C34878D82A}">
                    <a16:rowId xmlns:a16="http://schemas.microsoft.com/office/drawing/2014/main" val="2258808151"/>
                  </a:ext>
                </a:extLst>
              </a:tr>
              <a:tr h="370840">
                <a:tc>
                  <a:txBody>
                    <a:bodyPr/>
                    <a:lstStyle/>
                    <a:p>
                      <a:endParaRPr lang="fr-FR" sz="18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7" action="ppaction://hlinksldjump"/>
                        </a:rPr>
                        <a:t>Favoriser les pages statiques.</a:t>
                      </a:r>
                      <a:endParaRPr lang="fr-FR" sz="1800" dirty="0" smtClean="0"/>
                    </a:p>
                  </a:txBody>
                  <a:tcPr/>
                </a:tc>
                <a:extLst>
                  <a:ext uri="{0D108BD9-81ED-4DB2-BD59-A6C34878D82A}">
                    <a16:rowId xmlns:a16="http://schemas.microsoft.com/office/drawing/2014/main" val="2474918715"/>
                  </a:ext>
                </a:extLst>
              </a:tr>
              <a:tr h="370840">
                <a:tc>
                  <a:txBody>
                    <a:bodyPr/>
                    <a:lstStyle/>
                    <a:p>
                      <a:endParaRPr lang="fr-FR" sz="18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8" action="ppaction://hlinksldjump"/>
                        </a:rPr>
                        <a:t>Mettre en cache les objets souvent accédés en JavaScript.</a:t>
                      </a:r>
                      <a:endParaRPr lang="fr-FR" sz="1800" dirty="0" smtClean="0"/>
                    </a:p>
                  </a:txBody>
                  <a:tcPr/>
                </a:tc>
                <a:extLst>
                  <a:ext uri="{0D108BD9-81ED-4DB2-BD59-A6C34878D82A}">
                    <a16:rowId xmlns:a16="http://schemas.microsoft.com/office/drawing/2014/main" val="2210237231"/>
                  </a:ext>
                </a:extLst>
              </a:tr>
            </a:tbl>
          </a:graphicData>
        </a:graphic>
      </p:graphicFrame>
    </p:spTree>
    <p:extLst>
      <p:ext uri="{BB962C8B-B14F-4D97-AF65-F5344CB8AC3E}">
        <p14:creationId xmlns:p14="http://schemas.microsoft.com/office/powerpoint/2010/main" val="3302045394"/>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Limiter le nombre de requête distante</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861774"/>
          </a:xfrm>
          <a:prstGeom prst="rect">
            <a:avLst/>
          </a:prstGeom>
          <a:noFill/>
        </p:spPr>
        <p:txBody>
          <a:bodyPr wrap="square" rtlCol="0">
            <a:spAutoFit/>
          </a:bodyPr>
          <a:lstStyle/>
          <a:p>
            <a:r>
              <a:rPr lang="fr-FR" sz="1200" u="sng" dirty="0"/>
              <a:t>Principes directeurs</a:t>
            </a:r>
            <a:r>
              <a:rPr lang="fr-FR" sz="1200" b="1" dirty="0"/>
              <a:t> : </a:t>
            </a:r>
            <a:r>
              <a:rPr lang="fr-FR" sz="1200" dirty="0"/>
              <a:t>La solution intègre des pratiques d'écoconception : Permettre de réduire l’empreinte carbone du logiciel en optimisant les ressources nécessaires à son exécution (infrastructure, mémoire, CPU, espace de stockage, réseau) et sa maintenance.</a:t>
            </a:r>
            <a:br>
              <a:rPr lang="fr-FR" sz="1200" dirty="0"/>
            </a:br>
            <a:r>
              <a:rPr lang="fr-FR" sz="1200" u="sng" dirty="0"/>
              <a:t>Finalité</a:t>
            </a:r>
            <a:r>
              <a:rPr lang="fr-FR" sz="1200" dirty="0"/>
              <a:t> : Minimiser la consommation de ressources  terminal utilisateur, réseau et  serveur pour ce service numérique.</a:t>
            </a:r>
          </a:p>
          <a:p>
            <a:r>
              <a:rPr lang="fr-FR" sz="1200" u="sng" dirty="0" smtClean="0"/>
              <a:t>Mesures ciblées </a:t>
            </a:r>
            <a:r>
              <a:rPr lang="fr-FR" sz="1200" b="1" dirty="0" smtClean="0"/>
              <a:t>: </a:t>
            </a:r>
            <a:r>
              <a:rPr lang="it-IT" sz="1200" dirty="0"/>
              <a:t>Mesure software &amp; </a:t>
            </a:r>
            <a:r>
              <a:rPr lang="it-IT" sz="1200" dirty="0" smtClean="0"/>
              <a:t>Mesure hébergement</a:t>
            </a:r>
            <a:endParaRPr lang="it-IT" sz="1200" dirty="0"/>
          </a:p>
        </p:txBody>
      </p:sp>
      <p:graphicFrame>
        <p:nvGraphicFramePr>
          <p:cNvPr id="4" name="Tableau 3"/>
          <p:cNvGraphicFramePr>
            <a:graphicFrameLocks noGrp="1"/>
          </p:cNvGraphicFramePr>
          <p:nvPr>
            <p:extLst>
              <p:ext uri="{D42A27DB-BD31-4B8C-83A1-F6EECF244321}">
                <p14:modId xmlns:p14="http://schemas.microsoft.com/office/powerpoint/2010/main" val="1676354289"/>
              </p:ext>
            </p:extLst>
          </p:nvPr>
        </p:nvGraphicFramePr>
        <p:xfrm>
          <a:off x="0" y="2236192"/>
          <a:ext cx="12192000" cy="3852091"/>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4032731705"/>
                    </a:ext>
                  </a:extLst>
                </a:gridCol>
                <a:gridCol w="3048000">
                  <a:extLst>
                    <a:ext uri="{9D8B030D-6E8A-4147-A177-3AD203B41FA5}">
                      <a16:colId xmlns:a16="http://schemas.microsoft.com/office/drawing/2014/main" val="909207590"/>
                    </a:ext>
                  </a:extLst>
                </a:gridCol>
                <a:gridCol w="3048000">
                  <a:extLst>
                    <a:ext uri="{9D8B030D-6E8A-4147-A177-3AD203B41FA5}">
                      <a16:colId xmlns:a16="http://schemas.microsoft.com/office/drawing/2014/main" val="3817571337"/>
                    </a:ext>
                  </a:extLst>
                </a:gridCol>
                <a:gridCol w="3048000">
                  <a:extLst>
                    <a:ext uri="{9D8B030D-6E8A-4147-A177-3AD203B41FA5}">
                      <a16:colId xmlns:a16="http://schemas.microsoft.com/office/drawing/2014/main" val="585528698"/>
                    </a:ext>
                  </a:extLst>
                </a:gridCol>
              </a:tblGrid>
              <a:tr h="5109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dirty="0" smtClean="0"/>
                        <a:t>Phase Cadrage  : Architecture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dirty="0" smtClean="0"/>
                        <a:t>Phase </a:t>
                      </a:r>
                      <a:r>
                        <a:rPr lang="fr-FR" sz="1200" b="1" dirty="0" err="1" smtClean="0"/>
                        <a:t>Spec</a:t>
                      </a:r>
                      <a:r>
                        <a:rPr lang="fr-FR" sz="1200" b="1" dirty="0" smtClean="0"/>
                        <a:t>-Conception Fonctionnelle &amp; Design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dirty="0" smtClean="0"/>
                        <a:t>Phase de Développement : Front end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dirty="0" smtClean="0"/>
                        <a:t>Phase de Développement : Back end</a:t>
                      </a:r>
                    </a:p>
                  </a:txBody>
                  <a:tcPr/>
                </a:tc>
                <a:extLst>
                  <a:ext uri="{0D108BD9-81ED-4DB2-BD59-A6C34878D82A}">
                    <a16:rowId xmlns:a16="http://schemas.microsoft.com/office/drawing/2014/main" val="306436063"/>
                  </a:ext>
                </a:extLst>
              </a:tr>
              <a:tr h="9040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4" action="ppaction://hlinksldjump"/>
                        </a:rPr>
                        <a:t>Limiter le nombre de requêtes lors de la saisie utilisateurs. </a:t>
                      </a:r>
                      <a:endParaRPr lang="fr-FR" sz="12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5" action="ppaction://hlinksldjump"/>
                        </a:rPr>
                        <a:t>Héberger les ressources statiques dont on est l’émetteur sur un même domaine.</a:t>
                      </a:r>
                      <a:endParaRPr lang="fr-FR" sz="12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6" action="ppaction://hlinksldjump"/>
                        </a:rPr>
                        <a:t>Limiter le nombre de requêtes HTTP.</a:t>
                      </a:r>
                      <a:endParaRPr lang="fr-FR" sz="12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7" action="ppaction://hlinksldjump"/>
                        </a:rPr>
                        <a:t>Limiter le nombre d'appels aux API HTTP. </a:t>
                      </a:r>
                      <a:endParaRPr lang="fr-FR" sz="1200" dirty="0" smtClean="0"/>
                    </a:p>
                  </a:txBody>
                  <a:tcPr/>
                </a:tc>
                <a:extLst>
                  <a:ext uri="{0D108BD9-81ED-4DB2-BD59-A6C34878D82A}">
                    <a16:rowId xmlns:a16="http://schemas.microsoft.com/office/drawing/2014/main" val="591715320"/>
                  </a:ext>
                </a:extLst>
              </a:tr>
              <a:tr h="9040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5" action="ppaction://hlinksldjump"/>
                        </a:rPr>
                        <a:t>Héberger les ressources statiques dont on est l’émetteur sur un même domaine.</a:t>
                      </a:r>
                      <a:endParaRPr lang="fr-FR" sz="1200" dirty="0" smtClean="0"/>
                    </a:p>
                  </a:txBody>
                  <a:tcPr/>
                </a:tc>
                <a:tc>
                  <a:txBody>
                    <a:bodyPr/>
                    <a:lstStyle/>
                    <a:p>
                      <a:endParaRPr lang="fr-FR" sz="12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8" action="ppaction://hlinksldjump"/>
                        </a:rPr>
                        <a:t>Compresser les fichiers CSS, JavaScript, HTML et SVG.</a:t>
                      </a:r>
                      <a:endParaRPr lang="fr-FR" sz="1200" dirty="0" smtClean="0"/>
                    </a:p>
                  </a:txBody>
                  <a:tcPr/>
                </a:tc>
                <a:tc>
                  <a:txBody>
                    <a:bodyPr/>
                    <a:lstStyle/>
                    <a:p>
                      <a:endParaRPr lang="fr-FR" sz="1200"/>
                    </a:p>
                  </a:txBody>
                  <a:tcPr/>
                </a:tc>
                <a:extLst>
                  <a:ext uri="{0D108BD9-81ED-4DB2-BD59-A6C34878D82A}">
                    <a16:rowId xmlns:a16="http://schemas.microsoft.com/office/drawing/2014/main" val="979265509"/>
                  </a:ext>
                </a:extLst>
              </a:tr>
              <a:tr h="70752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6" action="ppaction://hlinksldjump"/>
                        </a:rPr>
                        <a:t>Limiter le nombre de requêtes HTTP.</a:t>
                      </a:r>
                      <a:endParaRPr lang="fr-FR" sz="1200" dirty="0" smtClean="0"/>
                    </a:p>
                  </a:txBody>
                  <a:tcPr/>
                </a:tc>
                <a:tc>
                  <a:txBody>
                    <a:bodyPr/>
                    <a:lstStyle/>
                    <a:p>
                      <a:endParaRPr lang="fr-FR" sz="12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4" action="ppaction://hlinksldjump"/>
                        </a:rPr>
                        <a:t>Limiter le nombre de requêtes lors de la saisie utilisateurs. </a:t>
                      </a:r>
                      <a:endParaRPr lang="fr-FR" sz="1200" dirty="0" smtClean="0"/>
                    </a:p>
                  </a:txBody>
                  <a:tcPr/>
                </a:tc>
                <a:tc>
                  <a:txBody>
                    <a:bodyPr/>
                    <a:lstStyle/>
                    <a:p>
                      <a:endParaRPr lang="fr-FR" sz="1200"/>
                    </a:p>
                  </a:txBody>
                  <a:tcPr/>
                </a:tc>
                <a:extLst>
                  <a:ext uri="{0D108BD9-81ED-4DB2-BD59-A6C34878D82A}">
                    <a16:rowId xmlns:a16="http://schemas.microsoft.com/office/drawing/2014/main" val="1649217510"/>
                  </a:ext>
                </a:extLst>
              </a:tr>
              <a:tr h="5109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7" action="ppaction://hlinksldjump"/>
                        </a:rPr>
                        <a:t>Limiter le nombre d'appels aux API HTTP. </a:t>
                      </a:r>
                      <a:endParaRPr lang="fr-FR" sz="1200" dirty="0" smtClean="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904033472"/>
                  </a:ext>
                </a:extLst>
              </a:tr>
              <a:tr h="3144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9" action="ppaction://hlinksldjump"/>
                        </a:rPr>
                        <a:t>Privilégier HTTP/2 à HTTP/1 </a:t>
                      </a:r>
                      <a:endParaRPr lang="fr-FR" sz="1200" dirty="0" smtClean="0"/>
                    </a:p>
                  </a:txBody>
                  <a:tcPr/>
                </a:tc>
                <a:tc>
                  <a:txBody>
                    <a:bodyPr/>
                    <a:lstStyle/>
                    <a:p>
                      <a:endParaRPr lang="fr-FR" sz="1200"/>
                    </a:p>
                  </a:txBody>
                  <a:tcPr/>
                </a:tc>
                <a:tc>
                  <a:txBody>
                    <a:bodyPr/>
                    <a:lstStyle/>
                    <a:p>
                      <a:endParaRPr lang="fr-FR" sz="1200"/>
                    </a:p>
                  </a:txBody>
                  <a:tcPr/>
                </a:tc>
                <a:tc>
                  <a:txBody>
                    <a:bodyPr/>
                    <a:lstStyle/>
                    <a:p>
                      <a:endParaRPr lang="fr-FR" sz="1200" dirty="0"/>
                    </a:p>
                  </a:txBody>
                  <a:tcPr/>
                </a:tc>
                <a:extLst>
                  <a:ext uri="{0D108BD9-81ED-4DB2-BD59-A6C34878D82A}">
                    <a16:rowId xmlns:a16="http://schemas.microsoft.com/office/drawing/2014/main" val="1909251578"/>
                  </a:ext>
                </a:extLst>
              </a:tr>
            </a:tbl>
          </a:graphicData>
        </a:graphic>
      </p:graphicFrame>
    </p:spTree>
    <p:extLst>
      <p:ext uri="{BB962C8B-B14F-4D97-AF65-F5344CB8AC3E}">
        <p14:creationId xmlns:p14="http://schemas.microsoft.com/office/powerpoint/2010/main" val="3456889686"/>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Mettre en place un « Circuit </a:t>
            </a:r>
            <a:r>
              <a:rPr lang="fr-FR" b="1" dirty="0" err="1">
                <a:solidFill>
                  <a:schemeClr val="bg1"/>
                </a:solidFill>
              </a:rPr>
              <a:t>breaker</a:t>
            </a:r>
            <a:r>
              <a:rPr lang="fr-FR" b="1" dirty="0">
                <a:solidFill>
                  <a:schemeClr val="bg1"/>
                </a:solidFill>
              </a:rPr>
              <a:t> ». </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954107"/>
          </a:xfrm>
          <a:prstGeom prst="rect">
            <a:avLst/>
          </a:prstGeom>
          <a:noFill/>
        </p:spPr>
        <p:txBody>
          <a:bodyPr wrap="square" numCol="1" rtlCol="0">
            <a:spAutoFit/>
          </a:bodyPr>
          <a:lstStyle/>
          <a:p>
            <a:r>
              <a:rPr lang="fr-FR" sz="1400" u="sng" dirty="0"/>
              <a:t>Principes directeurs</a:t>
            </a:r>
            <a:r>
              <a:rPr lang="fr-FR" sz="1400" b="1" dirty="0"/>
              <a:t> : </a:t>
            </a:r>
            <a:r>
              <a:rPr lang="fr-FR" sz="1400" dirty="0"/>
              <a:t>La solution intègre des pratiques d'écoconception : Permettre de réduire l’empreinte carbone du logiciel en optimisant les ressources nécessaires à son exécution (infrastructure, mémoire, CPU, espace de stockage, réseau) et sa maintenance.</a:t>
            </a:r>
            <a:br>
              <a:rPr lang="fr-FR" sz="1400" dirty="0"/>
            </a:br>
            <a:r>
              <a:rPr lang="fr-FR" sz="1400" u="sng" dirty="0"/>
              <a:t>Finalité</a:t>
            </a:r>
            <a:r>
              <a:rPr lang="fr-FR" sz="1400" dirty="0"/>
              <a:t> : Minimiser la consommation de ressources  terminal utilisateur, réseau et  serveur pour ce service numérique.</a:t>
            </a:r>
          </a:p>
          <a:p>
            <a:r>
              <a:rPr lang="fr-FR" sz="1400" u="sng" dirty="0" smtClean="0"/>
              <a:t>Mesures </a:t>
            </a:r>
            <a:r>
              <a:rPr lang="fr-FR" sz="1400" u="sng" dirty="0"/>
              <a:t>ciblées </a:t>
            </a:r>
            <a:r>
              <a:rPr lang="fr-FR" sz="1400" b="1" dirty="0"/>
              <a:t>: </a:t>
            </a:r>
            <a:r>
              <a:rPr lang="it-IT" sz="1400" dirty="0"/>
              <a:t>Mesure software &amp; Mesure hébergement</a:t>
            </a:r>
          </a:p>
        </p:txBody>
      </p:sp>
      <p:graphicFrame>
        <p:nvGraphicFramePr>
          <p:cNvPr id="4" name="Tableau 3"/>
          <p:cNvGraphicFramePr>
            <a:graphicFrameLocks noGrp="1"/>
          </p:cNvGraphicFramePr>
          <p:nvPr>
            <p:extLst>
              <p:ext uri="{D42A27DB-BD31-4B8C-83A1-F6EECF244321}">
                <p14:modId xmlns:p14="http://schemas.microsoft.com/office/powerpoint/2010/main" val="3612846924"/>
              </p:ext>
            </p:extLst>
          </p:nvPr>
        </p:nvGraphicFramePr>
        <p:xfrm>
          <a:off x="0" y="3442297"/>
          <a:ext cx="12192000" cy="7416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680509835"/>
                    </a:ext>
                  </a:extLst>
                </a:gridCol>
                <a:gridCol w="4064000">
                  <a:extLst>
                    <a:ext uri="{9D8B030D-6E8A-4147-A177-3AD203B41FA5}">
                      <a16:colId xmlns:a16="http://schemas.microsoft.com/office/drawing/2014/main" val="1753249907"/>
                    </a:ext>
                  </a:extLst>
                </a:gridCol>
                <a:gridCol w="4064000">
                  <a:extLst>
                    <a:ext uri="{9D8B030D-6E8A-4147-A177-3AD203B41FA5}">
                      <a16:colId xmlns:a16="http://schemas.microsoft.com/office/drawing/2014/main" val="216396115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smtClean="0"/>
                        <a:t>Phase Cadrage  : Architecture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smtClean="0"/>
                        <a:t>Phase de Développement : Front end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smtClean="0"/>
                        <a:t>Phase de Développement : Back end</a:t>
                      </a:r>
                    </a:p>
                  </a:txBody>
                  <a:tcPr/>
                </a:tc>
                <a:extLst>
                  <a:ext uri="{0D108BD9-81ED-4DB2-BD59-A6C34878D82A}">
                    <a16:rowId xmlns:a16="http://schemas.microsoft.com/office/drawing/2014/main" val="3025403930"/>
                  </a:ext>
                </a:extLst>
              </a:tr>
              <a:tr h="370840">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800" b="0" i="0" u="none" strike="noStrike" kern="1200" cap="none" spc="0" normalizeH="0" baseline="0" noProof="0" smtClean="0">
                          <a:ln>
                            <a:noFill/>
                          </a:ln>
                          <a:solidFill>
                            <a:prstClr val="black"/>
                          </a:solidFill>
                          <a:effectLst/>
                          <a:uLnTx/>
                          <a:uFillTx/>
                          <a:latin typeface="Calibri" panose="020F0502020204030204"/>
                          <a:ea typeface="+mn-ea"/>
                          <a:cs typeface="+mn-cs"/>
                          <a:hlinkClick r:id="rId4" action="ppaction://hlinksldjump"/>
                        </a:rPr>
                        <a:t>Mettre en place un « Circuit breaker ». </a:t>
                      </a:r>
                      <a:endParaRPr kumimoji="0" lang="fr-FR" sz="1800" b="0" i="0" u="none" strike="noStrike" kern="1200" cap="none" spc="0" normalizeH="0" baseline="0" noProof="0" dirty="0" smtClean="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800" b="0" i="0" u="none" strike="noStrike" kern="1200" cap="none" spc="0" normalizeH="0" baseline="0" noProof="0" smtClean="0">
                          <a:ln>
                            <a:noFill/>
                          </a:ln>
                          <a:solidFill>
                            <a:prstClr val="black"/>
                          </a:solidFill>
                          <a:effectLst/>
                          <a:uLnTx/>
                          <a:uFillTx/>
                          <a:latin typeface="Calibri" panose="020F0502020204030204"/>
                          <a:ea typeface="+mn-ea"/>
                          <a:cs typeface="+mn-cs"/>
                          <a:hlinkClick r:id="rId4" action="ppaction://hlinksldjump"/>
                        </a:rPr>
                        <a:t>Mettre en place un « Circuit breaker ». </a:t>
                      </a:r>
                      <a:endParaRPr kumimoji="0" lang="fr-FR" sz="1800" b="0" i="0" u="none" strike="noStrike" kern="1200" cap="none" spc="0" normalizeH="0" baseline="0" noProof="0" dirty="0" smtClean="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800" b="0" i="0" u="none" strike="noStrike" kern="1200" cap="none" spc="0" normalizeH="0" baseline="0" noProof="0" dirty="0" smtClean="0">
                          <a:ln>
                            <a:noFill/>
                          </a:ln>
                          <a:solidFill>
                            <a:prstClr val="black"/>
                          </a:solidFill>
                          <a:effectLst/>
                          <a:uLnTx/>
                          <a:uFillTx/>
                          <a:latin typeface="Calibri" panose="020F0502020204030204"/>
                          <a:ea typeface="+mn-ea"/>
                          <a:cs typeface="+mn-cs"/>
                          <a:hlinkClick r:id="rId4" action="ppaction://hlinksldjump"/>
                        </a:rPr>
                        <a:t>Mettre en place un « Circuit </a:t>
                      </a:r>
                      <a:r>
                        <a:rPr kumimoji="0" lang="fr-FR" sz="1800" b="0" i="0" u="none" strike="noStrike" kern="1200" cap="none" spc="0" normalizeH="0" baseline="0" noProof="0" dirty="0" err="1" smtClean="0">
                          <a:ln>
                            <a:noFill/>
                          </a:ln>
                          <a:solidFill>
                            <a:prstClr val="black"/>
                          </a:solidFill>
                          <a:effectLst/>
                          <a:uLnTx/>
                          <a:uFillTx/>
                          <a:latin typeface="Calibri" panose="020F0502020204030204"/>
                          <a:ea typeface="+mn-ea"/>
                          <a:cs typeface="+mn-cs"/>
                          <a:hlinkClick r:id="rId4" action="ppaction://hlinksldjump"/>
                        </a:rPr>
                        <a:t>breaker</a:t>
                      </a:r>
                      <a:r>
                        <a:rPr kumimoji="0" lang="fr-FR" sz="1800" b="0" i="0" u="none" strike="noStrike" kern="1200" cap="none" spc="0" normalizeH="0" baseline="0" noProof="0" dirty="0" smtClean="0">
                          <a:ln>
                            <a:noFill/>
                          </a:ln>
                          <a:solidFill>
                            <a:prstClr val="black"/>
                          </a:solidFill>
                          <a:effectLst/>
                          <a:uLnTx/>
                          <a:uFillTx/>
                          <a:latin typeface="Calibri" panose="020F0502020204030204"/>
                          <a:ea typeface="+mn-ea"/>
                          <a:cs typeface="+mn-cs"/>
                          <a:hlinkClick r:id="rId4" action="ppaction://hlinksldjump"/>
                        </a:rPr>
                        <a:t> ». </a:t>
                      </a:r>
                      <a:endParaRPr kumimoji="0" lang="fr-FR" sz="1800" b="0" i="0" u="none" strike="noStrike" kern="1200" cap="none" spc="0" normalizeH="0" baseline="0" noProof="0" dirty="0" smtClean="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511029206"/>
                  </a:ext>
                </a:extLst>
              </a:tr>
            </a:tbl>
          </a:graphicData>
        </a:graphic>
      </p:graphicFrame>
    </p:spTree>
    <p:extLst>
      <p:ext uri="{BB962C8B-B14F-4D97-AF65-F5344CB8AC3E}">
        <p14:creationId xmlns:p14="http://schemas.microsoft.com/office/powerpoint/2010/main" val="4903292"/>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Optimiser les traitements "lourds"</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954107"/>
          </a:xfrm>
          <a:prstGeom prst="rect">
            <a:avLst/>
          </a:prstGeom>
          <a:noFill/>
        </p:spPr>
        <p:txBody>
          <a:bodyPr wrap="square" numCol="1" rtlCol="0">
            <a:spAutoFit/>
          </a:bodyPr>
          <a:lstStyle/>
          <a:p>
            <a:r>
              <a:rPr lang="fr-FR" sz="1400" u="sng" dirty="0"/>
              <a:t>Principes directeurs</a:t>
            </a:r>
            <a:r>
              <a:rPr lang="fr-FR" sz="1400" b="1" dirty="0"/>
              <a:t> : </a:t>
            </a:r>
            <a:r>
              <a:rPr lang="fr-FR" sz="1400" dirty="0"/>
              <a:t>La solution intègre des pratiques d'écoconception : Permettre de réduire l’empreinte carbone du logiciel en optimisant les ressources nécessaires à son exécution (infrastructure, mémoire, CPU, espace de stockage, réseau) et sa maintenance.</a:t>
            </a:r>
            <a:br>
              <a:rPr lang="fr-FR" sz="1400" dirty="0"/>
            </a:br>
            <a:r>
              <a:rPr lang="fr-FR" sz="1400" u="sng" dirty="0"/>
              <a:t>Finalité</a:t>
            </a:r>
            <a:r>
              <a:rPr lang="fr-FR" sz="1400" dirty="0"/>
              <a:t> : Minimiser la consommation de ressources  terminal utilisateur, réseau et  serveur pour ce service numérique.</a:t>
            </a:r>
          </a:p>
          <a:p>
            <a:r>
              <a:rPr lang="fr-FR" sz="1400" u="sng" dirty="0"/>
              <a:t>Mesures ciblées </a:t>
            </a:r>
            <a:r>
              <a:rPr lang="fr-FR" sz="1400" b="1" dirty="0"/>
              <a:t>: </a:t>
            </a:r>
            <a:r>
              <a:rPr lang="it-IT" sz="1400" dirty="0"/>
              <a:t>Mesure software &amp; Mesure hébergement</a:t>
            </a:r>
          </a:p>
        </p:txBody>
      </p:sp>
      <p:graphicFrame>
        <p:nvGraphicFramePr>
          <p:cNvPr id="4" name="Tableau 3"/>
          <p:cNvGraphicFramePr>
            <a:graphicFrameLocks noGrp="1"/>
          </p:cNvGraphicFramePr>
          <p:nvPr>
            <p:extLst>
              <p:ext uri="{D42A27DB-BD31-4B8C-83A1-F6EECF244321}">
                <p14:modId xmlns:p14="http://schemas.microsoft.com/office/powerpoint/2010/main" val="2964237807"/>
              </p:ext>
            </p:extLst>
          </p:nvPr>
        </p:nvGraphicFramePr>
        <p:xfrm>
          <a:off x="0" y="3208565"/>
          <a:ext cx="12192000" cy="111252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3260845310"/>
                    </a:ext>
                  </a:extLst>
                </a:gridCol>
                <a:gridCol w="6096000">
                  <a:extLst>
                    <a:ext uri="{9D8B030D-6E8A-4147-A177-3AD203B41FA5}">
                      <a16:colId xmlns:a16="http://schemas.microsoft.com/office/drawing/2014/main" val="1319184726"/>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smtClean="0"/>
                        <a:t>Phase Cadrage  : Architecture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smtClean="0"/>
                        <a:t>Phase de Développement : Front end</a:t>
                      </a:r>
                    </a:p>
                  </a:txBody>
                  <a:tcPr/>
                </a:tc>
                <a:extLst>
                  <a:ext uri="{0D108BD9-81ED-4DB2-BD59-A6C34878D82A}">
                    <a16:rowId xmlns:a16="http://schemas.microsoft.com/office/drawing/2014/main" val="551645932"/>
                  </a:ext>
                </a:extLst>
              </a:tr>
              <a:tr h="370840">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800" b="0" i="0" u="none" strike="noStrike" kern="1200" cap="none" spc="0" normalizeH="0" baseline="0" noProof="0" dirty="0" smtClean="0">
                          <a:ln>
                            <a:noFill/>
                          </a:ln>
                          <a:solidFill>
                            <a:prstClr val="black"/>
                          </a:solidFill>
                          <a:effectLst/>
                          <a:uLnTx/>
                          <a:uFillTx/>
                          <a:latin typeface="Calibri" panose="020F0502020204030204"/>
                          <a:ea typeface="+mn-ea"/>
                          <a:cs typeface="+mn-cs"/>
                          <a:hlinkClick r:id="rId4" action="ppaction://hlinksldjump"/>
                        </a:rPr>
                        <a:t>Choisir un format de données adapté</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800" b="0" i="0" u="none" strike="noStrike" kern="1200" cap="none" spc="0" normalizeH="0" baseline="0" noProof="0" dirty="0" smtClean="0">
                          <a:ln>
                            <a:noFill/>
                          </a:ln>
                          <a:solidFill>
                            <a:prstClr val="black"/>
                          </a:solidFill>
                          <a:effectLst/>
                          <a:uLnTx/>
                          <a:uFillTx/>
                          <a:latin typeface="Calibri" panose="020F0502020204030204"/>
                          <a:ea typeface="+mn-ea"/>
                          <a:cs typeface="+mn-cs"/>
                          <a:hlinkClick r:id="rId4" action="ppaction://hlinksldjump"/>
                        </a:rPr>
                        <a:t>Choisir un format de données adapté</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4175993886"/>
                  </a:ext>
                </a:extLst>
              </a:tr>
              <a:tr h="370840">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800" b="0" i="0" u="none" strike="noStrike" kern="1200" cap="none" spc="0" normalizeH="0" baseline="0" noProof="0" smtClean="0">
                          <a:ln>
                            <a:noFill/>
                          </a:ln>
                          <a:solidFill>
                            <a:prstClr val="black"/>
                          </a:solidFill>
                          <a:effectLst/>
                          <a:uLnTx/>
                          <a:uFillTx/>
                          <a:latin typeface="Calibri" panose="020F0502020204030204"/>
                          <a:ea typeface="+mn-ea"/>
                          <a:cs typeface="+mn-cs"/>
                          <a:hlinkClick r:id="rId5" action="ppaction://hlinksldjump"/>
                        </a:rPr>
                        <a:t>Mettre les caches entièrement en RAM (opcode et kvs).</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800" b="0" i="0" u="none" strike="noStrike" kern="1200" cap="none" spc="0" normalizeH="0" baseline="0" noProof="0" dirty="0" smtClean="0">
                          <a:ln>
                            <a:noFill/>
                          </a:ln>
                          <a:solidFill>
                            <a:prstClr val="black"/>
                          </a:solidFill>
                          <a:effectLst/>
                          <a:uLnTx/>
                          <a:uFillTx/>
                          <a:latin typeface="Calibri" panose="020F0502020204030204"/>
                          <a:ea typeface="+mn-ea"/>
                          <a:cs typeface="+mn-cs"/>
                          <a:hlinkClick r:id="rId5" action="ppaction://hlinksldjump"/>
                        </a:rPr>
                        <a:t>Mettre les caches entièrement en RAM (</a:t>
                      </a:r>
                      <a:r>
                        <a:rPr kumimoji="0" lang="fr-FR" sz="1800" b="0" i="0" u="none" strike="noStrike" kern="1200" cap="none" spc="0" normalizeH="0" baseline="0" noProof="0" dirty="0" err="1" smtClean="0">
                          <a:ln>
                            <a:noFill/>
                          </a:ln>
                          <a:solidFill>
                            <a:prstClr val="black"/>
                          </a:solidFill>
                          <a:effectLst/>
                          <a:uLnTx/>
                          <a:uFillTx/>
                          <a:latin typeface="Calibri" panose="020F0502020204030204"/>
                          <a:ea typeface="+mn-ea"/>
                          <a:cs typeface="+mn-cs"/>
                          <a:hlinkClick r:id="rId5" action="ppaction://hlinksldjump"/>
                        </a:rPr>
                        <a:t>opcode</a:t>
                      </a:r>
                      <a:r>
                        <a:rPr kumimoji="0" lang="fr-FR" sz="1800" b="0" i="0" u="none" strike="noStrike" kern="1200" cap="none" spc="0" normalizeH="0" baseline="0" noProof="0" dirty="0" smtClean="0">
                          <a:ln>
                            <a:noFill/>
                          </a:ln>
                          <a:solidFill>
                            <a:prstClr val="black"/>
                          </a:solidFill>
                          <a:effectLst/>
                          <a:uLnTx/>
                          <a:uFillTx/>
                          <a:latin typeface="Calibri" panose="020F0502020204030204"/>
                          <a:ea typeface="+mn-ea"/>
                          <a:cs typeface="+mn-cs"/>
                          <a:hlinkClick r:id="rId5" action="ppaction://hlinksldjump"/>
                        </a:rPr>
                        <a:t> et </a:t>
                      </a:r>
                      <a:r>
                        <a:rPr kumimoji="0" lang="fr-FR" sz="1800" b="0" i="0" u="none" strike="noStrike" kern="1200" cap="none" spc="0" normalizeH="0" baseline="0" noProof="0" dirty="0" err="1" smtClean="0">
                          <a:ln>
                            <a:noFill/>
                          </a:ln>
                          <a:solidFill>
                            <a:prstClr val="black"/>
                          </a:solidFill>
                          <a:effectLst/>
                          <a:uLnTx/>
                          <a:uFillTx/>
                          <a:latin typeface="Calibri" panose="020F0502020204030204"/>
                          <a:ea typeface="+mn-ea"/>
                          <a:cs typeface="+mn-cs"/>
                          <a:hlinkClick r:id="rId5" action="ppaction://hlinksldjump"/>
                        </a:rPr>
                        <a:t>kvs</a:t>
                      </a:r>
                      <a:r>
                        <a:rPr kumimoji="0" lang="fr-FR" sz="1800" b="0" i="0" u="none" strike="noStrike" kern="1200" cap="none" spc="0" normalizeH="0" baseline="0" noProof="0" dirty="0" smtClean="0">
                          <a:ln>
                            <a:noFill/>
                          </a:ln>
                          <a:solidFill>
                            <a:prstClr val="black"/>
                          </a:solidFill>
                          <a:effectLst/>
                          <a:uLnTx/>
                          <a:uFillTx/>
                          <a:latin typeface="Calibri" panose="020F0502020204030204"/>
                          <a:ea typeface="+mn-ea"/>
                          <a:cs typeface="+mn-cs"/>
                          <a:hlinkClick r:id="rId5" action="ppaction://hlinksldjump"/>
                        </a:rPr>
                        <a:t>).</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4212211651"/>
                  </a:ext>
                </a:extLst>
              </a:tr>
            </a:tbl>
          </a:graphicData>
        </a:graphic>
      </p:graphicFrame>
    </p:spTree>
    <p:extLst>
      <p:ext uri="{BB962C8B-B14F-4D97-AF65-F5344CB8AC3E}">
        <p14:creationId xmlns:p14="http://schemas.microsoft.com/office/powerpoint/2010/main" val="3492840905"/>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smtClean="0">
                <a:solidFill>
                  <a:schemeClr val="bg1"/>
                </a:solidFill>
              </a:rPr>
              <a:t>Eviter </a:t>
            </a:r>
            <a:r>
              <a:rPr lang="fr-FR" b="1" dirty="0">
                <a:solidFill>
                  <a:schemeClr val="bg1"/>
                </a:solidFill>
              </a:rPr>
              <a:t>un usage non justifié et déraisonné d’une </a:t>
            </a:r>
            <a:r>
              <a:rPr lang="fr-FR" b="1" dirty="0" smtClean="0">
                <a:solidFill>
                  <a:schemeClr val="bg1"/>
                </a:solidFill>
              </a:rPr>
              <a:t>phase d’entraînement</a:t>
            </a:r>
            <a:endParaRPr lang="fr-FR" b="1" dirty="0">
              <a:solidFill>
                <a:schemeClr val="bg1"/>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954107"/>
          </a:xfrm>
          <a:prstGeom prst="rect">
            <a:avLst/>
          </a:prstGeom>
          <a:noFill/>
        </p:spPr>
        <p:txBody>
          <a:bodyPr wrap="square" rtlCol="0">
            <a:spAutoFit/>
          </a:bodyPr>
          <a:lstStyle/>
          <a:p>
            <a:r>
              <a:rPr lang="fr-FR" sz="1400" u="sng" dirty="0"/>
              <a:t>Principes directeurs</a:t>
            </a:r>
            <a:r>
              <a:rPr lang="fr-FR" sz="1400" b="1" dirty="0"/>
              <a:t> : </a:t>
            </a:r>
            <a:r>
              <a:rPr lang="fr-FR" sz="1400" dirty="0"/>
              <a:t>La solution intègre des pratiques d'écoconception : Permettre de réduire l’empreinte carbone du logiciel en optimisant les ressources nécessaires à son exécution (infrastructure, mémoire, CPU, espace de stockage, réseau) et sa maintenance.</a:t>
            </a:r>
            <a:br>
              <a:rPr lang="fr-FR" sz="1400" dirty="0"/>
            </a:br>
            <a:r>
              <a:rPr lang="fr-FR" sz="1400" u="sng" dirty="0"/>
              <a:t>Finalité</a:t>
            </a:r>
            <a:r>
              <a:rPr lang="fr-FR" sz="1400" dirty="0"/>
              <a:t> : Minimiser la consommation de ressources  serveur pour ce service </a:t>
            </a:r>
            <a:r>
              <a:rPr lang="fr-FR" sz="1400" dirty="0" smtClean="0"/>
              <a:t>numérique</a:t>
            </a:r>
          </a:p>
          <a:p>
            <a:r>
              <a:rPr lang="fr-FR" sz="1400" u="sng" dirty="0" smtClean="0"/>
              <a:t>Mesures </a:t>
            </a:r>
            <a:r>
              <a:rPr lang="fr-FR" sz="1400" u="sng" dirty="0"/>
              <a:t>ciblées </a:t>
            </a:r>
            <a:r>
              <a:rPr lang="fr-FR" sz="1400" b="1" dirty="0"/>
              <a:t>: </a:t>
            </a:r>
            <a:r>
              <a:rPr lang="it-IT" sz="1400" dirty="0"/>
              <a:t>Mesure software &amp; Mesure hébergement</a:t>
            </a:r>
          </a:p>
        </p:txBody>
      </p:sp>
      <p:graphicFrame>
        <p:nvGraphicFramePr>
          <p:cNvPr id="4" name="Tableau 3"/>
          <p:cNvGraphicFramePr>
            <a:graphicFrameLocks noGrp="1"/>
          </p:cNvGraphicFramePr>
          <p:nvPr>
            <p:extLst>
              <p:ext uri="{D42A27DB-BD31-4B8C-83A1-F6EECF244321}">
                <p14:modId xmlns:p14="http://schemas.microsoft.com/office/powerpoint/2010/main" val="789200507"/>
              </p:ext>
            </p:extLst>
          </p:nvPr>
        </p:nvGraphicFramePr>
        <p:xfrm>
          <a:off x="0" y="3442297"/>
          <a:ext cx="12192000" cy="74168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1978855401"/>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smtClean="0"/>
                        <a:t>Intelligence Artificielle</a:t>
                      </a:r>
                    </a:p>
                  </a:txBody>
                  <a:tcPr/>
                </a:tc>
                <a:extLst>
                  <a:ext uri="{0D108BD9-81ED-4DB2-BD59-A6C34878D82A}">
                    <a16:rowId xmlns:a16="http://schemas.microsoft.com/office/drawing/2014/main" val="401102214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4" action="ppaction://hlinksldjump"/>
                        </a:rPr>
                        <a:t>Eviter un usage non justifié et déraisonné d’une phase d’entraînement</a:t>
                      </a:r>
                      <a:endParaRPr lang="fr-FR" sz="1800" dirty="0" smtClean="0"/>
                    </a:p>
                  </a:txBody>
                  <a:tcPr/>
                </a:tc>
                <a:extLst>
                  <a:ext uri="{0D108BD9-81ED-4DB2-BD59-A6C34878D82A}">
                    <a16:rowId xmlns:a16="http://schemas.microsoft.com/office/drawing/2014/main" val="631249097"/>
                  </a:ext>
                </a:extLst>
              </a:tr>
            </a:tbl>
          </a:graphicData>
        </a:graphic>
      </p:graphicFrame>
    </p:spTree>
    <p:extLst>
      <p:ext uri="{BB962C8B-B14F-4D97-AF65-F5344CB8AC3E}">
        <p14:creationId xmlns:p14="http://schemas.microsoft.com/office/powerpoint/2010/main" val="531046928"/>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Favoriser les traitements asynchrones</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954107"/>
          </a:xfrm>
          <a:prstGeom prst="rect">
            <a:avLst/>
          </a:prstGeom>
          <a:noFill/>
        </p:spPr>
        <p:txBody>
          <a:bodyPr wrap="square" rtlCol="0">
            <a:spAutoFit/>
          </a:bodyPr>
          <a:lstStyle/>
          <a:p>
            <a:r>
              <a:rPr lang="fr-FR" sz="1400" u="sng" dirty="0"/>
              <a:t>Principes directeurs</a:t>
            </a:r>
            <a:r>
              <a:rPr lang="fr-FR" sz="1400" b="1" dirty="0"/>
              <a:t> : </a:t>
            </a:r>
            <a:r>
              <a:rPr lang="fr-FR" sz="1400" dirty="0"/>
              <a:t>La solution intègre des pratiques d'écoconception : Permettre de réduire l’empreinte carbone du logiciel en optimisant les ressources nécessaires à son exécution (infrastructure, mémoire, CPU, espace de stockage, réseau) et sa maintenance.</a:t>
            </a:r>
            <a:br>
              <a:rPr lang="fr-FR" sz="1400" dirty="0"/>
            </a:br>
            <a:r>
              <a:rPr lang="fr-FR" sz="1400" u="sng" dirty="0"/>
              <a:t>Finalité</a:t>
            </a:r>
            <a:r>
              <a:rPr lang="fr-FR" sz="1400" dirty="0"/>
              <a:t> : Minimiser la consommation de ressources  serveur pour ce service numérique</a:t>
            </a:r>
          </a:p>
          <a:p>
            <a:r>
              <a:rPr lang="fr-FR" sz="1400" u="sng" dirty="0"/>
              <a:t>Mesures ciblées </a:t>
            </a:r>
            <a:r>
              <a:rPr lang="fr-FR" sz="1400" b="1" dirty="0"/>
              <a:t>: </a:t>
            </a:r>
            <a:r>
              <a:rPr lang="it-IT" sz="1400" dirty="0"/>
              <a:t>Mesure software &amp; Mesure hébergement</a:t>
            </a:r>
          </a:p>
        </p:txBody>
      </p:sp>
      <p:graphicFrame>
        <p:nvGraphicFramePr>
          <p:cNvPr id="4" name="Tableau 3"/>
          <p:cNvGraphicFramePr>
            <a:graphicFrameLocks noGrp="1"/>
          </p:cNvGraphicFramePr>
          <p:nvPr>
            <p:extLst>
              <p:ext uri="{D42A27DB-BD31-4B8C-83A1-F6EECF244321}">
                <p14:modId xmlns:p14="http://schemas.microsoft.com/office/powerpoint/2010/main" val="591390781"/>
              </p:ext>
            </p:extLst>
          </p:nvPr>
        </p:nvGraphicFramePr>
        <p:xfrm>
          <a:off x="0" y="3284314"/>
          <a:ext cx="12192000" cy="111252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078302966"/>
                    </a:ext>
                  </a:extLst>
                </a:gridCol>
                <a:gridCol w="6096000">
                  <a:extLst>
                    <a:ext uri="{9D8B030D-6E8A-4147-A177-3AD203B41FA5}">
                      <a16:colId xmlns:a16="http://schemas.microsoft.com/office/drawing/2014/main" val="701763309"/>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smtClean="0"/>
                        <a:t>Phase Cadrage  : Architecture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smtClean="0"/>
                        <a:t>Phase de Développement : Front end</a:t>
                      </a:r>
                    </a:p>
                  </a:txBody>
                  <a:tcPr/>
                </a:tc>
                <a:extLst>
                  <a:ext uri="{0D108BD9-81ED-4DB2-BD59-A6C34878D82A}">
                    <a16:rowId xmlns:a16="http://schemas.microsoft.com/office/drawing/2014/main" val="313832871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4" action="ppaction://hlinksldjump"/>
                        </a:rPr>
                        <a:t>Utiliser un serveur asynchrone.</a:t>
                      </a:r>
                      <a:endParaRPr lang="fr-FR" sz="18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5" action="ppaction://hlinksldjump"/>
                        </a:rPr>
                        <a:t>Proposer un traitement asynchrone lorsque c'est possible.</a:t>
                      </a:r>
                      <a:endParaRPr lang="fr-FR" sz="1800" dirty="0" smtClean="0"/>
                    </a:p>
                  </a:txBody>
                  <a:tcPr/>
                </a:tc>
                <a:extLst>
                  <a:ext uri="{0D108BD9-81ED-4DB2-BD59-A6C34878D82A}">
                    <a16:rowId xmlns:a16="http://schemas.microsoft.com/office/drawing/2014/main" val="293735093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5" action="ppaction://hlinksldjump"/>
                        </a:rPr>
                        <a:t>Proposer un traitement asynchrone lorsque c'est possible.</a:t>
                      </a:r>
                      <a:endParaRPr lang="fr-FR" sz="1800" dirty="0" smtClean="0"/>
                    </a:p>
                  </a:txBody>
                  <a:tcPr/>
                </a:tc>
                <a:tc>
                  <a:txBody>
                    <a:bodyPr/>
                    <a:lstStyle/>
                    <a:p>
                      <a:endParaRPr lang="fr-FR" sz="1800" dirty="0"/>
                    </a:p>
                  </a:txBody>
                  <a:tcPr/>
                </a:tc>
                <a:extLst>
                  <a:ext uri="{0D108BD9-81ED-4DB2-BD59-A6C34878D82A}">
                    <a16:rowId xmlns:a16="http://schemas.microsoft.com/office/drawing/2014/main" val="2942457605"/>
                  </a:ext>
                </a:extLst>
              </a:tr>
            </a:tbl>
          </a:graphicData>
        </a:graphic>
      </p:graphicFrame>
    </p:spTree>
    <p:extLst>
      <p:ext uri="{BB962C8B-B14F-4D97-AF65-F5344CB8AC3E}">
        <p14:creationId xmlns:p14="http://schemas.microsoft.com/office/powerpoint/2010/main" val="1170210860"/>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Optimiser les traitements "lourds" coté serveur</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954107"/>
          </a:xfrm>
          <a:prstGeom prst="rect">
            <a:avLst/>
          </a:prstGeom>
          <a:noFill/>
        </p:spPr>
        <p:txBody>
          <a:bodyPr wrap="square" numCol="1" rtlCol="0">
            <a:spAutoFit/>
          </a:bodyPr>
          <a:lstStyle/>
          <a:p>
            <a:pPr lvl="0"/>
            <a:r>
              <a:rPr lang="fr-FR" sz="1400" u="sng" dirty="0">
                <a:solidFill>
                  <a:prstClr val="black"/>
                </a:solidFill>
              </a:rPr>
              <a:t>Finalité</a:t>
            </a:r>
            <a:r>
              <a:rPr lang="fr-FR" sz="1400" dirty="0">
                <a:solidFill>
                  <a:prstClr val="black"/>
                </a:solidFill>
              </a:rPr>
              <a:t> : La solution intègre des pratiques d'écoconception : Minimiser la consommation de ressources  serveur pour ce service numérique.</a:t>
            </a:r>
          </a:p>
          <a:p>
            <a:pPr lvl="0"/>
            <a:r>
              <a:rPr lang="fr-FR" sz="1400" u="sng" dirty="0">
                <a:solidFill>
                  <a:prstClr val="black"/>
                </a:solidFill>
              </a:rPr>
              <a:t>Principes directeurs</a:t>
            </a:r>
            <a:r>
              <a:rPr lang="fr-FR" sz="1400" b="1" dirty="0">
                <a:solidFill>
                  <a:prstClr val="black"/>
                </a:solidFill>
              </a:rPr>
              <a:t> : </a:t>
            </a:r>
            <a:r>
              <a:rPr lang="fr-FR" sz="1400" dirty="0">
                <a:solidFill>
                  <a:prstClr val="black"/>
                </a:solidFill>
              </a:rPr>
              <a:t>Diminution de la consommation énergétique et de notre empreinte carbone. / Permettre de réduire l’empreinte carbone du logiciel en optimisant les ressources nécessaires à son exécution (infrastructure, mémoire, CPU, espace de stockage, réseau) et sa maintenance.</a:t>
            </a:r>
          </a:p>
          <a:p>
            <a:r>
              <a:rPr lang="fr-FR" sz="1400" u="sng" dirty="0">
                <a:solidFill>
                  <a:prstClr val="black"/>
                </a:solidFill>
              </a:rPr>
              <a:t>Mesures ciblées </a:t>
            </a:r>
            <a:r>
              <a:rPr lang="fr-FR" sz="1400" b="1" dirty="0">
                <a:solidFill>
                  <a:prstClr val="black"/>
                </a:solidFill>
              </a:rPr>
              <a:t>: </a:t>
            </a:r>
            <a:r>
              <a:rPr lang="it-IT" sz="1400" dirty="0"/>
              <a:t>Mesure software &amp; Mesure hébergement</a:t>
            </a:r>
          </a:p>
        </p:txBody>
      </p:sp>
      <p:graphicFrame>
        <p:nvGraphicFramePr>
          <p:cNvPr id="4" name="Tableau 3"/>
          <p:cNvGraphicFramePr>
            <a:graphicFrameLocks noGrp="1"/>
          </p:cNvGraphicFramePr>
          <p:nvPr>
            <p:extLst>
              <p:ext uri="{D42A27DB-BD31-4B8C-83A1-F6EECF244321}">
                <p14:modId xmlns:p14="http://schemas.microsoft.com/office/powerpoint/2010/main" val="2879861447"/>
              </p:ext>
            </p:extLst>
          </p:nvPr>
        </p:nvGraphicFramePr>
        <p:xfrm>
          <a:off x="0" y="2386148"/>
          <a:ext cx="12192000" cy="313436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230812083"/>
                    </a:ext>
                  </a:extLst>
                </a:gridCol>
                <a:gridCol w="6096000">
                  <a:extLst>
                    <a:ext uri="{9D8B030D-6E8A-4147-A177-3AD203B41FA5}">
                      <a16:colId xmlns:a16="http://schemas.microsoft.com/office/drawing/2014/main" val="2184303026"/>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smtClean="0"/>
                        <a:t>Phase Cadrage  : Architecture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smtClean="0"/>
                        <a:t>Phase de Développement : Back end</a:t>
                      </a:r>
                    </a:p>
                  </a:txBody>
                  <a:tcPr/>
                </a:tc>
                <a:extLst>
                  <a:ext uri="{0D108BD9-81ED-4DB2-BD59-A6C34878D82A}">
                    <a16:rowId xmlns:a16="http://schemas.microsoft.com/office/drawing/2014/main" val="210255416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4" action="ppaction://hlinksldjump"/>
                        </a:rPr>
                        <a:t>Optimiser les requêtes aux bases de données</a:t>
                      </a:r>
                      <a:endParaRPr lang="fr-FR" sz="18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5" action="ppaction://hlinksldjump"/>
                        </a:rPr>
                        <a:t>Recourir à un système de cache serveur pour les données les plus utilisées.</a:t>
                      </a:r>
                      <a:endParaRPr lang="fr-FR" sz="1800" dirty="0" smtClean="0"/>
                    </a:p>
                  </a:txBody>
                  <a:tcPr/>
                </a:tc>
                <a:extLst>
                  <a:ext uri="{0D108BD9-81ED-4DB2-BD59-A6C34878D82A}">
                    <a16:rowId xmlns:a16="http://schemas.microsoft.com/office/drawing/2014/main" val="385393629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5" action="ppaction://hlinksldjump"/>
                        </a:rPr>
                        <a:t>Recourir à un système de cache serveur pour les données les plus utilisées.</a:t>
                      </a:r>
                      <a:endParaRPr lang="fr-FR" sz="18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6" action="ppaction://hlinksldjump"/>
                        </a:rPr>
                        <a:t>Utiliser majoritairement des composants fonctionnels natifs</a:t>
                      </a:r>
                      <a:endParaRPr lang="fr-FR" sz="1800" dirty="0" smtClean="0"/>
                    </a:p>
                  </a:txBody>
                  <a:tcPr/>
                </a:tc>
                <a:extLst>
                  <a:ext uri="{0D108BD9-81ED-4DB2-BD59-A6C34878D82A}">
                    <a16:rowId xmlns:a16="http://schemas.microsoft.com/office/drawing/2014/main" val="264276823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7" action="ppaction://hlinksldjump"/>
                        </a:rPr>
                        <a:t>Mettre en cache les données calculées souvent utilisées.</a:t>
                      </a:r>
                      <a:endParaRPr lang="fr-FR" sz="18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7" action="ppaction://hlinksldjump"/>
                        </a:rPr>
                        <a:t>Mettre en cache les données calculées souvent utilisées.</a:t>
                      </a:r>
                      <a:endParaRPr lang="fr-FR" sz="1800" dirty="0" smtClean="0"/>
                    </a:p>
                  </a:txBody>
                  <a:tcPr/>
                </a:tc>
                <a:extLst>
                  <a:ext uri="{0D108BD9-81ED-4DB2-BD59-A6C34878D82A}">
                    <a16:rowId xmlns:a16="http://schemas.microsoft.com/office/drawing/2014/main" val="109938747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8" action="ppaction://hlinksldjump"/>
                        </a:rPr>
                        <a:t>Ne se connecter à une base de données que si nécessaire.</a:t>
                      </a:r>
                      <a:endParaRPr lang="fr-FR" sz="18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9" action="ppaction://hlinksldjump"/>
                        </a:rPr>
                        <a:t>Éviter d'effectuer des requêtes SQL à l’intérieur d’une boucle.</a:t>
                      </a:r>
                      <a:endParaRPr lang="fr-FR" sz="1800" dirty="0" smtClean="0"/>
                    </a:p>
                  </a:txBody>
                  <a:tcPr/>
                </a:tc>
                <a:extLst>
                  <a:ext uri="{0D108BD9-81ED-4DB2-BD59-A6C34878D82A}">
                    <a16:rowId xmlns:a16="http://schemas.microsoft.com/office/drawing/2014/main" val="1708510172"/>
                  </a:ext>
                </a:extLst>
              </a:tr>
              <a:tr h="370840">
                <a:tc>
                  <a:txBody>
                    <a:bodyPr/>
                    <a:lstStyle/>
                    <a:p>
                      <a:endParaRPr lang="fr-FR" sz="18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8" action="ppaction://hlinksldjump"/>
                        </a:rPr>
                        <a:t>Ne se connecter à une base de données que si nécessaire.</a:t>
                      </a:r>
                      <a:endParaRPr lang="fr-FR" sz="1800" dirty="0" smtClean="0"/>
                    </a:p>
                  </a:txBody>
                  <a:tcPr/>
                </a:tc>
                <a:extLst>
                  <a:ext uri="{0D108BD9-81ED-4DB2-BD59-A6C34878D82A}">
                    <a16:rowId xmlns:a16="http://schemas.microsoft.com/office/drawing/2014/main" val="3038962043"/>
                  </a:ext>
                </a:extLst>
              </a:tr>
              <a:tr h="370840">
                <a:tc>
                  <a:txBody>
                    <a:bodyPr/>
                    <a:lstStyle/>
                    <a:p>
                      <a:endParaRPr lang="fr-FR" sz="18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4" action="ppaction://hlinksldjump"/>
                        </a:rPr>
                        <a:t>Optimiser les requêtes aux bases de données</a:t>
                      </a:r>
                      <a:endParaRPr lang="fr-FR" sz="1800" dirty="0" smtClean="0"/>
                    </a:p>
                  </a:txBody>
                  <a:tcPr/>
                </a:tc>
                <a:extLst>
                  <a:ext uri="{0D108BD9-81ED-4DB2-BD59-A6C34878D82A}">
                    <a16:rowId xmlns:a16="http://schemas.microsoft.com/office/drawing/2014/main" val="2275625856"/>
                  </a:ext>
                </a:extLst>
              </a:tr>
            </a:tbl>
          </a:graphicData>
        </a:graphic>
      </p:graphicFrame>
    </p:spTree>
    <p:extLst>
      <p:ext uri="{BB962C8B-B14F-4D97-AF65-F5344CB8AC3E}">
        <p14:creationId xmlns:p14="http://schemas.microsoft.com/office/powerpoint/2010/main" val="4032985562"/>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Paramétrer de manière optimal coté serveur</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954107"/>
          </a:xfrm>
          <a:prstGeom prst="rect">
            <a:avLst/>
          </a:prstGeom>
          <a:noFill/>
        </p:spPr>
        <p:txBody>
          <a:bodyPr wrap="square" numCol="1" rtlCol="0">
            <a:spAutoFit/>
          </a:bodyPr>
          <a:lstStyle/>
          <a:p>
            <a:r>
              <a:rPr lang="fr-FR" sz="1400" u="sng" dirty="0" smtClean="0"/>
              <a:t>Finalité</a:t>
            </a:r>
            <a:r>
              <a:rPr lang="fr-FR" sz="1400" dirty="0"/>
              <a:t> : La solution intègre des pratiques d'écoconception : Minimiser la consommation de ressources  serveur pour ce service </a:t>
            </a:r>
            <a:r>
              <a:rPr lang="fr-FR" sz="1400" dirty="0" smtClean="0"/>
              <a:t>numérique.</a:t>
            </a:r>
            <a:endParaRPr lang="fr-FR" sz="1400" dirty="0"/>
          </a:p>
          <a:p>
            <a:r>
              <a:rPr lang="fr-FR" sz="1400" u="sng" dirty="0" smtClean="0"/>
              <a:t>Principes directeurs</a:t>
            </a:r>
            <a:r>
              <a:rPr lang="fr-FR" sz="1400" b="1" dirty="0" smtClean="0"/>
              <a:t> </a:t>
            </a:r>
            <a:r>
              <a:rPr lang="fr-FR" sz="1400" b="1" dirty="0"/>
              <a:t>: </a:t>
            </a:r>
            <a:r>
              <a:rPr lang="fr-FR" sz="1400" dirty="0" smtClean="0"/>
              <a:t>Diminution </a:t>
            </a:r>
            <a:r>
              <a:rPr lang="fr-FR" sz="1400" dirty="0"/>
              <a:t>de la consommation énergétique et de notre empreinte </a:t>
            </a:r>
            <a:r>
              <a:rPr lang="fr-FR" sz="1400" dirty="0" smtClean="0"/>
              <a:t>carbone. / Permettre </a:t>
            </a:r>
            <a:r>
              <a:rPr lang="fr-FR" sz="1400" dirty="0"/>
              <a:t>de réduire l’empreinte carbone du logiciel en optimisant les ressources nécessaires à son exécution (infrastructure, mémoire, CPU, espace de stockage, réseau) et sa maintenance</a:t>
            </a:r>
            <a:r>
              <a:rPr lang="fr-FR" sz="1400" dirty="0" smtClean="0"/>
              <a:t>.</a:t>
            </a:r>
            <a:endParaRPr lang="fr-FR" sz="1400" dirty="0"/>
          </a:p>
          <a:p>
            <a:r>
              <a:rPr lang="fr-FR" sz="1400" u="sng" dirty="0" smtClean="0"/>
              <a:t>Mesures ciblées </a:t>
            </a:r>
            <a:r>
              <a:rPr lang="fr-FR" sz="1400" b="1" dirty="0" smtClean="0"/>
              <a:t>: </a:t>
            </a:r>
            <a:r>
              <a:rPr lang="it-IT" sz="1400" dirty="0"/>
              <a:t>Mesure software &amp; Mesure hébergement</a:t>
            </a:r>
          </a:p>
        </p:txBody>
      </p:sp>
      <p:graphicFrame>
        <p:nvGraphicFramePr>
          <p:cNvPr id="7" name="Tableau 6"/>
          <p:cNvGraphicFramePr>
            <a:graphicFrameLocks noGrp="1"/>
          </p:cNvGraphicFramePr>
          <p:nvPr>
            <p:extLst>
              <p:ext uri="{D42A27DB-BD31-4B8C-83A1-F6EECF244321}">
                <p14:modId xmlns:p14="http://schemas.microsoft.com/office/powerpoint/2010/main" val="4243040533"/>
              </p:ext>
            </p:extLst>
          </p:nvPr>
        </p:nvGraphicFramePr>
        <p:xfrm>
          <a:off x="0" y="2856873"/>
          <a:ext cx="12192000" cy="21234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198297639"/>
                    </a:ext>
                  </a:extLst>
                </a:gridCol>
                <a:gridCol w="6096000">
                  <a:extLst>
                    <a:ext uri="{9D8B030D-6E8A-4147-A177-3AD203B41FA5}">
                      <a16:colId xmlns:a16="http://schemas.microsoft.com/office/drawing/2014/main" val="3164105611"/>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smtClean="0"/>
                        <a:t>Phase de Développement : Back end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smtClean="0"/>
                        <a:t>Phase d’environnement : Conception de l’hébergement numérique</a:t>
                      </a:r>
                    </a:p>
                  </a:txBody>
                  <a:tcPr/>
                </a:tc>
                <a:extLst>
                  <a:ext uri="{0D108BD9-81ED-4DB2-BD59-A6C34878D82A}">
                    <a16:rowId xmlns:a16="http://schemas.microsoft.com/office/drawing/2014/main" val="34125910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4" action="ppaction://hlinksldjump"/>
                        </a:rPr>
                        <a:t>Optimiser la gestion des index</a:t>
                      </a:r>
                      <a:endParaRPr lang="fr-FR" sz="18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5" action="ppaction://hlinksldjump"/>
                        </a:rPr>
                        <a:t>Supprimer tous les warnings et toutes les notices.</a:t>
                      </a:r>
                      <a:endParaRPr lang="fr-FR" sz="1800" dirty="0" smtClean="0"/>
                    </a:p>
                  </a:txBody>
                  <a:tcPr/>
                </a:tc>
                <a:extLst>
                  <a:ext uri="{0D108BD9-81ED-4DB2-BD59-A6C34878D82A}">
                    <a16:rowId xmlns:a16="http://schemas.microsoft.com/office/drawing/2014/main" val="325720032"/>
                  </a:ext>
                </a:extLst>
              </a:tr>
              <a:tr h="370840">
                <a:tc>
                  <a:txBody>
                    <a:bodyPr/>
                    <a:lstStyle/>
                    <a:p>
                      <a:endParaRPr lang="fr-FR" sz="18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6" action="ppaction://hlinksldjump"/>
                        </a:rPr>
                        <a:t>Installer le minimum requis sur le serveur.</a:t>
                      </a:r>
                      <a:endParaRPr lang="fr-FR" sz="1800" dirty="0" smtClean="0"/>
                    </a:p>
                  </a:txBody>
                  <a:tcPr/>
                </a:tc>
                <a:extLst>
                  <a:ext uri="{0D108BD9-81ED-4DB2-BD59-A6C34878D82A}">
                    <a16:rowId xmlns:a16="http://schemas.microsoft.com/office/drawing/2014/main" val="4010626662"/>
                  </a:ext>
                </a:extLst>
              </a:tr>
              <a:tr h="370840">
                <a:tc>
                  <a:txBody>
                    <a:bodyPr/>
                    <a:lstStyle/>
                    <a:p>
                      <a:endParaRPr lang="fr-FR"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7" action="ppaction://hlinksldjump"/>
                        </a:rPr>
                        <a:t>Réduire au nécessaire les logs des serveurs.</a:t>
                      </a:r>
                      <a:endParaRPr lang="fr-FR" sz="1800" dirty="0" smtClean="0"/>
                    </a:p>
                  </a:txBody>
                  <a:tcPr/>
                </a:tc>
                <a:extLst>
                  <a:ext uri="{0D108BD9-81ED-4DB2-BD59-A6C34878D82A}">
                    <a16:rowId xmlns:a16="http://schemas.microsoft.com/office/drawing/2014/main" val="3818683127"/>
                  </a:ext>
                </a:extLst>
              </a:tr>
              <a:tr h="370840">
                <a:tc>
                  <a:txBody>
                    <a:bodyPr/>
                    <a:lstStyle/>
                    <a:p>
                      <a:endParaRPr lang="fr-FR"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8" action="ppaction://hlinksldjump"/>
                        </a:rPr>
                        <a:t>Optimiser la gestion des index</a:t>
                      </a:r>
                      <a:endParaRPr lang="fr-FR" sz="1800" dirty="0" smtClean="0"/>
                    </a:p>
                  </a:txBody>
                  <a:tcPr/>
                </a:tc>
                <a:extLst>
                  <a:ext uri="{0D108BD9-81ED-4DB2-BD59-A6C34878D82A}">
                    <a16:rowId xmlns:a16="http://schemas.microsoft.com/office/drawing/2014/main" val="641121298"/>
                  </a:ext>
                </a:extLst>
              </a:tr>
            </a:tbl>
          </a:graphicData>
        </a:graphic>
      </p:graphicFrame>
    </p:spTree>
    <p:extLst>
      <p:ext uri="{BB962C8B-B14F-4D97-AF65-F5344CB8AC3E}">
        <p14:creationId xmlns:p14="http://schemas.microsoft.com/office/powerpoint/2010/main" val="2229988320"/>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Optimiser le poids des échanges "client/serveur"</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954107"/>
          </a:xfrm>
          <a:prstGeom prst="rect">
            <a:avLst/>
          </a:prstGeom>
          <a:noFill/>
        </p:spPr>
        <p:txBody>
          <a:bodyPr wrap="square" numCol="1" rtlCol="0">
            <a:spAutoFit/>
          </a:bodyPr>
          <a:lstStyle/>
          <a:p>
            <a:pPr lvl="0"/>
            <a:r>
              <a:rPr lang="fr-FR" sz="1400" u="sng" dirty="0">
                <a:solidFill>
                  <a:prstClr val="black"/>
                </a:solidFill>
              </a:rPr>
              <a:t>Principes directeurs</a:t>
            </a:r>
            <a:r>
              <a:rPr lang="fr-FR" sz="1400" b="1" dirty="0">
                <a:solidFill>
                  <a:prstClr val="black"/>
                </a:solidFill>
              </a:rPr>
              <a:t> : </a:t>
            </a:r>
            <a:r>
              <a:rPr lang="fr-FR" sz="1400" dirty="0">
                <a:solidFill>
                  <a:prstClr val="black"/>
                </a:solidFill>
              </a:rPr>
              <a:t>La solution intègre des pratiques d'écoconception : Permettre de réduire l’empreinte carbone du logiciel en optimisant les ressources nécessaires à son exécution (infrastructure, mémoire, CPU, espace de stockage, réseau) et sa maintenance.</a:t>
            </a:r>
            <a:br>
              <a:rPr lang="fr-FR" sz="1400" dirty="0">
                <a:solidFill>
                  <a:prstClr val="black"/>
                </a:solidFill>
              </a:rPr>
            </a:br>
            <a:r>
              <a:rPr lang="fr-FR" sz="1400" u="sng" dirty="0">
                <a:solidFill>
                  <a:prstClr val="black"/>
                </a:solidFill>
              </a:rPr>
              <a:t>Finalité</a:t>
            </a:r>
            <a:r>
              <a:rPr lang="fr-FR" sz="1400" dirty="0">
                <a:solidFill>
                  <a:prstClr val="black"/>
                </a:solidFill>
              </a:rPr>
              <a:t> : Minimiser la consommation de ressources  terminal utilisateur, réseau et  serveur pour ce service numérique.</a:t>
            </a:r>
          </a:p>
          <a:p>
            <a:r>
              <a:rPr lang="fr-FR" sz="1400" u="sng" dirty="0">
                <a:solidFill>
                  <a:prstClr val="black"/>
                </a:solidFill>
              </a:rPr>
              <a:t>Mesures ciblées </a:t>
            </a:r>
            <a:r>
              <a:rPr lang="fr-FR" sz="1400" b="1" dirty="0">
                <a:solidFill>
                  <a:prstClr val="black"/>
                </a:solidFill>
              </a:rPr>
              <a:t>: </a:t>
            </a:r>
            <a:r>
              <a:rPr lang="it-IT" sz="1400" dirty="0"/>
              <a:t>Mesure software &amp; Mesure hébergement</a:t>
            </a:r>
          </a:p>
        </p:txBody>
      </p:sp>
      <p:graphicFrame>
        <p:nvGraphicFramePr>
          <p:cNvPr id="4" name="Tableau 3"/>
          <p:cNvGraphicFramePr>
            <a:graphicFrameLocks noGrp="1"/>
          </p:cNvGraphicFramePr>
          <p:nvPr>
            <p:extLst>
              <p:ext uri="{D42A27DB-BD31-4B8C-83A1-F6EECF244321}">
                <p14:modId xmlns:p14="http://schemas.microsoft.com/office/powerpoint/2010/main" val="508511420"/>
              </p:ext>
            </p:extLst>
          </p:nvPr>
        </p:nvGraphicFramePr>
        <p:xfrm>
          <a:off x="0" y="3159869"/>
          <a:ext cx="12192000" cy="101092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2353294617"/>
                    </a:ext>
                  </a:extLst>
                </a:gridCol>
                <a:gridCol w="6096000">
                  <a:extLst>
                    <a:ext uri="{9D8B030D-6E8A-4147-A177-3AD203B41FA5}">
                      <a16:colId xmlns:a16="http://schemas.microsoft.com/office/drawing/2014/main" val="1145879488"/>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smtClean="0"/>
                        <a:t>Phase Cadrage  : Architecture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smtClean="0"/>
                        <a:t>Phase de Développement : Back end</a:t>
                      </a:r>
                    </a:p>
                  </a:txBody>
                  <a:tcPr/>
                </a:tc>
                <a:extLst>
                  <a:ext uri="{0D108BD9-81ED-4DB2-BD59-A6C34878D82A}">
                    <a16:rowId xmlns:a16="http://schemas.microsoft.com/office/drawing/2014/main" val="418722423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4" action="ppaction://hlinksldjump"/>
                        </a:rPr>
                        <a:t>Configurer le service pour transmettre depuis le serveur des contenus compressés au client qui les accepte.</a:t>
                      </a:r>
                      <a:endParaRPr lang="fr-FR" sz="18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4" action="ppaction://hlinksldjump"/>
                        </a:rPr>
                        <a:t>Configurer le service pour transmettre depuis le serveur des contenus compressés au client qui les accepte.</a:t>
                      </a:r>
                      <a:endParaRPr lang="fr-FR" sz="1800" dirty="0" smtClean="0"/>
                    </a:p>
                  </a:txBody>
                  <a:tcPr/>
                </a:tc>
                <a:extLst>
                  <a:ext uri="{0D108BD9-81ED-4DB2-BD59-A6C34878D82A}">
                    <a16:rowId xmlns:a16="http://schemas.microsoft.com/office/drawing/2014/main" val="2029810336"/>
                  </a:ext>
                </a:extLst>
              </a:tr>
            </a:tbl>
          </a:graphicData>
        </a:graphic>
      </p:graphicFrame>
    </p:spTree>
    <p:extLst>
      <p:ext uri="{BB962C8B-B14F-4D97-AF65-F5344CB8AC3E}">
        <p14:creationId xmlns:p14="http://schemas.microsoft.com/office/powerpoint/2010/main" val="2252013400"/>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lstStyle/>
          <a:p>
            <a:r>
              <a:rPr lang="fr-FR" sz="4400" dirty="0"/>
              <a:t>Finalité : Moins d'infrastructure IT nécessaire</a:t>
            </a:r>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248689479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Minimiser le besoin en terme de stockage de données</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738664"/>
          </a:xfrm>
          <a:prstGeom prst="rect">
            <a:avLst/>
          </a:prstGeom>
          <a:noFill/>
        </p:spPr>
        <p:txBody>
          <a:bodyPr wrap="square" numCol="1" rtlCol="0">
            <a:spAutoFit/>
          </a:bodyPr>
          <a:lstStyle/>
          <a:p>
            <a:r>
              <a:rPr lang="fr-FR" sz="1400" u="sng" dirty="0"/>
              <a:t>Principes directeurs</a:t>
            </a:r>
            <a:r>
              <a:rPr lang="fr-FR" sz="1400" b="1" dirty="0"/>
              <a:t> : </a:t>
            </a:r>
            <a:r>
              <a:rPr lang="fr-FR" sz="1400" dirty="0"/>
              <a:t>Utilisation optimisée des ressources d'hébergement </a:t>
            </a:r>
          </a:p>
          <a:p>
            <a:r>
              <a:rPr lang="fr-FR" sz="1400" u="sng" dirty="0" smtClean="0"/>
              <a:t>Finalité</a:t>
            </a:r>
            <a:r>
              <a:rPr lang="fr-FR" sz="1400" dirty="0" smtClean="0"/>
              <a:t> </a:t>
            </a:r>
            <a:r>
              <a:rPr lang="fr-FR" sz="1400" dirty="0"/>
              <a:t>: </a:t>
            </a:r>
            <a:r>
              <a:rPr lang="fr-FR" sz="1400" dirty="0" smtClean="0"/>
              <a:t>Moins </a:t>
            </a:r>
            <a:r>
              <a:rPr lang="fr-FR" sz="1400" dirty="0"/>
              <a:t>d'infrastructure IT </a:t>
            </a:r>
            <a:r>
              <a:rPr lang="fr-FR" sz="1400" dirty="0" smtClean="0"/>
              <a:t>nécessaire</a:t>
            </a:r>
            <a:endParaRPr lang="fr-FR" sz="1400" dirty="0"/>
          </a:p>
          <a:p>
            <a:pPr lvl="0"/>
            <a:r>
              <a:rPr lang="fr-FR" sz="1400" u="sng" dirty="0" smtClean="0"/>
              <a:t>Mesures ciblées </a:t>
            </a:r>
            <a:r>
              <a:rPr lang="fr-FR" sz="1400" b="1" dirty="0" smtClean="0"/>
              <a:t>: </a:t>
            </a:r>
            <a:r>
              <a:rPr lang="it-IT" sz="1400" dirty="0">
                <a:solidFill>
                  <a:prstClr val="black"/>
                </a:solidFill>
              </a:rPr>
              <a:t>Mesure Hébergement</a:t>
            </a:r>
          </a:p>
        </p:txBody>
      </p:sp>
      <p:graphicFrame>
        <p:nvGraphicFramePr>
          <p:cNvPr id="4" name="Tableau 3"/>
          <p:cNvGraphicFramePr>
            <a:graphicFrameLocks noGrp="1"/>
          </p:cNvGraphicFramePr>
          <p:nvPr>
            <p:extLst>
              <p:ext uri="{D42A27DB-BD31-4B8C-83A1-F6EECF244321}">
                <p14:modId xmlns:p14="http://schemas.microsoft.com/office/powerpoint/2010/main" val="3850404160"/>
              </p:ext>
            </p:extLst>
          </p:nvPr>
        </p:nvGraphicFramePr>
        <p:xfrm>
          <a:off x="1" y="2269744"/>
          <a:ext cx="12192000" cy="344424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1658565120"/>
                    </a:ext>
                  </a:extLst>
                </a:gridCol>
                <a:gridCol w="2438400">
                  <a:extLst>
                    <a:ext uri="{9D8B030D-6E8A-4147-A177-3AD203B41FA5}">
                      <a16:colId xmlns:a16="http://schemas.microsoft.com/office/drawing/2014/main" val="4017481265"/>
                    </a:ext>
                  </a:extLst>
                </a:gridCol>
                <a:gridCol w="2438400">
                  <a:extLst>
                    <a:ext uri="{9D8B030D-6E8A-4147-A177-3AD203B41FA5}">
                      <a16:colId xmlns:a16="http://schemas.microsoft.com/office/drawing/2014/main" val="2138401702"/>
                    </a:ext>
                  </a:extLst>
                </a:gridCol>
                <a:gridCol w="2438400">
                  <a:extLst>
                    <a:ext uri="{9D8B030D-6E8A-4147-A177-3AD203B41FA5}">
                      <a16:colId xmlns:a16="http://schemas.microsoft.com/office/drawing/2014/main" val="2402995215"/>
                    </a:ext>
                  </a:extLst>
                </a:gridCol>
                <a:gridCol w="2438400">
                  <a:extLst>
                    <a:ext uri="{9D8B030D-6E8A-4147-A177-3AD203B41FA5}">
                      <a16:colId xmlns:a16="http://schemas.microsoft.com/office/drawing/2014/main" val="3323173917"/>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1" dirty="0" smtClean="0"/>
                        <a:t>Phase Cadrage : CDC/</a:t>
                      </a:r>
                      <a:r>
                        <a:rPr lang="fr-FR" sz="1000" b="1" dirty="0" err="1" smtClean="0"/>
                        <a:t>Spec</a:t>
                      </a:r>
                      <a:r>
                        <a:rPr lang="fr-FR" sz="1000" b="1" dirty="0" smtClean="0"/>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1" dirty="0" smtClean="0"/>
                        <a:t>Phase Cadrage  : Architecture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1" dirty="0" smtClean="0"/>
                        <a:t>Phase </a:t>
                      </a:r>
                      <a:r>
                        <a:rPr lang="fr-FR" sz="1000" b="1" dirty="0" err="1" smtClean="0"/>
                        <a:t>Spec</a:t>
                      </a:r>
                      <a:r>
                        <a:rPr lang="fr-FR" sz="1000" b="1" dirty="0" smtClean="0"/>
                        <a:t>-Conception Fonctionnelle &amp; Design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1" dirty="0" smtClean="0"/>
                        <a:t>Phase de Développement : Back end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1" dirty="0" smtClean="0"/>
                        <a:t>Phase d’environnement : Conception de l’hébergement numérique</a:t>
                      </a:r>
                    </a:p>
                  </a:txBody>
                  <a:tcPr/>
                </a:tc>
                <a:extLst>
                  <a:ext uri="{0D108BD9-81ED-4DB2-BD59-A6C34878D82A}">
                    <a16:rowId xmlns:a16="http://schemas.microsoft.com/office/drawing/2014/main" val="296208060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4" action="ppaction://hlinksldjump"/>
                        </a:rPr>
                        <a:t>Collecte de donnée de façon responsable et raisonnée</a:t>
                      </a:r>
                      <a:endParaRPr lang="fr-FR" sz="10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5" action="ppaction://hlinksldjump"/>
                        </a:rPr>
                        <a:t>Héberger de façon distincte les données “chaudes” et “froides”.</a:t>
                      </a:r>
                      <a:endParaRPr lang="fr-FR" sz="10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6" action="ppaction://hlinksldjump"/>
                        </a:rPr>
                        <a:t>Mettre en place une stratégie d’archivage et de suppression, automatique ou manuelle, des contenus obsolètes ou périmés</a:t>
                      </a:r>
                      <a:endParaRPr lang="fr-FR" sz="10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7" action="ppaction://hlinksldjump"/>
                        </a:rPr>
                        <a:t>Définir des durées de conservation sur les données et documents en vue de leur suppression ou archivage passé ce délai</a:t>
                      </a:r>
                      <a:endParaRPr lang="fr-FR" sz="10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8" action="ppaction://hlinksldjump"/>
                        </a:rPr>
                        <a:t>Mettre en place un système de sauvegarde incrémentiel</a:t>
                      </a:r>
                      <a:endParaRPr lang="fr-FR" sz="1000" dirty="0" smtClean="0"/>
                    </a:p>
                  </a:txBody>
                  <a:tcPr/>
                </a:tc>
                <a:extLst>
                  <a:ext uri="{0D108BD9-81ED-4DB2-BD59-A6C34878D82A}">
                    <a16:rowId xmlns:a16="http://schemas.microsoft.com/office/drawing/2014/main" val="2576262767"/>
                  </a:ext>
                </a:extLst>
              </a:tr>
              <a:tr h="370840">
                <a:tc>
                  <a:txBody>
                    <a:bodyPr/>
                    <a:lstStyle/>
                    <a:p>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9" action="ppaction://hlinksldjump"/>
                        </a:rPr>
                        <a:t>Privilégier la déduplication des données.</a:t>
                      </a:r>
                      <a:endParaRPr lang="fr-FR" sz="1000" dirty="0" smtClean="0"/>
                    </a:p>
                  </a:txBody>
                  <a:tcPr/>
                </a:tc>
                <a:tc>
                  <a:txBody>
                    <a:bodyPr/>
                    <a:lstStyle/>
                    <a:p>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10" action="ppaction://hlinksldjump"/>
                        </a:rPr>
                        <a:t>Archiver ou supprimer les données et documents après expiration de leur durée de conservation.</a:t>
                      </a:r>
                      <a:endParaRPr lang="fr-FR" sz="1000" dirty="0" smtClean="0"/>
                    </a:p>
                  </a:txBody>
                  <a:tcPr/>
                </a:tc>
                <a:tc>
                  <a:txBody>
                    <a:bodyPr/>
                    <a:lstStyle/>
                    <a:p>
                      <a:endParaRPr lang="fr-FR" sz="1000"/>
                    </a:p>
                  </a:txBody>
                  <a:tcPr/>
                </a:tc>
                <a:extLst>
                  <a:ext uri="{0D108BD9-81ED-4DB2-BD59-A6C34878D82A}">
                    <a16:rowId xmlns:a16="http://schemas.microsoft.com/office/drawing/2014/main" val="3485965712"/>
                  </a:ext>
                </a:extLst>
              </a:tr>
              <a:tr h="370840">
                <a:tc>
                  <a:txBody>
                    <a:bodyPr/>
                    <a:lstStyle/>
                    <a:p>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6" action="ppaction://hlinksldjump"/>
                        </a:rPr>
                        <a:t>Mettre en place une stratégie d’archivage et de suppression, automatique ou manuelle, des contenus obsolètes ou périmés</a:t>
                      </a:r>
                      <a:endParaRPr lang="fr-FR" sz="1000" dirty="0" smtClean="0"/>
                    </a:p>
                  </a:txBody>
                  <a:tcPr/>
                </a:tc>
                <a:tc>
                  <a:txBody>
                    <a:bodyPr/>
                    <a:lstStyle/>
                    <a:p>
                      <a:endParaRPr lang="fr-FR" sz="1000"/>
                    </a:p>
                  </a:txBody>
                  <a:tcPr/>
                </a:tc>
                <a:tc>
                  <a:txBody>
                    <a:bodyPr/>
                    <a:lstStyle/>
                    <a:p>
                      <a:endParaRPr lang="fr-FR" sz="1000"/>
                    </a:p>
                  </a:txBody>
                  <a:tcPr/>
                </a:tc>
                <a:tc>
                  <a:txBody>
                    <a:bodyPr/>
                    <a:lstStyle/>
                    <a:p>
                      <a:endParaRPr lang="fr-FR" sz="1000"/>
                    </a:p>
                  </a:txBody>
                  <a:tcPr/>
                </a:tc>
                <a:extLst>
                  <a:ext uri="{0D108BD9-81ED-4DB2-BD59-A6C34878D82A}">
                    <a16:rowId xmlns:a16="http://schemas.microsoft.com/office/drawing/2014/main" val="2074756609"/>
                  </a:ext>
                </a:extLst>
              </a:tr>
              <a:tr h="370840">
                <a:tc>
                  <a:txBody>
                    <a:bodyPr/>
                    <a:lstStyle/>
                    <a:p>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7" action="ppaction://hlinksldjump"/>
                        </a:rPr>
                        <a:t>Définir des durées de conservation sur les données et documents en vue de leur suppression ou archivage passé ce délai</a:t>
                      </a:r>
                      <a:endParaRPr lang="fr-FR" sz="1000" dirty="0" smtClean="0"/>
                    </a:p>
                  </a:txBody>
                  <a:tcPr/>
                </a:tc>
                <a:tc>
                  <a:txBody>
                    <a:bodyPr/>
                    <a:lstStyle/>
                    <a:p>
                      <a:endParaRPr lang="fr-FR" sz="1000"/>
                    </a:p>
                  </a:txBody>
                  <a:tcPr/>
                </a:tc>
                <a:tc>
                  <a:txBody>
                    <a:bodyPr/>
                    <a:lstStyle/>
                    <a:p>
                      <a:endParaRPr lang="fr-FR" sz="1000"/>
                    </a:p>
                  </a:txBody>
                  <a:tcPr/>
                </a:tc>
                <a:tc>
                  <a:txBody>
                    <a:bodyPr/>
                    <a:lstStyle/>
                    <a:p>
                      <a:endParaRPr lang="fr-FR" sz="1000"/>
                    </a:p>
                  </a:txBody>
                  <a:tcPr/>
                </a:tc>
                <a:extLst>
                  <a:ext uri="{0D108BD9-81ED-4DB2-BD59-A6C34878D82A}">
                    <a16:rowId xmlns:a16="http://schemas.microsoft.com/office/drawing/2014/main" val="1565496813"/>
                  </a:ext>
                </a:extLst>
              </a:tr>
              <a:tr h="370840">
                <a:tc>
                  <a:txBody>
                    <a:bodyPr/>
                    <a:lstStyle/>
                    <a:p>
                      <a:endParaRPr lang="fr-FR"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smtClean="0">
                          <a:hlinkClick r:id="rId10" action="ppaction://hlinksldjump"/>
                        </a:rPr>
                        <a:t>Archiver ou supprimer les données et documents après expiration de leur durée de conservation.</a:t>
                      </a:r>
                      <a:endParaRPr lang="fr-FR" sz="1000" dirty="0" smtClean="0"/>
                    </a:p>
                  </a:txBody>
                  <a:tcPr/>
                </a:tc>
                <a:tc>
                  <a:txBody>
                    <a:bodyPr/>
                    <a:lstStyle/>
                    <a:p>
                      <a:endParaRPr lang="fr-FR" sz="1000"/>
                    </a:p>
                  </a:txBody>
                  <a:tcPr/>
                </a:tc>
                <a:tc>
                  <a:txBody>
                    <a:bodyPr/>
                    <a:lstStyle/>
                    <a:p>
                      <a:endParaRPr lang="fr-FR" sz="1000"/>
                    </a:p>
                  </a:txBody>
                  <a:tcPr/>
                </a:tc>
                <a:tc>
                  <a:txBody>
                    <a:bodyPr/>
                    <a:lstStyle/>
                    <a:p>
                      <a:endParaRPr lang="fr-FR" sz="1000" dirty="0"/>
                    </a:p>
                  </a:txBody>
                  <a:tcPr/>
                </a:tc>
                <a:extLst>
                  <a:ext uri="{0D108BD9-81ED-4DB2-BD59-A6C34878D82A}">
                    <a16:rowId xmlns:a16="http://schemas.microsoft.com/office/drawing/2014/main" val="123564515"/>
                  </a:ext>
                </a:extLst>
              </a:tr>
            </a:tbl>
          </a:graphicData>
        </a:graphic>
      </p:graphicFrame>
    </p:spTree>
    <p:extLst>
      <p:ext uri="{BB962C8B-B14F-4D97-AF65-F5344CB8AC3E}">
        <p14:creationId xmlns:p14="http://schemas.microsoft.com/office/powerpoint/2010/main" val="3515260848"/>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a:solidFill>
                  <a:schemeClr val="bg1"/>
                </a:solidFill>
              </a:rPr>
              <a:t>Ajuster tout au long du cycle de vie le dimensionnement les ressources IT au juste besoin</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738664"/>
          </a:xfrm>
          <a:prstGeom prst="rect">
            <a:avLst/>
          </a:prstGeom>
          <a:noFill/>
        </p:spPr>
        <p:txBody>
          <a:bodyPr wrap="square" rtlCol="0">
            <a:spAutoFit/>
          </a:bodyPr>
          <a:lstStyle/>
          <a:p>
            <a:pPr lvl="0"/>
            <a:r>
              <a:rPr lang="fr-FR" sz="1400" u="sng" dirty="0">
                <a:solidFill>
                  <a:prstClr val="black"/>
                </a:solidFill>
              </a:rPr>
              <a:t>Principes directeurs</a:t>
            </a:r>
            <a:r>
              <a:rPr lang="fr-FR" sz="1400" b="1" dirty="0">
                <a:solidFill>
                  <a:prstClr val="black"/>
                </a:solidFill>
              </a:rPr>
              <a:t> : </a:t>
            </a:r>
            <a:r>
              <a:rPr lang="fr-FR" sz="1400" dirty="0">
                <a:solidFill>
                  <a:prstClr val="black"/>
                </a:solidFill>
              </a:rPr>
              <a:t>Utilisation optimisée des ressources d'hébergement </a:t>
            </a:r>
          </a:p>
          <a:p>
            <a:pPr lvl="0"/>
            <a:r>
              <a:rPr lang="fr-FR" sz="1400" u="sng" dirty="0">
                <a:solidFill>
                  <a:prstClr val="black"/>
                </a:solidFill>
              </a:rPr>
              <a:t>Finalité</a:t>
            </a:r>
            <a:r>
              <a:rPr lang="fr-FR" sz="1400" dirty="0">
                <a:solidFill>
                  <a:prstClr val="black"/>
                </a:solidFill>
              </a:rPr>
              <a:t> : Moins d'infrastructure IT nécessaire</a:t>
            </a:r>
          </a:p>
          <a:p>
            <a:pPr lvl="0"/>
            <a:r>
              <a:rPr lang="fr-FR" sz="1400" u="sng" dirty="0">
                <a:solidFill>
                  <a:prstClr val="black"/>
                </a:solidFill>
              </a:rPr>
              <a:t>Mesures ciblées </a:t>
            </a:r>
            <a:r>
              <a:rPr lang="fr-FR" sz="1400" b="1" dirty="0">
                <a:solidFill>
                  <a:prstClr val="black"/>
                </a:solidFill>
              </a:rPr>
              <a:t>: </a:t>
            </a:r>
            <a:r>
              <a:rPr lang="it-IT" sz="1400" dirty="0">
                <a:solidFill>
                  <a:prstClr val="black"/>
                </a:solidFill>
              </a:rPr>
              <a:t>Mesure Hébergement</a:t>
            </a:r>
          </a:p>
        </p:txBody>
      </p:sp>
      <p:graphicFrame>
        <p:nvGraphicFramePr>
          <p:cNvPr id="4" name="Tableau 3"/>
          <p:cNvGraphicFramePr>
            <a:graphicFrameLocks noGrp="1"/>
          </p:cNvGraphicFramePr>
          <p:nvPr>
            <p:extLst>
              <p:ext uri="{D42A27DB-BD31-4B8C-83A1-F6EECF244321}">
                <p14:modId xmlns:p14="http://schemas.microsoft.com/office/powerpoint/2010/main" val="2979810819"/>
              </p:ext>
            </p:extLst>
          </p:nvPr>
        </p:nvGraphicFramePr>
        <p:xfrm>
          <a:off x="0" y="2597161"/>
          <a:ext cx="12192000" cy="28346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103529983"/>
                    </a:ext>
                  </a:extLst>
                </a:gridCol>
                <a:gridCol w="4064000">
                  <a:extLst>
                    <a:ext uri="{9D8B030D-6E8A-4147-A177-3AD203B41FA5}">
                      <a16:colId xmlns:a16="http://schemas.microsoft.com/office/drawing/2014/main" val="671854286"/>
                    </a:ext>
                  </a:extLst>
                </a:gridCol>
                <a:gridCol w="4064000">
                  <a:extLst>
                    <a:ext uri="{9D8B030D-6E8A-4147-A177-3AD203B41FA5}">
                      <a16:colId xmlns:a16="http://schemas.microsoft.com/office/drawing/2014/main" val="250196990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dirty="0" smtClean="0"/>
                        <a:t>Phase Cadrage  : Architecture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dirty="0" smtClean="0"/>
                        <a:t>Phase d’environnement : Conception de l’hébergement numérique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dirty="0" smtClean="0"/>
                        <a:t>Phase RUN : Maintenance &amp; fin de vie </a:t>
                      </a:r>
                    </a:p>
                  </a:txBody>
                  <a:tcPr/>
                </a:tc>
                <a:extLst>
                  <a:ext uri="{0D108BD9-81ED-4DB2-BD59-A6C34878D82A}">
                    <a16:rowId xmlns:a16="http://schemas.microsoft.com/office/drawing/2014/main" val="388855481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4" action="ppaction://hlinksldjump"/>
                        </a:rPr>
                        <a:t>Proposer des dimensionnements nominaux standards en adéquation avec les besoins et exigences </a:t>
                      </a:r>
                      <a:endParaRPr lang="fr-FR" sz="12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5" action="ppaction://hlinksldjump"/>
                        </a:rPr>
                        <a:t>Attribuer la mémoire en fonction de l'usage réel</a:t>
                      </a:r>
                      <a:endParaRPr lang="fr-FR" sz="12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6" action="ppaction://hlinksldjump"/>
                        </a:rPr>
                        <a:t>Dimensionner les ressources des environnements au fur et à mesure de la progression réelle des sollicitations (ajuster régulièrement)</a:t>
                      </a:r>
                      <a:endParaRPr lang="fr-FR" sz="1200" dirty="0" smtClean="0"/>
                    </a:p>
                  </a:txBody>
                  <a:tcPr/>
                </a:tc>
                <a:extLst>
                  <a:ext uri="{0D108BD9-81ED-4DB2-BD59-A6C34878D82A}">
                    <a16:rowId xmlns:a16="http://schemas.microsoft.com/office/drawing/2014/main" val="285649630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7" action="ppaction://hlinksldjump"/>
                        </a:rPr>
                        <a:t>Adapter la quantité de ressources IT utilisées en fonction de la consommation du service</a:t>
                      </a:r>
                      <a:endParaRPr lang="fr-FR" sz="12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8" action="ppaction://hlinksldjump"/>
                        </a:rPr>
                        <a:t>Attribuer le nombre de cœurs en fonction de l'usage réel</a:t>
                      </a:r>
                      <a:endParaRPr lang="fr-FR" sz="12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9" action="ppaction://hlinksldjump"/>
                        </a:rPr>
                        <a:t>Après un besoin temporaire d'augmentation de ressources (suite migration, suite problème, ….), redimensionner les environnements et les ressources au juste besoin</a:t>
                      </a:r>
                      <a:endParaRPr lang="fr-FR" sz="1200" dirty="0" smtClean="0"/>
                    </a:p>
                  </a:txBody>
                  <a:tcPr/>
                </a:tc>
                <a:extLst>
                  <a:ext uri="{0D108BD9-81ED-4DB2-BD59-A6C34878D82A}">
                    <a16:rowId xmlns:a16="http://schemas.microsoft.com/office/drawing/2014/main" val="331152628"/>
                  </a:ext>
                </a:extLst>
              </a:tr>
              <a:tr h="370840">
                <a:tc>
                  <a:txBody>
                    <a:bodyPr/>
                    <a:lstStyle/>
                    <a:p>
                      <a:endParaRPr lang="fr-FR" sz="12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10" action="ppaction://hlinksldjump"/>
                        </a:rPr>
                        <a:t>Dimensionner chaque typologie d'environnement par rapport à ces usages spécifiques</a:t>
                      </a:r>
                      <a:endParaRPr lang="fr-FR" sz="1200" dirty="0" smtClean="0"/>
                    </a:p>
                  </a:txBody>
                  <a:tcPr/>
                </a:tc>
                <a:tc>
                  <a:txBody>
                    <a:bodyPr/>
                    <a:lstStyle/>
                    <a:p>
                      <a:endParaRPr lang="fr-FR" sz="1200"/>
                    </a:p>
                  </a:txBody>
                  <a:tcPr/>
                </a:tc>
                <a:extLst>
                  <a:ext uri="{0D108BD9-81ED-4DB2-BD59-A6C34878D82A}">
                    <a16:rowId xmlns:a16="http://schemas.microsoft.com/office/drawing/2014/main" val="2865216921"/>
                  </a:ext>
                </a:extLst>
              </a:tr>
              <a:tr h="370840">
                <a:tc>
                  <a:txBody>
                    <a:bodyPr/>
                    <a:lstStyle/>
                    <a:p>
                      <a:endParaRPr lang="fr-FR" sz="12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smtClean="0">
                          <a:hlinkClick r:id="rId10" action="ppaction://hlinksldjump"/>
                        </a:rPr>
                        <a:t>Dans le cas des machines mutualisées, dimensionner par rapport au besoin maximal à instant t (et non en cumulatif global)</a:t>
                      </a:r>
                      <a:endParaRPr lang="fr-FR" sz="1200" dirty="0" smtClean="0"/>
                    </a:p>
                  </a:txBody>
                  <a:tcPr/>
                </a:tc>
                <a:tc>
                  <a:txBody>
                    <a:bodyPr/>
                    <a:lstStyle/>
                    <a:p>
                      <a:endParaRPr lang="fr-FR" sz="1200" dirty="0"/>
                    </a:p>
                  </a:txBody>
                  <a:tcPr/>
                </a:tc>
                <a:extLst>
                  <a:ext uri="{0D108BD9-81ED-4DB2-BD59-A6C34878D82A}">
                    <a16:rowId xmlns:a16="http://schemas.microsoft.com/office/drawing/2014/main" val="2845068840"/>
                  </a:ext>
                </a:extLst>
              </a:tr>
            </a:tbl>
          </a:graphicData>
        </a:graphic>
      </p:graphicFrame>
    </p:spTree>
    <p:extLst>
      <p:ext uri="{BB962C8B-B14F-4D97-AF65-F5344CB8AC3E}">
        <p14:creationId xmlns:p14="http://schemas.microsoft.com/office/powerpoint/2010/main" val="4042631670"/>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Eviter la duplication d'infra (machine/stockage)</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738664"/>
          </a:xfrm>
          <a:prstGeom prst="rect">
            <a:avLst/>
          </a:prstGeom>
          <a:noFill/>
        </p:spPr>
        <p:txBody>
          <a:bodyPr wrap="square" rtlCol="0">
            <a:spAutoFit/>
          </a:bodyPr>
          <a:lstStyle/>
          <a:p>
            <a:pPr lvl="0"/>
            <a:r>
              <a:rPr lang="fr-FR" sz="1400" u="sng" dirty="0">
                <a:solidFill>
                  <a:prstClr val="black"/>
                </a:solidFill>
              </a:rPr>
              <a:t>Principes directeurs</a:t>
            </a:r>
            <a:r>
              <a:rPr lang="fr-FR" sz="1400" b="1" dirty="0">
                <a:solidFill>
                  <a:prstClr val="black"/>
                </a:solidFill>
              </a:rPr>
              <a:t> : </a:t>
            </a:r>
            <a:r>
              <a:rPr lang="fr-FR" sz="1400" dirty="0">
                <a:solidFill>
                  <a:prstClr val="black"/>
                </a:solidFill>
              </a:rPr>
              <a:t>Utilisation optimisée des ressources d'hébergement </a:t>
            </a:r>
          </a:p>
          <a:p>
            <a:pPr lvl="0"/>
            <a:r>
              <a:rPr lang="fr-FR" sz="1400" u="sng" dirty="0">
                <a:solidFill>
                  <a:prstClr val="black"/>
                </a:solidFill>
              </a:rPr>
              <a:t>Finalité</a:t>
            </a:r>
            <a:r>
              <a:rPr lang="fr-FR" sz="1400" dirty="0">
                <a:solidFill>
                  <a:prstClr val="black"/>
                </a:solidFill>
              </a:rPr>
              <a:t> : Moins d'infrastructure IT nécessaire</a:t>
            </a:r>
          </a:p>
          <a:p>
            <a:pPr lvl="0"/>
            <a:r>
              <a:rPr lang="fr-FR" sz="1400" u="sng" dirty="0">
                <a:solidFill>
                  <a:prstClr val="black"/>
                </a:solidFill>
              </a:rPr>
              <a:t>Mesures ciblées </a:t>
            </a:r>
            <a:r>
              <a:rPr lang="fr-FR" sz="1400" b="1" dirty="0">
                <a:solidFill>
                  <a:prstClr val="black"/>
                </a:solidFill>
              </a:rPr>
              <a:t>: </a:t>
            </a:r>
            <a:r>
              <a:rPr lang="it-IT" sz="1400" dirty="0">
                <a:solidFill>
                  <a:prstClr val="black"/>
                </a:solidFill>
              </a:rPr>
              <a:t>Mesure Hébergement</a:t>
            </a:r>
          </a:p>
        </p:txBody>
      </p:sp>
      <p:graphicFrame>
        <p:nvGraphicFramePr>
          <p:cNvPr id="4" name="Tableau 3"/>
          <p:cNvGraphicFramePr>
            <a:graphicFrameLocks noGrp="1"/>
          </p:cNvGraphicFramePr>
          <p:nvPr>
            <p:extLst>
              <p:ext uri="{D42A27DB-BD31-4B8C-83A1-F6EECF244321}">
                <p14:modId xmlns:p14="http://schemas.microsoft.com/office/powerpoint/2010/main" val="1310238294"/>
              </p:ext>
            </p:extLst>
          </p:nvPr>
        </p:nvGraphicFramePr>
        <p:xfrm>
          <a:off x="0" y="2223827"/>
          <a:ext cx="12192000" cy="365760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839827174"/>
                    </a:ext>
                  </a:extLst>
                </a:gridCol>
                <a:gridCol w="6096000">
                  <a:extLst>
                    <a:ext uri="{9D8B030D-6E8A-4147-A177-3AD203B41FA5}">
                      <a16:colId xmlns:a16="http://schemas.microsoft.com/office/drawing/2014/main" val="476267541"/>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smtClean="0"/>
                        <a:t>Phase Cadrage  : Architecture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smtClean="0"/>
                        <a:t>Phase d’environnement : Conception de l’hébergement numérique</a:t>
                      </a:r>
                    </a:p>
                  </a:txBody>
                  <a:tcPr/>
                </a:tc>
                <a:extLst>
                  <a:ext uri="{0D108BD9-81ED-4DB2-BD59-A6C34878D82A}">
                    <a16:rowId xmlns:a16="http://schemas.microsoft.com/office/drawing/2014/main" val="271236903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4" action="ppaction://hlinksldjump"/>
                        </a:rPr>
                        <a:t>Eviter de dupliquer/répliquer toutes les données </a:t>
                      </a:r>
                      <a:endParaRPr lang="fr-FR" sz="18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5" action="ppaction://hlinksldjump"/>
                        </a:rPr>
                        <a:t>Eviter la duplication des machines virtuelles : redondance de partition seulement lorsque cela est nécessaire pour ce type d'environnement</a:t>
                      </a:r>
                      <a:endParaRPr lang="fr-FR" sz="1800" dirty="0" smtClean="0"/>
                    </a:p>
                  </a:txBody>
                  <a:tcPr/>
                </a:tc>
                <a:extLst>
                  <a:ext uri="{0D108BD9-81ED-4DB2-BD59-A6C34878D82A}">
                    <a16:rowId xmlns:a16="http://schemas.microsoft.com/office/drawing/2014/main" val="81710624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6" action="ppaction://hlinksldjump"/>
                        </a:rPr>
                        <a:t>Eviter la multiplication des machines virtuelles : privilégier la réutilisation de machines virtuelles existantes (mutualisation) et redonder de machine virtuelle seulement si l'application le nécessite </a:t>
                      </a:r>
                      <a:endParaRPr lang="fr-FR" sz="1800" dirty="0" smtClean="0"/>
                    </a:p>
                  </a:txBody>
                  <a:tcPr/>
                </a:tc>
                <a:tc>
                  <a:txBody>
                    <a:bodyPr/>
                    <a:lstStyle/>
                    <a:p>
                      <a:endParaRPr lang="fr-FR"/>
                    </a:p>
                  </a:txBody>
                  <a:tcPr/>
                </a:tc>
                <a:extLst>
                  <a:ext uri="{0D108BD9-81ED-4DB2-BD59-A6C34878D82A}">
                    <a16:rowId xmlns:a16="http://schemas.microsoft.com/office/drawing/2014/main" val="244319466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7" action="ppaction://hlinksldjump"/>
                        </a:rPr>
                        <a:t>Répliquer les infrastructures d'hébergement de l'application sur plusieurs sites d'hébergement que si le niveau de service attendu l'impose</a:t>
                      </a:r>
                      <a:endParaRPr lang="fr-FR" sz="1800" dirty="0" smtClean="0"/>
                    </a:p>
                  </a:txBody>
                  <a:tcPr/>
                </a:tc>
                <a:tc>
                  <a:txBody>
                    <a:bodyPr/>
                    <a:lstStyle/>
                    <a:p>
                      <a:endParaRPr lang="fr-FR" dirty="0"/>
                    </a:p>
                  </a:txBody>
                  <a:tcPr/>
                </a:tc>
                <a:extLst>
                  <a:ext uri="{0D108BD9-81ED-4DB2-BD59-A6C34878D82A}">
                    <a16:rowId xmlns:a16="http://schemas.microsoft.com/office/drawing/2014/main" val="3645528796"/>
                  </a:ext>
                </a:extLst>
              </a:tr>
            </a:tbl>
          </a:graphicData>
        </a:graphic>
      </p:graphicFrame>
    </p:spTree>
    <p:extLst>
      <p:ext uri="{BB962C8B-B14F-4D97-AF65-F5344CB8AC3E}">
        <p14:creationId xmlns:p14="http://schemas.microsoft.com/office/powerpoint/2010/main" val="3273656397"/>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Optimiser le parc physique IT</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738664"/>
          </a:xfrm>
          <a:prstGeom prst="rect">
            <a:avLst/>
          </a:prstGeom>
          <a:noFill/>
        </p:spPr>
        <p:txBody>
          <a:bodyPr wrap="square" numCol="1" rtlCol="0">
            <a:spAutoFit/>
          </a:bodyPr>
          <a:lstStyle/>
          <a:p>
            <a:pPr lvl="0"/>
            <a:r>
              <a:rPr lang="fr-FR" sz="1400" u="sng" dirty="0">
                <a:solidFill>
                  <a:prstClr val="black"/>
                </a:solidFill>
              </a:rPr>
              <a:t>Principes directeurs</a:t>
            </a:r>
            <a:r>
              <a:rPr lang="fr-FR" sz="1400" b="1" dirty="0">
                <a:solidFill>
                  <a:prstClr val="black"/>
                </a:solidFill>
              </a:rPr>
              <a:t> : </a:t>
            </a:r>
            <a:r>
              <a:rPr lang="fr-FR" sz="1400" dirty="0">
                <a:solidFill>
                  <a:prstClr val="black"/>
                </a:solidFill>
              </a:rPr>
              <a:t>Utilisation optimisée des ressources d'hébergement </a:t>
            </a:r>
          </a:p>
          <a:p>
            <a:pPr lvl="0"/>
            <a:r>
              <a:rPr lang="fr-FR" sz="1400" u="sng" dirty="0">
                <a:solidFill>
                  <a:prstClr val="black"/>
                </a:solidFill>
              </a:rPr>
              <a:t>Finalité</a:t>
            </a:r>
            <a:r>
              <a:rPr lang="fr-FR" sz="1400" dirty="0">
                <a:solidFill>
                  <a:prstClr val="black"/>
                </a:solidFill>
              </a:rPr>
              <a:t> : Moins d'infrastructure IT nécessaire</a:t>
            </a:r>
          </a:p>
          <a:p>
            <a:pPr lvl="0"/>
            <a:r>
              <a:rPr lang="fr-FR" sz="1400" u="sng" dirty="0">
                <a:solidFill>
                  <a:prstClr val="black"/>
                </a:solidFill>
              </a:rPr>
              <a:t>Mesures ciblées </a:t>
            </a:r>
            <a:r>
              <a:rPr lang="fr-FR" sz="1400" b="1" dirty="0">
                <a:solidFill>
                  <a:prstClr val="black"/>
                </a:solidFill>
              </a:rPr>
              <a:t>: </a:t>
            </a:r>
            <a:r>
              <a:rPr lang="it-IT" sz="1400" dirty="0">
                <a:solidFill>
                  <a:prstClr val="black"/>
                </a:solidFill>
              </a:rPr>
              <a:t>Mesure Hébergement</a:t>
            </a:r>
          </a:p>
        </p:txBody>
      </p:sp>
      <p:graphicFrame>
        <p:nvGraphicFramePr>
          <p:cNvPr id="4" name="Tableau 3"/>
          <p:cNvGraphicFramePr>
            <a:graphicFrameLocks noGrp="1"/>
          </p:cNvGraphicFramePr>
          <p:nvPr>
            <p:extLst>
              <p:ext uri="{D42A27DB-BD31-4B8C-83A1-F6EECF244321}">
                <p14:modId xmlns:p14="http://schemas.microsoft.com/office/powerpoint/2010/main" val="3240433148"/>
              </p:ext>
            </p:extLst>
          </p:nvPr>
        </p:nvGraphicFramePr>
        <p:xfrm>
          <a:off x="0" y="3235618"/>
          <a:ext cx="12192000" cy="74168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3955069437"/>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smtClean="0"/>
                        <a:t>Phase d’environnement : Conception de l’hébergement numérique</a:t>
                      </a:r>
                    </a:p>
                  </a:txBody>
                  <a:tcPr/>
                </a:tc>
                <a:extLst>
                  <a:ext uri="{0D108BD9-81ED-4DB2-BD59-A6C34878D82A}">
                    <a16:rowId xmlns:a16="http://schemas.microsoft.com/office/drawing/2014/main" val="151173118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4" action="ppaction://hlinksldjump"/>
                        </a:rPr>
                        <a:t>Dimensionner la taille du parc physique en adéquation avec le volume de machines virtuelles à exécuter</a:t>
                      </a:r>
                      <a:endParaRPr lang="fr-FR" sz="1800" dirty="0" smtClean="0"/>
                    </a:p>
                  </a:txBody>
                  <a:tcPr/>
                </a:tc>
                <a:extLst>
                  <a:ext uri="{0D108BD9-81ED-4DB2-BD59-A6C34878D82A}">
                    <a16:rowId xmlns:a16="http://schemas.microsoft.com/office/drawing/2014/main" val="1541518315"/>
                  </a:ext>
                </a:extLst>
              </a:tr>
            </a:tbl>
          </a:graphicData>
        </a:graphic>
      </p:graphicFrame>
    </p:spTree>
    <p:extLst>
      <p:ext uri="{BB962C8B-B14F-4D97-AF65-F5344CB8AC3E}">
        <p14:creationId xmlns:p14="http://schemas.microsoft.com/office/powerpoint/2010/main" val="2104306467"/>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S’assurer de limiter le besoin en infra</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738664"/>
          </a:xfrm>
          <a:prstGeom prst="rect">
            <a:avLst/>
          </a:prstGeom>
          <a:noFill/>
        </p:spPr>
        <p:txBody>
          <a:bodyPr wrap="square" numCol="1" rtlCol="0">
            <a:spAutoFit/>
          </a:bodyPr>
          <a:lstStyle/>
          <a:p>
            <a:pPr lvl="0"/>
            <a:r>
              <a:rPr lang="fr-FR" sz="1400" u="sng" dirty="0">
                <a:solidFill>
                  <a:prstClr val="black"/>
                </a:solidFill>
              </a:rPr>
              <a:t>Principes directeurs</a:t>
            </a:r>
            <a:r>
              <a:rPr lang="fr-FR" sz="1400" b="1" dirty="0">
                <a:solidFill>
                  <a:prstClr val="black"/>
                </a:solidFill>
              </a:rPr>
              <a:t> : </a:t>
            </a:r>
            <a:r>
              <a:rPr lang="fr-FR" sz="1400" dirty="0">
                <a:solidFill>
                  <a:prstClr val="black"/>
                </a:solidFill>
              </a:rPr>
              <a:t>Utilisation optimisée des ressources d'hébergement </a:t>
            </a:r>
          </a:p>
          <a:p>
            <a:pPr lvl="0"/>
            <a:r>
              <a:rPr lang="fr-FR" sz="1400" u="sng" dirty="0">
                <a:solidFill>
                  <a:prstClr val="black"/>
                </a:solidFill>
              </a:rPr>
              <a:t>Finalité</a:t>
            </a:r>
            <a:r>
              <a:rPr lang="fr-FR" sz="1400" dirty="0">
                <a:solidFill>
                  <a:prstClr val="black"/>
                </a:solidFill>
              </a:rPr>
              <a:t> : Moins d'infrastructure IT nécessaire</a:t>
            </a:r>
          </a:p>
          <a:p>
            <a:pPr lvl="0"/>
            <a:r>
              <a:rPr lang="fr-FR" sz="1400" u="sng" dirty="0">
                <a:solidFill>
                  <a:prstClr val="black"/>
                </a:solidFill>
              </a:rPr>
              <a:t>Mesures ciblées </a:t>
            </a:r>
            <a:r>
              <a:rPr lang="fr-FR" sz="1400" b="1" dirty="0">
                <a:solidFill>
                  <a:prstClr val="black"/>
                </a:solidFill>
              </a:rPr>
              <a:t>: </a:t>
            </a:r>
            <a:r>
              <a:rPr lang="it-IT" sz="1400" dirty="0">
                <a:solidFill>
                  <a:prstClr val="black"/>
                </a:solidFill>
              </a:rPr>
              <a:t>Mesure Hébergement</a:t>
            </a:r>
          </a:p>
        </p:txBody>
      </p:sp>
      <p:graphicFrame>
        <p:nvGraphicFramePr>
          <p:cNvPr id="4" name="Tableau 3"/>
          <p:cNvGraphicFramePr>
            <a:graphicFrameLocks noGrp="1"/>
          </p:cNvGraphicFramePr>
          <p:nvPr>
            <p:extLst>
              <p:ext uri="{D42A27DB-BD31-4B8C-83A1-F6EECF244321}">
                <p14:modId xmlns:p14="http://schemas.microsoft.com/office/powerpoint/2010/main" val="268451608"/>
              </p:ext>
            </p:extLst>
          </p:nvPr>
        </p:nvGraphicFramePr>
        <p:xfrm>
          <a:off x="0" y="2651126"/>
          <a:ext cx="12192000" cy="3479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299570553"/>
                    </a:ext>
                  </a:extLst>
                </a:gridCol>
                <a:gridCol w="4064000">
                  <a:extLst>
                    <a:ext uri="{9D8B030D-6E8A-4147-A177-3AD203B41FA5}">
                      <a16:colId xmlns:a16="http://schemas.microsoft.com/office/drawing/2014/main" val="3038072914"/>
                    </a:ext>
                  </a:extLst>
                </a:gridCol>
                <a:gridCol w="4064000">
                  <a:extLst>
                    <a:ext uri="{9D8B030D-6E8A-4147-A177-3AD203B41FA5}">
                      <a16:colId xmlns:a16="http://schemas.microsoft.com/office/drawing/2014/main" val="104704190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smtClean="0"/>
                        <a:t>Phase Cadrage : CDC/</a:t>
                      </a:r>
                      <a:r>
                        <a:rPr lang="fr-FR" sz="1800" b="1" dirty="0" err="1" smtClean="0"/>
                        <a:t>Spec</a:t>
                      </a:r>
                      <a:r>
                        <a:rPr lang="fr-FR" sz="1800" b="1" dirty="0" smtClean="0"/>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smtClean="0"/>
                        <a:t>Phase Cadrage  : Architecture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smtClean="0"/>
                        <a:t>Phase d’environnement : Conception de l’hébergement numérique</a:t>
                      </a:r>
                    </a:p>
                  </a:txBody>
                  <a:tcPr/>
                </a:tc>
                <a:extLst>
                  <a:ext uri="{0D108BD9-81ED-4DB2-BD59-A6C34878D82A}">
                    <a16:rowId xmlns:a16="http://schemas.microsoft.com/office/drawing/2014/main" val="4146091486"/>
                  </a:ext>
                </a:extLst>
              </a:tr>
              <a:tr h="370840">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800" b="0" i="0" u="none" strike="noStrike" kern="1200" cap="none" spc="0" normalizeH="0" baseline="0" noProof="0" dirty="0" smtClean="0">
                          <a:ln>
                            <a:noFill/>
                          </a:ln>
                          <a:solidFill>
                            <a:prstClr val="black"/>
                          </a:solidFill>
                          <a:effectLst/>
                          <a:uLnTx/>
                          <a:uFillTx/>
                          <a:latin typeface="Calibri" panose="020F0502020204030204"/>
                          <a:ea typeface="+mn-ea"/>
                          <a:cs typeface="+mn-cs"/>
                          <a:hlinkClick r:id="rId4" action="ppaction://hlinksldjump"/>
                        </a:rPr>
                        <a:t>Adapter la qualité de service et le niveau de disponibilité</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800" b="0" i="0" u="none" strike="noStrike" kern="1200" cap="none" spc="0" normalizeH="0" baseline="0" noProof="0" dirty="0" smtClean="0">
                          <a:ln>
                            <a:noFill/>
                          </a:ln>
                          <a:solidFill>
                            <a:prstClr val="black"/>
                          </a:solidFill>
                          <a:effectLst/>
                          <a:uLnTx/>
                          <a:uFillTx/>
                          <a:latin typeface="Calibri" panose="020F0502020204030204"/>
                          <a:ea typeface="+mn-ea"/>
                          <a:cs typeface="+mn-cs"/>
                          <a:hlinkClick r:id="rId4" action="ppaction://hlinksldjump"/>
                        </a:rPr>
                        <a:t>Adapter la qualité de service et le niveau de disponibilité</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5" action="ppaction://hlinksldjump"/>
                        </a:rPr>
                        <a:t>Optimiser la sollicitation des environnements de développement, de </a:t>
                      </a:r>
                      <a:r>
                        <a:rPr lang="fr-FR" sz="1800" dirty="0" err="1" smtClean="0">
                          <a:hlinkClick r:id="rId5" action="ppaction://hlinksldjump"/>
                        </a:rPr>
                        <a:t>préproduction</a:t>
                      </a:r>
                      <a:r>
                        <a:rPr lang="fr-FR" sz="1800" dirty="0" smtClean="0">
                          <a:hlinkClick r:id="rId5" action="ppaction://hlinksldjump"/>
                        </a:rPr>
                        <a:t> ou de test en fonction de ses besoins</a:t>
                      </a:r>
                      <a:endParaRPr lang="fr-FR" sz="1800" dirty="0" smtClean="0"/>
                    </a:p>
                  </a:txBody>
                  <a:tcPr/>
                </a:tc>
                <a:extLst>
                  <a:ext uri="{0D108BD9-81ED-4DB2-BD59-A6C34878D82A}">
                    <a16:rowId xmlns:a16="http://schemas.microsoft.com/office/drawing/2014/main" val="2867748226"/>
                  </a:ext>
                </a:extLst>
              </a:tr>
              <a:tr h="370840">
                <a:tc>
                  <a:txBody>
                    <a:bodyPr/>
                    <a:lstStyle/>
                    <a:p>
                      <a:endParaRPr lang="fr-FR" sz="1800"/>
                    </a:p>
                  </a:txBody>
                  <a:tcPr/>
                </a:tc>
                <a:tc>
                  <a:txBody>
                    <a:bodyPr/>
                    <a:lstStyle/>
                    <a:p>
                      <a:endParaRPr lang="fr-FR"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6" action="ppaction://hlinksldjump"/>
                        </a:rPr>
                        <a:t>Les VM sont commandées au juste timing </a:t>
                      </a:r>
                      <a:endParaRPr lang="fr-FR" sz="1800" dirty="0" smtClean="0"/>
                    </a:p>
                  </a:txBody>
                  <a:tcPr/>
                </a:tc>
                <a:extLst>
                  <a:ext uri="{0D108BD9-81ED-4DB2-BD59-A6C34878D82A}">
                    <a16:rowId xmlns:a16="http://schemas.microsoft.com/office/drawing/2014/main" val="1540580274"/>
                  </a:ext>
                </a:extLst>
              </a:tr>
              <a:tr h="370840">
                <a:tc>
                  <a:txBody>
                    <a:bodyPr/>
                    <a:lstStyle/>
                    <a:p>
                      <a:endParaRPr lang="fr-FR" sz="1800"/>
                    </a:p>
                  </a:txBody>
                  <a:tcPr/>
                </a:tc>
                <a:tc>
                  <a:txBody>
                    <a:bodyPr/>
                    <a:lstStyle/>
                    <a:p>
                      <a:endParaRPr lang="fr-FR"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4" action="ppaction://hlinksldjump"/>
                        </a:rPr>
                        <a:t>Adapter la qualité de service et le niveau de disponibilité</a:t>
                      </a:r>
                      <a:endParaRPr lang="fr-FR" sz="1800" dirty="0" smtClean="0"/>
                    </a:p>
                  </a:txBody>
                  <a:tcPr/>
                </a:tc>
                <a:extLst>
                  <a:ext uri="{0D108BD9-81ED-4DB2-BD59-A6C34878D82A}">
                    <a16:rowId xmlns:a16="http://schemas.microsoft.com/office/drawing/2014/main" val="559333661"/>
                  </a:ext>
                </a:extLst>
              </a:tr>
              <a:tr h="370840">
                <a:tc>
                  <a:txBody>
                    <a:bodyPr/>
                    <a:lstStyle/>
                    <a:p>
                      <a:endParaRPr lang="fr-FR" sz="1800"/>
                    </a:p>
                  </a:txBody>
                  <a:tcPr/>
                </a:tc>
                <a:tc>
                  <a:txBody>
                    <a:bodyPr/>
                    <a:lstStyle/>
                    <a:p>
                      <a:endParaRPr lang="fr-FR"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0" i="0" u="none" strike="noStrike" dirty="0" smtClean="0">
                          <a:solidFill>
                            <a:srgbClr val="000000"/>
                          </a:solidFill>
                          <a:effectLst/>
                          <a:latin typeface="Calibri" panose="020F0502020204030204" pitchFamily="34" charset="0"/>
                          <a:hlinkClick r:id="rId7" action="ppaction://hlinksldjump"/>
                        </a:rPr>
                        <a:t>Les VM sont commandées au juste besoin</a:t>
                      </a:r>
                      <a:r>
                        <a:rPr lang="fr-FR" sz="1800" b="0" i="0" u="none" strike="noStrike" dirty="0" smtClean="0">
                          <a:solidFill>
                            <a:srgbClr val="FF0000"/>
                          </a:solidFill>
                          <a:effectLst/>
                          <a:latin typeface="Calibri" panose="020F0502020204030204" pitchFamily="34" charset="0"/>
                          <a:hlinkClick r:id="rId7" action="ppaction://hlinksldjump"/>
                        </a:rPr>
                        <a:t> </a:t>
                      </a:r>
                      <a:endParaRPr lang="fr-FR" sz="1800" b="0" i="0" u="none" strike="noStrike" dirty="0" smtClean="0">
                        <a:solidFill>
                          <a:srgbClr val="000000"/>
                        </a:solidFill>
                        <a:effectLst/>
                        <a:latin typeface="Calibri" panose="020F0502020204030204" pitchFamily="34" charset="0"/>
                      </a:endParaRPr>
                    </a:p>
                  </a:txBody>
                  <a:tcPr/>
                </a:tc>
                <a:extLst>
                  <a:ext uri="{0D108BD9-81ED-4DB2-BD59-A6C34878D82A}">
                    <a16:rowId xmlns:a16="http://schemas.microsoft.com/office/drawing/2014/main" val="1993443279"/>
                  </a:ext>
                </a:extLst>
              </a:tr>
            </a:tbl>
          </a:graphicData>
        </a:graphic>
      </p:graphicFrame>
    </p:spTree>
    <p:extLst>
      <p:ext uri="{BB962C8B-B14F-4D97-AF65-F5344CB8AC3E}">
        <p14:creationId xmlns:p14="http://schemas.microsoft.com/office/powerpoint/2010/main" val="3291748426"/>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lstStyle/>
          <a:p>
            <a:r>
              <a:rPr lang="fr-FR" sz="4400" dirty="0"/>
              <a:t>Finalité : Libérer </a:t>
            </a:r>
            <a:r>
              <a:rPr lang="fr-FR" sz="4400" dirty="0" smtClean="0"/>
              <a:t>les ressources </a:t>
            </a:r>
            <a:r>
              <a:rPr lang="fr-FR" sz="4400" dirty="0"/>
              <a:t>IT</a:t>
            </a:r>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76536833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err="1">
                <a:solidFill>
                  <a:schemeClr val="bg1"/>
                </a:solidFill>
              </a:rPr>
              <a:t>Décommissionner</a:t>
            </a:r>
            <a:endParaRPr lang="fr-FR" b="1" dirty="0">
              <a:solidFill>
                <a:schemeClr val="bg1"/>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738664"/>
          </a:xfrm>
          <a:prstGeom prst="rect">
            <a:avLst/>
          </a:prstGeom>
          <a:noFill/>
        </p:spPr>
        <p:txBody>
          <a:bodyPr wrap="square" rtlCol="0">
            <a:spAutoFit/>
          </a:bodyPr>
          <a:lstStyle/>
          <a:p>
            <a:r>
              <a:rPr lang="fr-FR" sz="1400" u="sng" dirty="0"/>
              <a:t>Principes directeurs</a:t>
            </a:r>
            <a:r>
              <a:rPr lang="fr-FR" sz="1400" b="1" dirty="0"/>
              <a:t> : </a:t>
            </a:r>
            <a:r>
              <a:rPr lang="fr-FR" sz="1400" dirty="0"/>
              <a:t>Utilisation optimisée des ressources d'hébergement : Maitrise de la croissance de notre parc</a:t>
            </a:r>
          </a:p>
          <a:p>
            <a:r>
              <a:rPr lang="fr-FR" sz="1400" u="sng" dirty="0" smtClean="0"/>
              <a:t>Finalité</a:t>
            </a:r>
            <a:r>
              <a:rPr lang="fr-FR" sz="1400" dirty="0" smtClean="0"/>
              <a:t> </a:t>
            </a:r>
            <a:r>
              <a:rPr lang="fr-FR" sz="1400" dirty="0"/>
              <a:t>: Libérer les ressources IT</a:t>
            </a:r>
          </a:p>
          <a:p>
            <a:pPr lvl="0"/>
            <a:r>
              <a:rPr lang="fr-FR" sz="1400" u="sng" dirty="0" smtClean="0"/>
              <a:t>Mesures ciblées </a:t>
            </a:r>
            <a:r>
              <a:rPr lang="fr-FR" sz="1400" b="1" dirty="0" smtClean="0"/>
              <a:t>: </a:t>
            </a:r>
            <a:r>
              <a:rPr lang="it-IT" sz="1400" dirty="0">
                <a:solidFill>
                  <a:prstClr val="black"/>
                </a:solidFill>
              </a:rPr>
              <a:t>Mesure Hébergement</a:t>
            </a:r>
          </a:p>
        </p:txBody>
      </p:sp>
      <p:graphicFrame>
        <p:nvGraphicFramePr>
          <p:cNvPr id="4" name="Tableau 3"/>
          <p:cNvGraphicFramePr>
            <a:graphicFrameLocks noGrp="1"/>
          </p:cNvGraphicFramePr>
          <p:nvPr>
            <p:extLst>
              <p:ext uri="{D42A27DB-BD31-4B8C-83A1-F6EECF244321}">
                <p14:modId xmlns:p14="http://schemas.microsoft.com/office/powerpoint/2010/main" val="653878011"/>
              </p:ext>
            </p:extLst>
          </p:nvPr>
        </p:nvGraphicFramePr>
        <p:xfrm>
          <a:off x="0" y="2841815"/>
          <a:ext cx="12192000" cy="1843024"/>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459856196"/>
                    </a:ext>
                  </a:extLst>
                </a:gridCol>
                <a:gridCol w="4064000">
                  <a:extLst>
                    <a:ext uri="{9D8B030D-6E8A-4147-A177-3AD203B41FA5}">
                      <a16:colId xmlns:a16="http://schemas.microsoft.com/office/drawing/2014/main" val="292821539"/>
                    </a:ext>
                  </a:extLst>
                </a:gridCol>
                <a:gridCol w="4064000">
                  <a:extLst>
                    <a:ext uri="{9D8B030D-6E8A-4147-A177-3AD203B41FA5}">
                      <a16:colId xmlns:a16="http://schemas.microsoft.com/office/drawing/2014/main" val="241249737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smtClean="0"/>
                        <a:t>Phase Cadrage : CDC/</a:t>
                      </a:r>
                      <a:r>
                        <a:rPr lang="fr-FR" sz="1800" b="1" dirty="0" err="1" smtClean="0"/>
                        <a:t>Spec</a:t>
                      </a:r>
                      <a:r>
                        <a:rPr lang="fr-FR" sz="1800" b="1" dirty="0" smtClean="0"/>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smtClean="0"/>
                        <a:t>Phase Cadrage  : Architecture </a:t>
                      </a:r>
                    </a:p>
                  </a:txBody>
                  <a:tcPr/>
                </a:tc>
                <a:tc>
                  <a:txBody>
                    <a:bodyPr/>
                    <a:lstStyle/>
                    <a:p>
                      <a:pPr marL="0" indent="0">
                        <a:buNone/>
                      </a:pPr>
                      <a:r>
                        <a:rPr lang="fr-FR" sz="1800" b="1" dirty="0" smtClean="0"/>
                        <a:t>Phase RUN : Maintenance &amp; fin de vie </a:t>
                      </a:r>
                      <a:endParaRPr lang="fr-FR" sz="1800" b="1" dirty="0"/>
                    </a:p>
                  </a:txBody>
                  <a:tcPr/>
                </a:tc>
                <a:extLst>
                  <a:ext uri="{0D108BD9-81ED-4DB2-BD59-A6C34878D82A}">
                    <a16:rowId xmlns:a16="http://schemas.microsoft.com/office/drawing/2014/main" val="945756867"/>
                  </a:ext>
                </a:extLst>
              </a:tr>
              <a:tr h="370840">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800" b="0" i="0" u="none" strike="noStrike" kern="1200" cap="none" spc="0" normalizeH="0" baseline="0" noProof="0" dirty="0" smtClean="0">
                          <a:ln>
                            <a:noFill/>
                          </a:ln>
                          <a:solidFill>
                            <a:prstClr val="black"/>
                          </a:solidFill>
                          <a:effectLst/>
                          <a:uLnTx/>
                          <a:uFillTx/>
                          <a:latin typeface="Calibri" panose="020F0502020204030204"/>
                          <a:ea typeface="+mn-ea"/>
                          <a:cs typeface="+mn-cs"/>
                          <a:hlinkClick r:id="rId4" action="ppaction://hlinksldjump"/>
                        </a:rPr>
                        <a:t>Stratégie de maintenance et de </a:t>
                      </a:r>
                      <a:r>
                        <a:rPr kumimoji="0" lang="fr-FR" sz="1800" b="0" i="0" u="none" strike="noStrike" kern="1200" cap="none" spc="0" normalizeH="0" baseline="0" noProof="0" dirty="0" err="1" smtClean="0">
                          <a:ln>
                            <a:noFill/>
                          </a:ln>
                          <a:solidFill>
                            <a:prstClr val="black"/>
                          </a:solidFill>
                          <a:effectLst/>
                          <a:uLnTx/>
                          <a:uFillTx/>
                          <a:latin typeface="Calibri" panose="020F0502020204030204"/>
                          <a:ea typeface="+mn-ea"/>
                          <a:cs typeface="+mn-cs"/>
                          <a:hlinkClick r:id="rId4" action="ppaction://hlinksldjump"/>
                        </a:rPr>
                        <a:t>décommissionnement</a:t>
                      </a:r>
                      <a:r>
                        <a:rPr kumimoji="0" lang="fr-FR" sz="1800" b="0" i="0" u="none" strike="noStrike" kern="1200" cap="none" spc="0" normalizeH="0" baseline="0" noProof="0" dirty="0" smtClean="0">
                          <a:ln>
                            <a:noFill/>
                          </a:ln>
                          <a:solidFill>
                            <a:prstClr val="black"/>
                          </a:solidFill>
                          <a:effectLst/>
                          <a:uLnTx/>
                          <a:uFillTx/>
                          <a:latin typeface="Calibri" panose="020F0502020204030204"/>
                          <a:ea typeface="+mn-ea"/>
                          <a:cs typeface="+mn-cs"/>
                          <a:hlinkClick r:id="rId4" action="ppaction://hlinksldjump"/>
                        </a:rPr>
                        <a:t> (fonctionnalité, composant et environnement)</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1800" b="0" i="0" u="none" strike="noStrike" kern="1200" cap="none" spc="0" normalizeH="0" baseline="0" noProof="0" dirty="0" smtClean="0">
                          <a:ln>
                            <a:noFill/>
                          </a:ln>
                          <a:solidFill>
                            <a:prstClr val="black"/>
                          </a:solidFill>
                          <a:effectLst/>
                          <a:uLnTx/>
                          <a:uFillTx/>
                          <a:latin typeface="Calibri" panose="020F0502020204030204"/>
                          <a:ea typeface="+mn-ea"/>
                          <a:cs typeface="+mn-cs"/>
                          <a:hlinkClick r:id="rId4" action="ppaction://hlinksldjump"/>
                        </a:rPr>
                        <a:t>Stratégie de maintenance et de </a:t>
                      </a:r>
                      <a:r>
                        <a:rPr kumimoji="0" lang="fr-FR" sz="1800" b="0" i="0" u="none" strike="noStrike" kern="1200" cap="none" spc="0" normalizeH="0" baseline="0" noProof="0" dirty="0" err="1" smtClean="0">
                          <a:ln>
                            <a:noFill/>
                          </a:ln>
                          <a:solidFill>
                            <a:prstClr val="black"/>
                          </a:solidFill>
                          <a:effectLst/>
                          <a:uLnTx/>
                          <a:uFillTx/>
                          <a:latin typeface="Calibri" panose="020F0502020204030204"/>
                          <a:ea typeface="+mn-ea"/>
                          <a:cs typeface="+mn-cs"/>
                          <a:hlinkClick r:id="rId4" action="ppaction://hlinksldjump"/>
                        </a:rPr>
                        <a:t>décommissionnement</a:t>
                      </a:r>
                      <a:r>
                        <a:rPr kumimoji="0" lang="fr-FR" sz="1800" b="0" i="0" u="none" strike="noStrike" kern="1200" cap="none" spc="0" normalizeH="0" baseline="0" noProof="0" dirty="0" smtClean="0">
                          <a:ln>
                            <a:noFill/>
                          </a:ln>
                          <a:solidFill>
                            <a:prstClr val="black"/>
                          </a:solidFill>
                          <a:effectLst/>
                          <a:uLnTx/>
                          <a:uFillTx/>
                          <a:latin typeface="Calibri" panose="020F0502020204030204"/>
                          <a:ea typeface="+mn-ea"/>
                          <a:cs typeface="+mn-cs"/>
                          <a:hlinkClick r:id="rId4" action="ppaction://hlinksldjump"/>
                        </a:rPr>
                        <a:t> (fonctionnalité, composant et environnement)</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err="1" smtClean="0">
                          <a:hlinkClick r:id="rId5" action="ppaction://hlinksldjump"/>
                        </a:rPr>
                        <a:t>Décommissionnement</a:t>
                      </a:r>
                      <a:r>
                        <a:rPr lang="fr-FR" sz="1800" dirty="0" smtClean="0">
                          <a:hlinkClick r:id="rId5" action="ppaction://hlinksldjump"/>
                        </a:rPr>
                        <a:t> des composants et versions non utilisés</a:t>
                      </a:r>
                      <a:endParaRPr lang="fr-FR" sz="1800" dirty="0" smtClean="0"/>
                    </a:p>
                  </a:txBody>
                  <a:tcPr/>
                </a:tc>
                <a:extLst>
                  <a:ext uri="{0D108BD9-81ED-4DB2-BD59-A6C34878D82A}">
                    <a16:rowId xmlns:a16="http://schemas.microsoft.com/office/drawing/2014/main" val="235416482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800" dirty="0" smtClean="0"/>
                    </a:p>
                  </a:txBody>
                  <a:tcPr/>
                </a:tc>
                <a:tc>
                  <a:txBody>
                    <a:bodyPr/>
                    <a:lstStyle/>
                    <a:p>
                      <a:endParaRPr lang="fr-FR" sz="18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err="1" smtClean="0">
                          <a:hlinkClick r:id="rId6" action="ppaction://hlinksldjump"/>
                        </a:rPr>
                        <a:t>Décommissionnement</a:t>
                      </a:r>
                      <a:r>
                        <a:rPr lang="fr-FR" sz="1800" dirty="0" smtClean="0">
                          <a:hlinkClick r:id="rId6" action="ppaction://hlinksldjump"/>
                        </a:rPr>
                        <a:t> des environnements non utilisés</a:t>
                      </a:r>
                      <a:endParaRPr lang="fr-FR" sz="1800" dirty="0" smtClean="0"/>
                    </a:p>
                  </a:txBody>
                  <a:tcPr/>
                </a:tc>
                <a:extLst>
                  <a:ext uri="{0D108BD9-81ED-4DB2-BD59-A6C34878D82A}">
                    <a16:rowId xmlns:a16="http://schemas.microsoft.com/office/drawing/2014/main" val="1291335093"/>
                  </a:ext>
                </a:extLst>
              </a:tr>
            </a:tbl>
          </a:graphicData>
        </a:graphic>
      </p:graphicFrame>
    </p:spTree>
    <p:extLst>
      <p:ext uri="{BB962C8B-B14F-4D97-AF65-F5344CB8AC3E}">
        <p14:creationId xmlns:p14="http://schemas.microsoft.com/office/powerpoint/2010/main" val="4118734536"/>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lstStyle/>
          <a:p>
            <a:r>
              <a:rPr lang="fr-FR" sz="4400" dirty="0"/>
              <a:t>Finalité : Réduire la consommation d'énergie</a:t>
            </a:r>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108581403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normAutofit/>
          </a:bodyPr>
          <a:lstStyle/>
          <a:p>
            <a:pPr algn="ctr"/>
            <a:r>
              <a:rPr lang="fr-FR" b="1" dirty="0">
                <a:solidFill>
                  <a:schemeClr val="bg1"/>
                </a:solidFill>
              </a:rPr>
              <a:t>Optimiser la consommation d'énergie au niveau IT</a:t>
            </a: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
        <p:nvSpPr>
          <p:cNvPr id="6" name="ZoneTexte 5"/>
          <p:cNvSpPr txBox="1"/>
          <p:nvPr/>
        </p:nvSpPr>
        <p:spPr>
          <a:xfrm>
            <a:off x="0" y="1325563"/>
            <a:ext cx="12192000" cy="738664"/>
          </a:xfrm>
          <a:prstGeom prst="rect">
            <a:avLst/>
          </a:prstGeom>
          <a:noFill/>
        </p:spPr>
        <p:txBody>
          <a:bodyPr wrap="square" numCol="1" rtlCol="0">
            <a:spAutoFit/>
          </a:bodyPr>
          <a:lstStyle/>
          <a:p>
            <a:r>
              <a:rPr lang="fr-FR" sz="1400" u="sng" dirty="0"/>
              <a:t>Principes directeurs</a:t>
            </a:r>
            <a:r>
              <a:rPr lang="fr-FR" sz="1400" b="1" dirty="0"/>
              <a:t> : </a:t>
            </a:r>
            <a:r>
              <a:rPr lang="fr-FR" sz="1400" dirty="0"/>
              <a:t>Utilisation optimisée des ressources d'hébergement </a:t>
            </a:r>
          </a:p>
          <a:p>
            <a:r>
              <a:rPr lang="fr-FR" sz="1400" u="sng" dirty="0" smtClean="0"/>
              <a:t>Finalité</a:t>
            </a:r>
            <a:r>
              <a:rPr lang="fr-FR" sz="1400" dirty="0" smtClean="0"/>
              <a:t> </a:t>
            </a:r>
            <a:r>
              <a:rPr lang="fr-FR" sz="1400" dirty="0"/>
              <a:t>: </a:t>
            </a:r>
            <a:r>
              <a:rPr lang="fr-FR" sz="1400" dirty="0" smtClean="0"/>
              <a:t>: </a:t>
            </a:r>
            <a:r>
              <a:rPr lang="fr-FR" sz="1400" dirty="0"/>
              <a:t>Réduire la consommation </a:t>
            </a:r>
            <a:r>
              <a:rPr lang="fr-FR" sz="1400" dirty="0" smtClean="0"/>
              <a:t>d'énergie.</a:t>
            </a:r>
            <a:endParaRPr lang="fr-FR" sz="1400" dirty="0"/>
          </a:p>
          <a:p>
            <a:r>
              <a:rPr lang="fr-FR" sz="1400" u="sng" dirty="0" smtClean="0"/>
              <a:t>Mesures ciblées </a:t>
            </a:r>
            <a:r>
              <a:rPr lang="fr-FR" sz="1400" b="1" dirty="0" smtClean="0"/>
              <a:t>: </a:t>
            </a:r>
            <a:r>
              <a:rPr lang="it-IT" sz="1400" dirty="0">
                <a:solidFill>
                  <a:prstClr val="black"/>
                </a:solidFill>
              </a:rPr>
              <a:t>Mesure Hébergement</a:t>
            </a:r>
          </a:p>
        </p:txBody>
      </p:sp>
      <p:graphicFrame>
        <p:nvGraphicFramePr>
          <p:cNvPr id="4" name="Tableau 3"/>
          <p:cNvGraphicFramePr>
            <a:graphicFrameLocks noGrp="1"/>
          </p:cNvGraphicFramePr>
          <p:nvPr>
            <p:extLst>
              <p:ext uri="{D42A27DB-BD31-4B8C-83A1-F6EECF244321}">
                <p14:modId xmlns:p14="http://schemas.microsoft.com/office/powerpoint/2010/main" val="1421661059"/>
              </p:ext>
            </p:extLst>
          </p:nvPr>
        </p:nvGraphicFramePr>
        <p:xfrm>
          <a:off x="0" y="3089531"/>
          <a:ext cx="12192000" cy="1483360"/>
        </p:xfrm>
        <a:graphic>
          <a:graphicData uri="http://schemas.openxmlformats.org/drawingml/2006/table">
            <a:tbl>
              <a:tblPr firstRow="1" bandRow="1">
                <a:tableStyleId>{5C22544A-7EE6-4342-B048-85BDC9FD1C3A}</a:tableStyleId>
              </a:tblPr>
              <a:tblGrid>
                <a:gridCol w="12192000">
                  <a:extLst>
                    <a:ext uri="{9D8B030D-6E8A-4147-A177-3AD203B41FA5}">
                      <a16:colId xmlns:a16="http://schemas.microsoft.com/office/drawing/2014/main" val="377789953"/>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dirty="0" smtClean="0"/>
                        <a:t>Phase d’environnement : Conception de l’hébergement numérique</a:t>
                      </a:r>
                    </a:p>
                  </a:txBody>
                  <a:tcPr/>
                </a:tc>
                <a:extLst>
                  <a:ext uri="{0D108BD9-81ED-4DB2-BD59-A6C34878D82A}">
                    <a16:rowId xmlns:a16="http://schemas.microsoft.com/office/drawing/2014/main" val="362077497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4" action="ppaction://hlinksldjump"/>
                        </a:rPr>
                        <a:t>Désactiver les cœurs non utilisés</a:t>
                      </a:r>
                      <a:endParaRPr lang="fr-FR" sz="1800" dirty="0" smtClean="0"/>
                    </a:p>
                  </a:txBody>
                  <a:tcPr/>
                </a:tc>
                <a:extLst>
                  <a:ext uri="{0D108BD9-81ED-4DB2-BD59-A6C34878D82A}">
                    <a16:rowId xmlns:a16="http://schemas.microsoft.com/office/drawing/2014/main" val="155307584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5" action="ppaction://hlinksldjump"/>
                        </a:rPr>
                        <a:t>Optimiser l'efficacité énergétique des serveurs. </a:t>
                      </a:r>
                      <a:endParaRPr lang="fr-FR" sz="1800" dirty="0" smtClean="0"/>
                    </a:p>
                  </a:txBody>
                  <a:tcPr/>
                </a:tc>
                <a:extLst>
                  <a:ext uri="{0D108BD9-81ED-4DB2-BD59-A6C34878D82A}">
                    <a16:rowId xmlns:a16="http://schemas.microsoft.com/office/drawing/2014/main" val="421802567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smtClean="0">
                          <a:hlinkClick r:id="rId6" action="ppaction://hlinksldjump"/>
                        </a:rPr>
                        <a:t>Désactiver les environnements non utilisées</a:t>
                      </a:r>
                      <a:endParaRPr lang="fr-FR" sz="1800" dirty="0" smtClean="0"/>
                    </a:p>
                  </a:txBody>
                  <a:tcPr/>
                </a:tc>
                <a:extLst>
                  <a:ext uri="{0D108BD9-81ED-4DB2-BD59-A6C34878D82A}">
                    <a16:rowId xmlns:a16="http://schemas.microsoft.com/office/drawing/2014/main" val="3048480871"/>
                  </a:ext>
                </a:extLst>
              </a:tr>
            </a:tbl>
          </a:graphicData>
        </a:graphic>
      </p:graphicFrame>
    </p:spTree>
    <p:extLst>
      <p:ext uri="{BB962C8B-B14F-4D97-AF65-F5344CB8AC3E}">
        <p14:creationId xmlns:p14="http://schemas.microsoft.com/office/powerpoint/2010/main" val="2702243204"/>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a:bodyPr>
          <a:lstStyle/>
          <a:p>
            <a:r>
              <a:rPr lang="fr-FR" sz="4400" dirty="0" smtClean="0"/>
              <a:t>Liste des Bonnes </a:t>
            </a:r>
            <a:r>
              <a:rPr lang="fr-FR" sz="4400"/>
              <a:t>pratiques </a:t>
            </a:r>
            <a:endParaRPr lang="fr-FR" sz="4400" dirty="0" smtClean="0"/>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417957303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2192000" cy="1325563"/>
          </a:xfrm>
          <a:solidFill>
            <a:srgbClr val="2F5597"/>
          </a:solidFill>
        </p:spPr>
        <p:txBody>
          <a:bodyPr/>
          <a:lstStyle/>
          <a:p>
            <a:pPr algn="ctr"/>
            <a:r>
              <a:rPr lang="fr-FR" b="1" dirty="0">
                <a:solidFill>
                  <a:schemeClr val="bg1"/>
                </a:solidFill>
              </a:rPr>
              <a:t>Liste des bonnes pratiques</a:t>
            </a:r>
          </a:p>
        </p:txBody>
      </p:sp>
      <p:sp>
        <p:nvSpPr>
          <p:cNvPr id="3" name="Espace réservé du contenu 2"/>
          <p:cNvSpPr>
            <a:spLocks noGrp="1"/>
          </p:cNvSpPr>
          <p:nvPr>
            <p:ph idx="1"/>
          </p:nvPr>
        </p:nvSpPr>
        <p:spPr>
          <a:xfrm>
            <a:off x="0" y="1736946"/>
            <a:ext cx="12192000" cy="4351338"/>
          </a:xfrm>
        </p:spPr>
        <p:txBody>
          <a:bodyPr/>
          <a:lstStyle/>
          <a:p>
            <a:pPr marL="0" indent="0">
              <a:buNone/>
            </a:pPr>
            <a:r>
              <a:rPr lang="fr-FR" dirty="0" smtClean="0">
                <a:solidFill>
                  <a:schemeClr val="accent5">
                    <a:lumMod val="75000"/>
                  </a:schemeClr>
                </a:solidFill>
              </a:rPr>
              <a:t>Dans cette partie, sont listées les bonnes pratiques d’écoconception.</a:t>
            </a:r>
            <a:endParaRPr lang="fr-FR" dirty="0">
              <a:solidFill>
                <a:schemeClr val="accent5">
                  <a:lumMod val="75000"/>
                </a:schemeClr>
              </a:solidFill>
            </a:endParaRPr>
          </a:p>
          <a:p>
            <a:pPr marL="0" indent="0">
              <a:buNone/>
            </a:pPr>
            <a:endParaRPr lang="fr-FR" dirty="0">
              <a:solidFill>
                <a:schemeClr val="accent5">
                  <a:lumMod val="75000"/>
                </a:schemeClr>
              </a:solidFill>
            </a:endParaRPr>
          </a:p>
        </p:txBody>
      </p:sp>
      <p:pic>
        <p:nvPicPr>
          <p:cNvPr id="5" name="Image 4"/>
          <p:cNvPicPr>
            <a:picLocks noChangeAspect="1"/>
          </p:cNvPicPr>
          <p:nvPr/>
        </p:nvPicPr>
        <p:blipFill>
          <a:blip r:embed="rId3"/>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748708114"/>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E51B-26EA-9C8F-7084-7BAA4C3419B8}"/>
            </a:ext>
          </a:extLst>
        </p:cNvPr>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9B1797C1-2DD7-55CE-307A-FA3E720C9CD5}"/>
              </a:ext>
            </a:extLst>
          </p:cNvPr>
          <p:cNvSpPr>
            <a:spLocks noGrp="1"/>
          </p:cNvSpPr>
          <p:nvPr>
            <p:ph type="body" sz="quarter" idx="27"/>
          </p:nvPr>
        </p:nvSpPr>
        <p:spPr>
          <a:solidFill>
            <a:srgbClr val="2F5597"/>
          </a:solidFill>
          <a:ln>
            <a:solidFill>
              <a:schemeClr val="accent1"/>
            </a:solidFill>
          </a:ln>
        </p:spPr>
        <p:txBody>
          <a:bodyPr/>
          <a:lstStyle/>
          <a:p>
            <a:endParaRPr lang="fr-FR" dirty="0"/>
          </a:p>
        </p:txBody>
      </p:sp>
      <p:sp>
        <p:nvSpPr>
          <p:cNvPr id="7" name="Espace réservé du texte 6">
            <a:extLst>
              <a:ext uri="{FF2B5EF4-FFF2-40B4-BE49-F238E27FC236}">
                <a16:creationId xmlns:a16="http://schemas.microsoft.com/office/drawing/2014/main" id="{700F3C24-94CF-95EB-9BFF-867A57A25902}"/>
              </a:ext>
            </a:extLst>
          </p:cNvPr>
          <p:cNvSpPr>
            <a:spLocks noGrp="1"/>
          </p:cNvSpPr>
          <p:nvPr>
            <p:ph type="body" sz="quarter" idx="3"/>
          </p:nvPr>
        </p:nvSpPr>
        <p:spPr>
          <a:xfrm>
            <a:off x="1532736" y="2254198"/>
            <a:ext cx="8334647" cy="2557696"/>
          </a:xfrm>
        </p:spPr>
        <p:txBody>
          <a:bodyPr>
            <a:normAutofit/>
          </a:bodyPr>
          <a:lstStyle/>
          <a:p>
            <a:r>
              <a:rPr lang="fr-FR" sz="4400" dirty="0" smtClean="0"/>
              <a:t>Les fiches d’</a:t>
            </a:r>
            <a:r>
              <a:rPr lang="fr-FR" sz="4400" dirty="0" err="1" smtClean="0"/>
              <a:t>écococneption</a:t>
            </a:r>
            <a:endParaRPr lang="fr-FR" sz="4400" dirty="0"/>
          </a:p>
        </p:txBody>
      </p:sp>
      <p:sp>
        <p:nvSpPr>
          <p:cNvPr id="9" name="Espace réservé du texte 8">
            <a:extLst>
              <a:ext uri="{FF2B5EF4-FFF2-40B4-BE49-F238E27FC236}">
                <a16:creationId xmlns:a16="http://schemas.microsoft.com/office/drawing/2014/main" id="{E5CD422D-DB7B-43A9-2AF9-C214A9B6535A}"/>
              </a:ext>
            </a:extLst>
          </p:cNvPr>
          <p:cNvSpPr>
            <a:spLocks noGrp="1"/>
          </p:cNvSpPr>
          <p:nvPr>
            <p:ph type="body" sz="quarter" idx="28"/>
          </p:nvPr>
        </p:nvSpPr>
        <p:spPr/>
        <p:txBody>
          <a:bodyPr/>
          <a:lstStyle/>
          <a:p>
            <a:endParaRPr lang="fr-FR"/>
          </a:p>
        </p:txBody>
      </p:sp>
      <p:pic>
        <p:nvPicPr>
          <p:cNvPr id="10" name="Image 9"/>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25459898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nvPr>
        </p:nvGraphicFramePr>
        <p:xfrm>
          <a:off x="0" y="1112520"/>
          <a:ext cx="12192000" cy="4904123"/>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28832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Bonnes pratiques</a:t>
                      </a:r>
                    </a:p>
                  </a:txBody>
                  <a:tcPr anchor="ctr">
                    <a:solidFill>
                      <a:srgbClr val="2F5597"/>
                    </a:solidFill>
                  </a:tcPr>
                </a:tc>
                <a:tc hMerge="1">
                  <a:txBody>
                    <a:bodyPr/>
                    <a:lstStyle/>
                    <a:p>
                      <a:pP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15799">
                <a:tc>
                  <a:txBody>
                    <a:bodyPr/>
                    <a:lstStyle/>
                    <a:p>
                      <a:pPr marL="0" indent="0">
                        <a:buFont typeface="Arial" panose="020B0604020202020204" pitchFamily="34" charset="0"/>
                        <a:buNone/>
                      </a:pPr>
                      <a:r>
                        <a:rPr lang="fr-FR" sz="1600" dirty="0" smtClean="0">
                          <a:solidFill>
                            <a:schemeClr val="tx1"/>
                          </a:solidFill>
                        </a:rPr>
                        <a:t>Exemple de mise en œuvre</a:t>
                      </a:r>
                      <a:endParaRPr lang="fr-FR" sz="1600" dirty="0">
                        <a:solidFill>
                          <a:schemeClr val="tx1"/>
                        </a:solidFill>
                      </a:endParaRPr>
                    </a:p>
                  </a:txBody>
                  <a:tcPr/>
                </a:tc>
                <a:tc>
                  <a:txBody>
                    <a:bodyPr/>
                    <a:lstStyle/>
                    <a:p>
                      <a:r>
                        <a:rPr lang="fr-FR" sz="1400" dirty="0" smtClean="0"/>
                        <a:t>Moyen de test ou de contrôle.</a:t>
                      </a:r>
                    </a:p>
                  </a:txBody>
                  <a:tcPr/>
                </a:tc>
                <a:extLst>
                  <a:ext uri="{0D108BD9-81ED-4DB2-BD59-A6C34878D82A}">
                    <a16:rowId xmlns:a16="http://schemas.microsoft.com/office/drawing/2014/main" val="3420094902"/>
                  </a:ext>
                </a:extLst>
              </a:tr>
            </a:tbl>
          </a:graphicData>
        </a:graphic>
      </p:graphicFrame>
      <p:graphicFrame>
        <p:nvGraphicFramePr>
          <p:cNvPr id="2" name="Tableau 1"/>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solidFill>
                      <a:srgbClr val="2F5597"/>
                    </a:solidFill>
                  </a:tcPr>
                </a:tc>
                <a:tc>
                  <a:txBody>
                    <a:bodyPr/>
                    <a:lstStyle/>
                    <a:p>
                      <a:pPr algn="ctr"/>
                      <a:endParaRPr lang="fr-FR"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solidFill>
                      <a:srgbClr val="2F5597"/>
                    </a:solidFill>
                  </a:tcPr>
                </a:tc>
                <a:tc>
                  <a:txBody>
                    <a:bodyPr/>
                    <a:lstStyle/>
                    <a:p>
                      <a:pPr algn="ctr"/>
                      <a:endParaRPr lang="fr-FR" b="1" dirty="0"/>
                    </a:p>
                  </a:txBody>
                  <a:tcP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6" name="Tableau 5"/>
          <p:cNvGraphicFramePr>
            <a:graphicFrameLocks noGrp="1"/>
          </p:cNvGraphicFramePr>
          <p:nvPr>
            <p:extLst/>
          </p:nvPr>
        </p:nvGraphicFramePr>
        <p:xfrm>
          <a:off x="-1" y="6016643"/>
          <a:ext cx="10271869" cy="84135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841357">
                <a:tc>
                  <a:txBody>
                    <a:bodyPr/>
                    <a:lstStyle/>
                    <a:p>
                      <a:r>
                        <a:rPr lang="fr-FR" sz="1600" b="0" dirty="0" smtClean="0">
                          <a:solidFill>
                            <a:srgbClr val="2F5597"/>
                          </a:solidFill>
                        </a:rPr>
                        <a:t>Référentiel</a:t>
                      </a:r>
                    </a:p>
                    <a:p>
                      <a:r>
                        <a:rPr lang="fr-FR" sz="1600" b="0" dirty="0" smtClean="0">
                          <a:solidFill>
                            <a:srgbClr val="2F5597"/>
                          </a:solidFill>
                        </a:rPr>
                        <a:t>Numéro du</a:t>
                      </a:r>
                      <a:r>
                        <a:rPr lang="fr-FR" sz="1600" b="0" baseline="0" dirty="0" smtClean="0">
                          <a:solidFill>
                            <a:srgbClr val="2F5597"/>
                          </a:solidFill>
                        </a:rPr>
                        <a:t> critère dans le référentiel</a:t>
                      </a:r>
                      <a:endParaRPr lang="fr-FR" sz="1600" b="0" dirty="0">
                        <a:solidFill>
                          <a:srgbClr val="2F5597"/>
                        </a:solidFill>
                      </a:endParaRPr>
                    </a:p>
                  </a:txBody>
                  <a:tcPr anchor="ctr">
                    <a:solidFill>
                      <a:schemeClr val="bg1"/>
                    </a:solidFill>
                  </a:tcPr>
                </a:tc>
                <a:extLst>
                  <a:ext uri="{0D108BD9-81ED-4DB2-BD59-A6C34878D82A}">
                    <a16:rowId xmlns:a16="http://schemas.microsoft.com/office/drawing/2014/main" val="1922283332"/>
                  </a:ext>
                </a:extLst>
              </a:tr>
            </a:tbl>
          </a:graphicData>
        </a:graphic>
      </p:graphicFrame>
      <p:sp>
        <p:nvSpPr>
          <p:cNvPr id="4" name="ZoneTexte 3"/>
          <p:cNvSpPr txBox="1"/>
          <p:nvPr/>
        </p:nvSpPr>
        <p:spPr>
          <a:xfrm>
            <a:off x="0" y="0"/>
            <a:ext cx="5957455" cy="369332"/>
          </a:xfrm>
          <a:prstGeom prst="rect">
            <a:avLst/>
          </a:prstGeom>
          <a:noFill/>
        </p:spPr>
        <p:txBody>
          <a:bodyPr wrap="square" rtlCol="0">
            <a:spAutoFit/>
          </a:bodyPr>
          <a:lstStyle/>
          <a:p>
            <a:r>
              <a:rPr lang="fr-FR" u="sng" dirty="0" smtClean="0"/>
              <a:t>Exemple d’une fiches d’</a:t>
            </a:r>
            <a:r>
              <a:rPr lang="fr-FR" u="sng" dirty="0" err="1" smtClean="0"/>
              <a:t>éco-conception</a:t>
            </a:r>
            <a:endParaRPr lang="fr-FR" u="sng" dirty="0"/>
          </a:p>
        </p:txBody>
      </p:sp>
    </p:spTree>
    <p:extLst>
      <p:ext uri="{BB962C8B-B14F-4D97-AF65-F5344CB8AC3E}">
        <p14:creationId xmlns:p14="http://schemas.microsoft.com/office/powerpoint/2010/main" val="1723320314"/>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nvPr>
        </p:nvGraphicFramePr>
        <p:xfrm>
          <a:off x="0" y="1112520"/>
          <a:ext cx="12192000" cy="4904123"/>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28832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1/Le site a été audité avant sa refonte afin d’avoir des données concrètes sur l’avant/après : mesurer pour se</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comparer, mesurer pour itérer, mesurer pour prouver</a:t>
                      </a:r>
                    </a:p>
                  </a:txBody>
                  <a:tcPr anchor="ctr">
                    <a:solidFill>
                      <a:srgbClr val="2F5597"/>
                    </a:solidFill>
                  </a:tcPr>
                </a:tc>
                <a:tc hMerge="1">
                  <a:txBody>
                    <a:bodyPr/>
                    <a:lstStyle/>
                    <a:p>
                      <a:pP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15799">
                <a:tc>
                  <a:txBody>
                    <a:bodyPr/>
                    <a:lstStyle/>
                    <a:p>
                      <a:pPr marL="0" indent="0">
                        <a:buFont typeface="Arial" panose="020B0604020202020204" pitchFamily="34" charset="0"/>
                        <a:buNone/>
                      </a:pPr>
                      <a:r>
                        <a:rPr lang="fr-FR" sz="1600" dirty="0" smtClean="0">
                          <a:solidFill>
                            <a:schemeClr val="tx1"/>
                          </a:solidFill>
                        </a:rPr>
                        <a:t>Pour évaluer l’utilité du service, se référer à des référentiels et déterminer en amont du projet si son</a:t>
                      </a:r>
                    </a:p>
                    <a:p>
                      <a:pPr marL="0" indent="0">
                        <a:buFont typeface="Arial" panose="020B0604020202020204" pitchFamily="34" charset="0"/>
                        <a:buNone/>
                      </a:pPr>
                      <a:r>
                        <a:rPr lang="fr-FR" sz="1600" dirty="0" smtClean="0">
                          <a:solidFill>
                            <a:schemeClr val="tx1"/>
                          </a:solidFill>
                        </a:rPr>
                        <a:t>utilité est avérée, comme par exemple :</a:t>
                      </a:r>
                    </a:p>
                    <a:p>
                      <a:pPr marL="0" indent="0">
                        <a:buFont typeface="Arial" panose="020B0604020202020204" pitchFamily="34" charset="0"/>
                        <a:buNone/>
                      </a:pPr>
                      <a:r>
                        <a:rPr lang="fr-FR" sz="1600" dirty="0" smtClean="0">
                          <a:solidFill>
                            <a:schemeClr val="tx1"/>
                          </a:solidFill>
                        </a:rPr>
                        <a:t>→ les 17 ODD de l’ONU</a:t>
                      </a:r>
                    </a:p>
                    <a:p>
                      <a:pPr marL="0" indent="0">
                        <a:buFont typeface="Arial" panose="020B0604020202020204" pitchFamily="34" charset="0"/>
                        <a:buNone/>
                      </a:pPr>
                      <a:r>
                        <a:rPr lang="fr-FR" sz="1600" dirty="0" smtClean="0">
                          <a:solidFill>
                            <a:schemeClr val="tx1"/>
                          </a:solidFill>
                        </a:rPr>
                        <a:t>→ les 9 limites planétaires</a:t>
                      </a:r>
                    </a:p>
                    <a:p>
                      <a:pPr marL="0" indent="0">
                        <a:buFont typeface="Arial" panose="020B0604020202020204" pitchFamily="34" charset="0"/>
                        <a:buNone/>
                      </a:pPr>
                      <a:r>
                        <a:rPr lang="fr-FR" sz="1600" dirty="0" smtClean="0">
                          <a:solidFill>
                            <a:schemeClr val="tx1"/>
                          </a:solidFill>
                        </a:rPr>
                        <a:t>→ autre ?</a:t>
                      </a:r>
                    </a:p>
                    <a:p>
                      <a:pPr marL="0" indent="0">
                        <a:buFont typeface="Arial" panose="020B0604020202020204" pitchFamily="34" charset="0"/>
                        <a:buNone/>
                      </a:pPr>
                      <a:r>
                        <a:rPr lang="fr-FR" sz="1600" dirty="0" smtClean="0">
                          <a:solidFill>
                            <a:schemeClr val="tx1"/>
                          </a:solidFill>
                        </a:rPr>
                        <a:t>Vérifier par exemple un ou plusieurs de ces points :</a:t>
                      </a:r>
                    </a:p>
                    <a:p>
                      <a:pPr marL="0" indent="0">
                        <a:buFont typeface="Arial" panose="020B0604020202020204" pitchFamily="34" charset="0"/>
                        <a:buNone/>
                      </a:pPr>
                      <a:r>
                        <a:rPr lang="fr-FR" sz="1600" dirty="0" smtClean="0">
                          <a:solidFill>
                            <a:schemeClr val="tx1"/>
                          </a:solidFill>
                        </a:rPr>
                        <a:t>sa pertinence, son utilité, sa création de valeur, son bien-fondé, son service pour l’intérêt général,</a:t>
                      </a:r>
                    </a:p>
                    <a:p>
                      <a:pPr marL="0" indent="0">
                        <a:buFont typeface="Arial" panose="020B0604020202020204" pitchFamily="34" charset="0"/>
                        <a:buNone/>
                      </a:pPr>
                      <a:r>
                        <a:rPr lang="fr-FR" sz="1600" dirty="0" smtClean="0">
                          <a:solidFill>
                            <a:schemeClr val="tx1"/>
                          </a:solidFill>
                        </a:rPr>
                        <a:t>sa réponse à des besoins essentiels, sa participation à la mise en place de commun numérique, etc.</a:t>
                      </a:r>
                      <a:endParaRPr lang="fr-FR" sz="1600" dirty="0">
                        <a:solidFill>
                          <a:schemeClr val="tx1"/>
                        </a:solidFill>
                      </a:endParaRPr>
                    </a:p>
                  </a:txBody>
                  <a:tcPr/>
                </a:tc>
                <a:tc>
                  <a:txBody>
                    <a:bodyPr/>
                    <a:lstStyle/>
                    <a:p>
                      <a:r>
                        <a:rPr lang="fr-FR" sz="1400" dirty="0" smtClean="0"/>
                        <a:t>Le rapport comprendra a minima une réponse aux questions suivantes (source : Designers Éthiques) :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smtClean="0"/>
                        <a:t>• Justifier les impacts environnementaux et sociaux.</a:t>
                      </a:r>
                    </a:p>
                    <a:p>
                      <a:r>
                        <a:rPr lang="fr-FR" sz="1400" dirty="0" smtClean="0"/>
                        <a:t>• L’utilisation du numérique pour ce service est-elle nécessaire ? </a:t>
                      </a:r>
                    </a:p>
                    <a:p>
                      <a:r>
                        <a:rPr lang="fr-FR" sz="1400" dirty="0" smtClean="0"/>
                        <a:t>• Existe-t-il d’autres solutions non numériques pour répondre à ce besoin ? </a:t>
                      </a:r>
                    </a:p>
                    <a:p>
                      <a:r>
                        <a:rPr lang="fr-FR" sz="1400" dirty="0" smtClean="0"/>
                        <a:t>• Quels sont les réels besoins justifiant la création du service ? </a:t>
                      </a:r>
                    </a:p>
                    <a:p>
                      <a:r>
                        <a:rPr lang="fr-FR" sz="1400" dirty="0" smtClean="0"/>
                        <a:t>• La valeur ajoutée du service justifie-t-elle la mobilisation des ressources requises pour sa création ? Est-ce qu’on crée plus de valeur qu’on en détruit ? </a:t>
                      </a:r>
                    </a:p>
                    <a:p>
                      <a:r>
                        <a:rPr lang="fr-FR" sz="1400" dirty="0" smtClean="0"/>
                        <a:t>• Pour chaque fonctionnalité, est-elle vraiment nécessaire ? Peut-on faire autrement ?</a:t>
                      </a:r>
                    </a:p>
                    <a:p>
                      <a:r>
                        <a:rPr lang="fr-FR" sz="1400" dirty="0" smtClean="0"/>
                        <a:t>• Que se </a:t>
                      </a:r>
                      <a:r>
                        <a:rPr lang="fr-FR" sz="1400" dirty="0" err="1" smtClean="0"/>
                        <a:t>passerait-il</a:t>
                      </a:r>
                      <a:r>
                        <a:rPr lang="fr-FR" sz="1400" dirty="0" smtClean="0"/>
                        <a:t> si on ne l’avait pas ?</a:t>
                      </a:r>
                    </a:p>
                  </a:txBody>
                  <a:tcPr/>
                </a:tc>
                <a:extLst>
                  <a:ext uri="{0D108BD9-81ED-4DB2-BD59-A6C34878D82A}">
                    <a16:rowId xmlns:a16="http://schemas.microsoft.com/office/drawing/2014/main" val="3420094902"/>
                  </a:ext>
                </a:extLst>
              </a:tr>
            </a:tbl>
          </a:graphicData>
        </a:graphic>
      </p:graphicFrame>
      <p:graphicFrame>
        <p:nvGraphicFramePr>
          <p:cNvPr id="2" name="Tableau 1"/>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Haute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7" name="Tableau 6"/>
          <p:cNvGraphicFramePr>
            <a:graphicFrameLocks noGrp="1"/>
          </p:cNvGraphicFramePr>
          <p:nvPr>
            <p:extLst/>
          </p:nvPr>
        </p:nvGraphicFramePr>
        <p:xfrm>
          <a:off x="-1" y="6035040"/>
          <a:ext cx="10271869" cy="769716"/>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6">
                <a:tc>
                  <a:txBody>
                    <a:bodyPr/>
                    <a:lstStyle/>
                    <a:p>
                      <a:r>
                        <a:rPr lang="fr-FR" sz="1400" b="0" dirty="0" smtClean="0">
                          <a:solidFill>
                            <a:srgbClr val="2F5597"/>
                          </a:solidFill>
                        </a:rPr>
                        <a:t>Source : RGESN version 2022 et 2024</a:t>
                      </a:r>
                    </a:p>
                    <a:p>
                      <a:r>
                        <a:rPr lang="fr-FR" sz="1400" b="0" dirty="0" smtClean="0">
                          <a:solidFill>
                            <a:srgbClr val="2F5597"/>
                          </a:solidFill>
                        </a:rPr>
                        <a:t>1.1 Le service numérique </a:t>
                      </a:r>
                      <a:r>
                        <a:rPr lang="fr-FR" sz="1400" b="0" dirty="0" err="1" smtClean="0">
                          <a:solidFill>
                            <a:srgbClr val="2F5597"/>
                          </a:solidFill>
                        </a:rPr>
                        <a:t>a-t-il</a:t>
                      </a:r>
                      <a:r>
                        <a:rPr lang="fr-FR" sz="1400" b="0" dirty="0" smtClean="0">
                          <a:solidFill>
                            <a:srgbClr val="2F5597"/>
                          </a:solidFill>
                        </a:rPr>
                        <a:t> été évalué favorablement en termes d’utilité en tenant compte de ses impacts environnementaux ?</a:t>
                      </a:r>
                      <a:endParaRPr lang="fr-FR" sz="1400" b="0" dirty="0">
                        <a:solidFill>
                          <a:srgbClr val="2F5597"/>
                        </a:solidFill>
                      </a:endParaRP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512036665"/>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nvPr>
        </p:nvGraphicFramePr>
        <p:xfrm>
          <a:off x="0" y="1112521"/>
          <a:ext cx="12191999"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2/Définir des cibles utilisateurs</a:t>
                      </a:r>
                    </a:p>
                  </a:txBody>
                  <a:tcPr anchor="ctr">
                    <a:solidFill>
                      <a:srgbClr val="2F5597"/>
                    </a:solidFill>
                  </a:tcPr>
                </a:tc>
                <a:tc hMerge="1">
                  <a:txBody>
                    <a:bodyPr/>
                    <a:lstStyle/>
                    <a:p>
                      <a:pP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smtClean="0"/>
                        <a:t>Concernant l’identification des besoins métiers et des attentes réelles des utilisateurs-cibles, les étapes suivantes pourront être suivies : </a:t>
                      </a:r>
                    </a:p>
                    <a:p>
                      <a:pPr marL="0" indent="0">
                        <a:buFont typeface="Arial" panose="020B0604020202020204" pitchFamily="34" charset="0"/>
                        <a:buNone/>
                      </a:pPr>
                      <a:r>
                        <a:rPr lang="fr-FR" sz="1600" dirty="0" smtClean="0"/>
                        <a:t>• Entretiens avec les différentes parties prenantes et les métiers concernés ; </a:t>
                      </a:r>
                    </a:p>
                    <a:p>
                      <a:pPr marL="0" indent="0">
                        <a:buFont typeface="Arial" panose="020B0604020202020204" pitchFamily="34" charset="0"/>
                        <a:buNone/>
                      </a:pPr>
                      <a:r>
                        <a:rPr lang="fr-FR" sz="1600" dirty="0" smtClean="0"/>
                        <a:t>• Recherche UX auprès des utilisateurs ciblés ; </a:t>
                      </a:r>
                    </a:p>
                    <a:p>
                      <a:pPr marL="0" indent="0">
                        <a:buFont typeface="Arial" panose="020B0604020202020204" pitchFamily="34" charset="0"/>
                        <a:buNone/>
                      </a:pPr>
                      <a:r>
                        <a:rPr lang="fr-FR" sz="1600" dirty="0" smtClean="0"/>
                        <a:t>• Définir les utilisateurs primaires et secondaires ; </a:t>
                      </a:r>
                    </a:p>
                    <a:p>
                      <a:pPr marL="0" indent="0">
                        <a:buFont typeface="Arial" panose="020B0604020202020204" pitchFamily="34" charset="0"/>
                        <a:buNone/>
                      </a:pPr>
                      <a:r>
                        <a:rPr lang="fr-FR" sz="1600" dirty="0" smtClean="0"/>
                        <a:t>• Pratique alliée : les approches agiles ; </a:t>
                      </a:r>
                    </a:p>
                    <a:p>
                      <a:pPr marL="0" indent="0">
                        <a:buFont typeface="Arial" panose="020B0604020202020204" pitchFamily="34" charset="0"/>
                        <a:buNone/>
                      </a:pPr>
                      <a:r>
                        <a:rPr lang="fr-FR" sz="1600" dirty="0" smtClean="0"/>
                        <a:t>• Observation des statistiques d’usages dans le cas d’un service déjà existant.</a:t>
                      </a:r>
                      <a:endParaRPr lang="fr-FR" sz="1600" dirty="0">
                        <a:solidFill>
                          <a:schemeClr val="tx1"/>
                        </a:solidFill>
                      </a:endParaRPr>
                    </a:p>
                  </a:txBody>
                  <a:tcPr/>
                </a:tc>
                <a:tc>
                  <a:txBody>
                    <a:bodyPr/>
                    <a:lstStyle/>
                    <a:p>
                      <a:r>
                        <a:rPr lang="fr-FR" sz="1600" dirty="0" smtClean="0"/>
                        <a:t>Pour valider ce critère, le profil des cibles utilisatrices ainsi que l’analyse des besoins métiers et des attentes des utilisateurs devraient être clairement renseignés ainsi que les choix effectués en ce sens.</a:t>
                      </a:r>
                      <a:endParaRPr lang="fr-FR" sz="1600" dirty="0" smtClean="0">
                        <a:solidFill>
                          <a:schemeClr val="tx1"/>
                        </a:solidFill>
                      </a:endParaRP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3"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Faible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7" name="Tableau 6"/>
          <p:cNvGraphicFramePr>
            <a:graphicFrameLocks noGrp="1"/>
          </p:cNvGraphicFramePr>
          <p:nvPr>
            <p:extLst/>
          </p:nvPr>
        </p:nvGraphicFramePr>
        <p:xfrm>
          <a:off x="-1" y="6088283"/>
          <a:ext cx="10271869" cy="76971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7">
                <a:tc>
                  <a:txBody>
                    <a:bodyPr/>
                    <a:lstStyle/>
                    <a:p>
                      <a:r>
                        <a:rPr lang="fr-FR" sz="1400" b="0" dirty="0" smtClean="0">
                          <a:solidFill>
                            <a:srgbClr val="2F5597"/>
                          </a:solidFill>
                        </a:rPr>
                        <a:t>Source : RGESN version 2022 et 2024</a:t>
                      </a:r>
                    </a:p>
                    <a:p>
                      <a:r>
                        <a:rPr lang="fr-FR" sz="1400" b="0" dirty="0" smtClean="0">
                          <a:solidFill>
                            <a:srgbClr val="2F5597"/>
                          </a:solidFill>
                        </a:rPr>
                        <a:t>1.2 Le service numérique </a:t>
                      </a:r>
                      <a:r>
                        <a:rPr lang="fr-FR" sz="1400" b="0" dirty="0" err="1" smtClean="0">
                          <a:solidFill>
                            <a:srgbClr val="2F5597"/>
                          </a:solidFill>
                        </a:rPr>
                        <a:t>a-t-il</a:t>
                      </a:r>
                      <a:r>
                        <a:rPr lang="fr-FR" sz="1400" b="0" dirty="0" smtClean="0">
                          <a:solidFill>
                            <a:srgbClr val="2F5597"/>
                          </a:solidFill>
                        </a:rPr>
                        <a:t> défini ses cibles utilisatrices, les besoins</a:t>
                      </a:r>
                      <a:r>
                        <a:rPr lang="fr-FR" sz="1400" b="0" baseline="0" dirty="0" smtClean="0">
                          <a:solidFill>
                            <a:srgbClr val="2F5597"/>
                          </a:solidFill>
                        </a:rPr>
                        <a:t> </a:t>
                      </a:r>
                      <a:r>
                        <a:rPr lang="fr-FR" sz="1400" b="0" dirty="0" smtClean="0">
                          <a:solidFill>
                            <a:srgbClr val="2F5597"/>
                          </a:solidFill>
                        </a:rPr>
                        <a:t>métiers et les attentes réelles des utilisateurs-cibles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4148636677"/>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nvPr>
        </p:nvGraphicFramePr>
        <p:xfrm>
          <a:off x="0" y="1112521"/>
          <a:ext cx="12191999"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3/Identifier</a:t>
                      </a:r>
                      <a:r>
                        <a:rPr lang="fr-FR" sz="1800" b="1" u="sng" kern="1200" baseline="0" dirty="0" smtClean="0">
                          <a:solidFill>
                            <a:schemeClr val="bg1"/>
                          </a:solidFill>
                          <a:latin typeface="+mn-lt"/>
                          <a:ea typeface="+mn-ea"/>
                          <a:cs typeface="+mn-cs"/>
                        </a:rPr>
                        <a:t> un référent </a:t>
                      </a:r>
                      <a:r>
                        <a:rPr lang="fr-FR" sz="1800" b="1" u="sng" kern="1200" dirty="0" smtClean="0">
                          <a:solidFill>
                            <a:schemeClr val="bg1"/>
                          </a:solidFill>
                          <a:latin typeface="+mn-lt"/>
                          <a:ea typeface="+mn-ea"/>
                          <a:cs typeface="+mn-cs"/>
                        </a:rPr>
                        <a:t>en</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écoconception numérique</a:t>
                      </a:r>
                    </a:p>
                  </a:txBody>
                  <a:tcPr anchor="ctr">
                    <a:solidFill>
                      <a:srgbClr val="2F5597"/>
                    </a:solidFill>
                  </a:tcPr>
                </a:tc>
                <a:tc hMerge="1">
                  <a:txBody>
                    <a:bodyPr/>
                    <a:lstStyle/>
                    <a:p>
                      <a:pP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smtClean="0"/>
                        <a:t>Le ou les référent(s), internes ou externes, s’assurent de l’acculturation des équipes projet à l’écoconception de service numérique, afin d’encourager sa prise en compte. </a:t>
                      </a:r>
                    </a:p>
                    <a:p>
                      <a:pPr marL="0" indent="0">
                        <a:buFont typeface="Arial" panose="020B0604020202020204" pitchFamily="34" charset="0"/>
                        <a:buNone/>
                      </a:pPr>
                      <a:endParaRPr lang="fr-FR" sz="1600" dirty="0" smtClean="0"/>
                    </a:p>
                    <a:p>
                      <a:pPr marL="0" indent="0">
                        <a:buFont typeface="Arial" panose="020B0604020202020204" pitchFamily="34" charset="0"/>
                        <a:buNone/>
                      </a:pPr>
                      <a:r>
                        <a:rPr lang="fr-FR" sz="1600" dirty="0" smtClean="0"/>
                        <a:t>Le référent écoconception fera maintenir une documentation technique interne, afin que les techniques d’écoconception soient écrites et partagées dans l’équipe en charge du service numérique, pour en garantir la pérennité. </a:t>
                      </a:r>
                    </a:p>
                    <a:p>
                      <a:pPr marL="0" indent="0">
                        <a:buFont typeface="Arial" panose="020B0604020202020204" pitchFamily="34" charset="0"/>
                        <a:buNone/>
                      </a:pPr>
                      <a:endParaRPr lang="fr-FR" sz="1600" dirty="0" smtClean="0"/>
                    </a:p>
                    <a:p>
                      <a:pPr marL="0" indent="0">
                        <a:buFont typeface="Arial" panose="020B0604020202020204" pitchFamily="34" charset="0"/>
                        <a:buNone/>
                      </a:pPr>
                      <a:r>
                        <a:rPr lang="fr-FR" sz="1600" dirty="0" smtClean="0"/>
                        <a:t>Il s’assure également de la mise en place de revue régulière rendant compte de la démarche d’écoconception du service, et de la mise à jour de sa déclaration d’écoconception. </a:t>
                      </a:r>
                    </a:p>
                    <a:p>
                      <a:pPr marL="0" indent="0">
                        <a:buFont typeface="Arial" panose="020B0604020202020204" pitchFamily="34" charset="0"/>
                        <a:buNone/>
                      </a:pPr>
                      <a:r>
                        <a:rPr lang="fr-FR" sz="1600" dirty="0" smtClean="0"/>
                        <a:t>Il vérifie que les équipes impliquées dans la conception du service numérique ont été sensibilisées (voire formées) à l’écoconception. </a:t>
                      </a:r>
                      <a:endParaRPr lang="fr-FR" sz="1600" dirty="0">
                        <a:solidFill>
                          <a:schemeClr val="tx1"/>
                        </a:solidFill>
                      </a:endParaRPr>
                    </a:p>
                  </a:txBody>
                  <a:tcPr/>
                </a:tc>
                <a:tc>
                  <a:txBody>
                    <a:bodyPr/>
                    <a:lstStyle/>
                    <a:p>
                      <a:r>
                        <a:rPr lang="fr-FR" sz="1600" dirty="0" smtClean="0"/>
                        <a:t>Le critère est validé si un contact (nominal ou générique) est précisé.</a:t>
                      </a:r>
                      <a:endParaRPr lang="fr-FR" sz="1600" dirty="0" smtClean="0">
                        <a:solidFill>
                          <a:schemeClr val="tx1"/>
                        </a:solidFill>
                      </a:endParaRP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3"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Faible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9" name="Tableau 8"/>
          <p:cNvGraphicFramePr>
            <a:graphicFrameLocks noGrp="1"/>
          </p:cNvGraphicFramePr>
          <p:nvPr>
            <p:extLst/>
          </p:nvPr>
        </p:nvGraphicFramePr>
        <p:xfrm>
          <a:off x="-1" y="6088283"/>
          <a:ext cx="10271869" cy="76971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7">
                <a:tc>
                  <a:txBody>
                    <a:bodyPr/>
                    <a:lstStyle/>
                    <a:p>
                      <a:r>
                        <a:rPr lang="fr-FR" sz="1400" b="0" dirty="0" smtClean="0">
                          <a:solidFill>
                            <a:srgbClr val="2F5597"/>
                          </a:solidFill>
                        </a:rPr>
                        <a:t>Source : RGESN version 2024</a:t>
                      </a:r>
                    </a:p>
                    <a:p>
                      <a:r>
                        <a:rPr lang="fr-FR" sz="1400" b="0" dirty="0" smtClean="0">
                          <a:solidFill>
                            <a:srgbClr val="2F5597"/>
                          </a:solidFill>
                        </a:rPr>
                        <a:t>1.3 Le service numérique </a:t>
                      </a:r>
                      <a:r>
                        <a:rPr lang="fr-FR" sz="1400" b="0" dirty="0" err="1" smtClean="0">
                          <a:solidFill>
                            <a:srgbClr val="2F5597"/>
                          </a:solidFill>
                        </a:rPr>
                        <a:t>a-t-il</a:t>
                      </a:r>
                      <a:r>
                        <a:rPr lang="fr-FR" sz="1400" b="0" dirty="0" smtClean="0">
                          <a:solidFill>
                            <a:srgbClr val="2F5597"/>
                          </a:solidFill>
                        </a:rPr>
                        <a:t> au moins un référent identifié en</a:t>
                      </a:r>
                      <a:r>
                        <a:rPr lang="fr-FR" sz="1400" b="0" baseline="0" dirty="0" smtClean="0">
                          <a:solidFill>
                            <a:srgbClr val="2F5597"/>
                          </a:solidFill>
                        </a:rPr>
                        <a:t> </a:t>
                      </a:r>
                      <a:r>
                        <a:rPr lang="fr-FR" sz="1400" b="0" dirty="0" smtClean="0">
                          <a:solidFill>
                            <a:srgbClr val="2F5597"/>
                          </a:solidFill>
                        </a:rPr>
                        <a:t>écoconception numérique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389653654"/>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nvPr>
        </p:nvGraphicFramePr>
        <p:xfrm>
          <a:off x="0" y="1112521"/>
          <a:ext cx="12191999"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4/ Mettre</a:t>
                      </a:r>
                      <a:r>
                        <a:rPr lang="fr-FR" sz="1800" b="1" u="sng" kern="1200" baseline="0" dirty="0" smtClean="0">
                          <a:solidFill>
                            <a:schemeClr val="bg1"/>
                          </a:solidFill>
                          <a:latin typeface="+mn-lt"/>
                          <a:ea typeface="+mn-ea"/>
                          <a:cs typeface="+mn-cs"/>
                        </a:rPr>
                        <a:t> en place des </a:t>
                      </a:r>
                      <a:r>
                        <a:rPr lang="fr-FR" sz="1800" b="1" u="sng" kern="1200" dirty="0" smtClean="0">
                          <a:solidFill>
                            <a:schemeClr val="bg1"/>
                          </a:solidFill>
                          <a:latin typeface="+mn-lt"/>
                          <a:ea typeface="+mn-ea"/>
                          <a:cs typeface="+mn-cs"/>
                        </a:rPr>
                        <a:t>Revues régulière pour</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s’assurer du respect de sa démarche d’écoconception</a:t>
                      </a:r>
                    </a:p>
                  </a:txBody>
                  <a:tcPr anchor="ctr">
                    <a:solidFill>
                      <a:srgbClr val="2F5597"/>
                    </a:solidFill>
                  </a:tcPr>
                </a:tc>
                <a:tc hMerge="1">
                  <a:txBody>
                    <a:bodyPr/>
                    <a:lstStyle/>
                    <a:p>
                      <a:pP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smtClean="0"/>
                        <a:t>Réaliser une revue, auto-évaluation ou audit régulier, appliquant ce référentiel. </a:t>
                      </a:r>
                    </a:p>
                    <a:p>
                      <a:pPr marL="0" indent="0">
                        <a:buFont typeface="Arial" panose="020B0604020202020204" pitchFamily="34" charset="0"/>
                        <a:buNone/>
                      </a:pPr>
                      <a:endParaRPr lang="fr-FR" sz="1600" dirty="0" smtClean="0"/>
                    </a:p>
                    <a:p>
                      <a:pPr marL="0" indent="0">
                        <a:buFont typeface="Arial" panose="020B0604020202020204" pitchFamily="34" charset="0"/>
                        <a:buNone/>
                      </a:pPr>
                      <a:r>
                        <a:rPr lang="fr-FR" sz="1600" dirty="0" smtClean="0"/>
                        <a:t>De plus, réaliser des audits</a:t>
                      </a:r>
                      <a:r>
                        <a:rPr lang="fr-FR" sz="1600" baseline="0" dirty="0" smtClean="0"/>
                        <a:t> </a:t>
                      </a:r>
                      <a:r>
                        <a:rPr lang="fr-FR" sz="1600" dirty="0" smtClean="0"/>
                        <a:t>de performances et tests de charge au sein de l’application / composant / micro service avec identification</a:t>
                      </a:r>
                      <a:r>
                        <a:rPr lang="fr-FR" sz="1600" baseline="0" dirty="0" smtClean="0"/>
                        <a:t> </a:t>
                      </a:r>
                      <a:r>
                        <a:rPr lang="fr-FR" sz="1600" dirty="0" smtClean="0"/>
                        <a:t>des </a:t>
                      </a:r>
                      <a:r>
                        <a:rPr lang="fr-FR" sz="1600" dirty="0" err="1" smtClean="0"/>
                        <a:t>bottlenecks</a:t>
                      </a:r>
                      <a:r>
                        <a:rPr lang="fr-FR" sz="1600" dirty="0" smtClean="0"/>
                        <a:t> (goulots d’étranglement), des ressources utilisées, etc. </a:t>
                      </a:r>
                    </a:p>
                    <a:p>
                      <a:pPr marL="0" indent="0">
                        <a:buFont typeface="Arial" panose="020B0604020202020204" pitchFamily="34" charset="0"/>
                        <a:buNone/>
                      </a:pPr>
                      <a:endParaRPr lang="fr-FR" sz="1600" dirty="0" smtClean="0"/>
                    </a:p>
                    <a:p>
                      <a:pPr marL="0" indent="0">
                        <a:buFont typeface="Arial" panose="020B0604020202020204" pitchFamily="34" charset="0"/>
                        <a:buNone/>
                      </a:pPr>
                      <a:r>
                        <a:rPr lang="fr-FR" sz="1600" dirty="0" smtClean="0"/>
                        <a:t>La fréquence de ces procédés devra</a:t>
                      </a:r>
                      <a:r>
                        <a:rPr lang="fr-FR" sz="1600" baseline="0" dirty="0" smtClean="0"/>
                        <a:t> </a:t>
                      </a:r>
                      <a:r>
                        <a:rPr lang="fr-FR" sz="1600" dirty="0" smtClean="0"/>
                        <a:t>être adaptée à la taille et à la nature du service numérique.</a:t>
                      </a:r>
                    </a:p>
                    <a:p>
                      <a:pPr marL="0" indent="0">
                        <a:buFont typeface="Arial" panose="020B0604020202020204" pitchFamily="34" charset="0"/>
                        <a:buNone/>
                      </a:pPr>
                      <a:endParaRPr lang="fr-FR" sz="1600" dirty="0" smtClean="0"/>
                    </a:p>
                  </a:txBody>
                  <a:tcPr/>
                </a:tc>
                <a:tc>
                  <a:txBody>
                    <a:bodyPr/>
                    <a:lstStyle/>
                    <a:p>
                      <a:r>
                        <a:rPr lang="fr-FR" sz="1600" dirty="0" smtClean="0"/>
                        <a:t>Pour valider ce critère, il convient de mettre en œuvre une revue ou autoévaluation régulière appliquant ce référentiel. Des audits de performance et des tests de charge réguliers devront également être effectués.</a:t>
                      </a:r>
                      <a:endParaRPr lang="fr-FR" sz="1600" dirty="0" smtClean="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3"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7" name="Tableau 6"/>
          <p:cNvGraphicFramePr>
            <a:graphicFrameLocks noGrp="1"/>
          </p:cNvGraphicFramePr>
          <p:nvPr>
            <p:extLst/>
          </p:nvPr>
        </p:nvGraphicFramePr>
        <p:xfrm>
          <a:off x="-1" y="6088283"/>
          <a:ext cx="10271869" cy="76971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7">
                <a:tc>
                  <a:txBody>
                    <a:bodyPr/>
                    <a:lstStyle/>
                    <a:p>
                      <a:r>
                        <a:rPr lang="fr-FR" sz="1400" b="0" dirty="0" smtClean="0">
                          <a:solidFill>
                            <a:srgbClr val="2F5597"/>
                          </a:solidFill>
                        </a:rPr>
                        <a:t>Source : RGESN version 2024</a:t>
                      </a:r>
                    </a:p>
                    <a:p>
                      <a:r>
                        <a:rPr lang="fr-FR" sz="1400" b="0" dirty="0" smtClean="0">
                          <a:solidFill>
                            <a:srgbClr val="2F5597"/>
                          </a:solidFill>
                        </a:rPr>
                        <a:t>1.4 Le service numérique réalise-t-il régulièrement des revues pour</a:t>
                      </a:r>
                      <a:r>
                        <a:rPr lang="fr-FR" sz="1400" b="0" baseline="0" dirty="0" smtClean="0">
                          <a:solidFill>
                            <a:srgbClr val="2F5597"/>
                          </a:solidFill>
                        </a:rPr>
                        <a:t> </a:t>
                      </a:r>
                      <a:r>
                        <a:rPr lang="fr-FR" sz="1400" b="0" dirty="0" smtClean="0">
                          <a:solidFill>
                            <a:srgbClr val="2F5597"/>
                          </a:solidFill>
                        </a:rPr>
                        <a:t>s’assurer du respect de sa démarche d’écoconception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4202597907"/>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nvPr>
        </p:nvGraphicFramePr>
        <p:xfrm>
          <a:off x="0" y="1112521"/>
          <a:ext cx="12191999"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5/Fixer des objectifs en matière de</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réduction ou de limitation de ses propres impacts environnementaux</a:t>
                      </a:r>
                    </a:p>
                  </a:txBody>
                  <a:tcPr anchor="ctr">
                    <a:solidFill>
                      <a:srgbClr val="2F5597"/>
                    </a:solidFill>
                  </a:tcPr>
                </a:tc>
                <a:tc hMerge="1">
                  <a:txBody>
                    <a:bodyPr/>
                    <a:lstStyle/>
                    <a:p>
                      <a:pP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smtClean="0"/>
                        <a:t>Définir les indicateurs environnementaux à suivre, si possible suite à un diagnostic basé sur une méthodologie d’analyse de cycle de vie (ACV) multicritère afin d’identifier les indicateurs permettant de documenter la majorité de l’empreinte environnementale du service ou de l’organisation</a:t>
                      </a:r>
                    </a:p>
                    <a:p>
                      <a:pPr marL="0" indent="0">
                        <a:buFont typeface="Arial" panose="020B0604020202020204" pitchFamily="34" charset="0"/>
                        <a:buNone/>
                      </a:pPr>
                      <a:endParaRPr lang="fr-FR" sz="1600" dirty="0" smtClean="0"/>
                    </a:p>
                    <a:p>
                      <a:pPr marL="0" indent="0">
                        <a:buFont typeface="Arial" panose="020B0604020202020204" pitchFamily="34" charset="0"/>
                        <a:buNone/>
                      </a:pPr>
                      <a:r>
                        <a:rPr lang="fr-FR" sz="1600" dirty="0" smtClean="0"/>
                        <a:t>Le périmètre de l’analyse de cycle de vie peut être élargi par exemple en tenant compte des moyens de production : impacts environnementaux des équipements de conception, services en ligne mobilisés (environnement de test, de </a:t>
                      </a:r>
                      <a:r>
                        <a:rPr lang="fr-FR" sz="1600" dirty="0" err="1" smtClean="0"/>
                        <a:t>Quality</a:t>
                      </a:r>
                      <a:r>
                        <a:rPr lang="fr-FR" sz="1600" dirty="0" smtClean="0"/>
                        <a:t> Assurance (QA)…), déplacements des équipes, etc. </a:t>
                      </a:r>
                    </a:p>
                    <a:p>
                      <a:pPr marL="0" indent="0">
                        <a:buFont typeface="Arial" panose="020B0604020202020204" pitchFamily="34" charset="0"/>
                        <a:buNone/>
                      </a:pPr>
                      <a:endParaRPr lang="fr-FR" sz="1600" dirty="0" smtClean="0"/>
                    </a:p>
                    <a:p>
                      <a:pPr marL="0" indent="0">
                        <a:buFont typeface="Arial" panose="020B0604020202020204" pitchFamily="34" charset="0"/>
                        <a:buNone/>
                      </a:pPr>
                      <a:r>
                        <a:rPr lang="fr-FR" sz="1600" dirty="0" smtClean="0"/>
                        <a:t>Selon le contexte, il convient de préciser s’il s’agit d’indicateurs en valeur absolue (kg CO2e) ou relative (kg CO2e / utilisateur).</a:t>
                      </a:r>
                    </a:p>
                  </a:txBody>
                  <a:tcPr/>
                </a:tc>
                <a:tc>
                  <a:txBody>
                    <a:bodyPr/>
                    <a:lstStyle/>
                    <a:p>
                      <a:r>
                        <a:rPr lang="fr-FR" sz="1600" dirty="0" smtClean="0"/>
                        <a:t>Le critère est validé si l’empreinte environnementale du service a été évaluée – avec une méthodologie reconnue, si possible une ACV (multicritère) évaluant les impacts du service sur tout son cycle de vie – et si le service s’est fixé des objectifs de réduction d’impact;</a:t>
                      </a:r>
                    </a:p>
                    <a:p>
                      <a:endParaRPr lang="fr-FR" sz="1600" dirty="0" smtClean="0">
                        <a:solidFill>
                          <a:schemeClr val="tx1"/>
                        </a:solidFill>
                      </a:endParaRPr>
                    </a:p>
                    <a:p>
                      <a:endParaRPr lang="fr-FR" sz="1600" dirty="0" smtClean="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3"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7" name="Tableau 6"/>
          <p:cNvGraphicFramePr>
            <a:graphicFrameLocks noGrp="1"/>
          </p:cNvGraphicFramePr>
          <p:nvPr>
            <p:extLst/>
          </p:nvPr>
        </p:nvGraphicFramePr>
        <p:xfrm>
          <a:off x="-1" y="6088283"/>
          <a:ext cx="10271869" cy="76971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7">
                <a:tc>
                  <a:txBody>
                    <a:bodyPr/>
                    <a:lstStyle/>
                    <a:p>
                      <a:r>
                        <a:rPr lang="fr-FR" sz="1400" b="0" dirty="0" smtClean="0">
                          <a:solidFill>
                            <a:srgbClr val="2F5597"/>
                          </a:solidFill>
                        </a:rPr>
                        <a:t>Source : RGESN version 2024</a:t>
                      </a:r>
                    </a:p>
                    <a:p>
                      <a:r>
                        <a:rPr lang="fr-FR" sz="1400" b="0" dirty="0" smtClean="0">
                          <a:solidFill>
                            <a:srgbClr val="2F5597"/>
                          </a:solidFill>
                        </a:rPr>
                        <a:t>1.5 Le service numérique s’est-il fixé des objectifs en matière de</a:t>
                      </a:r>
                      <a:r>
                        <a:rPr lang="fr-FR" sz="1400" b="0" baseline="0" dirty="0" smtClean="0">
                          <a:solidFill>
                            <a:srgbClr val="2F5597"/>
                          </a:solidFill>
                        </a:rPr>
                        <a:t> </a:t>
                      </a:r>
                      <a:r>
                        <a:rPr lang="fr-FR" sz="1400" b="0" dirty="0" smtClean="0">
                          <a:solidFill>
                            <a:srgbClr val="2F5597"/>
                          </a:solidFill>
                        </a:rPr>
                        <a:t>réduction ou de limitation de ses propres impacts environnementaux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881098553"/>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nvPr>
        </p:nvGraphicFramePr>
        <p:xfrm>
          <a:off x="0" y="1112521"/>
          <a:ext cx="12191999" cy="4975763"/>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450087">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6/Collecte</a:t>
                      </a:r>
                      <a:r>
                        <a:rPr lang="fr-FR" sz="1800" b="1" u="sng" kern="1200" baseline="0" dirty="0" smtClean="0">
                          <a:solidFill>
                            <a:schemeClr val="bg1"/>
                          </a:solidFill>
                          <a:latin typeface="+mn-lt"/>
                          <a:ea typeface="+mn-ea"/>
                          <a:cs typeface="+mn-cs"/>
                        </a:rPr>
                        <a:t> de </a:t>
                      </a:r>
                      <a:r>
                        <a:rPr lang="fr-FR" sz="1800" b="1" u="sng" kern="1200" dirty="0" smtClean="0">
                          <a:solidFill>
                            <a:schemeClr val="bg1"/>
                          </a:solidFill>
                          <a:latin typeface="+mn-lt"/>
                          <a:ea typeface="+mn-ea"/>
                          <a:cs typeface="+mn-cs"/>
                        </a:rPr>
                        <a:t>donnée de façon responsable</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et raisonnée</a:t>
                      </a:r>
                    </a:p>
                  </a:txBody>
                  <a:tcPr anchor="ctr">
                    <a:solidFill>
                      <a:srgbClr val="2F5597"/>
                    </a:solidFill>
                  </a:tcPr>
                </a:tc>
                <a:tc hMerge="1">
                  <a:txBody>
                    <a:bodyPr/>
                    <a:lstStyle/>
                    <a:p>
                      <a:pP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525676">
                <a:tc>
                  <a:txBody>
                    <a:bodyPr/>
                    <a:lstStyle/>
                    <a:p>
                      <a:pPr marL="0" indent="0">
                        <a:buFont typeface="Arial" panose="020B0604020202020204" pitchFamily="34" charset="0"/>
                        <a:buNone/>
                      </a:pPr>
                      <a:r>
                        <a:rPr lang="fr-FR" sz="1400" dirty="0" smtClean="0"/>
                        <a:t>Définir clairement les données nécessaires au fonctionnement du service, en cohérence avec les cibles utilisatrices et leurs attentes telles que définies au critère 1.2 du présent référentiel. </a:t>
                      </a:r>
                    </a:p>
                    <a:p>
                      <a:pPr marL="0" indent="0">
                        <a:buFont typeface="Arial" panose="020B0604020202020204" pitchFamily="34" charset="0"/>
                        <a:buNone/>
                      </a:pPr>
                      <a:endParaRPr lang="fr-FR" sz="1400" dirty="0" smtClean="0"/>
                    </a:p>
                    <a:p>
                      <a:pPr marL="0" indent="0">
                        <a:buFont typeface="Arial" panose="020B0604020202020204" pitchFamily="34" charset="0"/>
                        <a:buNone/>
                      </a:pPr>
                      <a:r>
                        <a:rPr lang="fr-FR" sz="1400" dirty="0" smtClean="0"/>
                        <a:t>Définir les conditions de collecte qui devront expressément respecter les dispositifs du RGPD concernant les données personnelles. Pour les données non personnelles, la durée de conservation devra également être minimisée afin d’éviter leur stockage excessif. </a:t>
                      </a:r>
                    </a:p>
                    <a:p>
                      <a:pPr marL="0" indent="0">
                        <a:buFont typeface="Arial" panose="020B0604020202020204" pitchFamily="34" charset="0"/>
                        <a:buNone/>
                      </a:pPr>
                      <a:endParaRPr lang="fr-FR" sz="1400" dirty="0" smtClean="0"/>
                    </a:p>
                    <a:p>
                      <a:pPr marL="0" indent="0">
                        <a:buFont typeface="Arial" panose="020B0604020202020204" pitchFamily="34" charset="0"/>
                        <a:buNone/>
                      </a:pPr>
                      <a:r>
                        <a:rPr lang="fr-FR" sz="1400" dirty="0" smtClean="0"/>
                        <a:t>Systématiser la mise en place d’une information complète, le droit de s’opposer et/ou la demande de consentement explicite de l’utilisateur pour l’ensemble des données collectées, y compris pour les données non personnelles.</a:t>
                      </a:r>
                    </a:p>
                  </a:txBody>
                  <a:tcPr/>
                </a:tc>
                <a:tc>
                  <a:txBody>
                    <a:bodyPr/>
                    <a:lstStyle/>
                    <a:p>
                      <a:r>
                        <a:rPr lang="fr-FR" sz="1400" dirty="0" smtClean="0">
                          <a:solidFill>
                            <a:schemeClr val="tx1"/>
                          </a:solidFill>
                        </a:rPr>
                        <a:t>De façon plus large, pour l’ensemble des données collectées (y compris non personnelles), justifier le besoin de cette collecte au regard des cibles utilisatrices du service, la limitation de leur traitement et de la durée de conservation, et documenter les outils de</a:t>
                      </a:r>
                      <a:r>
                        <a:rPr lang="fr-FR" sz="1400" baseline="0" dirty="0" smtClean="0">
                          <a:solidFill>
                            <a:schemeClr val="tx1"/>
                          </a:solidFill>
                        </a:rPr>
                        <a:t> </a:t>
                      </a:r>
                      <a:r>
                        <a:rPr lang="fr-FR" sz="1400" dirty="0" smtClean="0">
                          <a:solidFill>
                            <a:schemeClr val="tx1"/>
                          </a:solidFill>
                        </a:rPr>
                        <a:t>recueil du consentement le cas échéant. </a:t>
                      </a:r>
                    </a:p>
                    <a:p>
                      <a:endParaRPr lang="fr-FR" sz="1400" dirty="0" smtClean="0">
                        <a:solidFill>
                          <a:schemeClr val="tx1"/>
                        </a:solidFill>
                      </a:endParaRPr>
                    </a:p>
                    <a:p>
                      <a:r>
                        <a:rPr lang="fr-FR" sz="1400" dirty="0" smtClean="0">
                          <a:solidFill>
                            <a:schemeClr val="tx1"/>
                          </a:solidFill>
                        </a:rPr>
                        <a:t>En ce qui concerne les données personnelles, un renvoi pourra être</a:t>
                      </a:r>
                      <a:r>
                        <a:rPr lang="fr-FR" sz="1400" baseline="0" dirty="0" smtClean="0">
                          <a:solidFill>
                            <a:schemeClr val="tx1"/>
                          </a:solidFill>
                        </a:rPr>
                        <a:t> </a:t>
                      </a:r>
                      <a:r>
                        <a:rPr lang="fr-FR" sz="1400" dirty="0" smtClean="0">
                          <a:solidFill>
                            <a:schemeClr val="tx1"/>
                          </a:solidFill>
                        </a:rPr>
                        <a:t>fait au registre de traitements des données personnelles tel que prévu par le RGPD.</a:t>
                      </a:r>
                    </a:p>
                    <a:p>
                      <a:endParaRPr lang="fr-FR" sz="1400" dirty="0" smtClean="0">
                        <a:solidFill>
                          <a:schemeClr val="tx1"/>
                        </a:solidFill>
                      </a:endParaRPr>
                    </a:p>
                    <a:p>
                      <a:r>
                        <a:rPr lang="fr-FR" sz="1400" dirty="0" smtClean="0">
                          <a:solidFill>
                            <a:schemeClr val="tx1"/>
                          </a:solidFill>
                        </a:rPr>
                        <a:t>Ne pas collecter des métadonnées servant au profilage de l’utilisateur, sauf si cette collecte est essentielle</a:t>
                      </a:r>
                      <a:r>
                        <a:rPr lang="fr-FR" sz="1400" baseline="0" dirty="0" smtClean="0">
                          <a:solidFill>
                            <a:schemeClr val="tx1"/>
                          </a:solidFill>
                        </a:rPr>
                        <a:t> </a:t>
                      </a:r>
                      <a:r>
                        <a:rPr lang="fr-FR" sz="1400" dirty="0" smtClean="0">
                          <a:solidFill>
                            <a:schemeClr val="tx1"/>
                          </a:solidFill>
                        </a:rPr>
                        <a:t>aux besoins et cibles utilisatrices du service (critère 1.2) ou au fonctionnement de ce dernier, et si l’utilisateur</a:t>
                      </a:r>
                      <a:r>
                        <a:rPr lang="fr-FR" sz="1400" baseline="0" dirty="0" smtClean="0">
                          <a:solidFill>
                            <a:schemeClr val="tx1"/>
                          </a:solidFill>
                        </a:rPr>
                        <a:t> </a:t>
                      </a:r>
                      <a:r>
                        <a:rPr lang="fr-FR" sz="1400" dirty="0" smtClean="0">
                          <a:solidFill>
                            <a:schemeClr val="tx1"/>
                          </a:solidFill>
                        </a:rPr>
                        <a:t>a donné son consentement explicite et éclairé et qu’il peut désactiver cette collecte à tout moment. </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3"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7" name="Tableau 6"/>
          <p:cNvGraphicFramePr>
            <a:graphicFrameLocks noGrp="1"/>
          </p:cNvGraphicFramePr>
          <p:nvPr>
            <p:extLst/>
          </p:nvPr>
        </p:nvGraphicFramePr>
        <p:xfrm>
          <a:off x="-1" y="6088283"/>
          <a:ext cx="10271869" cy="76971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7">
                <a:tc>
                  <a:txBody>
                    <a:bodyPr/>
                    <a:lstStyle/>
                    <a:p>
                      <a:r>
                        <a:rPr lang="fr-FR" sz="1400" b="0" dirty="0" smtClean="0">
                          <a:solidFill>
                            <a:srgbClr val="2F5597"/>
                          </a:solidFill>
                        </a:rPr>
                        <a:t>Source : RGESN version 2024</a:t>
                      </a:r>
                    </a:p>
                    <a:p>
                      <a:r>
                        <a:rPr lang="fr-FR" sz="1400" b="0" dirty="0" smtClean="0">
                          <a:solidFill>
                            <a:srgbClr val="2F5597"/>
                          </a:solidFill>
                        </a:rPr>
                        <a:t>1.6 Le service numérique collecte-t-il la donnée de façon responsable</a:t>
                      </a:r>
                      <a:r>
                        <a:rPr lang="fr-FR" sz="1400" b="0" baseline="0" dirty="0" smtClean="0">
                          <a:solidFill>
                            <a:srgbClr val="2F5597"/>
                          </a:solidFill>
                        </a:rPr>
                        <a:t> </a:t>
                      </a:r>
                      <a:r>
                        <a:rPr lang="fr-FR" sz="1400" b="0" dirty="0" smtClean="0">
                          <a:solidFill>
                            <a:srgbClr val="2F5597"/>
                          </a:solidFill>
                        </a:rPr>
                        <a:t>et raisonnée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576586340"/>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nvPr>
        </p:nvGraphicFramePr>
        <p:xfrm>
          <a:off x="0" y="1112521"/>
          <a:ext cx="12192000" cy="4975763"/>
        </p:xfrm>
        <a:graphic>
          <a:graphicData uri="http://schemas.openxmlformats.org/drawingml/2006/table">
            <a:tbl>
              <a:tblPr firstRow="1" bandRow="1">
                <a:tableStyleId>{5C22544A-7EE6-4342-B048-85BDC9FD1C3A}</a:tableStyleId>
              </a:tblPr>
              <a:tblGrid>
                <a:gridCol w="6143672">
                  <a:extLst>
                    <a:ext uri="{9D8B030D-6E8A-4147-A177-3AD203B41FA5}">
                      <a16:colId xmlns:a16="http://schemas.microsoft.com/office/drawing/2014/main" val="1470604376"/>
                    </a:ext>
                  </a:extLst>
                </a:gridCol>
                <a:gridCol w="6048328">
                  <a:extLst>
                    <a:ext uri="{9D8B030D-6E8A-4147-A177-3AD203B41FA5}">
                      <a16:colId xmlns:a16="http://schemas.microsoft.com/office/drawing/2014/main" val="588129664"/>
                    </a:ext>
                  </a:extLst>
                </a:gridCol>
              </a:tblGrid>
              <a:tr h="1450087">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7/Recours</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à un niveau de chiffrement</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adapté à ses besoins</a:t>
                      </a:r>
                    </a:p>
                  </a:txBody>
                  <a:tcPr anchor="ctr">
                    <a:solidFill>
                      <a:srgbClr val="2F5597"/>
                    </a:solidFill>
                  </a:tcPr>
                </a:tc>
                <a:tc hMerge="1">
                  <a:txBody>
                    <a:bodyPr/>
                    <a:lstStyle/>
                    <a:p>
                      <a:pP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525676">
                <a:tc>
                  <a:txBody>
                    <a:bodyPr/>
                    <a:lstStyle/>
                    <a:p>
                      <a:pPr marL="0" indent="0">
                        <a:buFont typeface="Arial" panose="020B0604020202020204" pitchFamily="34" charset="0"/>
                        <a:buNone/>
                      </a:pPr>
                      <a:r>
                        <a:rPr lang="fr-FR" sz="1600" dirty="0" smtClean="0"/>
                        <a:t>Chercher, pour un niveau de sécurité donné, les choix optimaux pour la préservation des ressources : </a:t>
                      </a:r>
                    </a:p>
                    <a:p>
                      <a:pPr marL="0" indent="0">
                        <a:buFont typeface="Arial" panose="020B0604020202020204" pitchFamily="34" charset="0"/>
                        <a:buNone/>
                      </a:pPr>
                      <a:r>
                        <a:rPr lang="fr-FR" sz="1600" dirty="0" smtClean="0"/>
                        <a:t>• En réalisant des mesures comparatives de différents algorithmes de chiffrement, afin de sélectionner celui qui introduit la plus faible quantité de ressources processeurs pour une même performance ; </a:t>
                      </a:r>
                    </a:p>
                    <a:p>
                      <a:pPr marL="0" indent="0">
                        <a:buFont typeface="Arial" panose="020B0604020202020204" pitchFamily="34" charset="0"/>
                        <a:buNone/>
                      </a:pPr>
                      <a:r>
                        <a:rPr lang="fr-FR" sz="1600" dirty="0" smtClean="0"/>
                        <a:t>• En évaluant la pertinence du chiffrement au regard de la nature des données et des risques associés ; </a:t>
                      </a:r>
                    </a:p>
                    <a:p>
                      <a:pPr marL="0" indent="0">
                        <a:buFont typeface="Arial" panose="020B0604020202020204" pitchFamily="34" charset="0"/>
                        <a:buNone/>
                      </a:pPr>
                      <a:r>
                        <a:rPr lang="fr-FR" sz="1600" dirty="0" smtClean="0"/>
                        <a:t>• Dans le cas où le chiffrement est envisagé, mettre en œuvre, quand cela est possible, un algorithme et une implémentation qui minimisent l’empreinte environnementale du service (sans préjudice du niveau de sécurité requis).</a:t>
                      </a:r>
                    </a:p>
                  </a:txBody>
                  <a:tcPr/>
                </a:tc>
                <a:tc>
                  <a:txBody>
                    <a:bodyPr/>
                    <a:lstStyle/>
                    <a:p>
                      <a:r>
                        <a:rPr lang="fr-FR" sz="1600" dirty="0" smtClean="0">
                          <a:solidFill>
                            <a:schemeClr val="tx1"/>
                          </a:solidFill>
                        </a:rPr>
                        <a:t>Si le service repose sur des mécanismes de chiffrement, documenter la pertinence du choix de mise en œuvre des mécanismes</a:t>
                      </a:r>
                      <a:r>
                        <a:rPr lang="fr-FR" sz="1600" baseline="0" dirty="0" smtClean="0">
                          <a:solidFill>
                            <a:schemeClr val="tx1"/>
                          </a:solidFill>
                        </a:rPr>
                        <a:t> </a:t>
                      </a:r>
                      <a:r>
                        <a:rPr lang="fr-FR" sz="1600" dirty="0" smtClean="0">
                          <a:solidFill>
                            <a:schemeClr val="tx1"/>
                          </a:solidFill>
                        </a:rPr>
                        <a:t>cryptographiques en fonction des risques</a:t>
                      </a:r>
                      <a:r>
                        <a:rPr lang="fr-FR" sz="1600" baseline="0" dirty="0" smtClean="0">
                          <a:solidFill>
                            <a:schemeClr val="tx1"/>
                          </a:solidFill>
                        </a:rPr>
                        <a:t> </a:t>
                      </a:r>
                      <a:r>
                        <a:rPr lang="fr-FR" sz="1600" dirty="0" smtClean="0">
                          <a:solidFill>
                            <a:schemeClr val="tx1"/>
                          </a:solidFill>
                        </a:rPr>
                        <a:t>de sécurité informatique du service et de la minimisation de l’empreinte environnementale associée.</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3"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solidFill>
                            <a:schemeClr val="tx1"/>
                          </a:solidFill>
                        </a:rPr>
                        <a:t>Faible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7" name="Tableau 6"/>
          <p:cNvGraphicFramePr>
            <a:graphicFrameLocks noGrp="1"/>
          </p:cNvGraphicFramePr>
          <p:nvPr>
            <p:extLst/>
          </p:nvPr>
        </p:nvGraphicFramePr>
        <p:xfrm>
          <a:off x="-1" y="6088283"/>
          <a:ext cx="10271869" cy="76971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7">
                <a:tc>
                  <a:txBody>
                    <a:bodyPr/>
                    <a:lstStyle/>
                    <a:p>
                      <a:r>
                        <a:rPr lang="fr-FR" sz="1400" b="0" dirty="0" smtClean="0">
                          <a:solidFill>
                            <a:srgbClr val="2F5597"/>
                          </a:solidFill>
                        </a:rPr>
                        <a:t>Source : RGESN version 2024</a:t>
                      </a:r>
                    </a:p>
                    <a:p>
                      <a:r>
                        <a:rPr lang="fr-FR" sz="1400" b="0" dirty="0" smtClean="0">
                          <a:solidFill>
                            <a:srgbClr val="2F5597"/>
                          </a:solidFill>
                        </a:rPr>
                        <a:t>1.7 Le service numérique </a:t>
                      </a:r>
                      <a:r>
                        <a:rPr lang="fr-FR" sz="1400" b="0" dirty="0" err="1" smtClean="0">
                          <a:solidFill>
                            <a:srgbClr val="2F5597"/>
                          </a:solidFill>
                        </a:rPr>
                        <a:t>a-t-il</a:t>
                      </a:r>
                      <a:r>
                        <a:rPr lang="fr-FR" sz="1400" b="0" dirty="0" smtClean="0">
                          <a:solidFill>
                            <a:srgbClr val="2F5597"/>
                          </a:solidFill>
                        </a:rPr>
                        <a:t> recours à un niveau de chiffrement</a:t>
                      </a:r>
                      <a:r>
                        <a:rPr lang="fr-FR" sz="1400" b="0" baseline="0" dirty="0" smtClean="0">
                          <a:solidFill>
                            <a:srgbClr val="2F5597"/>
                          </a:solidFill>
                        </a:rPr>
                        <a:t> </a:t>
                      </a:r>
                      <a:r>
                        <a:rPr lang="fr-FR" sz="1400" b="0" dirty="0" smtClean="0">
                          <a:solidFill>
                            <a:srgbClr val="2F5597"/>
                          </a:solidFill>
                        </a:rPr>
                        <a:t>adapté à ses besoins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997342081"/>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nvPr>
        </p:nvGraphicFramePr>
        <p:xfrm>
          <a:off x="0" y="1112521"/>
          <a:ext cx="12106656" cy="4975763"/>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05990">
                  <a:extLst>
                    <a:ext uri="{9D8B030D-6E8A-4147-A177-3AD203B41FA5}">
                      <a16:colId xmlns:a16="http://schemas.microsoft.com/office/drawing/2014/main" val="588129664"/>
                    </a:ext>
                  </a:extLst>
                </a:gridCol>
              </a:tblGrid>
              <a:tr h="1450087">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8/Concevoir avec des technologies</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standard interopérables plutôt que des technologies</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spécifiques et</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fermées</a:t>
                      </a:r>
                    </a:p>
                  </a:txBody>
                  <a:tcPr anchor="ctr">
                    <a:solidFill>
                      <a:srgbClr val="2F5597"/>
                    </a:solidFill>
                  </a:tcPr>
                </a:tc>
                <a:tc hMerge="1">
                  <a:txBody>
                    <a:bodyPr/>
                    <a:lstStyle/>
                    <a:p>
                      <a:pP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525676">
                <a:tc>
                  <a:txBody>
                    <a:bodyPr/>
                    <a:lstStyle/>
                    <a:p>
                      <a:pPr marL="0" indent="0">
                        <a:buFont typeface="Arial" panose="020B0604020202020204" pitchFamily="34" charset="0"/>
                        <a:buNone/>
                      </a:pPr>
                      <a:r>
                        <a:rPr lang="fr-FR" sz="1600" dirty="0" smtClean="0"/>
                        <a:t>Evaluer, bien en amont du développement, la faisabilité de concevoir le service avec des technologies standard (par exemple, web plutôt que des applications natives) pour répondre au besoin des utilisateurs et des métiers. </a:t>
                      </a:r>
                    </a:p>
                    <a:p>
                      <a:pPr marL="0" indent="0">
                        <a:buFont typeface="Arial" panose="020B0604020202020204" pitchFamily="34" charset="0"/>
                        <a:buNone/>
                      </a:pPr>
                      <a:endParaRPr lang="fr-FR" sz="1600" dirty="0" smtClean="0"/>
                    </a:p>
                    <a:p>
                      <a:pPr marL="0" indent="0">
                        <a:buFont typeface="Arial" panose="020B0604020202020204" pitchFamily="34" charset="0"/>
                        <a:buNone/>
                      </a:pPr>
                      <a:r>
                        <a:rPr lang="fr-FR" sz="1600" dirty="0" smtClean="0"/>
                        <a:t>Il s’agit aussi de s’assurer que les API utilisées sont standard et bien supportées (API JavaScript dans les navigateurs web par exemple). S’appuyer sur des technologies interopérables permet de lutter contre l’obsolescence logicielle.</a:t>
                      </a:r>
                    </a:p>
                  </a:txBody>
                  <a:tcPr/>
                </a:tc>
                <a:tc>
                  <a:txBody>
                    <a:bodyPr/>
                    <a:lstStyle/>
                    <a:p>
                      <a:r>
                        <a:rPr lang="fr-FR" sz="1600" dirty="0" smtClean="0"/>
                        <a:t>Vérifier que le service numérique est utilisable par une même interface sur l’ensemble des terminaux pertinents (par exemple : une Web App). </a:t>
                      </a:r>
                    </a:p>
                    <a:p>
                      <a:endParaRPr lang="fr-FR" sz="1600" dirty="0" smtClean="0"/>
                    </a:p>
                    <a:p>
                      <a:r>
                        <a:rPr lang="fr-FR" sz="1600" dirty="0" smtClean="0"/>
                        <a:t>Si le service numérique est une application native, évaluer la nécessité d’avoir choisi de développer une application native : contraintes techniques, matériel cible maîtrisé ?</a:t>
                      </a:r>
                      <a:endParaRPr lang="fr-FR" sz="1600" dirty="0" smtClean="0">
                        <a:solidFill>
                          <a:schemeClr val="tx1"/>
                        </a:solidFill>
                      </a:endParaRPr>
                    </a:p>
                    <a:p>
                      <a:endParaRPr lang="fr-FR" sz="1600" dirty="0" smtClean="0">
                        <a:solidFill>
                          <a:schemeClr val="tx1"/>
                        </a:solidFill>
                      </a:endParaRPr>
                    </a:p>
                    <a:p>
                      <a:r>
                        <a:rPr lang="fr-FR" sz="1600" dirty="0" smtClean="0">
                          <a:solidFill>
                            <a:schemeClr val="tx1"/>
                          </a:solidFill>
                        </a:rPr>
                        <a:t>Le critère est validé si le service s’appuie sur des standards interopérables communs aux principaux</a:t>
                      </a:r>
                      <a:r>
                        <a:rPr lang="fr-FR" sz="1600" baseline="0" dirty="0" smtClean="0">
                          <a:solidFill>
                            <a:schemeClr val="tx1"/>
                          </a:solidFill>
                        </a:rPr>
                        <a:t> </a:t>
                      </a:r>
                      <a:r>
                        <a:rPr lang="fr-FR" sz="1600" dirty="0" smtClean="0">
                          <a:solidFill>
                            <a:schemeClr val="tx1"/>
                          </a:solidFill>
                        </a:rPr>
                        <a:t>écosystèmes (terminaux, systèmes d’exploitation, navigateurs...).</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3"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7" name="Tableau 6"/>
          <p:cNvGraphicFramePr>
            <a:graphicFrameLocks noGrp="1"/>
          </p:cNvGraphicFramePr>
          <p:nvPr>
            <p:extLst/>
          </p:nvPr>
        </p:nvGraphicFramePr>
        <p:xfrm>
          <a:off x="-1" y="6088283"/>
          <a:ext cx="10271869" cy="76971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7">
                <a:tc>
                  <a:txBody>
                    <a:bodyPr/>
                    <a:lstStyle/>
                    <a:p>
                      <a:r>
                        <a:rPr lang="fr-FR" sz="1400" b="0" dirty="0" smtClean="0">
                          <a:solidFill>
                            <a:srgbClr val="2F5597"/>
                          </a:solidFill>
                        </a:rPr>
                        <a:t>Source : RGESN version 2022 et 2024</a:t>
                      </a:r>
                    </a:p>
                    <a:p>
                      <a:r>
                        <a:rPr lang="fr-FR" sz="1400" b="0" dirty="0" smtClean="0">
                          <a:solidFill>
                            <a:srgbClr val="2F5597"/>
                          </a:solidFill>
                        </a:rPr>
                        <a:t>1.9 Le service numérique </a:t>
                      </a:r>
                      <a:r>
                        <a:rPr lang="fr-FR" sz="1400" b="0" dirty="0" err="1" smtClean="0">
                          <a:solidFill>
                            <a:srgbClr val="2F5597"/>
                          </a:solidFill>
                        </a:rPr>
                        <a:t>a-t-il</a:t>
                      </a:r>
                      <a:r>
                        <a:rPr lang="fr-FR" sz="1400" b="0" dirty="0" smtClean="0">
                          <a:solidFill>
                            <a:srgbClr val="2F5597"/>
                          </a:solidFill>
                        </a:rPr>
                        <a:t> été conçu avec des technologies</a:t>
                      </a:r>
                      <a:r>
                        <a:rPr lang="fr-FR" sz="1400" b="0" baseline="0" dirty="0" smtClean="0">
                          <a:solidFill>
                            <a:srgbClr val="2F5597"/>
                          </a:solidFill>
                        </a:rPr>
                        <a:t> </a:t>
                      </a:r>
                      <a:r>
                        <a:rPr lang="fr-FR" sz="1400" b="0" dirty="0" smtClean="0">
                          <a:solidFill>
                            <a:srgbClr val="2F5597"/>
                          </a:solidFill>
                        </a:rPr>
                        <a:t>standard interopérables plutôt que des technologies spécifiques et</a:t>
                      </a:r>
                    </a:p>
                    <a:p>
                      <a:r>
                        <a:rPr lang="fr-FR" sz="1400" b="0" dirty="0" smtClean="0">
                          <a:solidFill>
                            <a:srgbClr val="2F5597"/>
                          </a:solidFill>
                        </a:rPr>
                        <a:t>fermées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045302391"/>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nvPr>
        </p:nvGraphicFramePr>
        <p:xfrm>
          <a:off x="0" y="1112520"/>
          <a:ext cx="12192000" cy="4890971"/>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28486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9/Définir la liste des profils de matériels que les utilisateurs vont pouvoir employer pour accéder au service.</a:t>
                      </a:r>
                    </a:p>
                  </a:txBody>
                  <a:tcPr anchor="ctr">
                    <a:solidFill>
                      <a:srgbClr val="2F5597"/>
                    </a:solidFill>
                  </a:tcPr>
                </a:tc>
                <a:tc hMerge="1">
                  <a:txBody>
                    <a:bodyPr/>
                    <a:lstStyle/>
                    <a:p>
                      <a:pP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06102">
                <a:tc>
                  <a:txBody>
                    <a:bodyPr/>
                    <a:lstStyle/>
                    <a:p>
                      <a:pPr marL="0" indent="0">
                        <a:buFont typeface="Arial" panose="020B0604020202020204" pitchFamily="34" charset="0"/>
                        <a:buNone/>
                      </a:pPr>
                      <a:r>
                        <a:rPr lang="fr-FR" sz="1600" dirty="0" smtClean="0">
                          <a:solidFill>
                            <a:schemeClr val="tx1"/>
                          </a:solidFill>
                        </a:rPr>
                        <a:t>Définir le profil des matériels supportés, le plus ancien possible afin d’éviter toute obsolescence</a:t>
                      </a:r>
                      <a:r>
                        <a:rPr lang="fr-FR" sz="1600" baseline="0" dirty="0" smtClean="0">
                          <a:solidFill>
                            <a:schemeClr val="tx1"/>
                          </a:solidFill>
                        </a:rPr>
                        <a:t> </a:t>
                      </a:r>
                      <a:r>
                        <a:rPr lang="fr-FR" sz="1600" dirty="0" smtClean="0">
                          <a:solidFill>
                            <a:schemeClr val="tx1"/>
                          </a:solidFill>
                        </a:rPr>
                        <a:t>matérielle. </a:t>
                      </a:r>
                      <a:endParaRPr lang="fr-FR" sz="1600" dirty="0">
                        <a:solidFill>
                          <a:schemeClr val="tx1"/>
                        </a:solidFill>
                      </a:endParaRPr>
                    </a:p>
                  </a:txBody>
                  <a:tcPr/>
                </a:tc>
                <a:tc>
                  <a:txBody>
                    <a:bodyPr/>
                    <a:lstStyle/>
                    <a:p>
                      <a:r>
                        <a:rPr lang="fr-FR" sz="1600" dirty="0" smtClean="0"/>
                        <a:t>Le critère est validé si le profil des matériels supportés par le service est établi de façon à privilégier les équipements aussi anciens que possible et le profil minimum matériel est affiché dans la déclaration d’écoconception du service.</a:t>
                      </a:r>
                    </a:p>
                    <a:p>
                      <a:endParaRPr lang="fr-FR" sz="1600" dirty="0" smtClean="0">
                        <a:solidFill>
                          <a:schemeClr val="tx1"/>
                        </a:solidFill>
                      </a:endParaRPr>
                    </a:p>
                    <a:p>
                      <a:r>
                        <a:rPr lang="fr-FR" sz="1600" dirty="0" smtClean="0">
                          <a:solidFill>
                            <a:schemeClr val="tx1"/>
                          </a:solidFill>
                        </a:rPr>
                        <a:t>Si certaines fonctionnalités requièrent une version plus récente, indiquer les versions minimales avec et sans</a:t>
                      </a:r>
                      <a:r>
                        <a:rPr lang="fr-FR" sz="1600" baseline="0" dirty="0" smtClean="0">
                          <a:solidFill>
                            <a:schemeClr val="tx1"/>
                          </a:solidFill>
                        </a:rPr>
                        <a:t> </a:t>
                      </a:r>
                      <a:r>
                        <a:rPr lang="fr-FR" sz="1600" dirty="0" smtClean="0">
                          <a:solidFill>
                            <a:schemeClr val="tx1"/>
                          </a:solidFill>
                        </a:rPr>
                        <a:t>support de ces fonctionnalités.</a:t>
                      </a:r>
                    </a:p>
                    <a:p>
                      <a:endParaRPr lang="fr-FR" sz="1600" dirty="0" smtClean="0">
                        <a:solidFill>
                          <a:schemeClr val="tx1"/>
                        </a:solidFill>
                      </a:endParaRPr>
                    </a:p>
                    <a:p>
                      <a:r>
                        <a:rPr lang="fr-FR" sz="1600" dirty="0" smtClean="0">
                          <a:solidFill>
                            <a:schemeClr val="tx1"/>
                          </a:solidFill>
                        </a:rPr>
                        <a:t>Il convient également d’indiquer les éventuelles évolutions à venir sur la configuration matérielle minimum.</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7" name="Tableau 6"/>
          <p:cNvGraphicFramePr>
            <a:graphicFrameLocks noGrp="1"/>
          </p:cNvGraphicFramePr>
          <p:nvPr>
            <p:extLst/>
          </p:nvPr>
        </p:nvGraphicFramePr>
        <p:xfrm>
          <a:off x="-1" y="6088283"/>
          <a:ext cx="10271869" cy="76971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7">
                <a:tc>
                  <a:txBody>
                    <a:bodyPr/>
                    <a:lstStyle/>
                    <a:p>
                      <a:r>
                        <a:rPr lang="fr-FR" sz="1400" b="0" dirty="0" smtClean="0">
                          <a:solidFill>
                            <a:srgbClr val="2F5597"/>
                          </a:solidFill>
                        </a:rPr>
                        <a:t>Source : RGESN version 2022 et 2024</a:t>
                      </a:r>
                    </a:p>
                    <a:p>
                      <a:r>
                        <a:rPr lang="fr-FR" sz="1400" b="0" dirty="0" smtClean="0">
                          <a:solidFill>
                            <a:srgbClr val="2F5597"/>
                          </a:solidFill>
                        </a:rPr>
                        <a:t>2.1 Le service numérique </a:t>
                      </a:r>
                      <a:r>
                        <a:rPr lang="fr-FR" sz="1400" b="0" dirty="0" err="1" smtClean="0">
                          <a:solidFill>
                            <a:srgbClr val="2F5597"/>
                          </a:solidFill>
                        </a:rPr>
                        <a:t>a-t-il</a:t>
                      </a:r>
                      <a:r>
                        <a:rPr lang="fr-FR" sz="1400" b="0" dirty="0" smtClean="0">
                          <a:solidFill>
                            <a:srgbClr val="2F5597"/>
                          </a:solidFill>
                        </a:rPr>
                        <a:t> défini la liste des profils de matériels que</a:t>
                      </a:r>
                      <a:r>
                        <a:rPr lang="fr-FR" sz="1400" b="0" baseline="0" dirty="0" smtClean="0">
                          <a:solidFill>
                            <a:srgbClr val="2F5597"/>
                          </a:solidFill>
                        </a:rPr>
                        <a:t> </a:t>
                      </a:r>
                      <a:r>
                        <a:rPr lang="fr-FR" sz="1400" b="0" dirty="0" smtClean="0">
                          <a:solidFill>
                            <a:srgbClr val="2F5597"/>
                          </a:solidFill>
                        </a:rPr>
                        <a:t>les utilisateurs vont pouvoir employer pour y accéder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343219596"/>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nvPr>
        </p:nvGraphicFramePr>
        <p:xfrm>
          <a:off x="0" y="1112521"/>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10/Utilisable sur d’anciens modèles de</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terminaux</a:t>
                      </a:r>
                    </a:p>
                  </a:txBody>
                  <a:tcPr anchor="ctr">
                    <a:solidFill>
                      <a:srgbClr val="2F5597"/>
                    </a:solidFill>
                  </a:tcPr>
                </a:tc>
                <a:tc hMerge="1">
                  <a:txBody>
                    <a:bodyPr/>
                    <a:lstStyle/>
                    <a:p>
                      <a:pP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200" dirty="0" smtClean="0">
                          <a:solidFill>
                            <a:schemeClr val="tx1"/>
                          </a:solidFill>
                        </a:rPr>
                        <a:t>Pour chaque fonctionnalité, s’assurer que le service numérique est compatible avec des équipements</a:t>
                      </a:r>
                      <a:r>
                        <a:rPr lang="fr-FR" sz="1200" baseline="0" dirty="0" smtClean="0">
                          <a:solidFill>
                            <a:schemeClr val="tx1"/>
                          </a:solidFill>
                        </a:rPr>
                        <a:t> </a:t>
                      </a:r>
                      <a:r>
                        <a:rPr lang="fr-FR" sz="1200" dirty="0" smtClean="0">
                          <a:solidFill>
                            <a:schemeClr val="tx1"/>
                          </a:solidFill>
                        </a:rPr>
                        <a:t>anciens. </a:t>
                      </a:r>
                    </a:p>
                    <a:p>
                      <a:pPr marL="0" indent="0">
                        <a:buFont typeface="Arial" panose="020B0604020202020204" pitchFamily="34" charset="0"/>
                        <a:buNone/>
                      </a:pPr>
                      <a:endParaRPr lang="fr-FR" sz="1200" dirty="0" smtClean="0">
                        <a:solidFill>
                          <a:schemeClr val="tx1"/>
                        </a:solidFill>
                      </a:endParaRPr>
                    </a:p>
                    <a:p>
                      <a:pPr marL="0" indent="0">
                        <a:buFont typeface="Arial" panose="020B0604020202020204" pitchFamily="34" charset="0"/>
                        <a:buNone/>
                      </a:pPr>
                      <a:r>
                        <a:rPr lang="fr-FR" sz="1200" dirty="0" smtClean="0">
                          <a:solidFill>
                            <a:schemeClr val="tx1"/>
                          </a:solidFill>
                        </a:rPr>
                        <a:t>Par exemple, ce critère peut être ajouté dans les tests ou QA (</a:t>
                      </a:r>
                      <a:r>
                        <a:rPr lang="fr-FR" sz="1200" dirty="0" err="1" smtClean="0">
                          <a:solidFill>
                            <a:schemeClr val="tx1"/>
                          </a:solidFill>
                        </a:rPr>
                        <a:t>Quality</a:t>
                      </a:r>
                      <a:r>
                        <a:rPr lang="fr-FR" sz="1200" dirty="0" smtClean="0">
                          <a:solidFill>
                            <a:schemeClr val="tx1"/>
                          </a:solidFill>
                        </a:rPr>
                        <a:t> Assurance).</a:t>
                      </a:r>
                    </a:p>
                    <a:p>
                      <a:pPr marL="0" indent="0">
                        <a:buFont typeface="Arial" panose="020B0604020202020204" pitchFamily="34" charset="0"/>
                        <a:buNone/>
                      </a:pPr>
                      <a:r>
                        <a:rPr lang="fr-FR" sz="1200" dirty="0" smtClean="0">
                          <a:solidFill>
                            <a:schemeClr val="tx1"/>
                          </a:solidFill>
                        </a:rPr>
                        <a:t>Quelques précisions concernant le critère :</a:t>
                      </a:r>
                    </a:p>
                    <a:p>
                      <a:pPr marL="0" indent="0">
                        <a:buFont typeface="Arial" panose="020B0604020202020204" pitchFamily="34" charset="0"/>
                        <a:buNone/>
                      </a:pPr>
                      <a:r>
                        <a:rPr lang="fr-FR" sz="1200" dirty="0" smtClean="0">
                          <a:solidFill>
                            <a:schemeClr val="tx1"/>
                          </a:solidFill>
                        </a:rPr>
                        <a:t>• Il s’agit de la compatibilité avec un matériel et non avec un système d’exploitation ou tout autre</a:t>
                      </a:r>
                      <a:r>
                        <a:rPr lang="fr-FR" sz="1200" baseline="0" dirty="0" smtClean="0">
                          <a:solidFill>
                            <a:schemeClr val="tx1"/>
                          </a:solidFill>
                        </a:rPr>
                        <a:t> </a:t>
                      </a:r>
                      <a:r>
                        <a:rPr lang="fr-FR" sz="1200" dirty="0" smtClean="0">
                          <a:solidFill>
                            <a:schemeClr val="tx1"/>
                          </a:solidFill>
                        </a:rPr>
                        <a:t>logiciel faisant fonctionner le service numérique (par exemple un navigateur). </a:t>
                      </a:r>
                    </a:p>
                    <a:p>
                      <a:pPr marL="0" indent="0">
                        <a:buFont typeface="Arial" panose="020B0604020202020204" pitchFamily="34" charset="0"/>
                        <a:buNone/>
                      </a:pPr>
                      <a:r>
                        <a:rPr lang="fr-FR" sz="1200" dirty="0" smtClean="0">
                          <a:solidFill>
                            <a:schemeClr val="tx1"/>
                          </a:solidFill>
                        </a:rPr>
                        <a:t>• Définition de « utilisable » ici : mode dégradé accepté mais sans perte de fonctionnalité</a:t>
                      </a:r>
                      <a:r>
                        <a:rPr lang="fr-FR" sz="1200" baseline="0" dirty="0" smtClean="0">
                          <a:solidFill>
                            <a:schemeClr val="tx1"/>
                          </a:solidFill>
                        </a:rPr>
                        <a:t> </a:t>
                      </a:r>
                      <a:r>
                        <a:rPr lang="fr-FR" sz="1200" dirty="0" smtClean="0">
                          <a:solidFill>
                            <a:schemeClr val="tx1"/>
                          </a:solidFill>
                        </a:rPr>
                        <a:t>incontournable ou critique ni de contenu pour le service.</a:t>
                      </a:r>
                    </a:p>
                  </a:txBody>
                  <a:tcPr/>
                </a:tc>
                <a:tc>
                  <a:txBody>
                    <a:bodyPr/>
                    <a:lstStyle/>
                    <a:p>
                      <a:r>
                        <a:rPr lang="fr-FR" sz="1200" dirty="0" smtClean="0">
                          <a:solidFill>
                            <a:schemeClr val="tx1"/>
                          </a:solidFill>
                        </a:rPr>
                        <a:t>Contrôler la mise en œuvre selon la nature du service en vérifiant les points suivants :</a:t>
                      </a:r>
                    </a:p>
                    <a:p>
                      <a:endParaRPr lang="fr-FR" sz="1200" dirty="0" smtClean="0">
                        <a:solidFill>
                          <a:schemeClr val="tx1"/>
                        </a:solidFill>
                      </a:endParaRPr>
                    </a:p>
                    <a:p>
                      <a:r>
                        <a:rPr lang="fr-FR" sz="1200" dirty="0" smtClean="0">
                          <a:solidFill>
                            <a:schemeClr val="tx1"/>
                          </a:solidFill>
                        </a:rPr>
                        <a:t>• Si le service numérique est une application native : il convient de tester les fonctionnalités critiques</a:t>
                      </a:r>
                      <a:r>
                        <a:rPr lang="fr-FR" sz="1200" baseline="0" dirty="0" smtClean="0">
                          <a:solidFill>
                            <a:schemeClr val="tx1"/>
                          </a:solidFill>
                        </a:rPr>
                        <a:t> </a:t>
                      </a:r>
                      <a:r>
                        <a:rPr lang="fr-FR" sz="1200" dirty="0" smtClean="0">
                          <a:solidFill>
                            <a:schemeClr val="tx1"/>
                          </a:solidFill>
                        </a:rPr>
                        <a:t>du service numérique sur un équipement ancien,</a:t>
                      </a:r>
                      <a:r>
                        <a:rPr lang="fr-FR" sz="1200" baseline="0" dirty="0" smtClean="0">
                          <a:solidFill>
                            <a:schemeClr val="tx1"/>
                          </a:solidFill>
                        </a:rPr>
                        <a:t> </a:t>
                      </a:r>
                      <a:r>
                        <a:rPr lang="fr-FR" sz="1200" dirty="0" smtClean="0">
                          <a:solidFill>
                            <a:schemeClr val="tx1"/>
                          </a:solidFill>
                        </a:rPr>
                        <a:t>c’est-à-dire mis sur le marché il y a sept ans ou plus, dans la dernière version du système</a:t>
                      </a:r>
                      <a:r>
                        <a:rPr lang="fr-FR" sz="1200" baseline="0" dirty="0" smtClean="0">
                          <a:solidFill>
                            <a:schemeClr val="tx1"/>
                          </a:solidFill>
                        </a:rPr>
                        <a:t> </a:t>
                      </a:r>
                      <a:r>
                        <a:rPr lang="fr-FR" sz="1200" dirty="0" smtClean="0">
                          <a:solidFill>
                            <a:schemeClr val="tx1"/>
                          </a:solidFill>
                        </a:rPr>
                        <a:t>d’exploitation proposé par cet équipement.</a:t>
                      </a:r>
                    </a:p>
                    <a:p>
                      <a:r>
                        <a:rPr lang="fr-FR" sz="1200" dirty="0" smtClean="0">
                          <a:solidFill>
                            <a:schemeClr val="tx1"/>
                          </a:solidFill>
                        </a:rPr>
                        <a:t>• Si le service numérique fonctionne sur un navigateur web : les fonctionnalités critiques doivent</a:t>
                      </a:r>
                      <a:r>
                        <a:rPr lang="fr-FR" sz="1200" baseline="0" dirty="0" smtClean="0">
                          <a:solidFill>
                            <a:schemeClr val="tx1"/>
                          </a:solidFill>
                        </a:rPr>
                        <a:t> </a:t>
                      </a:r>
                      <a:r>
                        <a:rPr lang="fr-FR" sz="1200" dirty="0" smtClean="0">
                          <a:solidFill>
                            <a:schemeClr val="tx1"/>
                          </a:solidFill>
                        </a:rPr>
                        <a:t>fonctionner sur un PC portable – ou un autre terminal équipé d’un microprocesseur mis sur le marché il y a dix ans ou plus.</a:t>
                      </a:r>
                    </a:p>
                    <a:p>
                      <a:r>
                        <a:rPr lang="fr-FR" sz="1200" dirty="0" smtClean="0">
                          <a:solidFill>
                            <a:schemeClr val="tx1"/>
                          </a:solidFill>
                        </a:rPr>
                        <a:t>• Pour les autres services numériques : tester les fonctionnalités critiques du service sur un terminal</a:t>
                      </a:r>
                      <a:r>
                        <a:rPr lang="fr-FR" sz="1200" baseline="0" dirty="0" smtClean="0">
                          <a:solidFill>
                            <a:schemeClr val="tx1"/>
                          </a:solidFill>
                        </a:rPr>
                        <a:t> </a:t>
                      </a:r>
                      <a:r>
                        <a:rPr lang="fr-FR" sz="1200" dirty="0" smtClean="0">
                          <a:solidFill>
                            <a:schemeClr val="tx1"/>
                          </a:solidFill>
                        </a:rPr>
                        <a:t>(exemple : équipements connectés) mis sur le marché il y a sept ans ou plus.</a:t>
                      </a:r>
                    </a:p>
                    <a:p>
                      <a:r>
                        <a:rPr lang="fr-FR" sz="1200" dirty="0" smtClean="0">
                          <a:solidFill>
                            <a:schemeClr val="tx1"/>
                          </a:solidFill>
                        </a:rPr>
                        <a:t>Une durée de compatibilité plus longue est recommandée. Dans ce cas l’objectif est à préciser, par</a:t>
                      </a:r>
                      <a:r>
                        <a:rPr lang="fr-FR" sz="1200" baseline="0" dirty="0" smtClean="0">
                          <a:solidFill>
                            <a:schemeClr val="tx1"/>
                          </a:solidFill>
                        </a:rPr>
                        <a:t> </a:t>
                      </a:r>
                      <a:r>
                        <a:rPr lang="fr-FR" sz="1200" dirty="0" smtClean="0">
                          <a:solidFill>
                            <a:schemeClr val="tx1"/>
                          </a:solidFill>
                        </a:rPr>
                        <a:t>exemple dans la déclaration d’écoconception.</a:t>
                      </a:r>
                    </a:p>
                    <a:p>
                      <a:r>
                        <a:rPr lang="fr-FR" sz="1200" dirty="0" smtClean="0">
                          <a:solidFill>
                            <a:schemeClr val="tx1"/>
                          </a:solidFill>
                        </a:rPr>
                        <a:t>• Ce critère n’exclut pas l’usage de fonctionnalités récentes permettant la réduction des impacts</a:t>
                      </a:r>
                      <a:r>
                        <a:rPr lang="fr-FR" sz="1200" baseline="0" dirty="0" smtClean="0">
                          <a:solidFill>
                            <a:schemeClr val="tx1"/>
                          </a:solidFill>
                        </a:rPr>
                        <a:t> </a:t>
                      </a:r>
                      <a:r>
                        <a:rPr lang="fr-FR" sz="1200" dirty="0" smtClean="0">
                          <a:solidFill>
                            <a:schemeClr val="tx1"/>
                          </a:solidFill>
                        </a:rPr>
                        <a:t>environnementaux à l’usage tant que le service reste disponible sur les anciennes versions (</a:t>
                      </a:r>
                      <a:r>
                        <a:rPr lang="fr-FR" sz="1200" dirty="0" err="1" smtClean="0">
                          <a:solidFill>
                            <a:schemeClr val="tx1"/>
                          </a:solidFill>
                        </a:rPr>
                        <a:t>principed’amélioration</a:t>
                      </a:r>
                      <a:r>
                        <a:rPr lang="fr-FR" sz="1200" dirty="0" smtClean="0">
                          <a:solidFill>
                            <a:schemeClr val="tx1"/>
                          </a:solidFill>
                        </a:rPr>
                        <a:t> progressive).</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Haute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088283"/>
          <a:ext cx="10271869" cy="76971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7">
                <a:tc>
                  <a:txBody>
                    <a:bodyPr/>
                    <a:lstStyle/>
                    <a:p>
                      <a:r>
                        <a:rPr lang="fr-FR" sz="1400" b="0" dirty="0" smtClean="0">
                          <a:solidFill>
                            <a:srgbClr val="2F5597"/>
                          </a:solidFill>
                        </a:rPr>
                        <a:t>Source : RGESN version 2022 et 2024</a:t>
                      </a:r>
                    </a:p>
                    <a:p>
                      <a:r>
                        <a:rPr lang="fr-FR" sz="1400" b="0" dirty="0" smtClean="0">
                          <a:solidFill>
                            <a:srgbClr val="2F5597"/>
                          </a:solidFill>
                        </a:rPr>
                        <a:t>2.2 Le service numérique est-il utilisable sur d’anciens modèles de</a:t>
                      </a:r>
                      <a:r>
                        <a:rPr lang="fr-FR" sz="1400" b="0" baseline="0" dirty="0" smtClean="0">
                          <a:solidFill>
                            <a:srgbClr val="2F5597"/>
                          </a:solidFill>
                        </a:rPr>
                        <a:t> </a:t>
                      </a:r>
                      <a:r>
                        <a:rPr lang="fr-FR" sz="1400" b="0" dirty="0" smtClean="0">
                          <a:solidFill>
                            <a:srgbClr val="2F5597"/>
                          </a:solidFill>
                        </a:rPr>
                        <a:t>terminaux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49994441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nvPr>
        </p:nvGraphicFramePr>
        <p:xfrm>
          <a:off x="0" y="1112521"/>
          <a:ext cx="12192000" cy="4901792"/>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287711">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11/S’adapter à différents types de terminaux d’affichage</a:t>
                      </a:r>
                    </a:p>
                  </a:txBody>
                  <a:tcPr anchor="ctr">
                    <a:solidFill>
                      <a:srgbClr val="2F5597"/>
                    </a:solidFill>
                  </a:tcPr>
                </a:tc>
                <a:tc hMerge="1">
                  <a:txBody>
                    <a:bodyPr/>
                    <a:lstStyle/>
                    <a:p>
                      <a:pP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14081">
                <a:tc>
                  <a:txBody>
                    <a:bodyPr/>
                    <a:lstStyle/>
                    <a:p>
                      <a:pPr marL="0" indent="0">
                        <a:buFont typeface="Arial" panose="020B0604020202020204" pitchFamily="34" charset="0"/>
                        <a:buNone/>
                      </a:pPr>
                      <a:r>
                        <a:rPr lang="fr-FR" sz="1600" dirty="0" smtClean="0">
                          <a:solidFill>
                            <a:schemeClr val="tx1"/>
                          </a:solidFill>
                        </a:rPr>
                        <a:t>Uniquement si applicable, rendre l’interface du service numérique adaptable à la taille de l’écran sans</a:t>
                      </a:r>
                      <a:r>
                        <a:rPr lang="fr-FR" sz="1600" baseline="0" dirty="0" smtClean="0">
                          <a:solidFill>
                            <a:schemeClr val="tx1"/>
                          </a:solidFill>
                        </a:rPr>
                        <a:t> </a:t>
                      </a:r>
                      <a:r>
                        <a:rPr lang="fr-FR" sz="1600" dirty="0" smtClean="0">
                          <a:solidFill>
                            <a:schemeClr val="tx1"/>
                          </a:solidFill>
                        </a:rPr>
                        <a:t>perte d’utilisabilité (  Responsive design »).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De plus, il vaut mieux éviter de dupliquer le service numérique avec une version spécifique pour chaque terminal.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t>Il est également préférable que les menus soient utilisables en mode tactile tout autant que via un clavier. Lorsque c’est pertinent, le développement du design de la version mobile en premier (mobile first) peut permettre l’adoption d’interface plus sobre.</a:t>
                      </a:r>
                      <a:endParaRPr lang="fr-FR" sz="1600" dirty="0">
                        <a:solidFill>
                          <a:schemeClr val="tx1"/>
                        </a:solidFill>
                      </a:endParaRPr>
                    </a:p>
                  </a:txBody>
                  <a:tcPr/>
                </a:tc>
                <a:tc>
                  <a:txBody>
                    <a:bodyPr/>
                    <a:lstStyle/>
                    <a:p>
                      <a:r>
                        <a:rPr lang="fr-FR" sz="1600" dirty="0" smtClean="0"/>
                        <a:t>Tester les fonctionnalités critiques du service numérique sur différentes tailles d’affichage (ordinateur de bureau, tablette et mobile) : </a:t>
                      </a:r>
                    </a:p>
                    <a:p>
                      <a:endParaRPr lang="fr-FR" sz="1200" dirty="0" smtClean="0"/>
                    </a:p>
                    <a:p>
                      <a:r>
                        <a:rPr lang="fr-FR" sz="1400" dirty="0" smtClean="0"/>
                        <a:t>• Le service doit adapter son mode d’affichage de manière dynamique selon la taille de l’écran (« responsive web design »). </a:t>
                      </a:r>
                    </a:p>
                    <a:p>
                      <a:r>
                        <a:rPr lang="fr-FR" sz="1400" dirty="0" smtClean="0"/>
                        <a:t>• Vérifier que les différents composants de type menus soient accessibles via tout type d’interface, y compris tactile ou non, avec ou sans souris. </a:t>
                      </a:r>
                    </a:p>
                    <a:p>
                      <a:r>
                        <a:rPr lang="fr-FR" sz="1400" dirty="0" smtClean="0"/>
                        <a:t>• S’assurer de l’affichage complet du service dans une zone de visualisation de 1 200 pixels de large (ce qui correspond à la définition des écrans d’ordinateurs standard de 17 pouces au format 5/4 avec 80 pixels utilisés par une barre de lancement). </a:t>
                      </a:r>
                    </a:p>
                    <a:p>
                      <a:r>
                        <a:rPr lang="fr-FR" sz="1400" dirty="0" smtClean="0"/>
                        <a:t>• Pour les interfaces qui ne permettent pas de faire défiler de haut en bas l’affichage, vérifier l’affichage complet du service dans une zone de visualisation de 720 pixels de hauteur (ce qui correspond à la définition des écrans d’ordinateur de 800 pixels de haut, avec 80 pixels utilisés par une barre de lancement). </a:t>
                      </a:r>
                      <a:endParaRPr lang="fr-FR" sz="14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86982" y="0"/>
          <a:ext cx="6105018" cy="1112520"/>
        </p:xfrm>
        <a:graphic>
          <a:graphicData uri="http://schemas.openxmlformats.org/drawingml/2006/table">
            <a:tbl>
              <a:tblPr firstRow="1" bandRow="1">
                <a:tableStyleId>{5C22544A-7EE6-4342-B048-85BDC9FD1C3A}</a:tableStyleId>
              </a:tblPr>
              <a:tblGrid>
                <a:gridCol w="3052509">
                  <a:extLst>
                    <a:ext uri="{9D8B030D-6E8A-4147-A177-3AD203B41FA5}">
                      <a16:colId xmlns:a16="http://schemas.microsoft.com/office/drawing/2014/main" val="2625270736"/>
                    </a:ext>
                  </a:extLst>
                </a:gridCol>
                <a:gridCol w="3052509">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b="1" dirty="0" smtClean="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088283"/>
          <a:ext cx="10271869" cy="76971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7">
                <a:tc>
                  <a:txBody>
                    <a:bodyPr/>
                    <a:lstStyle/>
                    <a:p>
                      <a:r>
                        <a:rPr lang="fr-FR" sz="1400" b="0" dirty="0" smtClean="0">
                          <a:solidFill>
                            <a:srgbClr val="2F5597"/>
                          </a:solidFill>
                        </a:rPr>
                        <a:t>Source : RGESN version 2022 et 2024</a:t>
                      </a:r>
                    </a:p>
                    <a:p>
                      <a:r>
                        <a:rPr lang="fr-FR" sz="1400" b="0" dirty="0" smtClean="0">
                          <a:solidFill>
                            <a:srgbClr val="2F5597"/>
                          </a:solidFill>
                        </a:rPr>
                        <a:t>2.5 Le service numérique s’adapte-t-il à différents types de terminaux</a:t>
                      </a:r>
                      <a:r>
                        <a:rPr lang="fr-FR" sz="1400" b="0" baseline="0" dirty="0" smtClean="0">
                          <a:solidFill>
                            <a:srgbClr val="2F5597"/>
                          </a:solidFill>
                        </a:rPr>
                        <a:t> </a:t>
                      </a:r>
                      <a:r>
                        <a:rPr lang="fr-FR" sz="1400" b="0" dirty="0" smtClean="0">
                          <a:solidFill>
                            <a:srgbClr val="2F5597"/>
                          </a:solidFill>
                        </a:rPr>
                        <a:t>d’affichage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0555924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nvPr>
        </p:nvGraphicFramePr>
        <p:xfrm>
          <a:off x="0" y="1112521"/>
          <a:ext cx="12192000" cy="4901792"/>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287711">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12/Stratégie de maintenance et</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de </a:t>
                      </a:r>
                      <a:r>
                        <a:rPr lang="fr-FR" sz="1800" b="1" u="sng" kern="1200" dirty="0" err="1" smtClean="0">
                          <a:solidFill>
                            <a:schemeClr val="bg1"/>
                          </a:solidFill>
                          <a:latin typeface="+mn-lt"/>
                          <a:ea typeface="+mn-ea"/>
                          <a:cs typeface="+mn-cs"/>
                        </a:rPr>
                        <a:t>décommissionnement</a:t>
                      </a:r>
                      <a:r>
                        <a:rPr lang="fr-FR" sz="1800" b="1" u="sng" kern="1200" dirty="0" smtClean="0">
                          <a:solidFill>
                            <a:schemeClr val="bg1"/>
                          </a:solidFill>
                          <a:latin typeface="+mn-lt"/>
                          <a:ea typeface="+mn-ea"/>
                          <a:cs typeface="+mn-cs"/>
                        </a:rPr>
                        <a:t> (fonctionnalité, composant</a:t>
                      </a:r>
                      <a:r>
                        <a:rPr lang="fr-FR" sz="1800" b="1" u="sng" kern="1200" baseline="0" dirty="0" smtClean="0">
                          <a:solidFill>
                            <a:schemeClr val="bg1"/>
                          </a:solidFill>
                          <a:latin typeface="+mn-lt"/>
                          <a:ea typeface="+mn-ea"/>
                          <a:cs typeface="+mn-cs"/>
                        </a:rPr>
                        <a:t> et environnement)</a:t>
                      </a:r>
                      <a:endParaRPr lang="fr-FR" sz="1800" b="1" u="sng" kern="1200" dirty="0" smtClean="0">
                        <a:solidFill>
                          <a:schemeClr val="bg1"/>
                        </a:solidFill>
                        <a:latin typeface="+mn-lt"/>
                        <a:ea typeface="+mn-ea"/>
                        <a:cs typeface="+mn-cs"/>
                      </a:endParaRPr>
                    </a:p>
                  </a:txBody>
                  <a:tcPr anchor="ctr">
                    <a:solidFill>
                      <a:srgbClr val="2F5597"/>
                    </a:solidFill>
                  </a:tcPr>
                </a:tc>
                <a:tc hMerge="1">
                  <a:txBody>
                    <a:bodyPr/>
                    <a:lstStyle/>
                    <a:p>
                      <a:pP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14081">
                <a:tc>
                  <a:txBody>
                    <a:bodyPr/>
                    <a:lstStyle/>
                    <a:p>
                      <a:pPr marL="0" indent="0">
                        <a:buFont typeface="Arial" panose="020B0604020202020204" pitchFamily="34" charset="0"/>
                        <a:buNone/>
                      </a:pPr>
                      <a:r>
                        <a:rPr lang="fr-FR" sz="1600" dirty="0" smtClean="0">
                          <a:solidFill>
                            <a:schemeClr val="tx1"/>
                          </a:solidFill>
                        </a:rPr>
                        <a:t>Définir et mettre à jour régulièrement une stratégie de maintenance et </a:t>
                      </a:r>
                      <a:r>
                        <a:rPr lang="fr-FR" sz="1600" dirty="0" err="1" smtClean="0">
                          <a:solidFill>
                            <a:schemeClr val="tx1"/>
                          </a:solidFill>
                        </a:rPr>
                        <a:t>décommissionnement</a:t>
                      </a:r>
                      <a:r>
                        <a:rPr lang="fr-FR" sz="1600" dirty="0" smtClean="0">
                          <a:solidFill>
                            <a:schemeClr val="tx1"/>
                          </a:solidFill>
                        </a:rPr>
                        <a:t> des</a:t>
                      </a:r>
                      <a:r>
                        <a:rPr lang="fr-FR" sz="1600" baseline="0" dirty="0" smtClean="0">
                          <a:solidFill>
                            <a:schemeClr val="tx1"/>
                          </a:solidFill>
                        </a:rPr>
                        <a:t> </a:t>
                      </a:r>
                      <a:r>
                        <a:rPr lang="fr-FR" sz="1600" dirty="0" smtClean="0">
                          <a:solidFill>
                            <a:schemeClr val="tx1"/>
                          </a:solidFill>
                        </a:rPr>
                        <a:t>environnements et des dates de rappel.</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t>S’interroger sur l’opportunité d’arrêter des parties du service (ou tout le service) afin de diminuer les impacts de ce dernier, en prenant en compte les équipements sous-jacents à réaffecter pour prolonger leur durée de vie. </a:t>
                      </a:r>
                    </a:p>
                    <a:p>
                      <a:pPr marL="0" indent="0">
                        <a:buFont typeface="Arial" panose="020B0604020202020204" pitchFamily="34" charset="0"/>
                        <a:buNone/>
                      </a:pPr>
                      <a:endParaRPr lang="fr-FR" sz="1600" dirty="0" smtClean="0"/>
                    </a:p>
                    <a:p>
                      <a:pPr marL="0" indent="0">
                        <a:buFont typeface="Arial" panose="020B0604020202020204" pitchFamily="34" charset="0"/>
                        <a:buNone/>
                      </a:pPr>
                      <a:r>
                        <a:rPr lang="fr-FR" sz="1600" dirty="0" smtClean="0"/>
                        <a:t>En cas de </a:t>
                      </a:r>
                      <a:r>
                        <a:rPr lang="fr-FR" sz="1600" dirty="0" err="1" smtClean="0"/>
                        <a:t>décommissionnement</a:t>
                      </a:r>
                      <a:r>
                        <a:rPr lang="fr-FR" sz="1600" dirty="0" smtClean="0"/>
                        <a:t>, il conviendra de donner une nouvelle vie au matériel et aux ressources libérées (réutilisation,</a:t>
                      </a:r>
                      <a:r>
                        <a:rPr lang="fr-FR" sz="1600" baseline="0" dirty="0" smtClean="0"/>
                        <a:t> </a:t>
                      </a:r>
                      <a:r>
                        <a:rPr lang="fr-FR" sz="1600" dirty="0" smtClean="0"/>
                        <a:t>reconditionnement, recyclage…) et d’anticiper l’avenir des données non personnelles collectées pour prévoir, par exemple, leur suppression ou leur mise en open data. </a:t>
                      </a:r>
                      <a:endParaRPr lang="fr-FR" sz="1600" dirty="0">
                        <a:solidFill>
                          <a:schemeClr val="tx1"/>
                        </a:solidFill>
                      </a:endParaRPr>
                    </a:p>
                  </a:txBody>
                  <a:tcPr/>
                </a:tc>
                <a:tc>
                  <a:txBody>
                    <a:bodyPr/>
                    <a:lstStyle/>
                    <a:p>
                      <a:r>
                        <a:rPr lang="fr-FR" sz="1600" dirty="0" smtClean="0">
                          <a:solidFill>
                            <a:schemeClr val="tx1"/>
                          </a:solidFill>
                        </a:rPr>
                        <a:t>Lister les fonctionnalités, les composants et les environnements actifs, en précisant leur état d'utilisation. </a:t>
                      </a:r>
                    </a:p>
                    <a:p>
                      <a:endParaRPr lang="fr-FR" sz="1600" dirty="0" smtClean="0">
                        <a:solidFill>
                          <a:schemeClr val="tx1"/>
                        </a:solidFill>
                      </a:endParaRPr>
                    </a:p>
                    <a:p>
                      <a:r>
                        <a:rPr lang="fr-FR" sz="1600" dirty="0" smtClean="0">
                          <a:solidFill>
                            <a:schemeClr val="tx1"/>
                          </a:solidFill>
                        </a:rPr>
                        <a:t>Le</a:t>
                      </a:r>
                      <a:r>
                        <a:rPr lang="fr-FR" sz="1600" baseline="0" dirty="0" smtClean="0">
                          <a:solidFill>
                            <a:schemeClr val="tx1"/>
                          </a:solidFill>
                        </a:rPr>
                        <a:t> </a:t>
                      </a:r>
                      <a:r>
                        <a:rPr lang="fr-FR" sz="1600" dirty="0" smtClean="0">
                          <a:solidFill>
                            <a:schemeClr val="tx1"/>
                          </a:solidFill>
                        </a:rPr>
                        <a:t>critère est validé si une stratégie de maintenance et de </a:t>
                      </a:r>
                      <a:r>
                        <a:rPr lang="fr-FR" sz="1600" dirty="0" err="1" smtClean="0">
                          <a:solidFill>
                            <a:schemeClr val="tx1"/>
                          </a:solidFill>
                        </a:rPr>
                        <a:t>décommissionnement</a:t>
                      </a:r>
                      <a:r>
                        <a:rPr lang="fr-FR" sz="1600" dirty="0" smtClean="0">
                          <a:solidFill>
                            <a:schemeClr val="tx1"/>
                          </a:solidFill>
                        </a:rPr>
                        <a:t> est définie pour le service</a:t>
                      </a:r>
                      <a:r>
                        <a:rPr lang="fr-FR" sz="1600" baseline="0" dirty="0" smtClean="0">
                          <a:solidFill>
                            <a:schemeClr val="tx1"/>
                          </a:solidFill>
                        </a:rPr>
                        <a:t> </a:t>
                      </a:r>
                      <a:r>
                        <a:rPr lang="fr-FR" sz="1600" dirty="0" smtClean="0">
                          <a:solidFill>
                            <a:schemeClr val="tx1"/>
                          </a:solidFill>
                        </a:rPr>
                        <a:t>incluant des dates de rappel pour les éléments non utilisés et les actions prévues pour optimiser la seconde</a:t>
                      </a:r>
                      <a:r>
                        <a:rPr lang="fr-FR" sz="1600" baseline="0" dirty="0" smtClean="0">
                          <a:solidFill>
                            <a:schemeClr val="tx1"/>
                          </a:solidFill>
                        </a:rPr>
                        <a:t> </a:t>
                      </a:r>
                      <a:r>
                        <a:rPr lang="fr-FR" sz="1600" dirty="0" smtClean="0">
                          <a:solidFill>
                            <a:schemeClr val="tx1"/>
                          </a:solidFill>
                        </a:rPr>
                        <a:t>vie ou fin de vie des ressources libérées en cas de </a:t>
                      </a:r>
                      <a:r>
                        <a:rPr lang="fr-FR" sz="1600" dirty="0" err="1" smtClean="0">
                          <a:solidFill>
                            <a:schemeClr val="tx1"/>
                          </a:solidFill>
                        </a:rPr>
                        <a:t>décommissionnement</a:t>
                      </a:r>
                      <a:r>
                        <a:rPr lang="fr-FR" sz="1600" dirty="0" smtClean="0">
                          <a:solidFill>
                            <a:schemeClr val="tx1"/>
                          </a:solidFill>
                        </a:rPr>
                        <a:t>.</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86982" y="0"/>
          <a:ext cx="6105018" cy="1112520"/>
        </p:xfrm>
        <a:graphic>
          <a:graphicData uri="http://schemas.openxmlformats.org/drawingml/2006/table">
            <a:tbl>
              <a:tblPr firstRow="1" bandRow="1">
                <a:tableStyleId>{5C22544A-7EE6-4342-B048-85BDC9FD1C3A}</a:tableStyleId>
              </a:tblPr>
              <a:tblGrid>
                <a:gridCol w="3052509">
                  <a:extLst>
                    <a:ext uri="{9D8B030D-6E8A-4147-A177-3AD203B41FA5}">
                      <a16:colId xmlns:a16="http://schemas.microsoft.com/office/drawing/2014/main" val="2625270736"/>
                    </a:ext>
                  </a:extLst>
                </a:gridCol>
                <a:gridCol w="3052509">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b="1" dirty="0" smtClean="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solidFill>
                            <a:schemeClr val="tx1"/>
                          </a:solidFill>
                        </a:rPr>
                        <a:t>Haute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088283"/>
          <a:ext cx="10271869" cy="76971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7">
                <a:tc>
                  <a:txBody>
                    <a:bodyPr/>
                    <a:lstStyle/>
                    <a:p>
                      <a:r>
                        <a:rPr lang="fr-FR" sz="1400" b="0" dirty="0" smtClean="0">
                          <a:solidFill>
                            <a:srgbClr val="2F5597"/>
                          </a:solidFill>
                        </a:rPr>
                        <a:t>Source : RGESN version 2022 et 2024</a:t>
                      </a:r>
                    </a:p>
                    <a:p>
                      <a:r>
                        <a:rPr lang="fr-FR" sz="1400" b="0" dirty="0" smtClean="0">
                          <a:solidFill>
                            <a:srgbClr val="2F5597"/>
                          </a:solidFill>
                        </a:rPr>
                        <a:t>2.7 Le service numérique </a:t>
                      </a:r>
                      <a:r>
                        <a:rPr lang="fr-FR" sz="1400" b="0" dirty="0" err="1" smtClean="0">
                          <a:solidFill>
                            <a:srgbClr val="2F5597"/>
                          </a:solidFill>
                        </a:rPr>
                        <a:t>a-t-il</a:t>
                      </a:r>
                      <a:r>
                        <a:rPr lang="fr-FR" sz="1400" b="0" dirty="0" smtClean="0">
                          <a:solidFill>
                            <a:srgbClr val="2F5597"/>
                          </a:solidFill>
                        </a:rPr>
                        <a:t> prévu une stratégie de maintenance et</a:t>
                      </a:r>
                      <a:r>
                        <a:rPr lang="fr-FR" sz="1400" b="0" baseline="0" dirty="0" smtClean="0">
                          <a:solidFill>
                            <a:srgbClr val="2F5597"/>
                          </a:solidFill>
                        </a:rPr>
                        <a:t> </a:t>
                      </a:r>
                      <a:r>
                        <a:rPr lang="fr-FR" sz="1400" b="0" dirty="0" smtClean="0">
                          <a:solidFill>
                            <a:srgbClr val="2F5597"/>
                          </a:solidFill>
                        </a:rPr>
                        <a:t>de </a:t>
                      </a:r>
                      <a:r>
                        <a:rPr lang="fr-FR" sz="1400" b="0" dirty="0" err="1" smtClean="0">
                          <a:solidFill>
                            <a:srgbClr val="2F5597"/>
                          </a:solidFill>
                        </a:rPr>
                        <a:t>décommissionnement</a:t>
                      </a:r>
                      <a:r>
                        <a:rPr lang="fr-FR" sz="1400" b="0" dirty="0" smtClean="0">
                          <a:solidFill>
                            <a:srgbClr val="2F5597"/>
                          </a:solidFill>
                        </a:rPr>
                        <a:t>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61453072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612465263"/>
              </p:ext>
            </p:extLst>
          </p:nvPr>
        </p:nvGraphicFramePr>
        <p:xfrm>
          <a:off x="0" y="1112521"/>
          <a:ext cx="12192000" cy="4975764"/>
        </p:xfrm>
        <a:graphic>
          <a:graphicData uri="http://schemas.openxmlformats.org/drawingml/2006/table">
            <a:tbl>
              <a:tblPr firstRow="1" bandRow="1">
                <a:tableStyleId>{5C22544A-7EE6-4342-B048-85BDC9FD1C3A}</a:tableStyleId>
              </a:tblPr>
              <a:tblGrid>
                <a:gridCol w="6100668">
                  <a:extLst>
                    <a:ext uri="{9D8B030D-6E8A-4147-A177-3AD203B41FA5}">
                      <a16:colId xmlns:a16="http://schemas.microsoft.com/office/drawing/2014/main" val="1470604376"/>
                    </a:ext>
                  </a:extLst>
                </a:gridCol>
                <a:gridCol w="6091332">
                  <a:extLst>
                    <a:ext uri="{9D8B030D-6E8A-4147-A177-3AD203B41FA5}">
                      <a16:colId xmlns:a16="http://schemas.microsoft.com/office/drawing/2014/main" val="588129664"/>
                    </a:ext>
                  </a:extLst>
                </a:gridCol>
              </a:tblGrid>
              <a:tr h="1307144">
                <a:tc gridSpan="2">
                  <a:txBody>
                    <a:bodyPr/>
                    <a:lstStyle/>
                    <a:p>
                      <a:pPr marL="0" algn="ctr" defTabSz="914400" rtl="0" eaLnBrk="1" fontAlgn="b" latinLnBrk="0" hangingPunct="1"/>
                      <a:r>
                        <a:rPr lang="fr-FR" sz="1800" b="1" u="sng" kern="1200" dirty="0" smtClean="0">
                          <a:solidFill>
                            <a:schemeClr val="bg1"/>
                          </a:solidFill>
                          <a:latin typeface="+mn-lt"/>
                          <a:ea typeface="+mn-ea"/>
                          <a:cs typeface="+mn-cs"/>
                        </a:rPr>
                        <a:t>13/Limiter les analyses statistiques et données récoltées avec les outils de </a:t>
                      </a:r>
                      <a:r>
                        <a:rPr lang="fr-FR" sz="1800" b="1" u="sng" kern="1200" dirty="0" err="1" smtClean="0">
                          <a:solidFill>
                            <a:schemeClr val="bg1"/>
                          </a:solidFill>
                          <a:latin typeface="+mn-lt"/>
                          <a:ea typeface="+mn-ea"/>
                          <a:cs typeface="+mn-cs"/>
                        </a:rPr>
                        <a:t>tracking</a:t>
                      </a:r>
                      <a:r>
                        <a:rPr lang="fr-FR" sz="1800" b="1" u="sng" kern="1200" dirty="0" smtClean="0">
                          <a:solidFill>
                            <a:schemeClr val="bg1"/>
                          </a:solidFill>
                          <a:latin typeface="+mn-lt"/>
                          <a:ea typeface="+mn-ea"/>
                          <a:cs typeface="+mn-cs"/>
                        </a:rPr>
                        <a:t> Ex : utilisation du mobile vs Desktop.</a:t>
                      </a:r>
                    </a:p>
                  </a:txBody>
                  <a:tcPr marL="6350" marR="6350" marT="6350" marB="0" anchor="ctr">
                    <a:solidFill>
                      <a:srgbClr val="2F5597"/>
                    </a:solidFill>
                  </a:tcPr>
                </a:tc>
                <a:tc hMerge="1">
                  <a:txBody>
                    <a:bodyPr/>
                    <a:lstStyle/>
                    <a:p>
                      <a:pPr algn="ctr" fontAlgn="b"/>
                      <a:endParaRPr lang="fr-FR" sz="1800" b="1" u="none" kern="1200" dirty="0">
                        <a:solidFill>
                          <a:schemeClr val="bg1"/>
                        </a:solidFill>
                        <a:latin typeface="+mn-lt"/>
                        <a:ea typeface="+mn-ea"/>
                        <a:cs typeface="+mn-cs"/>
                      </a:endParaRPr>
                    </a:p>
                  </a:txBody>
                  <a:tcPr marL="6350" marR="6350" marT="6350" marB="0" anchor="ctr">
                    <a:solidFill>
                      <a:srgbClr val="2F5597"/>
                    </a:solidFill>
                  </a:tcPr>
                </a:tc>
                <a:extLst>
                  <a:ext uri="{0D108BD9-81ED-4DB2-BD59-A6C34878D82A}">
                    <a16:rowId xmlns:a16="http://schemas.microsoft.com/office/drawing/2014/main" val="2512791991"/>
                  </a:ext>
                </a:extLst>
              </a:tr>
              <a:tr h="3668620">
                <a:tc>
                  <a:txBody>
                    <a:bodyPr/>
                    <a:lstStyle/>
                    <a:p>
                      <a:pPr marL="0" indent="0" algn="l" defTabSz="914400" rtl="0" eaLnBrk="1" fontAlgn="b" latinLnBrk="0" hangingPunct="1">
                        <a:buFont typeface="Arial" panose="020B0604020202020204" pitchFamily="34" charset="0"/>
                        <a:buNone/>
                      </a:pPr>
                      <a:r>
                        <a:rPr lang="fr-FR" sz="1600" b="0" i="0" u="none" strike="noStrike" kern="1200" dirty="0" smtClean="0">
                          <a:solidFill>
                            <a:srgbClr val="000000"/>
                          </a:solidFill>
                          <a:effectLst/>
                          <a:latin typeface="Arial" panose="020B0604020202020204" pitchFamily="34" charset="0"/>
                          <a:ea typeface="+mn-ea"/>
                          <a:cs typeface="+mn-cs"/>
                        </a:rPr>
                        <a:t>Les outils utilisés pour suivre les actions des utilisateurs utilisent souvent beaucoup de ressources coté client : requêtes nombreuses, fichiers </a:t>
                      </a:r>
                      <a:r>
                        <a:rPr lang="fr-FR" sz="1600" b="0" i="0" u="none" strike="noStrike" kern="1200" dirty="0" err="1" smtClean="0">
                          <a:solidFill>
                            <a:srgbClr val="000000"/>
                          </a:solidFill>
                          <a:effectLst/>
                          <a:latin typeface="Arial" panose="020B0604020202020204" pitchFamily="34" charset="0"/>
                          <a:ea typeface="+mn-ea"/>
                          <a:cs typeface="+mn-cs"/>
                        </a:rPr>
                        <a:t>javascript</a:t>
                      </a:r>
                      <a:r>
                        <a:rPr lang="fr-FR" sz="1600" b="0" i="0" u="none" strike="noStrike" kern="1200" dirty="0" smtClean="0">
                          <a:solidFill>
                            <a:srgbClr val="000000"/>
                          </a:solidFill>
                          <a:effectLst/>
                          <a:latin typeface="Arial" panose="020B0604020202020204" pitchFamily="34" charset="0"/>
                          <a:ea typeface="+mn-ea"/>
                          <a:cs typeface="+mn-cs"/>
                        </a:rPr>
                        <a:t> supplémentaires chargés, utilisation de plusieurs domaines additionnels, envoi de cookie, ...</a:t>
                      </a:r>
                    </a:p>
                    <a:p>
                      <a:pPr marL="0" indent="0" algn="l" defTabSz="914400" rtl="0" eaLnBrk="1" fontAlgn="b" latinLnBrk="0" hangingPunct="1">
                        <a:buFont typeface="Arial" panose="020B0604020202020204" pitchFamily="34" charset="0"/>
                        <a:buNone/>
                      </a:pPr>
                      <a:endParaRPr lang="fr-FR" sz="1600" b="0" i="0" u="none" strike="noStrike" kern="1200" dirty="0" smtClean="0">
                        <a:solidFill>
                          <a:srgbClr val="000000"/>
                        </a:solidFill>
                        <a:effectLst/>
                        <a:latin typeface="Arial" panose="020B0604020202020204" pitchFamily="34" charset="0"/>
                        <a:ea typeface="+mn-ea"/>
                        <a:cs typeface="+mn-cs"/>
                      </a:endParaRPr>
                    </a:p>
                    <a:p>
                      <a:pPr marL="0" indent="0" algn="l" defTabSz="914400" rtl="0" eaLnBrk="1" fontAlgn="b" latinLnBrk="0" hangingPunct="1">
                        <a:buFont typeface="Arial" panose="020B0604020202020204" pitchFamily="34" charset="0"/>
                        <a:buNone/>
                      </a:pPr>
                      <a:r>
                        <a:rPr lang="fr-FR" sz="1600" b="0" i="0" u="none" strike="noStrike" kern="1200" dirty="0" smtClean="0">
                          <a:solidFill>
                            <a:srgbClr val="000000"/>
                          </a:solidFill>
                          <a:effectLst/>
                          <a:latin typeface="Arial" panose="020B0604020202020204" pitchFamily="34" charset="0"/>
                          <a:ea typeface="+mn-ea"/>
                          <a:cs typeface="+mn-cs"/>
                        </a:rPr>
                        <a:t>Si les informations issues de ce suivi ne sont pas indispensables, ne pas en utiliser. Sinon se limiter à un seul outil et privilégier une solution qui consomme peu de ressources.</a:t>
                      </a:r>
                      <a:endParaRPr lang="fr-FR" sz="1600" b="0" i="0" u="none" strike="noStrike" kern="1200" dirty="0">
                        <a:solidFill>
                          <a:srgbClr val="000000"/>
                        </a:solidFill>
                        <a:effectLst/>
                        <a:latin typeface="Arial" panose="020B0604020202020204" pitchFamily="34" charset="0"/>
                        <a:ea typeface="+mn-ea"/>
                        <a:cs typeface="+mn-cs"/>
                      </a:endParaRPr>
                    </a:p>
                  </a:txBody>
                  <a:tcPr/>
                </a:tc>
                <a:tc>
                  <a:txBody>
                    <a:bodyPr/>
                    <a:lstStyle/>
                    <a:p>
                      <a:pPr algn="l" fontAlgn="b"/>
                      <a:r>
                        <a:rPr lang="fr-FR" sz="1600" b="0" i="0" u="none" strike="noStrike" dirty="0" smtClean="0">
                          <a:solidFill>
                            <a:srgbClr val="000000"/>
                          </a:solidFill>
                          <a:effectLst/>
                          <a:latin typeface="Arial" panose="020B0604020202020204" pitchFamily="34" charset="0"/>
                        </a:rPr>
                        <a:t>Nombre </a:t>
                      </a:r>
                      <a:r>
                        <a:rPr lang="fr-FR" sz="1600" b="0" i="0" u="none" strike="noStrike" dirty="0">
                          <a:solidFill>
                            <a:srgbClr val="000000"/>
                          </a:solidFill>
                          <a:effectLst/>
                          <a:latin typeface="Arial" panose="020B0604020202020204" pitchFamily="34" charset="0"/>
                        </a:rPr>
                        <a:t>d'outils de </a:t>
                      </a:r>
                      <a:r>
                        <a:rPr lang="fr-FR" sz="1600" b="0" i="0" u="none" strike="noStrike" dirty="0" err="1">
                          <a:solidFill>
                            <a:srgbClr val="000000"/>
                          </a:solidFill>
                          <a:effectLst/>
                          <a:latin typeface="Arial" panose="020B0604020202020204" pitchFamily="34" charset="0"/>
                        </a:rPr>
                        <a:t>tracking</a:t>
                      </a:r>
                      <a:r>
                        <a:rPr lang="fr-FR" sz="1600" b="0" i="0" u="none" strike="noStrike" dirty="0">
                          <a:solidFill>
                            <a:srgbClr val="000000"/>
                          </a:solidFill>
                          <a:effectLst/>
                          <a:latin typeface="Arial" panose="020B0604020202020204" pitchFamily="34" charset="0"/>
                        </a:rPr>
                        <a:t> inférieur ou égal à </a:t>
                      </a:r>
                      <a:r>
                        <a:rPr lang="fr-FR" sz="1600" b="0" i="0" u="none" strike="noStrike" dirty="0" smtClean="0">
                          <a:solidFill>
                            <a:srgbClr val="000000"/>
                          </a:solidFill>
                          <a:effectLst/>
                          <a:latin typeface="Arial" panose="020B0604020202020204" pitchFamily="34" charset="0"/>
                        </a:rPr>
                        <a:t>1.</a:t>
                      </a:r>
                      <a:endParaRPr lang="fr-FR" sz="1600" b="0" i="0" u="none" strike="noStrike" dirty="0">
                        <a:solidFill>
                          <a:srgbClr val="000000"/>
                        </a:solidFill>
                        <a:effectLst/>
                        <a:latin typeface="Arial" panose="020B0604020202020204" pitchFamily="34" charset="0"/>
                      </a:endParaRPr>
                    </a:p>
                  </a:txBody>
                  <a:tcPr marL="6350" marR="6350" marT="6350" marB="0"/>
                </a:tc>
                <a:extLst>
                  <a:ext uri="{0D108BD9-81ED-4DB2-BD59-A6C34878D82A}">
                    <a16:rowId xmlns:a16="http://schemas.microsoft.com/office/drawing/2014/main" val="3420094902"/>
                  </a:ext>
                </a:extLst>
              </a:tr>
            </a:tbl>
          </a:graphicData>
        </a:graphic>
      </p:graphicFrame>
      <p:graphicFrame>
        <p:nvGraphicFramePr>
          <p:cNvPr id="6" name="Tableau 5"/>
          <p:cNvGraphicFramePr>
            <a:graphicFrameLocks noGrp="1"/>
          </p:cNvGraphicFramePr>
          <p:nvPr>
            <p:extLst/>
          </p:nvPr>
        </p:nvGraphicFramePr>
        <p:xfrm>
          <a:off x="6096000" y="-1"/>
          <a:ext cx="6072554" cy="1112520"/>
        </p:xfrm>
        <a:graphic>
          <a:graphicData uri="http://schemas.openxmlformats.org/drawingml/2006/table">
            <a:tbl>
              <a:tblPr firstRow="1" bandRow="1">
                <a:tableStyleId>{5C22544A-7EE6-4342-B048-85BDC9FD1C3A}</a:tableStyleId>
              </a:tblPr>
              <a:tblGrid>
                <a:gridCol w="3036277">
                  <a:extLst>
                    <a:ext uri="{9D8B030D-6E8A-4147-A177-3AD203B41FA5}">
                      <a16:colId xmlns:a16="http://schemas.microsoft.com/office/drawing/2014/main" val="2625270736"/>
                    </a:ext>
                  </a:extLst>
                </a:gridCol>
                <a:gridCol w="3036277">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b="1"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Haute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088283"/>
          <a:ext cx="10271869" cy="76971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7">
                <a:tc>
                  <a:txBody>
                    <a:bodyPr/>
                    <a:lstStyle/>
                    <a:p>
                      <a:r>
                        <a:rPr lang="fr-FR" sz="1400" b="0" dirty="0" smtClean="0">
                          <a:solidFill>
                            <a:srgbClr val="2F5597"/>
                          </a:solidFill>
                        </a:rPr>
                        <a:t>Source : Ecoconception web : les 115 bonnes pratiques </a:t>
                      </a:r>
                    </a:p>
                    <a:p>
                      <a:r>
                        <a:rPr lang="fr-FR" sz="1400" b="0" dirty="0" smtClean="0">
                          <a:solidFill>
                            <a:srgbClr val="2F5597"/>
                          </a:solidFill>
                        </a:rPr>
                        <a:t>Limiter les outils d'</a:t>
                      </a:r>
                      <a:r>
                        <a:rPr lang="fr-FR" sz="1400" b="0" dirty="0" err="1" smtClean="0">
                          <a:solidFill>
                            <a:srgbClr val="2F5597"/>
                          </a:solidFill>
                        </a:rPr>
                        <a:t>analytics</a:t>
                      </a:r>
                      <a:r>
                        <a:rPr lang="fr-FR" sz="1400" b="0" dirty="0" smtClean="0">
                          <a:solidFill>
                            <a:srgbClr val="2F5597"/>
                          </a:solidFill>
                        </a:rPr>
                        <a:t> et les données collectées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32302523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4083712677"/>
              </p:ext>
            </p:extLst>
          </p:nvPr>
        </p:nvGraphicFramePr>
        <p:xfrm>
          <a:off x="0" y="1112521"/>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14/Quantifier précisément le besoin pour chaque fonctionnalité</a:t>
                      </a:r>
                    </a:p>
                  </a:txBody>
                  <a:tcPr anchor="ctr">
                    <a:solidFill>
                      <a:srgbClr val="2F5597"/>
                    </a:solidFill>
                  </a:tcPr>
                </a:tc>
                <a:tc hMerge="1">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smtClean="0">
                          <a:solidFill>
                            <a:schemeClr val="tx1"/>
                          </a:solidFill>
                        </a:rPr>
                        <a:t>Les  « dimensions » de chaque fonctionnalité doivent être définies précisément et dans leur ensemble. Il peut s’agir d’un taux de compression pour les images de l’interface graphique, du temps de réponse maximum pour une requête HTTP, du nombre d’items affichés dans une liste, etc.</a:t>
                      </a:r>
                    </a:p>
                    <a:p>
                      <a:pPr marL="0" indent="0">
                        <a:buFont typeface="Arial" panose="020B0604020202020204" pitchFamily="34" charset="0"/>
                        <a:buNone/>
                      </a:pPr>
                      <a:r>
                        <a:rPr lang="fr-FR" sz="1600" dirty="0" smtClean="0">
                          <a:solidFill>
                            <a:schemeClr val="tx1"/>
                          </a:solidFill>
                        </a:rPr>
                        <a:t>Par exemple, en l’absence de précision, le nombre d’items d’une liste est limité à 5 éléments ou au nombre maximal affichable sur le plus petit écran cible de l’application.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Le nombre de fonctionnalités avec des dimensions supérieures au besoin</a:t>
                      </a:r>
                      <a:r>
                        <a:rPr lang="fr-FR" sz="1600" baseline="0" dirty="0" smtClean="0">
                          <a:solidFill>
                            <a:schemeClr val="tx1"/>
                          </a:solidFill>
                        </a:rPr>
                        <a:t> </a:t>
                      </a:r>
                      <a:r>
                        <a:rPr lang="fr-FR" sz="1600" dirty="0" smtClean="0">
                          <a:solidFill>
                            <a:schemeClr val="tx1"/>
                          </a:solidFill>
                        </a:rPr>
                        <a:t>est égal à 0.</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b="1"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7" name="Tableau 6"/>
          <p:cNvGraphicFramePr>
            <a:graphicFrameLocks noGrp="1"/>
          </p:cNvGraphicFramePr>
          <p:nvPr>
            <p:extLst/>
          </p:nvPr>
        </p:nvGraphicFramePr>
        <p:xfrm>
          <a:off x="-1" y="6088283"/>
          <a:ext cx="10271869" cy="76971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7">
                <a:tc>
                  <a:txBody>
                    <a:bodyPr/>
                    <a:lstStyle/>
                    <a:p>
                      <a:r>
                        <a:rPr lang="fr-FR" sz="1400" b="0" dirty="0" smtClean="0">
                          <a:solidFill>
                            <a:srgbClr val="2F5597"/>
                          </a:solidFill>
                        </a:rPr>
                        <a:t>Source : Ecoconception web : les 115 bonnes pratiques </a:t>
                      </a:r>
                    </a:p>
                    <a:p>
                      <a:r>
                        <a:rPr lang="fr-FR" sz="1400" b="0" dirty="0" smtClean="0">
                          <a:solidFill>
                            <a:srgbClr val="2F5597"/>
                          </a:solidFill>
                        </a:rPr>
                        <a:t>Quantifier précisément le besoin</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54198568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856125194"/>
              </p:ext>
            </p:extLst>
          </p:nvPr>
        </p:nvGraphicFramePr>
        <p:xfrm>
          <a:off x="0" y="1112521"/>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15/Privilégier une approche « mobile first », à défaut un chargement adaptatif .</a:t>
                      </a:r>
                    </a:p>
                  </a:txBody>
                  <a:tcPr anchor="ctr">
                    <a:solidFill>
                      <a:srgbClr val="2F5597"/>
                    </a:solidFill>
                  </a:tcPr>
                </a:tc>
                <a:tc hMerge="1">
                  <a:txBody>
                    <a:bodyPr/>
                    <a:lstStyle/>
                    <a:p>
                      <a:pPr algn="ctr" rtl="0"/>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400" dirty="0" smtClean="0">
                          <a:solidFill>
                            <a:schemeClr val="tx1"/>
                          </a:solidFill>
                        </a:rPr>
                        <a:t>Lorsque le contexte le permet, privilégier l’approche   mobile first » qui consiste à concevoir un site/service en ligne pour les terminaux mobiles, et n’élargir sa couverture fonctionnelle pour de plus grands écrans que si l’apport</a:t>
                      </a:r>
                      <a:r>
                        <a:rPr lang="fr-FR" sz="1400" baseline="0" dirty="0" smtClean="0">
                          <a:solidFill>
                            <a:schemeClr val="tx1"/>
                          </a:solidFill>
                        </a:rPr>
                        <a:t> </a:t>
                      </a:r>
                      <a:r>
                        <a:rPr lang="fr-FR" sz="1400" dirty="0" smtClean="0">
                          <a:solidFill>
                            <a:schemeClr val="tx1"/>
                          </a:solidFill>
                        </a:rPr>
                        <a:t>fonctionnel/ergonomique est justifié. Dans ce cas, opter alors pour le chargement adaptatif. </a:t>
                      </a:r>
                    </a:p>
                    <a:p>
                      <a:pPr marL="0" indent="0">
                        <a:buFont typeface="Arial" panose="020B0604020202020204" pitchFamily="34" charset="0"/>
                        <a:buNone/>
                      </a:pPr>
                      <a:endParaRPr lang="fr-FR" sz="1400" dirty="0" smtClean="0">
                        <a:solidFill>
                          <a:schemeClr val="tx1"/>
                        </a:solidFill>
                      </a:endParaRPr>
                    </a:p>
                    <a:p>
                      <a:pPr marL="0" indent="0">
                        <a:buFont typeface="Arial" panose="020B0604020202020204" pitchFamily="34" charset="0"/>
                        <a:buNone/>
                      </a:pPr>
                      <a:r>
                        <a:rPr lang="fr-FR" sz="1400" dirty="0" smtClean="0">
                          <a:solidFill>
                            <a:schemeClr val="tx1"/>
                          </a:solidFill>
                        </a:rPr>
                        <a:t>Cette approche consiste à sélectionner les ressources, y compris JS et CSS, les plus adaptées au contexte d'utilisation (taille de l'écran / de la fenêtre, densité de pixels, qualité du réseau, quantité de mémoire vive, etc.), si possible côté serveur. On s’assure ainsi de ne pas consommer inutilement de la bande passante, ni de trop solliciter le processeur et la mémoire du terminal pour des traitements inutiles.</a:t>
                      </a:r>
                    </a:p>
                    <a:p>
                      <a:pPr marL="0" indent="0">
                        <a:buFont typeface="Arial" panose="020B0604020202020204" pitchFamily="34" charset="0"/>
                        <a:buNone/>
                      </a:pPr>
                      <a:endParaRPr lang="fr-FR" sz="1400" dirty="0" smtClean="0">
                        <a:solidFill>
                          <a:schemeClr val="tx1"/>
                        </a:solidFill>
                      </a:endParaRPr>
                    </a:p>
                    <a:p>
                      <a:pPr marL="0" indent="0">
                        <a:buFont typeface="Arial" panose="020B0604020202020204" pitchFamily="34" charset="0"/>
                        <a:buNone/>
                      </a:pPr>
                      <a:r>
                        <a:rPr lang="fr-FR" sz="1400" dirty="0" smtClean="0">
                          <a:solidFill>
                            <a:schemeClr val="tx1"/>
                          </a:solidFill>
                        </a:rPr>
                        <a:t>Privilégiez un mode par défaut minimaliste permettant l'accès à votre site même si toutes ses fonctionnalités ne sont pas supportées par tous les navigateurs (sans trop détériorer l'expérience utilisateur bien sûr!). </a:t>
                      </a:r>
                      <a:endParaRPr lang="fr-FR" sz="1400" dirty="0">
                        <a:solidFill>
                          <a:schemeClr val="tx1"/>
                        </a:solidFill>
                      </a:endParaRPr>
                    </a:p>
                  </a:txBody>
                  <a:tcPr/>
                </a:tc>
                <a:tc>
                  <a:txBody>
                    <a:bodyPr/>
                    <a:lstStyle/>
                    <a:p>
                      <a:r>
                        <a:rPr lang="fr-FR" sz="1400" dirty="0" smtClean="0">
                          <a:solidFill>
                            <a:schemeClr val="tx1"/>
                          </a:solidFill>
                        </a:rPr>
                        <a:t>Le nombre de conceptions ne s'appuyant pas sur une approche « mobile first »  est inférieur ou égal à 0.</a:t>
                      </a:r>
                    </a:p>
                    <a:p>
                      <a:endParaRPr lang="fr-FR" sz="14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19446" y="0"/>
          <a:ext cx="6072554" cy="1112520"/>
        </p:xfrm>
        <a:graphic>
          <a:graphicData uri="http://schemas.openxmlformats.org/drawingml/2006/table">
            <a:tbl>
              <a:tblPr firstRow="1" bandRow="1">
                <a:tableStyleId>{5C22544A-7EE6-4342-B048-85BDC9FD1C3A}</a:tableStyleId>
              </a:tblPr>
              <a:tblGrid>
                <a:gridCol w="3036277">
                  <a:extLst>
                    <a:ext uri="{9D8B030D-6E8A-4147-A177-3AD203B41FA5}">
                      <a16:colId xmlns:a16="http://schemas.microsoft.com/office/drawing/2014/main" val="2625270736"/>
                    </a:ext>
                  </a:extLst>
                </a:gridCol>
                <a:gridCol w="3036277">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b="1"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Haute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088283"/>
          <a:ext cx="10271869" cy="76971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7">
                <a:tc>
                  <a:txBody>
                    <a:bodyPr/>
                    <a:lstStyle/>
                    <a:p>
                      <a:r>
                        <a:rPr lang="fr-FR" sz="1400" b="0" dirty="0" smtClean="0">
                          <a:solidFill>
                            <a:srgbClr val="2F5597"/>
                          </a:solidFill>
                        </a:rPr>
                        <a:t>Source : Ecoconception web : les 115 bonnes pratiques </a:t>
                      </a:r>
                    </a:p>
                    <a:p>
                      <a:r>
                        <a:rPr lang="fr-FR" sz="1400" b="0" dirty="0" smtClean="0">
                          <a:solidFill>
                            <a:srgbClr val="2F5597"/>
                          </a:solidFill>
                        </a:rPr>
                        <a:t>Privilégier une approche "mobile first", à défaut un chargement adaptatif</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79222840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4122366034"/>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5">
                  <a:extLst>
                    <a:ext uri="{9D8B030D-6E8A-4147-A177-3AD203B41FA5}">
                      <a16:colId xmlns:a16="http://schemas.microsoft.com/office/drawing/2014/main" val="1470604376"/>
                    </a:ext>
                  </a:extLst>
                </a:gridCol>
                <a:gridCol w="6091335">
                  <a:extLst>
                    <a:ext uri="{9D8B030D-6E8A-4147-A177-3AD203B41FA5}">
                      <a16:colId xmlns:a16="http://schemas.microsoft.com/office/drawing/2014/main" val="588129664"/>
                    </a:ext>
                  </a:extLst>
                </a:gridCol>
              </a:tblGrid>
              <a:tr h="90976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16/Adapter la qualité de service et le niveau de disponibilité</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65995">
                <a:tc>
                  <a:txBody>
                    <a:bodyPr/>
                    <a:lstStyle/>
                    <a:p>
                      <a:pPr marL="0" indent="0">
                        <a:buFont typeface="Arial" panose="020B0604020202020204" pitchFamily="34" charset="0"/>
                        <a:buNone/>
                      </a:pPr>
                      <a:r>
                        <a:rPr lang="fr-FR" sz="1600" dirty="0" smtClean="0">
                          <a:solidFill>
                            <a:schemeClr val="tx1"/>
                          </a:solidFill>
                        </a:rPr>
                        <a:t>La qualité de service (</a:t>
                      </a:r>
                      <a:r>
                        <a:rPr lang="fr-FR" sz="1600" dirty="0" err="1" smtClean="0">
                          <a:solidFill>
                            <a:schemeClr val="tx1"/>
                          </a:solidFill>
                        </a:rPr>
                        <a:t>QoS</a:t>
                      </a:r>
                      <a:r>
                        <a:rPr lang="fr-FR" sz="1600" dirty="0" smtClean="0">
                          <a:solidFill>
                            <a:schemeClr val="tx1"/>
                          </a:solidFill>
                        </a:rPr>
                        <a:t> pour </a:t>
                      </a:r>
                      <a:r>
                        <a:rPr lang="fr-FR" sz="1600" dirty="0" err="1" smtClean="0">
                          <a:solidFill>
                            <a:schemeClr val="tx1"/>
                          </a:solidFill>
                        </a:rPr>
                        <a:t>Quality</a:t>
                      </a:r>
                      <a:r>
                        <a:rPr lang="fr-FR" sz="1600" dirty="0" smtClean="0">
                          <a:solidFill>
                            <a:schemeClr val="tx1"/>
                          </a:solidFill>
                        </a:rPr>
                        <a:t> of Service) et le niveau de disponibilité (SLA pour Service </a:t>
                      </a:r>
                      <a:r>
                        <a:rPr lang="fr-FR" sz="1600" dirty="0" err="1" smtClean="0">
                          <a:solidFill>
                            <a:schemeClr val="tx1"/>
                          </a:solidFill>
                        </a:rPr>
                        <a:t>Level</a:t>
                      </a:r>
                      <a:r>
                        <a:rPr lang="fr-FR" sz="1600" dirty="0" smtClean="0">
                          <a:solidFill>
                            <a:schemeClr val="tx1"/>
                          </a:solidFill>
                        </a:rPr>
                        <a:t> Agreement) doivent être déterminés avec les utilisateurs du site web ou du service en ligne.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Il est par exemple inutile d’héberger le service dans un centre de données très haute disponibilité (</a:t>
                      </a:r>
                      <a:r>
                        <a:rPr lang="fr-FR" sz="1600" dirty="0" err="1" smtClean="0">
                          <a:solidFill>
                            <a:schemeClr val="tx1"/>
                          </a:solidFill>
                        </a:rPr>
                        <a:t>Tier</a:t>
                      </a:r>
                      <a:r>
                        <a:rPr lang="fr-FR" sz="1600" dirty="0" smtClean="0">
                          <a:solidFill>
                            <a:schemeClr val="tx1"/>
                          </a:solidFill>
                        </a:rPr>
                        <a:t> IV) si les utilisateurs acceptent un taux de disponibilité inférieur ou égal à 99 % pour un service non critique. En d'autres termes, il faut éviter de tomber dans la </a:t>
                      </a:r>
                      <a:r>
                        <a:rPr lang="fr-FR" sz="1600" dirty="0" err="1" smtClean="0">
                          <a:solidFill>
                            <a:schemeClr val="tx1"/>
                          </a:solidFill>
                        </a:rPr>
                        <a:t>surqualité</a:t>
                      </a:r>
                      <a:r>
                        <a:rPr lang="fr-FR" sz="1600" dirty="0" smtClean="0">
                          <a:solidFill>
                            <a:schemeClr val="tx1"/>
                          </a:solidFill>
                        </a:rPr>
                        <a:t>.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Il est plutôt conseillé d'appliquer une qualité de service en fonction des ressources et du taux de disponibilité nécessaires et suffisants.</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Le nombre d'augmentations du niveau de disponibilité alors que le niveau actuel est suffisant est inférieur ou égal à 0.</a:t>
                      </a:r>
                    </a:p>
                    <a:p>
                      <a:r>
                        <a:rPr lang="fr-FR" sz="1600" dirty="0" smtClean="0">
                          <a:solidFill>
                            <a:schemeClr val="tx1"/>
                          </a:solidFill>
                        </a:rPr>
                        <a:t> </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b="1"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Haute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088283"/>
          <a:ext cx="10271869" cy="76971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7">
                <a:tc>
                  <a:txBody>
                    <a:bodyPr/>
                    <a:lstStyle/>
                    <a:p>
                      <a:r>
                        <a:rPr lang="fr-FR" sz="1400" b="0" dirty="0" smtClean="0">
                          <a:solidFill>
                            <a:srgbClr val="2F5597"/>
                          </a:solidFill>
                        </a:rPr>
                        <a:t>Source : Ecoconception web : les 115 bonnes pratiques </a:t>
                      </a:r>
                    </a:p>
                    <a:p>
                      <a:r>
                        <a:rPr lang="fr-FR" sz="1400" b="0" dirty="0" smtClean="0">
                          <a:solidFill>
                            <a:srgbClr val="2F5597"/>
                          </a:solidFill>
                        </a:rPr>
                        <a:t>Adapter la qualité de service et le niveau de disponibilité</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95394951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033730710"/>
              </p:ext>
            </p:extLst>
          </p:nvPr>
        </p:nvGraphicFramePr>
        <p:xfrm>
          <a:off x="1" y="1112520"/>
          <a:ext cx="12192000" cy="4922520"/>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6250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17/Utilisable via une connexion bas débit</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ou hors connexion</a:t>
                      </a:r>
                    </a:p>
                  </a:txBody>
                  <a:tcPr anchor="ctr">
                    <a:solidFill>
                      <a:srgbClr val="2F5597"/>
                    </a:solidFill>
                  </a:tcPr>
                </a:tc>
                <a:tc hMerge="1">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560011">
                <a:tc>
                  <a:txBody>
                    <a:bodyPr/>
                    <a:lstStyle/>
                    <a:p>
                      <a:pPr marL="0" indent="0">
                        <a:buFont typeface="Arial" panose="020B0604020202020204" pitchFamily="34" charset="0"/>
                        <a:buNone/>
                      </a:pPr>
                      <a:r>
                        <a:rPr lang="fr-FR" sz="1600" dirty="0" smtClean="0">
                          <a:solidFill>
                            <a:schemeClr val="tx1"/>
                          </a:solidFill>
                        </a:rPr>
                        <a:t>Tester l’utilisabilité du service avec des connexions bas débit, mesurer et améliorer le temps de réponse.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Les contenus peuvent être servis en qualité dégradées lorsque cela s’avère nécessaire.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t>L’utilisabilité du service devra être testée avec des connexions bas débit (3G en mobilité et 512 Kbit/s en fixe) ou hors connexion. </a:t>
                      </a:r>
                    </a:p>
                    <a:p>
                      <a:endParaRPr lang="fr-FR" sz="1600" dirty="0" smtClean="0"/>
                    </a:p>
                    <a:p>
                      <a:r>
                        <a:rPr lang="fr-FR" sz="1600" dirty="0" smtClean="0"/>
                        <a:t>Le critère est validé si le service numérique est utilisable sans connexion au réseau ou avec une connexion bas débit.</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035040"/>
          <a:ext cx="10271869" cy="769716"/>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6">
                <a:tc>
                  <a:txBody>
                    <a:bodyPr/>
                    <a:lstStyle/>
                    <a:p>
                      <a:r>
                        <a:rPr lang="fr-FR" sz="1400" b="0" dirty="0" smtClean="0">
                          <a:solidFill>
                            <a:srgbClr val="2F5597"/>
                          </a:solidFill>
                        </a:rPr>
                        <a:t>Source : RGESN version 2022 et 2024</a:t>
                      </a:r>
                    </a:p>
                    <a:p>
                      <a:r>
                        <a:rPr lang="fr-FR" sz="1400" b="0" dirty="0" smtClean="0">
                          <a:solidFill>
                            <a:srgbClr val="2F5597"/>
                          </a:solidFill>
                        </a:rPr>
                        <a:t>2.3 Le service numérique est-il utilisable via une connexion bas débit</a:t>
                      </a:r>
                      <a:r>
                        <a:rPr lang="fr-FR" sz="1400" b="0" baseline="0" dirty="0" smtClean="0">
                          <a:solidFill>
                            <a:srgbClr val="2F5597"/>
                          </a:solidFill>
                        </a:rPr>
                        <a:t> </a:t>
                      </a:r>
                      <a:r>
                        <a:rPr lang="fr-FR" sz="1400" b="0" dirty="0" smtClean="0">
                          <a:solidFill>
                            <a:srgbClr val="2F5597"/>
                          </a:solidFill>
                        </a:rPr>
                        <a:t>ou hors connexion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752084075"/>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28021895"/>
              </p:ext>
            </p:extLst>
          </p:nvPr>
        </p:nvGraphicFramePr>
        <p:xfrm>
          <a:off x="0" y="1131028"/>
          <a:ext cx="12192000" cy="4957256"/>
        </p:xfrm>
        <a:graphic>
          <a:graphicData uri="http://schemas.openxmlformats.org/drawingml/2006/table">
            <a:tbl>
              <a:tblPr firstRow="1" bandRow="1">
                <a:tableStyleId>{5C22544A-7EE6-4342-B048-85BDC9FD1C3A}</a:tableStyleId>
              </a:tblPr>
              <a:tblGrid>
                <a:gridCol w="6115050">
                  <a:extLst>
                    <a:ext uri="{9D8B030D-6E8A-4147-A177-3AD203B41FA5}">
                      <a16:colId xmlns:a16="http://schemas.microsoft.com/office/drawing/2014/main" val="1470604376"/>
                    </a:ext>
                  </a:extLst>
                </a:gridCol>
                <a:gridCol w="6076950">
                  <a:extLst>
                    <a:ext uri="{9D8B030D-6E8A-4147-A177-3AD203B41FA5}">
                      <a16:colId xmlns:a16="http://schemas.microsoft.com/office/drawing/2014/main" val="588129664"/>
                    </a:ext>
                  </a:extLst>
                </a:gridCol>
              </a:tblGrid>
              <a:tr h="1432418">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18/Limiter le nombre de requêtes lors de la saisie utilisateurs. </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524838">
                <a:tc>
                  <a:txBody>
                    <a:bodyPr/>
                    <a:lstStyle/>
                    <a:p>
                      <a:pPr marL="0" indent="0">
                        <a:buFont typeface="Arial" panose="020B0604020202020204" pitchFamily="34" charset="0"/>
                        <a:buNone/>
                      </a:pPr>
                      <a:r>
                        <a:rPr lang="fr-FR" sz="1400" dirty="0" smtClean="0"/>
                        <a:t>Il est conseillé de limiter la complétion automatique en ligne.</a:t>
                      </a:r>
                    </a:p>
                    <a:p>
                      <a:pPr marL="0" indent="0">
                        <a:buFont typeface="Arial" panose="020B0604020202020204" pitchFamily="34" charset="0"/>
                        <a:buNone/>
                      </a:pPr>
                      <a:endParaRPr lang="fr-FR" sz="1400" dirty="0" smtClean="0">
                        <a:solidFill>
                          <a:schemeClr val="tx1"/>
                        </a:solidFill>
                      </a:endParaRPr>
                    </a:p>
                    <a:p>
                      <a:pPr marL="0" indent="0">
                        <a:buFont typeface="Arial" panose="020B0604020202020204" pitchFamily="34" charset="0"/>
                        <a:buNone/>
                      </a:pPr>
                      <a:r>
                        <a:rPr lang="fr-FR" sz="1400" dirty="0" smtClean="0">
                          <a:solidFill>
                            <a:schemeClr val="tx1"/>
                          </a:solidFill>
                        </a:rPr>
                        <a:t>Si un tel mécanisme est mis en place car justifié du point de vue utilisateur, il est</a:t>
                      </a:r>
                      <a:r>
                        <a:rPr lang="fr-FR" sz="1400" baseline="0" dirty="0" smtClean="0">
                          <a:solidFill>
                            <a:schemeClr val="tx1"/>
                          </a:solidFill>
                        </a:rPr>
                        <a:t> </a:t>
                      </a:r>
                      <a:r>
                        <a:rPr lang="fr-FR" sz="1400" dirty="0" smtClean="0">
                          <a:solidFill>
                            <a:schemeClr val="tx1"/>
                          </a:solidFill>
                        </a:rPr>
                        <a:t>préconisé d’attendre par exemple d’avoir trois caractères et 500 ms après chaque saisie avant de lancer une</a:t>
                      </a:r>
                      <a:r>
                        <a:rPr lang="fr-FR" sz="1400" baseline="0" dirty="0" smtClean="0">
                          <a:solidFill>
                            <a:schemeClr val="tx1"/>
                          </a:solidFill>
                        </a:rPr>
                        <a:t> </a:t>
                      </a:r>
                      <a:r>
                        <a:rPr lang="fr-FR" sz="1400" dirty="0" smtClean="0">
                          <a:solidFill>
                            <a:schemeClr val="tx1"/>
                          </a:solidFill>
                        </a:rPr>
                        <a:t>requête réseau. </a:t>
                      </a:r>
                    </a:p>
                    <a:p>
                      <a:pPr marL="0" indent="0">
                        <a:buFont typeface="Arial" panose="020B0604020202020204" pitchFamily="34" charset="0"/>
                        <a:buNone/>
                      </a:pPr>
                      <a:endParaRPr lang="fr-FR" sz="1400" dirty="0" smtClean="0">
                        <a:solidFill>
                          <a:schemeClr val="tx1"/>
                        </a:solidFill>
                      </a:endParaRPr>
                    </a:p>
                    <a:p>
                      <a:pPr marL="0" indent="0">
                        <a:buFont typeface="Arial" panose="020B0604020202020204" pitchFamily="34" charset="0"/>
                        <a:buNone/>
                      </a:pPr>
                      <a:r>
                        <a:rPr lang="fr-FR" sz="1400" dirty="0" smtClean="0">
                          <a:solidFill>
                            <a:schemeClr val="tx1"/>
                          </a:solidFill>
                        </a:rPr>
                        <a:t>Alternativement, il est possible de laisser le choix à l’utilisateur d’activer l’</a:t>
                      </a:r>
                      <a:r>
                        <a:rPr lang="fr-FR" sz="1400" dirty="0" err="1" smtClean="0">
                          <a:solidFill>
                            <a:schemeClr val="tx1"/>
                          </a:solidFill>
                        </a:rPr>
                        <a:t>autocomplétion</a:t>
                      </a:r>
                      <a:r>
                        <a:rPr lang="fr-FR" sz="1400" baseline="0" dirty="0" smtClean="0">
                          <a:solidFill>
                            <a:schemeClr val="tx1"/>
                          </a:solidFill>
                        </a:rPr>
                        <a:t> </a:t>
                      </a:r>
                      <a:r>
                        <a:rPr lang="fr-FR" sz="1400" dirty="0" smtClean="0">
                          <a:solidFill>
                            <a:schemeClr val="tx1"/>
                          </a:solidFill>
                        </a:rPr>
                        <a:t>s’il le souhaite (</a:t>
                      </a:r>
                      <a:r>
                        <a:rPr lang="fr-FR" sz="1400" dirty="0" err="1" smtClean="0">
                          <a:solidFill>
                            <a:schemeClr val="tx1"/>
                          </a:solidFill>
                        </a:rPr>
                        <a:t>opt</a:t>
                      </a:r>
                      <a:r>
                        <a:rPr lang="fr-FR" sz="1400" dirty="0" smtClean="0">
                          <a:solidFill>
                            <a:schemeClr val="tx1"/>
                          </a:solidFill>
                        </a:rPr>
                        <a:t> in) via un élément de configuration.</a:t>
                      </a:r>
                      <a:endParaRPr lang="fr-FR" sz="1400" dirty="0">
                        <a:solidFill>
                          <a:schemeClr val="tx1"/>
                        </a:solidFill>
                      </a:endParaRPr>
                    </a:p>
                  </a:txBody>
                  <a:tcPr/>
                </a:tc>
                <a:tc>
                  <a:txBody>
                    <a:bodyPr/>
                    <a:lstStyle/>
                    <a:p>
                      <a:r>
                        <a:rPr lang="fr-FR" sz="1400" dirty="0" smtClean="0">
                          <a:solidFill>
                            <a:schemeClr val="tx1"/>
                          </a:solidFill>
                        </a:rPr>
                        <a:t>Pour valider le critère, s’assurer que le service ne propose pas d’</a:t>
                      </a:r>
                      <a:r>
                        <a:rPr lang="fr-FR" sz="1400" dirty="0" err="1" smtClean="0">
                          <a:solidFill>
                            <a:schemeClr val="tx1"/>
                          </a:solidFill>
                        </a:rPr>
                        <a:t>autocomplétion</a:t>
                      </a:r>
                      <a:r>
                        <a:rPr lang="fr-FR" sz="1400" dirty="0" smtClean="0">
                          <a:solidFill>
                            <a:schemeClr val="tx1"/>
                          </a:solidFill>
                        </a:rPr>
                        <a:t> ; dans le cas contraire,</a:t>
                      </a:r>
                      <a:r>
                        <a:rPr lang="fr-FR" sz="1400" baseline="0" dirty="0" smtClean="0">
                          <a:solidFill>
                            <a:schemeClr val="tx1"/>
                          </a:solidFill>
                        </a:rPr>
                        <a:t> </a:t>
                      </a:r>
                      <a:r>
                        <a:rPr lang="fr-FR" sz="1400" dirty="0" smtClean="0">
                          <a:solidFill>
                            <a:schemeClr val="tx1"/>
                          </a:solidFill>
                        </a:rPr>
                        <a:t>vérifier que l’</a:t>
                      </a:r>
                      <a:r>
                        <a:rPr lang="fr-FR" sz="1400" dirty="0" err="1" smtClean="0">
                          <a:solidFill>
                            <a:schemeClr val="tx1"/>
                          </a:solidFill>
                        </a:rPr>
                        <a:t>autocomplétion</a:t>
                      </a:r>
                      <a:r>
                        <a:rPr lang="fr-FR" sz="1400" dirty="0" smtClean="0">
                          <a:solidFill>
                            <a:schemeClr val="tx1"/>
                          </a:solidFill>
                        </a:rPr>
                        <a:t> est justifiée du point de vue de l’utilisateur et contrôler périodiquement que</a:t>
                      </a:r>
                      <a:r>
                        <a:rPr lang="fr-FR" sz="1400" baseline="0" dirty="0" smtClean="0">
                          <a:solidFill>
                            <a:schemeClr val="tx1"/>
                          </a:solidFill>
                        </a:rPr>
                        <a:t> </a:t>
                      </a:r>
                      <a:r>
                        <a:rPr lang="fr-FR" sz="1400" dirty="0" smtClean="0">
                          <a:solidFill>
                            <a:schemeClr val="tx1"/>
                          </a:solidFill>
                        </a:rPr>
                        <a:t>l’</a:t>
                      </a:r>
                      <a:r>
                        <a:rPr lang="fr-FR" sz="1400" dirty="0" err="1" smtClean="0">
                          <a:solidFill>
                            <a:schemeClr val="tx1"/>
                          </a:solidFill>
                        </a:rPr>
                        <a:t>autocomplétion</a:t>
                      </a:r>
                      <a:r>
                        <a:rPr lang="fr-FR" sz="1400" dirty="0" smtClean="0">
                          <a:solidFill>
                            <a:schemeClr val="tx1"/>
                          </a:solidFill>
                        </a:rPr>
                        <a:t> attend un délai d’au moins 500 ms avant de s’activer et au moins 3 caractères saisis.</a:t>
                      </a:r>
                    </a:p>
                    <a:p>
                      <a:endParaRPr lang="fr-FR" sz="1400" dirty="0" smtClean="0">
                        <a:solidFill>
                          <a:schemeClr val="tx1"/>
                        </a:solidFill>
                      </a:endParaRPr>
                    </a:p>
                    <a:p>
                      <a:r>
                        <a:rPr lang="fr-FR" sz="1400" dirty="0" smtClean="0">
                          <a:solidFill>
                            <a:schemeClr val="tx1"/>
                          </a:solidFill>
                        </a:rPr>
                        <a:t>L’interface utilisateur permet de désactiver l’</a:t>
                      </a:r>
                      <a:r>
                        <a:rPr lang="fr-FR" sz="1400" dirty="0" err="1" smtClean="0">
                          <a:solidFill>
                            <a:schemeClr val="tx1"/>
                          </a:solidFill>
                        </a:rPr>
                        <a:t>autocomplétion</a:t>
                      </a:r>
                      <a:r>
                        <a:rPr lang="fr-FR" sz="1400" dirty="0" smtClean="0">
                          <a:solidFill>
                            <a:schemeClr val="tx1"/>
                          </a:solidFill>
                        </a:rPr>
                        <a:t>.</a:t>
                      </a:r>
                    </a:p>
                    <a:p>
                      <a:endParaRPr lang="fr-FR" sz="14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18508"/>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Faible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solidFill>
                            <a:schemeClr val="tx1"/>
                          </a:solidFill>
                        </a:rPr>
                        <a:t>Faible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035040"/>
          <a:ext cx="10271869" cy="769716"/>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6">
                <a:tc>
                  <a:txBody>
                    <a:bodyPr/>
                    <a:lstStyle/>
                    <a:p>
                      <a:r>
                        <a:rPr lang="fr-FR" sz="1400" b="0" dirty="0" smtClean="0">
                          <a:solidFill>
                            <a:srgbClr val="2F5597"/>
                          </a:solidFill>
                        </a:rPr>
                        <a:t>Source : RGESN version 2022 et 2024</a:t>
                      </a:r>
                    </a:p>
                    <a:p>
                      <a:r>
                        <a:rPr lang="fr-FR" sz="1400" b="0" dirty="0" smtClean="0">
                          <a:solidFill>
                            <a:srgbClr val="2F5597"/>
                          </a:solidFill>
                        </a:rPr>
                        <a:t>4.9 Le service numérique limite-t-il les requêtes serveur lors de la saisie</a:t>
                      </a:r>
                      <a:r>
                        <a:rPr lang="fr-FR" sz="1400" b="0" baseline="0" dirty="0" smtClean="0">
                          <a:solidFill>
                            <a:srgbClr val="2F5597"/>
                          </a:solidFill>
                        </a:rPr>
                        <a:t> </a:t>
                      </a:r>
                      <a:r>
                        <a:rPr lang="fr-FR" sz="1400" b="0" dirty="0" smtClean="0">
                          <a:solidFill>
                            <a:srgbClr val="2F5597"/>
                          </a:solidFill>
                        </a:rPr>
                        <a:t>utilisateur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4032595143"/>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4124857989"/>
              </p:ext>
            </p:extLst>
          </p:nvPr>
        </p:nvGraphicFramePr>
        <p:xfrm>
          <a:off x="0" y="1112521"/>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19/Concevoir le service avec une revue de conception et une revue de code pour réduire les impacts environnementaux de chaque fonctionnalité.</a:t>
                      </a:r>
                    </a:p>
                  </a:txBody>
                  <a:tcPr anchor="ctr">
                    <a:solidFill>
                      <a:srgbClr val="2F5597"/>
                    </a:solidFill>
                  </a:tcPr>
                </a:tc>
                <a:tc hMerge="1">
                  <a:txBody>
                    <a:bodyPr/>
                    <a:lstStyle/>
                    <a:p>
                      <a:pP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smtClean="0">
                          <a:solidFill>
                            <a:schemeClr val="tx1"/>
                          </a:solidFill>
                        </a:rPr>
                        <a:t>En impliquant l’ensemble de l’équipe, l’ensemble des métiers, une revue conception en amont du développement est réalisée pour choisir la solution répondant au besoin tout en minimisant les impacts environnementaux.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Puis, si du code a été produit pour implémenter la solution, une revue de code est faite en aval du développement.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Le critère est validé si :</a:t>
                      </a:r>
                    </a:p>
                    <a:p>
                      <a:r>
                        <a:rPr lang="fr-FR" sz="1600" dirty="0" smtClean="0">
                          <a:solidFill>
                            <a:schemeClr val="tx1"/>
                          </a:solidFill>
                        </a:rPr>
                        <a:t>• Une revue de conception prenant en compte l’empreinte environnementale du service a été</a:t>
                      </a:r>
                      <a:r>
                        <a:rPr lang="fr-FR" sz="1600" baseline="0" dirty="0" smtClean="0">
                          <a:solidFill>
                            <a:schemeClr val="tx1"/>
                          </a:solidFill>
                        </a:rPr>
                        <a:t> </a:t>
                      </a:r>
                      <a:r>
                        <a:rPr lang="fr-FR" sz="1600" dirty="0" smtClean="0">
                          <a:solidFill>
                            <a:schemeClr val="tx1"/>
                          </a:solidFill>
                        </a:rPr>
                        <a:t>réalisée : dès sa conception, l’équipe projet devrait pouvoir définir un arbre des conséquences du</a:t>
                      </a:r>
                    </a:p>
                    <a:p>
                      <a:r>
                        <a:rPr lang="fr-FR" sz="1600" dirty="0" smtClean="0">
                          <a:solidFill>
                            <a:schemeClr val="tx1"/>
                          </a:solidFill>
                        </a:rPr>
                        <a:t>service numérique en représentant, par fonctionnalité, les impacts directs et indirects du service</a:t>
                      </a:r>
                      <a:r>
                        <a:rPr lang="fr-FR" sz="1600" baseline="0" dirty="0" smtClean="0">
                          <a:solidFill>
                            <a:schemeClr val="tx1"/>
                          </a:solidFill>
                        </a:rPr>
                        <a:t> </a:t>
                      </a:r>
                      <a:r>
                        <a:rPr lang="fr-FR" sz="1600" dirty="0" smtClean="0">
                          <a:solidFill>
                            <a:schemeClr val="tx1"/>
                          </a:solidFill>
                        </a:rPr>
                        <a:t>numérique pour que toute l’équipe valide les fonctionnalités en connaissance des impacts</a:t>
                      </a:r>
                      <a:r>
                        <a:rPr lang="fr-FR" sz="1600" baseline="0" dirty="0" smtClean="0">
                          <a:solidFill>
                            <a:schemeClr val="tx1"/>
                          </a:solidFill>
                        </a:rPr>
                        <a:t> </a:t>
                      </a:r>
                      <a:r>
                        <a:rPr lang="fr-FR" sz="1600" dirty="0" smtClean="0">
                          <a:solidFill>
                            <a:schemeClr val="tx1"/>
                          </a:solidFill>
                        </a:rPr>
                        <a:t>environnementaux potentiels</a:t>
                      </a:r>
                      <a:r>
                        <a:rPr lang="fr-FR" sz="1600" baseline="0" dirty="0" smtClean="0">
                          <a:solidFill>
                            <a:schemeClr val="tx1"/>
                          </a:solidFill>
                        </a:rPr>
                        <a:t> ;</a:t>
                      </a:r>
                      <a:endParaRPr lang="fr-FR" sz="1600" dirty="0" smtClean="0">
                        <a:solidFill>
                          <a:schemeClr val="tx1"/>
                        </a:solidFill>
                      </a:endParaRPr>
                    </a:p>
                    <a:p>
                      <a:r>
                        <a:rPr lang="fr-FR" sz="1600" dirty="0" smtClean="0">
                          <a:solidFill>
                            <a:schemeClr val="tx1"/>
                          </a:solidFill>
                        </a:rPr>
                        <a:t>• Une revue de code visant à minimiser le coût environnemental du service a été produite en aval de</a:t>
                      </a:r>
                      <a:r>
                        <a:rPr lang="fr-FR" sz="1600" baseline="0" dirty="0" smtClean="0">
                          <a:solidFill>
                            <a:schemeClr val="tx1"/>
                          </a:solidFill>
                        </a:rPr>
                        <a:t> </a:t>
                      </a:r>
                      <a:r>
                        <a:rPr lang="fr-FR" sz="1600" dirty="0" smtClean="0">
                          <a:solidFill>
                            <a:schemeClr val="tx1"/>
                          </a:solidFill>
                        </a:rPr>
                        <a:t>la conception pour les services reposant sur du code informatique.</a:t>
                      </a:r>
                    </a:p>
                    <a:p>
                      <a:endParaRPr lang="fr-FR" sz="1600" dirty="0" smtClean="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6" name="Tableau 5"/>
          <p:cNvGraphicFramePr>
            <a:graphicFrameLocks noGrp="1"/>
          </p:cNvGraphicFramePr>
          <p:nvPr>
            <p:extLst/>
          </p:nvPr>
        </p:nvGraphicFramePr>
        <p:xfrm>
          <a:off x="6119446" y="0"/>
          <a:ext cx="6072554" cy="1112520"/>
        </p:xfrm>
        <a:graphic>
          <a:graphicData uri="http://schemas.openxmlformats.org/drawingml/2006/table">
            <a:tbl>
              <a:tblPr firstRow="1" bandRow="1">
                <a:tableStyleId>{5C22544A-7EE6-4342-B048-85BDC9FD1C3A}</a:tableStyleId>
              </a:tblPr>
              <a:tblGrid>
                <a:gridCol w="3036277">
                  <a:extLst>
                    <a:ext uri="{9D8B030D-6E8A-4147-A177-3AD203B41FA5}">
                      <a16:colId xmlns:a16="http://schemas.microsoft.com/office/drawing/2014/main" val="2625270736"/>
                    </a:ext>
                  </a:extLst>
                </a:gridCol>
                <a:gridCol w="3036277">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5" name="Image 4"/>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035040"/>
          <a:ext cx="10271869" cy="769716"/>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6">
                <a:tc>
                  <a:txBody>
                    <a:bodyPr/>
                    <a:lstStyle/>
                    <a:p>
                      <a:r>
                        <a:rPr lang="fr-FR" sz="1400" b="0" dirty="0" smtClean="0">
                          <a:solidFill>
                            <a:srgbClr val="2F5597"/>
                          </a:solidFill>
                        </a:rPr>
                        <a:t>Source : RGESN version 2022 et 2024</a:t>
                      </a:r>
                    </a:p>
                    <a:p>
                      <a:r>
                        <a:rPr lang="fr-FR" sz="1400" b="0" dirty="0" smtClean="0">
                          <a:solidFill>
                            <a:srgbClr val="2F5597"/>
                          </a:solidFill>
                        </a:rPr>
                        <a:t>2.6 Le service numérique </a:t>
                      </a:r>
                      <a:r>
                        <a:rPr lang="fr-FR" sz="1400" b="0" dirty="0" err="1" smtClean="0">
                          <a:solidFill>
                            <a:srgbClr val="2F5597"/>
                          </a:solidFill>
                        </a:rPr>
                        <a:t>a-t-il</a:t>
                      </a:r>
                      <a:r>
                        <a:rPr lang="fr-FR" sz="1400" b="0" dirty="0" smtClean="0">
                          <a:solidFill>
                            <a:srgbClr val="2F5597"/>
                          </a:solidFill>
                        </a:rPr>
                        <a:t> été conçu avec une revue de</a:t>
                      </a:r>
                      <a:r>
                        <a:rPr lang="fr-FR" sz="1400" b="0" baseline="0" dirty="0" smtClean="0">
                          <a:solidFill>
                            <a:srgbClr val="2F5597"/>
                          </a:solidFill>
                        </a:rPr>
                        <a:t> </a:t>
                      </a:r>
                      <a:r>
                        <a:rPr lang="fr-FR" sz="1400" b="0" dirty="0" smtClean="0">
                          <a:solidFill>
                            <a:srgbClr val="2F5597"/>
                          </a:solidFill>
                        </a:rPr>
                        <a:t>conception et une revue de code comprenant parmi ses objectifs la</a:t>
                      </a:r>
                    </a:p>
                    <a:p>
                      <a:r>
                        <a:rPr lang="fr-FR" sz="1400" b="0" dirty="0" smtClean="0">
                          <a:solidFill>
                            <a:srgbClr val="2F5597"/>
                          </a:solidFill>
                        </a:rPr>
                        <a:t>réduction des impacts environnementaux de chaque fonctionnalité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898339720"/>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635425893"/>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20/Imposer aux fournisseurs du service de garantir une démarche de réduction des impacts environnementaux.</a:t>
                      </a:r>
                    </a:p>
                  </a:txBody>
                  <a:tcPr anchor="ctr">
                    <a:solidFill>
                      <a:srgbClr val="2F5597"/>
                    </a:solidFill>
                  </a:tcPr>
                </a:tc>
                <a:tc hMerge="1">
                  <a:txBody>
                    <a:bodyPr/>
                    <a:lstStyle/>
                    <a:p>
                      <a:pP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smtClean="0">
                          <a:solidFill>
                            <a:schemeClr val="tx1"/>
                          </a:solidFill>
                        </a:rPr>
                        <a:t>Identifier les ressources nécessaires et leur associer des exigences environnementales. Le périmètre de la démarche porte sur la conception du service numérique (non sur le fournisseur lui-même).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Se référer aux documents suivants :</a:t>
                      </a:r>
                    </a:p>
                    <a:p>
                      <a:pPr marL="0" indent="0">
                        <a:buFont typeface="Arial" panose="020B0604020202020204" pitchFamily="34" charset="0"/>
                        <a:buNone/>
                      </a:pPr>
                      <a:r>
                        <a:rPr lang="fr-FR" sz="1600" dirty="0" smtClean="0">
                          <a:solidFill>
                            <a:schemeClr val="tx1"/>
                          </a:solidFill>
                        </a:rPr>
                        <a:t>• Guide pratique pour des achats numériques</a:t>
                      </a:r>
                      <a:r>
                        <a:rPr lang="fr-FR" sz="1600" baseline="0" dirty="0" smtClean="0">
                          <a:solidFill>
                            <a:schemeClr val="tx1"/>
                          </a:solidFill>
                        </a:rPr>
                        <a:t> ;</a:t>
                      </a: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 ISO 20400, Achats responsables – Lignes directrices, norme internationale publiée en avril 2017 par</a:t>
                      </a:r>
                      <a:r>
                        <a:rPr lang="fr-FR" sz="1600" baseline="0" dirty="0" smtClean="0">
                          <a:solidFill>
                            <a:schemeClr val="tx1"/>
                          </a:solidFill>
                        </a:rPr>
                        <a:t> </a:t>
                      </a:r>
                      <a:r>
                        <a:rPr lang="fr-FR" sz="1600" dirty="0" smtClean="0">
                          <a:solidFill>
                            <a:schemeClr val="tx1"/>
                          </a:solidFill>
                        </a:rPr>
                        <a:t>l’ISO, qui donne des recommandations pour atteindre des objectifs de responsabilité sociétale tout</a:t>
                      </a:r>
                      <a:r>
                        <a:rPr lang="fr-FR" sz="1600" baseline="0" dirty="0" smtClean="0">
                          <a:solidFill>
                            <a:schemeClr val="tx1"/>
                          </a:solidFill>
                        </a:rPr>
                        <a:t> </a:t>
                      </a:r>
                      <a:r>
                        <a:rPr lang="fr-FR" sz="1600" dirty="0" smtClean="0">
                          <a:solidFill>
                            <a:schemeClr val="tx1"/>
                          </a:solidFill>
                        </a:rPr>
                        <a:t>le long de la chaîne d’approvisionnement.</a:t>
                      </a:r>
                    </a:p>
                  </a:txBody>
                  <a:tcPr/>
                </a:tc>
                <a:tc>
                  <a:txBody>
                    <a:bodyPr/>
                    <a:lstStyle/>
                    <a:p>
                      <a:r>
                        <a:rPr lang="fr-FR" sz="1600" dirty="0" smtClean="0"/>
                        <a:t>Le critère est validé si les caractéristiques environnementales des fournisseurs pour la conception du service numérique sont prises en compte dans la politique d’achat ou de partenariat du service, en vue des impacts environnementaux associés et documentés dans la déclaration d’écoconception.</a:t>
                      </a:r>
                      <a:endParaRPr lang="fr-FR" sz="1600" dirty="0" smtClean="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86982" y="0"/>
          <a:ext cx="6105018" cy="1112520"/>
        </p:xfrm>
        <a:graphic>
          <a:graphicData uri="http://schemas.openxmlformats.org/drawingml/2006/table">
            <a:tbl>
              <a:tblPr firstRow="1" bandRow="1">
                <a:tableStyleId>{5C22544A-7EE6-4342-B048-85BDC9FD1C3A}</a:tableStyleId>
              </a:tblPr>
              <a:tblGrid>
                <a:gridCol w="3052509">
                  <a:extLst>
                    <a:ext uri="{9D8B030D-6E8A-4147-A177-3AD203B41FA5}">
                      <a16:colId xmlns:a16="http://schemas.microsoft.com/office/drawing/2014/main" val="2625270736"/>
                    </a:ext>
                  </a:extLst>
                </a:gridCol>
                <a:gridCol w="3052509">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Haute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035040"/>
          <a:ext cx="10271869" cy="769716"/>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6">
                <a:tc>
                  <a:txBody>
                    <a:bodyPr/>
                    <a:lstStyle/>
                    <a:p>
                      <a:r>
                        <a:rPr lang="fr-FR" sz="1400" b="0" dirty="0" smtClean="0">
                          <a:solidFill>
                            <a:srgbClr val="2F5597"/>
                          </a:solidFill>
                        </a:rPr>
                        <a:t>Source : RGESN version 2022 et 2024</a:t>
                      </a:r>
                    </a:p>
                    <a:p>
                      <a:r>
                        <a:rPr lang="fr-FR" sz="1400" b="0" dirty="0" smtClean="0">
                          <a:solidFill>
                            <a:srgbClr val="2F5597"/>
                          </a:solidFill>
                        </a:rPr>
                        <a:t>2.8 Le service numérique impose-t-il à ses fournisseurs de garantir une</a:t>
                      </a:r>
                      <a:r>
                        <a:rPr lang="fr-FR" sz="1400" b="0" baseline="0" dirty="0" smtClean="0">
                          <a:solidFill>
                            <a:srgbClr val="2F5597"/>
                          </a:solidFill>
                        </a:rPr>
                        <a:t> </a:t>
                      </a:r>
                      <a:r>
                        <a:rPr lang="fr-FR" sz="1400" b="0" dirty="0" smtClean="0">
                          <a:solidFill>
                            <a:srgbClr val="2F5597"/>
                          </a:solidFill>
                        </a:rPr>
                        <a:t>démarche de réduction de leurs impacts environnementaux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404608123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59129681"/>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21/Prendre en compte les impacts</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environnementaux des composants d’interface prêts à</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l’emploi</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utilisés</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400" dirty="0" smtClean="0">
                          <a:solidFill>
                            <a:schemeClr val="tx1"/>
                          </a:solidFill>
                        </a:rPr>
                        <a:t>Comparer les impacts environnementaux des composants d'interface prêts à l'emploi utilisés dans le service</a:t>
                      </a:r>
                      <a:r>
                        <a:rPr lang="fr-FR" sz="1400" baseline="0" dirty="0" smtClean="0">
                          <a:solidFill>
                            <a:schemeClr val="tx1"/>
                          </a:solidFill>
                        </a:rPr>
                        <a:t> </a:t>
                      </a:r>
                      <a:r>
                        <a:rPr lang="fr-FR" sz="1400" dirty="0" smtClean="0">
                          <a:solidFill>
                            <a:schemeClr val="tx1"/>
                          </a:solidFill>
                        </a:rPr>
                        <a:t>numérique afin d’être en mesure d’utiliser les solutions les plus sobres. </a:t>
                      </a:r>
                    </a:p>
                    <a:p>
                      <a:pPr marL="0" indent="0">
                        <a:buFont typeface="Arial" panose="020B0604020202020204" pitchFamily="34" charset="0"/>
                        <a:buNone/>
                      </a:pPr>
                      <a:endParaRPr lang="fr-FR" sz="1400" dirty="0" smtClean="0">
                        <a:solidFill>
                          <a:schemeClr val="tx1"/>
                        </a:solidFill>
                      </a:endParaRPr>
                    </a:p>
                    <a:p>
                      <a:pPr marL="0" indent="0">
                        <a:buFont typeface="Arial" panose="020B0604020202020204" pitchFamily="34" charset="0"/>
                        <a:buNone/>
                      </a:pPr>
                      <a:r>
                        <a:rPr lang="fr-FR" sz="1400" dirty="0" smtClean="0">
                          <a:solidFill>
                            <a:schemeClr val="tx1"/>
                          </a:solidFill>
                        </a:rPr>
                        <a:t>Par exemple, mesurer et comparer</a:t>
                      </a:r>
                      <a:r>
                        <a:rPr lang="fr-FR" sz="1400" baseline="0" dirty="0" smtClean="0">
                          <a:solidFill>
                            <a:schemeClr val="tx1"/>
                          </a:solidFill>
                        </a:rPr>
                        <a:t> </a:t>
                      </a:r>
                      <a:r>
                        <a:rPr lang="fr-FR" sz="1400" dirty="0" smtClean="0">
                          <a:solidFill>
                            <a:schemeClr val="tx1"/>
                          </a:solidFill>
                        </a:rPr>
                        <a:t>leur poids en termes d’utilisation de ressources (taille des fichiers, quantité de données transférées).</a:t>
                      </a:r>
                    </a:p>
                  </a:txBody>
                  <a:tcPr/>
                </a:tc>
                <a:tc>
                  <a:txBody>
                    <a:bodyPr/>
                    <a:lstStyle/>
                    <a:p>
                      <a:r>
                        <a:rPr lang="fr-FR" sz="1400" dirty="0" smtClean="0">
                          <a:solidFill>
                            <a:schemeClr val="tx1"/>
                          </a:solidFill>
                        </a:rPr>
                        <a:t>Vérifier si les composants d'interface utilisés sont conçus de manière à réduire leurs impacts</a:t>
                      </a:r>
                      <a:r>
                        <a:rPr lang="fr-FR" sz="1400" baseline="0" dirty="0" smtClean="0">
                          <a:solidFill>
                            <a:schemeClr val="tx1"/>
                          </a:solidFill>
                        </a:rPr>
                        <a:t> </a:t>
                      </a:r>
                      <a:r>
                        <a:rPr lang="fr-FR" sz="1400" dirty="0" smtClean="0">
                          <a:solidFill>
                            <a:schemeClr val="tx1"/>
                          </a:solidFill>
                        </a:rPr>
                        <a:t>environnementaux.</a:t>
                      </a:r>
                    </a:p>
                    <a:p>
                      <a:endParaRPr lang="fr-FR" sz="1400" dirty="0" smtClean="0">
                        <a:solidFill>
                          <a:schemeClr val="tx1"/>
                        </a:solidFill>
                      </a:endParaRPr>
                    </a:p>
                    <a:p>
                      <a:r>
                        <a:rPr lang="fr-FR" sz="1400" dirty="0" smtClean="0">
                          <a:solidFill>
                            <a:schemeClr val="tx1"/>
                          </a:solidFill>
                        </a:rPr>
                        <a:t>Pour cela, prendre en compte ou effectuer, le cas échéant, des mesures comparatives entre les différents</a:t>
                      </a:r>
                      <a:r>
                        <a:rPr lang="fr-FR" sz="1400" baseline="0" dirty="0" smtClean="0">
                          <a:solidFill>
                            <a:schemeClr val="tx1"/>
                          </a:solidFill>
                        </a:rPr>
                        <a:t> </a:t>
                      </a:r>
                      <a:r>
                        <a:rPr lang="fr-FR" sz="1400" dirty="0" smtClean="0">
                          <a:solidFill>
                            <a:schemeClr val="tx1"/>
                          </a:solidFill>
                        </a:rPr>
                        <a:t>composants similaires et choisir ceux qui présentent les meilleures performances environnementales.</a:t>
                      </a:r>
                    </a:p>
                    <a:p>
                      <a:endParaRPr lang="fr-FR" sz="1400" dirty="0" smtClean="0"/>
                    </a:p>
                    <a:p>
                      <a:r>
                        <a:rPr lang="fr-FR" sz="1400" dirty="0" smtClean="0"/>
                        <a:t>Les éléments suivants peuvent être considérés : l'utilisation de méthodes de compression efficaces, l'optimisation des ressources, la minimisation des transferts de données, l'utilisation de techniques de conception légère, etc. </a:t>
                      </a:r>
                    </a:p>
                    <a:p>
                      <a:endParaRPr lang="fr-FR" sz="1400" dirty="0" smtClean="0"/>
                    </a:p>
                    <a:p>
                      <a:r>
                        <a:rPr lang="fr-FR" sz="1400" dirty="0" smtClean="0"/>
                        <a:t>Le critère est validé si la majorité des composants d’interfaces utilisés par le service sont estimés performants écologiquement, en prenant notamment en compte les critères susmentionnés lorsque applicables à la fonctionnalité visée. </a:t>
                      </a:r>
                      <a:endParaRPr lang="fr-FR" sz="1400" dirty="0" smtClean="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86982" y="0"/>
          <a:ext cx="6105018" cy="1112520"/>
        </p:xfrm>
        <a:graphic>
          <a:graphicData uri="http://schemas.openxmlformats.org/drawingml/2006/table">
            <a:tbl>
              <a:tblPr firstRow="1" bandRow="1">
                <a:tableStyleId>{5C22544A-7EE6-4342-B048-85BDC9FD1C3A}</a:tableStyleId>
              </a:tblPr>
              <a:tblGrid>
                <a:gridCol w="3052509">
                  <a:extLst>
                    <a:ext uri="{9D8B030D-6E8A-4147-A177-3AD203B41FA5}">
                      <a16:colId xmlns:a16="http://schemas.microsoft.com/office/drawing/2014/main" val="2625270736"/>
                    </a:ext>
                  </a:extLst>
                </a:gridCol>
                <a:gridCol w="3052509">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Faible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Haute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035040"/>
          <a:ext cx="10271869" cy="769716"/>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6">
                <a:tc>
                  <a:txBody>
                    <a:bodyPr/>
                    <a:lstStyle/>
                    <a:p>
                      <a:r>
                        <a:rPr lang="fr-FR" sz="1400" b="0" dirty="0" smtClean="0">
                          <a:solidFill>
                            <a:srgbClr val="2F5597"/>
                          </a:solidFill>
                        </a:rPr>
                        <a:t>Source : RGESN version 2022 et 2024</a:t>
                      </a:r>
                    </a:p>
                    <a:p>
                      <a:r>
                        <a:rPr lang="fr-FR" sz="1400" b="0" dirty="0" smtClean="0">
                          <a:solidFill>
                            <a:srgbClr val="2F5597"/>
                          </a:solidFill>
                        </a:rPr>
                        <a:t>2.9 Le service numérique </a:t>
                      </a:r>
                      <a:r>
                        <a:rPr lang="fr-FR" sz="1400" b="0" dirty="0" err="1" smtClean="0">
                          <a:solidFill>
                            <a:srgbClr val="2F5597"/>
                          </a:solidFill>
                        </a:rPr>
                        <a:t>a-t-il</a:t>
                      </a:r>
                      <a:r>
                        <a:rPr lang="fr-FR" sz="1400" b="0" dirty="0" smtClean="0">
                          <a:solidFill>
                            <a:srgbClr val="2F5597"/>
                          </a:solidFill>
                        </a:rPr>
                        <a:t> pris en compte les impacts</a:t>
                      </a:r>
                      <a:r>
                        <a:rPr lang="fr-FR" sz="1400" b="0" baseline="0" dirty="0" smtClean="0">
                          <a:solidFill>
                            <a:srgbClr val="2F5597"/>
                          </a:solidFill>
                        </a:rPr>
                        <a:t> </a:t>
                      </a:r>
                      <a:r>
                        <a:rPr lang="fr-FR" sz="1400" b="0" dirty="0" smtClean="0">
                          <a:solidFill>
                            <a:srgbClr val="2F5597"/>
                          </a:solidFill>
                        </a:rPr>
                        <a:t>environnementaux des composants d’interface prêts à l’emploi</a:t>
                      </a:r>
                      <a:r>
                        <a:rPr lang="fr-FR" sz="1400" b="0" baseline="0" dirty="0" smtClean="0">
                          <a:solidFill>
                            <a:srgbClr val="2F5597"/>
                          </a:solidFill>
                        </a:rPr>
                        <a:t> </a:t>
                      </a:r>
                      <a:r>
                        <a:rPr lang="fr-FR" sz="1400" b="0" dirty="0" smtClean="0">
                          <a:solidFill>
                            <a:srgbClr val="2F5597"/>
                          </a:solidFill>
                        </a:rPr>
                        <a:t>utilisés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20658013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725115253"/>
              </p:ext>
            </p:extLst>
          </p:nvPr>
        </p:nvGraphicFramePr>
        <p:xfrm>
          <a:off x="0" y="1112521"/>
          <a:ext cx="12191999"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2">
                  <a:extLst>
                    <a:ext uri="{9D8B030D-6E8A-4147-A177-3AD203B41FA5}">
                      <a16:colId xmlns:a16="http://schemas.microsoft.com/office/drawing/2014/main" val="588129664"/>
                    </a:ext>
                  </a:extLst>
                </a:gridCol>
              </a:tblGrid>
              <a:tr h="1307143">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22/Adapter la quantité de ressources IT utilisées en fonction de la consommation du service</a:t>
                      </a:r>
                    </a:p>
                  </a:txBody>
                  <a:tcPr anchor="ctr">
                    <a:solidFill>
                      <a:srgbClr val="2F5597"/>
                    </a:solidFill>
                  </a:tcPr>
                </a:tc>
                <a:tc hMerge="1">
                  <a:txBody>
                    <a:bodyPr/>
                    <a:lstStyle/>
                    <a:p>
                      <a:pP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1">
                <a:tc>
                  <a:txBody>
                    <a:bodyPr/>
                    <a:lstStyle/>
                    <a:p>
                      <a:pPr marL="0" indent="0">
                        <a:buFont typeface="Arial" panose="020B0604020202020204" pitchFamily="34" charset="0"/>
                        <a:buNone/>
                      </a:pPr>
                      <a:r>
                        <a:rPr lang="fr-FR" sz="1200" dirty="0" smtClean="0"/>
                        <a:t>Dans un premier temps, évaluer finement le besoin, le nombre d’utilisateurs pour adapter les ressources informatiques nécessaires. </a:t>
                      </a:r>
                    </a:p>
                    <a:p>
                      <a:pPr marL="0" indent="0">
                        <a:buFont typeface="Arial" panose="020B0604020202020204" pitchFamily="34" charset="0"/>
                        <a:buNone/>
                      </a:pPr>
                      <a:endParaRPr lang="fr-FR" sz="1200" dirty="0" smtClean="0"/>
                    </a:p>
                    <a:p>
                      <a:pPr marL="0" indent="0">
                        <a:buFont typeface="Arial" panose="020B0604020202020204" pitchFamily="34" charset="0"/>
                        <a:buNone/>
                      </a:pPr>
                      <a:r>
                        <a:rPr lang="fr-FR" sz="1200" dirty="0" smtClean="0"/>
                        <a:t>Dans un second temps, s’assurer que l’architecture peut s'adapter de manière optimale afin que soient allouées les ressources informatiques strictement nécessaires pour répondre à la demande fluctuante du service. </a:t>
                      </a:r>
                    </a:p>
                    <a:p>
                      <a:pPr marL="0" indent="0">
                        <a:buFont typeface="Arial" panose="020B0604020202020204" pitchFamily="34" charset="0"/>
                        <a:buNone/>
                      </a:pPr>
                      <a:endParaRPr lang="fr-FR" sz="1200" dirty="0" smtClean="0">
                        <a:solidFill>
                          <a:schemeClr val="tx1"/>
                        </a:solidFill>
                      </a:endParaRPr>
                    </a:p>
                    <a:p>
                      <a:pPr rtl="0"/>
                      <a:r>
                        <a:rPr lang="fr-FR" sz="1200" kern="1200" dirty="0" smtClean="0">
                          <a:solidFill>
                            <a:schemeClr val="dk1"/>
                          </a:solidFill>
                          <a:latin typeface="+mn-lt"/>
                          <a:ea typeface="+mn-ea"/>
                          <a:cs typeface="+mn-cs"/>
                        </a:rPr>
                        <a:t>Il faut prendre en compte la montée en charge côté production et le dimensionnement des projets par défaut</a:t>
                      </a:r>
                    </a:p>
                    <a:p>
                      <a:pPr rtl="0"/>
                      <a:r>
                        <a:rPr lang="fr-FR" sz="1200" kern="1200" dirty="0" smtClean="0">
                          <a:solidFill>
                            <a:schemeClr val="dk1"/>
                          </a:solidFill>
                          <a:latin typeface="+mn-lt"/>
                          <a:ea typeface="+mn-ea"/>
                          <a:cs typeface="+mn-cs"/>
                        </a:rPr>
                        <a:t>Les recettes doivent être iso production sur tout le produit.</a:t>
                      </a:r>
                    </a:p>
                    <a:p>
                      <a:r>
                        <a:rPr lang="fr-FR" sz="1200" dirty="0" smtClean="0"/>
                        <a:t/>
                      </a:r>
                      <a:br>
                        <a:rPr lang="fr-FR" sz="1200" dirty="0" smtClean="0"/>
                      </a:br>
                      <a:endParaRPr lang="fr-FR" sz="1200" dirty="0">
                        <a:solidFill>
                          <a:schemeClr val="tx1"/>
                        </a:solidFill>
                      </a:endParaRPr>
                    </a:p>
                  </a:txBody>
                  <a:tcPr/>
                </a:tc>
                <a:tc>
                  <a:txBody>
                    <a:bodyPr/>
                    <a:lstStyle/>
                    <a:p>
                      <a:r>
                        <a:rPr lang="fr-FR" sz="1200" dirty="0" smtClean="0"/>
                        <a:t>Afin de s’en assurer, plusieurs moyens de test peuvent être envisagés, par exemple : </a:t>
                      </a:r>
                    </a:p>
                    <a:p>
                      <a:endParaRPr lang="fr-FR" sz="1200" dirty="0" smtClean="0"/>
                    </a:p>
                    <a:p>
                      <a:r>
                        <a:rPr lang="fr-FR" sz="1200" dirty="0" smtClean="0"/>
                        <a:t>• Suivi de l’évolution du ratio entre ressources allouées et consommées : construire un comparatif entre les ressources allouées et celles consommées sur une période de temps et corriger les défauts existants en termes d’adaptation. Des outils de surveillance des ressources peuvent aussi être mis en place pour collecter des données sur l'utilisation du processeur, de la mémoire, de la bande passante, etc.</a:t>
                      </a:r>
                    </a:p>
                    <a:p>
                      <a:endParaRPr lang="fr-FR" sz="1200" dirty="0" smtClean="0"/>
                    </a:p>
                    <a:p>
                      <a:r>
                        <a:rPr lang="fr-FR" sz="1200" dirty="0" smtClean="0"/>
                        <a:t>• Simulation de montées en charge : vérifier si l'architecture est capable de détecter automatiquement l'augmentation de la demande et d'allouer dynamiquement les ressources nécessaires pour maintenir les performances. Des tests de montée en charge réelle en situation réelle sont également utiles. </a:t>
                      </a:r>
                    </a:p>
                    <a:p>
                      <a:endParaRPr lang="fr-FR" sz="1200" dirty="0" smtClean="0"/>
                    </a:p>
                    <a:p>
                      <a:r>
                        <a:rPr lang="fr-FR" sz="1200" dirty="0" smtClean="0"/>
                        <a:t>• Mécanismes d'auto-ajustement : ces mécanismes se déclenchent automatiquement en fonction des conditions de charge (par exemple : utilisation de mécanismes d'auto-</a:t>
                      </a:r>
                      <a:r>
                        <a:rPr lang="fr-FR" sz="1200" dirty="0" err="1" smtClean="0"/>
                        <a:t>scaling</a:t>
                      </a:r>
                      <a:r>
                        <a:rPr lang="fr-FR" sz="1200" dirty="0" smtClean="0"/>
                        <a:t> pour créer dynamiquement des instances du service en fonction de la demande).</a:t>
                      </a:r>
                      <a:endParaRPr lang="fr-FR" sz="1200" dirty="0" smtClean="0">
                        <a:solidFill>
                          <a:schemeClr val="tx1"/>
                        </a:solidFill>
                      </a:endParaRP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14036" y="0"/>
          <a:ext cx="6077964" cy="1112520"/>
        </p:xfrm>
        <a:graphic>
          <a:graphicData uri="http://schemas.openxmlformats.org/drawingml/2006/table">
            <a:tbl>
              <a:tblPr firstRow="1" bandRow="1">
                <a:tableStyleId>{5C22544A-7EE6-4342-B048-85BDC9FD1C3A}</a:tableStyleId>
              </a:tblPr>
              <a:tblGrid>
                <a:gridCol w="3038982">
                  <a:extLst>
                    <a:ext uri="{9D8B030D-6E8A-4147-A177-3AD203B41FA5}">
                      <a16:colId xmlns:a16="http://schemas.microsoft.com/office/drawing/2014/main" val="2625270736"/>
                    </a:ext>
                  </a:extLst>
                </a:gridCol>
                <a:gridCol w="3038982">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solidFill>
                            <a:schemeClr val="tx1"/>
                          </a:solidFill>
                        </a:rPr>
                        <a:t>Haute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035040"/>
          <a:ext cx="10271869" cy="769716"/>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6">
                <a:tc>
                  <a:txBody>
                    <a:bodyPr/>
                    <a:lstStyle/>
                    <a:p>
                      <a:r>
                        <a:rPr lang="fr-FR" sz="1400" b="0" dirty="0" smtClean="0">
                          <a:solidFill>
                            <a:srgbClr val="2F5597"/>
                          </a:solidFill>
                        </a:rPr>
                        <a:t>Source : RGESN version 2022 et 2024</a:t>
                      </a:r>
                    </a:p>
                    <a:p>
                      <a:r>
                        <a:rPr lang="fr-FR" sz="1400" b="0" dirty="0" smtClean="0">
                          <a:solidFill>
                            <a:srgbClr val="2F5597"/>
                          </a:solidFill>
                        </a:rPr>
                        <a:t>3.2 Le service numérique fonctionne-t-il sur une architecture pouvant</a:t>
                      </a:r>
                      <a:r>
                        <a:rPr lang="fr-FR" sz="1400" b="0" baseline="0" dirty="0" smtClean="0">
                          <a:solidFill>
                            <a:srgbClr val="2F5597"/>
                          </a:solidFill>
                        </a:rPr>
                        <a:t> </a:t>
                      </a:r>
                      <a:r>
                        <a:rPr lang="fr-FR" sz="1400" b="0" dirty="0" smtClean="0">
                          <a:solidFill>
                            <a:srgbClr val="2F5597"/>
                          </a:solidFill>
                        </a:rPr>
                        <a:t>adapter la quantité de ressources utilisées à la consommation du</a:t>
                      </a:r>
                    </a:p>
                    <a:p>
                      <a:r>
                        <a:rPr lang="fr-FR" sz="1400" b="0" dirty="0" smtClean="0">
                          <a:solidFill>
                            <a:srgbClr val="2F5597"/>
                          </a:solidFill>
                        </a:rPr>
                        <a:t>service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03672950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793643943"/>
              </p:ext>
            </p:extLst>
          </p:nvPr>
        </p:nvGraphicFramePr>
        <p:xfrm>
          <a:off x="0" y="1112520"/>
          <a:ext cx="12192000" cy="4889379"/>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492158">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23/Supporter l’évolution techniques des protocole</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397221">
                <a:tc>
                  <a:txBody>
                    <a:bodyPr/>
                    <a:lstStyle/>
                    <a:p>
                      <a:pPr marL="0" indent="0">
                        <a:buFont typeface="Arial" panose="020B0604020202020204" pitchFamily="34" charset="0"/>
                        <a:buNone/>
                      </a:pPr>
                      <a:r>
                        <a:rPr lang="fr-FR" sz="1200" dirty="0" smtClean="0">
                          <a:solidFill>
                            <a:schemeClr val="tx1"/>
                          </a:solidFill>
                        </a:rPr>
                        <a:t>L’objectif est</a:t>
                      </a:r>
                      <a:r>
                        <a:rPr lang="fr-FR" sz="1200" baseline="0" dirty="0" smtClean="0">
                          <a:solidFill>
                            <a:schemeClr val="tx1"/>
                          </a:solidFill>
                        </a:rPr>
                        <a:t> </a:t>
                      </a:r>
                      <a:r>
                        <a:rPr lang="fr-FR" sz="1200" dirty="0" smtClean="0">
                          <a:solidFill>
                            <a:schemeClr val="tx1"/>
                          </a:solidFill>
                        </a:rPr>
                        <a:t>de limiter l’obsolescence du service induite par l’obsolescence des protocoles utilisés, en tenant compte</a:t>
                      </a:r>
                      <a:r>
                        <a:rPr lang="fr-FR" sz="1200" baseline="0" dirty="0" smtClean="0">
                          <a:solidFill>
                            <a:schemeClr val="tx1"/>
                          </a:solidFill>
                        </a:rPr>
                        <a:t> </a:t>
                      </a:r>
                      <a:r>
                        <a:rPr lang="fr-FR" sz="1200" dirty="0" smtClean="0">
                          <a:solidFill>
                            <a:schemeClr val="tx1"/>
                          </a:solidFill>
                        </a:rPr>
                        <a:t>particulièrement des éléments suivants :</a:t>
                      </a:r>
                    </a:p>
                    <a:p>
                      <a:pPr marL="0" indent="0">
                        <a:buFont typeface="Arial" panose="020B0604020202020204" pitchFamily="34" charset="0"/>
                        <a:buNone/>
                      </a:pPr>
                      <a:endParaRPr lang="fr-FR" sz="1200" dirty="0" smtClean="0">
                        <a:solidFill>
                          <a:schemeClr val="tx1"/>
                        </a:solidFill>
                      </a:endParaRPr>
                    </a:p>
                    <a:p>
                      <a:pPr marL="0" indent="0">
                        <a:buFont typeface="Arial" panose="020B0604020202020204" pitchFamily="34" charset="0"/>
                        <a:buNone/>
                      </a:pPr>
                      <a:r>
                        <a:rPr lang="fr-FR" sz="1200" dirty="0" smtClean="0">
                          <a:solidFill>
                            <a:schemeClr val="tx1"/>
                          </a:solidFill>
                        </a:rPr>
                        <a:t>• Protocole d’adressage : face à la pénurie d’IPv4 et la généralisation d’IPv6 (à moyen terme, certains</a:t>
                      </a:r>
                      <a:r>
                        <a:rPr lang="fr-FR" sz="1200" baseline="0" dirty="0" smtClean="0">
                          <a:solidFill>
                            <a:schemeClr val="tx1"/>
                          </a:solidFill>
                        </a:rPr>
                        <a:t> </a:t>
                      </a:r>
                      <a:r>
                        <a:rPr lang="fr-FR" sz="1200" dirty="0" smtClean="0">
                          <a:solidFill>
                            <a:schemeClr val="tx1"/>
                          </a:solidFill>
                        </a:rPr>
                        <a:t>accès à internet ne proposeront plus de connectivité IPv4), un service disponible en IPv6 en assure</a:t>
                      </a:r>
                      <a:r>
                        <a:rPr lang="fr-FR" sz="1200" baseline="0" dirty="0" smtClean="0">
                          <a:solidFill>
                            <a:schemeClr val="tx1"/>
                          </a:solidFill>
                        </a:rPr>
                        <a:t> </a:t>
                      </a:r>
                      <a:r>
                        <a:rPr lang="fr-FR" sz="1200" dirty="0" smtClean="0">
                          <a:solidFill>
                            <a:schemeClr val="tx1"/>
                          </a:solidFill>
                        </a:rPr>
                        <a:t>sa pérennité. Ce choix permet aussi de limiter le nombre de plateformes nécessaires et la</a:t>
                      </a:r>
                      <a:r>
                        <a:rPr lang="fr-FR" sz="1200" baseline="0" dirty="0" smtClean="0">
                          <a:solidFill>
                            <a:schemeClr val="tx1"/>
                          </a:solidFill>
                        </a:rPr>
                        <a:t> </a:t>
                      </a:r>
                      <a:r>
                        <a:rPr lang="fr-FR" sz="1200" dirty="0" smtClean="0">
                          <a:solidFill>
                            <a:schemeClr val="tx1"/>
                          </a:solidFill>
                        </a:rPr>
                        <a:t>consommation d’énergie associée chez les opérateurs ayant recours à du partage d’IPv4 entre</a:t>
                      </a:r>
                      <a:r>
                        <a:rPr lang="fr-FR" sz="1200" baseline="0" dirty="0" smtClean="0">
                          <a:solidFill>
                            <a:schemeClr val="tx1"/>
                          </a:solidFill>
                        </a:rPr>
                        <a:t> </a:t>
                      </a:r>
                      <a:r>
                        <a:rPr lang="fr-FR" sz="1200" dirty="0" smtClean="0">
                          <a:solidFill>
                            <a:schemeClr val="tx1"/>
                          </a:solidFill>
                        </a:rPr>
                        <a:t>clients. L’IPv6 n’a pas besoin de passer par la plateforme CG-Nat qui est coûteuse en matériel et en</a:t>
                      </a:r>
                      <a:r>
                        <a:rPr lang="fr-FR" sz="1200" baseline="0" dirty="0" smtClean="0">
                          <a:solidFill>
                            <a:schemeClr val="tx1"/>
                          </a:solidFill>
                        </a:rPr>
                        <a:t> </a:t>
                      </a:r>
                      <a:r>
                        <a:rPr lang="fr-FR" sz="1200" dirty="0" smtClean="0">
                          <a:solidFill>
                            <a:schemeClr val="tx1"/>
                          </a:solidFill>
                        </a:rPr>
                        <a:t>énergie (voir la présentation vidéo « Adressage et transition IPv6 » de décembre 2023).</a:t>
                      </a:r>
                    </a:p>
                    <a:p>
                      <a:pPr marL="0" indent="0">
                        <a:buFont typeface="Arial" panose="020B0604020202020204" pitchFamily="34" charset="0"/>
                        <a:buNone/>
                      </a:pPr>
                      <a:r>
                        <a:rPr lang="fr-FR" sz="1200" dirty="0" smtClean="0">
                          <a:solidFill>
                            <a:schemeClr val="tx1"/>
                          </a:solidFill>
                        </a:rPr>
                        <a:t>• Protocole de chiffrement/d’authentification : les navigateurs tendent vers le blocage du protocole</a:t>
                      </a:r>
                      <a:r>
                        <a:rPr lang="fr-FR" sz="1200" baseline="0" dirty="0" smtClean="0">
                          <a:solidFill>
                            <a:schemeClr val="tx1"/>
                          </a:solidFill>
                        </a:rPr>
                        <a:t> </a:t>
                      </a:r>
                      <a:r>
                        <a:rPr lang="fr-FR" sz="1200" dirty="0" smtClean="0">
                          <a:solidFill>
                            <a:schemeClr val="tx1"/>
                          </a:solidFill>
                        </a:rPr>
                        <a:t>HTTP et l’obligation d’utiliser HTTPS, qui devient donc le choix le plus pérenne. En outre, la couche</a:t>
                      </a:r>
                      <a:r>
                        <a:rPr lang="fr-FR" sz="1200" baseline="0" dirty="0" smtClean="0">
                          <a:solidFill>
                            <a:schemeClr val="tx1"/>
                          </a:solidFill>
                        </a:rPr>
                        <a:t> </a:t>
                      </a:r>
                      <a:r>
                        <a:rPr lang="fr-FR" sz="1200" dirty="0" smtClean="0">
                          <a:solidFill>
                            <a:schemeClr val="tx1"/>
                          </a:solidFill>
                        </a:rPr>
                        <a:t>de chiffrement TLS doit être adaptés à l’évolution de ce protocole puisque les anciennes versions de</a:t>
                      </a:r>
                      <a:r>
                        <a:rPr lang="fr-FR" sz="1200" baseline="0" dirty="0" smtClean="0">
                          <a:solidFill>
                            <a:schemeClr val="tx1"/>
                          </a:solidFill>
                        </a:rPr>
                        <a:t> </a:t>
                      </a:r>
                      <a:r>
                        <a:rPr lang="fr-FR" sz="1200" dirty="0" smtClean="0">
                          <a:solidFill>
                            <a:schemeClr val="tx1"/>
                          </a:solidFill>
                        </a:rPr>
                        <a:t>TLS (TLS v1.0 et TLS v1.1) ne sont plus prises en charge par les navigateurs web.</a:t>
                      </a:r>
                    </a:p>
                    <a:p>
                      <a:pPr marL="0" indent="0">
                        <a:buFont typeface="Arial" panose="020B0604020202020204" pitchFamily="34" charset="0"/>
                        <a:buNone/>
                      </a:pPr>
                      <a:r>
                        <a:rPr lang="fr-FR" sz="1200" dirty="0" smtClean="0">
                          <a:solidFill>
                            <a:schemeClr val="tx1"/>
                          </a:solidFill>
                        </a:rPr>
                        <a:t>• Protocole d’échanges de données : s’assurer de l’adéquation entre le choix du protocole et le type</a:t>
                      </a:r>
                      <a:r>
                        <a:rPr lang="fr-FR" sz="1200" baseline="0" dirty="0" smtClean="0">
                          <a:solidFill>
                            <a:schemeClr val="tx1"/>
                          </a:solidFill>
                        </a:rPr>
                        <a:t> </a:t>
                      </a:r>
                      <a:r>
                        <a:rPr lang="fr-FR" sz="1200" dirty="0" smtClean="0">
                          <a:solidFill>
                            <a:schemeClr val="tx1"/>
                          </a:solidFill>
                        </a:rPr>
                        <a:t>des contenus échangés.</a:t>
                      </a:r>
                    </a:p>
                  </a:txBody>
                  <a:tcPr/>
                </a:tc>
                <a:tc>
                  <a:txBody>
                    <a:bodyPr/>
                    <a:lstStyle/>
                    <a:p>
                      <a:r>
                        <a:rPr lang="fr-FR" sz="1200" dirty="0" smtClean="0"/>
                        <a:t> Considérer en particulier les</a:t>
                      </a:r>
                      <a:r>
                        <a:rPr lang="fr-FR" sz="1200" baseline="0" dirty="0" smtClean="0"/>
                        <a:t> </a:t>
                      </a:r>
                      <a:r>
                        <a:rPr lang="fr-FR" sz="1200" dirty="0" smtClean="0"/>
                        <a:t>actions suivantes selon les fonctionnalités du service :</a:t>
                      </a:r>
                    </a:p>
                    <a:p>
                      <a:endParaRPr lang="fr-FR" sz="1200" dirty="0" smtClean="0"/>
                    </a:p>
                    <a:p>
                      <a:r>
                        <a:rPr lang="fr-FR" sz="1200" dirty="0" smtClean="0"/>
                        <a:t>• Vérifier que le service est accessible en IPv6 et définir une stratégie de test IPv6 incluant des tests</a:t>
                      </a:r>
                      <a:r>
                        <a:rPr lang="fr-FR" sz="1200" baseline="0" dirty="0" smtClean="0"/>
                        <a:t> </a:t>
                      </a:r>
                      <a:r>
                        <a:rPr lang="fr-FR" sz="1200" dirty="0" smtClean="0"/>
                        <a:t>depuis un équipement où la connectivité IPv4 est désactivée. </a:t>
                      </a:r>
                    </a:p>
                    <a:p>
                      <a:r>
                        <a:rPr lang="fr-FR" sz="1200" dirty="0" smtClean="0"/>
                        <a:t>• Utiliser le protocole d’authentification et de chiffrement HTTPS. </a:t>
                      </a:r>
                    </a:p>
                    <a:p>
                      <a:r>
                        <a:rPr lang="fr-FR" sz="1200" dirty="0" smtClean="0"/>
                        <a:t>• Pour le protocole de sécurité, la version de TLS utilisée doit prendre en charge la version la plus</a:t>
                      </a:r>
                      <a:r>
                        <a:rPr lang="fr-FR" sz="1200" baseline="0" dirty="0" smtClean="0"/>
                        <a:t> </a:t>
                      </a:r>
                      <a:r>
                        <a:rPr lang="fr-FR" sz="1200" dirty="0" smtClean="0"/>
                        <a:t>récente (au moment de la rédaction de ce référentiel : TLS v1.3). </a:t>
                      </a:r>
                    </a:p>
                    <a:p>
                      <a:r>
                        <a:rPr lang="fr-FR" sz="1200" dirty="0" smtClean="0"/>
                        <a:t>• Pour les protocoles d’échanges de données, il est recommandé de comparer les protocoles disponibles en fonction des types de contenu et des fonctionnalités recherchées. Cette évaluation devrait prendre en considération des critères tels que l'efficacité de transfert des données, la latence, la compatibilité avec les technologies utilisées, ainsi que l'impact environnemental de chaque protocole. </a:t>
                      </a:r>
                    </a:p>
                    <a:p>
                      <a:r>
                        <a:rPr lang="fr-FR" sz="1200" dirty="0" smtClean="0"/>
                        <a:t>Par exemple : </a:t>
                      </a:r>
                    </a:p>
                    <a:p>
                      <a:pPr marL="171450" indent="-171450">
                        <a:buFontTx/>
                        <a:buChar char="-"/>
                      </a:pPr>
                      <a:r>
                        <a:rPr lang="fr-FR" sz="1200" dirty="0" smtClean="0"/>
                        <a:t>Pour la vidéo : Multicast, HTTP Live Streaming (HLS), Real-Time Messaging Protocol (RTMP), Web Real-Time Communications (</a:t>
                      </a:r>
                      <a:r>
                        <a:rPr lang="fr-FR" sz="1200" dirty="0" err="1" smtClean="0"/>
                        <a:t>WebRTC</a:t>
                      </a:r>
                      <a:r>
                        <a:rPr lang="fr-FR" sz="1200" dirty="0" smtClean="0"/>
                        <a:t>)… </a:t>
                      </a:r>
                    </a:p>
                    <a:p>
                      <a:pPr marL="171450" indent="-171450">
                        <a:buFontTx/>
                        <a:buChar char="-"/>
                      </a:pPr>
                      <a:r>
                        <a:rPr lang="fr-FR" sz="1200" dirty="0" smtClean="0"/>
                        <a:t>Pour les API : REST, SOAP, </a:t>
                      </a:r>
                      <a:r>
                        <a:rPr lang="fr-FR" sz="1200" dirty="0" err="1" smtClean="0"/>
                        <a:t>GraphQL</a:t>
                      </a:r>
                      <a:r>
                        <a:rPr lang="fr-FR" sz="1200" dirty="0" smtClean="0"/>
                        <a:t>, Protocol Buffers… </a:t>
                      </a:r>
                    </a:p>
                  </a:txBody>
                  <a:tcPr/>
                </a:tc>
                <a:extLst>
                  <a:ext uri="{0D108BD9-81ED-4DB2-BD59-A6C34878D82A}">
                    <a16:rowId xmlns:a16="http://schemas.microsoft.com/office/drawing/2014/main" val="3420094902"/>
                  </a:ext>
                </a:extLst>
              </a:tr>
            </a:tbl>
          </a:graphicData>
        </a:graphic>
      </p:graphicFrame>
      <p:pic>
        <p:nvPicPr>
          <p:cNvPr id="5" name="Image 4"/>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6" name="Tableau 5"/>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Faible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graphicFrame>
        <p:nvGraphicFramePr>
          <p:cNvPr id="8" name="Tableau 7"/>
          <p:cNvGraphicFramePr>
            <a:graphicFrameLocks noGrp="1"/>
          </p:cNvGraphicFramePr>
          <p:nvPr>
            <p:extLst/>
          </p:nvPr>
        </p:nvGraphicFramePr>
        <p:xfrm>
          <a:off x="-1" y="6035040"/>
          <a:ext cx="10271869" cy="769716"/>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6">
                <a:tc>
                  <a:txBody>
                    <a:bodyPr/>
                    <a:lstStyle/>
                    <a:p>
                      <a:r>
                        <a:rPr lang="fr-FR" sz="1400" b="0" dirty="0" smtClean="0">
                          <a:solidFill>
                            <a:srgbClr val="2F5597"/>
                          </a:solidFill>
                        </a:rPr>
                        <a:t>Source : RGESN version 2022 et 2024</a:t>
                      </a:r>
                    </a:p>
                    <a:p>
                      <a:r>
                        <a:rPr lang="fr-FR" sz="1400" b="0" dirty="0" smtClean="0">
                          <a:solidFill>
                            <a:srgbClr val="2F5597"/>
                          </a:solidFill>
                        </a:rPr>
                        <a:t>3.3 Le service numérique </a:t>
                      </a:r>
                      <a:r>
                        <a:rPr lang="fr-FR" sz="1400" b="0" dirty="0" err="1" smtClean="0">
                          <a:solidFill>
                            <a:srgbClr val="2F5597"/>
                          </a:solidFill>
                        </a:rPr>
                        <a:t>a-t-il</a:t>
                      </a:r>
                      <a:r>
                        <a:rPr lang="fr-FR" sz="1400" b="0" dirty="0" smtClean="0">
                          <a:solidFill>
                            <a:srgbClr val="2F5597"/>
                          </a:solidFill>
                        </a:rPr>
                        <a:t> pris en compte l’évolution</a:t>
                      </a:r>
                      <a:r>
                        <a:rPr lang="fr-FR" sz="1400" b="0" baseline="0" dirty="0" smtClean="0">
                          <a:solidFill>
                            <a:srgbClr val="2F5597"/>
                          </a:solidFill>
                        </a:rPr>
                        <a:t> </a:t>
                      </a:r>
                      <a:r>
                        <a:rPr lang="fr-FR" sz="1400" b="0" dirty="0" smtClean="0">
                          <a:solidFill>
                            <a:srgbClr val="2F5597"/>
                          </a:solidFill>
                        </a:rPr>
                        <a:t>technique des protocoles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42652602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4082085459"/>
              </p:ext>
            </p:extLst>
          </p:nvPr>
        </p:nvGraphicFramePr>
        <p:xfrm>
          <a:off x="0" y="1112521"/>
          <a:ext cx="12192000" cy="476070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250647">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24/Installer</a:t>
                      </a:r>
                      <a:r>
                        <a:rPr lang="fr-FR" sz="1800" b="1" u="sng" kern="1200" baseline="0" dirty="0" smtClean="0">
                          <a:solidFill>
                            <a:schemeClr val="bg1"/>
                          </a:solidFill>
                          <a:latin typeface="+mn-lt"/>
                          <a:ea typeface="+mn-ea"/>
                          <a:cs typeface="+mn-cs"/>
                        </a:rPr>
                        <a:t> des m</a:t>
                      </a:r>
                      <a:r>
                        <a:rPr lang="fr-FR" sz="1800" b="1" u="sng" kern="1200" dirty="0" smtClean="0">
                          <a:solidFill>
                            <a:schemeClr val="bg1"/>
                          </a:solidFill>
                          <a:latin typeface="+mn-lt"/>
                          <a:ea typeface="+mn-ea"/>
                          <a:cs typeface="+mn-cs"/>
                        </a:rPr>
                        <a:t>ises à</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jour correctives pendant toute la durée de vie prévue des</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équipements et des logiciels liés au service </a:t>
                      </a:r>
                    </a:p>
                  </a:txBody>
                  <a:tcPr anchor="ctr">
                    <a:solidFill>
                      <a:srgbClr val="2F5597"/>
                    </a:solidFill>
                  </a:tcPr>
                </a:tc>
                <a:tc hMerge="1">
                  <a:txBody>
                    <a:bodyPr/>
                    <a:lstStyle/>
                    <a:p>
                      <a:pP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510057">
                <a:tc>
                  <a:txBody>
                    <a:bodyPr/>
                    <a:lstStyle/>
                    <a:p>
                      <a:pPr marL="0" indent="0">
                        <a:buFont typeface="Arial" panose="020B0604020202020204" pitchFamily="34" charset="0"/>
                        <a:buNone/>
                      </a:pPr>
                      <a:r>
                        <a:rPr lang="fr-FR" sz="1600" dirty="0" smtClean="0">
                          <a:solidFill>
                            <a:schemeClr val="tx1"/>
                          </a:solidFill>
                        </a:rPr>
                        <a:t>Maintenir le service numérique pendant toute la durée prévue de l’équipement.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Cela implique de prévoir</a:t>
                      </a:r>
                      <a:r>
                        <a:rPr lang="fr-FR" sz="1600" baseline="0" dirty="0" smtClean="0">
                          <a:solidFill>
                            <a:schemeClr val="tx1"/>
                          </a:solidFill>
                        </a:rPr>
                        <a:t> </a:t>
                      </a:r>
                      <a:r>
                        <a:rPr lang="fr-FR" sz="1600" dirty="0" smtClean="0">
                          <a:solidFill>
                            <a:schemeClr val="tx1"/>
                          </a:solidFill>
                        </a:rPr>
                        <a:t>une infrastructure de support appropriée, des ressources techniques et financières, ainsi qu'une planification</a:t>
                      </a:r>
                      <a:r>
                        <a:rPr lang="fr-FR" sz="1600" baseline="0" dirty="0" smtClean="0">
                          <a:solidFill>
                            <a:schemeClr val="tx1"/>
                          </a:solidFill>
                        </a:rPr>
                        <a:t> </a:t>
                      </a:r>
                      <a:r>
                        <a:rPr lang="fr-FR" sz="1600" dirty="0" smtClean="0">
                          <a:solidFill>
                            <a:schemeClr val="tx1"/>
                          </a:solidFill>
                        </a:rPr>
                        <a:t>de la maintenance à long terme – en cohérence avec la durée de vie estimée du matériel. </a:t>
                      </a:r>
                    </a:p>
                    <a:p>
                      <a:pPr marL="0" indent="0">
                        <a:buFont typeface="Arial" panose="020B0604020202020204" pitchFamily="34" charset="0"/>
                        <a:buNone/>
                      </a:pPr>
                      <a:r>
                        <a:rPr lang="fr-FR" sz="1600" dirty="0" smtClean="0">
                          <a:solidFill>
                            <a:schemeClr val="tx1"/>
                          </a:solidFill>
                        </a:rPr>
                        <a:t>Par exemple, sont</a:t>
                      </a:r>
                      <a:r>
                        <a:rPr lang="fr-FR" sz="1600" baseline="0" dirty="0" smtClean="0">
                          <a:solidFill>
                            <a:schemeClr val="tx1"/>
                          </a:solidFill>
                        </a:rPr>
                        <a:t> </a:t>
                      </a:r>
                      <a:r>
                        <a:rPr lang="fr-FR" sz="1600" dirty="0" smtClean="0">
                          <a:solidFill>
                            <a:schemeClr val="tx1"/>
                          </a:solidFill>
                        </a:rPr>
                        <a:t>visés ici des équipements spécifiques et les objets connectés (</a:t>
                      </a:r>
                      <a:r>
                        <a:rPr lang="fr-FR" sz="1600" dirty="0" err="1" smtClean="0">
                          <a:solidFill>
                            <a:schemeClr val="tx1"/>
                          </a:solidFill>
                        </a:rPr>
                        <a:t>IoT</a:t>
                      </a:r>
                      <a:r>
                        <a:rPr lang="fr-FR" sz="1600" dirty="0" smtClean="0">
                          <a:solidFill>
                            <a:schemeClr val="tx1"/>
                          </a:solidFill>
                        </a:rPr>
                        <a:t>).</a:t>
                      </a:r>
                      <a:endParaRPr lang="fr-FR" sz="1600" dirty="0">
                        <a:solidFill>
                          <a:schemeClr val="tx1"/>
                        </a:solidFill>
                      </a:endParaRPr>
                    </a:p>
                  </a:txBody>
                  <a:tcPr/>
                </a:tc>
                <a:tc>
                  <a:txBody>
                    <a:bodyPr/>
                    <a:lstStyle/>
                    <a:p>
                      <a:r>
                        <a:rPr lang="fr-FR" sz="1600" dirty="0" smtClean="0">
                          <a:solidFill>
                            <a:schemeClr val="tx1"/>
                          </a:solidFill>
                        </a:rPr>
                        <a:t>Pour valider ce critère, indiquer la durée de maintenance du service et</a:t>
                      </a:r>
                      <a:r>
                        <a:rPr lang="fr-FR" sz="1600" baseline="0" dirty="0" smtClean="0">
                          <a:solidFill>
                            <a:schemeClr val="tx1"/>
                          </a:solidFill>
                        </a:rPr>
                        <a:t> </a:t>
                      </a:r>
                      <a:r>
                        <a:rPr lang="fr-FR" sz="1600" dirty="0" smtClean="0">
                          <a:solidFill>
                            <a:schemeClr val="tx1"/>
                          </a:solidFill>
                        </a:rPr>
                        <a:t>vérifier que les mises à jour sont effectivement disponibles tout au long de la durée de vie des équipements</a:t>
                      </a:r>
                      <a:r>
                        <a:rPr lang="fr-FR" sz="1600" baseline="0" dirty="0" smtClean="0">
                          <a:solidFill>
                            <a:schemeClr val="tx1"/>
                          </a:solidFill>
                        </a:rPr>
                        <a:t> </a:t>
                      </a:r>
                      <a:r>
                        <a:rPr lang="fr-FR" sz="1600" dirty="0" smtClean="0">
                          <a:solidFill>
                            <a:schemeClr val="tx1"/>
                          </a:solidFill>
                        </a:rPr>
                        <a:t>associés.</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035040"/>
          <a:ext cx="10271869" cy="769716"/>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6">
                <a:tc>
                  <a:txBody>
                    <a:bodyPr/>
                    <a:lstStyle/>
                    <a:p>
                      <a:r>
                        <a:rPr lang="fr-FR" sz="1400" b="0" dirty="0" smtClean="0">
                          <a:solidFill>
                            <a:srgbClr val="2F5597"/>
                          </a:solidFill>
                        </a:rPr>
                        <a:t>Source : RGESN version 2022 et 2024</a:t>
                      </a:r>
                    </a:p>
                    <a:p>
                      <a:r>
                        <a:rPr lang="fr-FR" sz="1400" b="0" dirty="0" smtClean="0">
                          <a:solidFill>
                            <a:srgbClr val="2F5597"/>
                          </a:solidFill>
                        </a:rPr>
                        <a:t>3.4 Le service numérique garantit-il la mise à disposition de mises à</a:t>
                      </a:r>
                      <a:r>
                        <a:rPr lang="fr-FR" sz="1400" b="0" baseline="0" dirty="0" smtClean="0">
                          <a:solidFill>
                            <a:srgbClr val="2F5597"/>
                          </a:solidFill>
                        </a:rPr>
                        <a:t> </a:t>
                      </a:r>
                      <a:r>
                        <a:rPr lang="fr-FR" sz="1400" b="0" dirty="0" smtClean="0">
                          <a:solidFill>
                            <a:srgbClr val="2F5597"/>
                          </a:solidFill>
                        </a:rPr>
                        <a:t>jour correctives pendant toute la durée de vie prévue des</a:t>
                      </a:r>
                    </a:p>
                    <a:p>
                      <a:r>
                        <a:rPr lang="fr-FR" sz="1400" b="0" dirty="0" smtClean="0">
                          <a:solidFill>
                            <a:srgbClr val="2F5597"/>
                          </a:solidFill>
                        </a:rPr>
                        <a:t>équipements et des logiciels liés au service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316741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043230001"/>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25/Installer des mises à jour</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correctives indépendamment des mises à jour évolutives</a:t>
                      </a:r>
                    </a:p>
                  </a:txBody>
                  <a:tcPr anchor="ctr">
                    <a:solidFill>
                      <a:srgbClr val="2F5597"/>
                    </a:solidFill>
                  </a:tcPr>
                </a:tc>
                <a:tc hMerge="1">
                  <a:txBody>
                    <a:bodyPr/>
                    <a:lstStyle/>
                    <a:p>
                      <a:pP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400" dirty="0" smtClean="0">
                          <a:solidFill>
                            <a:schemeClr val="tx1"/>
                          </a:solidFill>
                        </a:rPr>
                        <a:t>Par exemple, une stratégie de gestion de versions avec des versions   Long </a:t>
                      </a:r>
                      <a:r>
                        <a:rPr lang="fr-FR" sz="1400" dirty="0" err="1" smtClean="0">
                          <a:solidFill>
                            <a:schemeClr val="tx1"/>
                          </a:solidFill>
                        </a:rPr>
                        <a:t>term</a:t>
                      </a:r>
                      <a:r>
                        <a:rPr lang="fr-FR" sz="1400" dirty="0" smtClean="0">
                          <a:solidFill>
                            <a:schemeClr val="tx1"/>
                          </a:solidFill>
                        </a:rPr>
                        <a:t> support » est mise en place et un </a:t>
                      </a:r>
                      <a:r>
                        <a:rPr lang="fr-FR" sz="1400" dirty="0" err="1" smtClean="0">
                          <a:solidFill>
                            <a:schemeClr val="tx1"/>
                          </a:solidFill>
                        </a:rPr>
                        <a:t>changelog</a:t>
                      </a:r>
                      <a:r>
                        <a:rPr lang="fr-FR" sz="1400" dirty="0" smtClean="0">
                          <a:solidFill>
                            <a:schemeClr val="tx1"/>
                          </a:solidFill>
                        </a:rPr>
                        <a:t> (journal des modifications) indique-t-il correctement les changements effectués par les mises à jour ? </a:t>
                      </a:r>
                    </a:p>
                    <a:p>
                      <a:pPr marL="0" indent="0">
                        <a:buFont typeface="Arial" panose="020B0604020202020204" pitchFamily="34" charset="0"/>
                        <a:buNone/>
                      </a:pPr>
                      <a:endParaRPr lang="fr-FR" sz="1600" dirty="0">
                        <a:solidFill>
                          <a:schemeClr val="tx1"/>
                        </a:solidFill>
                      </a:endParaRPr>
                    </a:p>
                  </a:txBody>
                  <a:tcPr/>
                </a:tc>
                <a:tc>
                  <a:txBody>
                    <a:bodyPr/>
                    <a:lstStyle/>
                    <a:p>
                      <a:r>
                        <a:rPr lang="fr-FR" sz="1400" dirty="0" smtClean="0">
                          <a:solidFill>
                            <a:schemeClr val="tx1"/>
                          </a:solidFill>
                        </a:rPr>
                        <a:t>Pour valider ce critère :</a:t>
                      </a:r>
                    </a:p>
                    <a:p>
                      <a:endParaRPr lang="fr-FR" sz="1400" dirty="0" smtClean="0">
                        <a:solidFill>
                          <a:schemeClr val="tx1"/>
                        </a:solidFill>
                      </a:endParaRPr>
                    </a:p>
                    <a:p>
                      <a:r>
                        <a:rPr lang="fr-FR" sz="1400" dirty="0" smtClean="0">
                          <a:solidFill>
                            <a:schemeClr val="tx1"/>
                          </a:solidFill>
                        </a:rPr>
                        <a:t>• Indiquer, dans la description des mises à jour d’une application (</a:t>
                      </a:r>
                      <a:r>
                        <a:rPr lang="fr-FR" sz="1400" dirty="0" err="1" smtClean="0">
                          <a:solidFill>
                            <a:schemeClr val="tx1"/>
                          </a:solidFill>
                        </a:rPr>
                        <a:t>changelog</a:t>
                      </a:r>
                      <a:r>
                        <a:rPr lang="fr-FR" sz="1400" dirty="0" smtClean="0">
                          <a:solidFill>
                            <a:schemeClr val="tx1"/>
                          </a:solidFill>
                        </a:rPr>
                        <a:t> ou journal des</a:t>
                      </a:r>
                      <a:r>
                        <a:rPr lang="fr-FR" sz="1400" baseline="0" dirty="0" smtClean="0">
                          <a:solidFill>
                            <a:schemeClr val="tx1"/>
                          </a:solidFill>
                        </a:rPr>
                        <a:t> </a:t>
                      </a:r>
                      <a:r>
                        <a:rPr lang="fr-FR" sz="1400" dirty="0" smtClean="0">
                          <a:solidFill>
                            <a:schemeClr val="tx1"/>
                          </a:solidFill>
                        </a:rPr>
                        <a:t>modifications), s’il s’agit d’une mise à jour de sécurité/maintenance (« corrective ») ou s’il s’agit</a:t>
                      </a:r>
                      <a:r>
                        <a:rPr lang="fr-FR" sz="1400" baseline="0" dirty="0" smtClean="0">
                          <a:solidFill>
                            <a:schemeClr val="tx1"/>
                          </a:solidFill>
                        </a:rPr>
                        <a:t> </a:t>
                      </a:r>
                      <a:r>
                        <a:rPr lang="fr-FR" sz="1400" dirty="0" smtClean="0">
                          <a:solidFill>
                            <a:schemeClr val="tx1"/>
                          </a:solidFill>
                        </a:rPr>
                        <a:t>d’une mise à jour évolutive ajoutant des fonctionnalités.</a:t>
                      </a:r>
                    </a:p>
                    <a:p>
                      <a:r>
                        <a:rPr lang="fr-FR" sz="1400" dirty="0" smtClean="0">
                          <a:solidFill>
                            <a:schemeClr val="tx1"/>
                          </a:solidFill>
                        </a:rPr>
                        <a:t>• S’assurer que les mises à jour évolutives non essentielles à la conformité du service n’empêchent pas</a:t>
                      </a:r>
                      <a:r>
                        <a:rPr lang="fr-FR" sz="1400" baseline="0" dirty="0" smtClean="0">
                          <a:solidFill>
                            <a:schemeClr val="tx1"/>
                          </a:solidFill>
                        </a:rPr>
                        <a:t> </a:t>
                      </a:r>
                      <a:r>
                        <a:rPr lang="fr-FR" sz="1400" dirty="0" smtClean="0">
                          <a:solidFill>
                            <a:schemeClr val="tx1"/>
                          </a:solidFill>
                        </a:rPr>
                        <a:t>le service de fonctionner pendant toute la durée de maintenance des systèmes d’exploitation</a:t>
                      </a:r>
                      <a:r>
                        <a:rPr lang="fr-FR" sz="1400" baseline="0" dirty="0" smtClean="0">
                          <a:solidFill>
                            <a:schemeClr val="tx1"/>
                          </a:solidFill>
                        </a:rPr>
                        <a:t> </a:t>
                      </a:r>
                      <a:r>
                        <a:rPr lang="fr-FR" sz="1400" dirty="0" smtClean="0">
                          <a:solidFill>
                            <a:schemeClr val="tx1"/>
                          </a:solidFill>
                        </a:rPr>
                        <a:t>supportés.</a:t>
                      </a:r>
                    </a:p>
                    <a:p>
                      <a:r>
                        <a:rPr lang="fr-FR" sz="1400" dirty="0" smtClean="0">
                          <a:solidFill>
                            <a:schemeClr val="tx1"/>
                          </a:solidFill>
                        </a:rPr>
                        <a:t>• Garantir, lorsque cela est possible, la possibilité d’installer de façon dissociée les mises à jour</a:t>
                      </a:r>
                      <a:r>
                        <a:rPr lang="fr-FR" sz="1400" baseline="0" dirty="0" smtClean="0">
                          <a:solidFill>
                            <a:schemeClr val="tx1"/>
                          </a:solidFill>
                        </a:rPr>
                        <a:t> </a:t>
                      </a:r>
                      <a:r>
                        <a:rPr lang="fr-FR" sz="1400" dirty="0" smtClean="0">
                          <a:solidFill>
                            <a:schemeClr val="tx1"/>
                          </a:solidFill>
                        </a:rPr>
                        <a:t>essentielles à la conformité et à la sécurité du service numérique ou du terminal de l’utilisateur aux</a:t>
                      </a:r>
                      <a:r>
                        <a:rPr lang="fr-FR" sz="1400" baseline="0" dirty="0" smtClean="0">
                          <a:solidFill>
                            <a:schemeClr val="tx1"/>
                          </a:solidFill>
                        </a:rPr>
                        <a:t> </a:t>
                      </a:r>
                      <a:r>
                        <a:rPr lang="fr-FR" sz="1400" dirty="0" smtClean="0">
                          <a:solidFill>
                            <a:schemeClr val="tx1"/>
                          </a:solidFill>
                        </a:rPr>
                        <a:t>mises à jour évolutives non nécessaires à la conformité du bien.</a:t>
                      </a:r>
                    </a:p>
                    <a:p>
                      <a:r>
                        <a:rPr lang="fr-FR" sz="1400" dirty="0" smtClean="0">
                          <a:solidFill>
                            <a:schemeClr val="tx1"/>
                          </a:solidFill>
                        </a:rPr>
                        <a:t>• Si possible, vérifier la présence d'une stratégie de gestion des versions du service visant à</a:t>
                      </a:r>
                      <a:r>
                        <a:rPr lang="fr-FR" sz="1400" baseline="0" dirty="0" smtClean="0">
                          <a:solidFill>
                            <a:schemeClr val="tx1"/>
                          </a:solidFill>
                        </a:rPr>
                        <a:t> </a:t>
                      </a:r>
                      <a:r>
                        <a:rPr lang="fr-FR" sz="1400" dirty="0" smtClean="0">
                          <a:solidFill>
                            <a:schemeClr val="tx1"/>
                          </a:solidFill>
                        </a:rPr>
                        <a:t>l’optimisation des mises à jour à effectuer, avec par exemple la fourniture de versions du service</a:t>
                      </a:r>
                      <a:r>
                        <a:rPr lang="fr-FR" sz="1400" baseline="0" dirty="0" smtClean="0">
                          <a:solidFill>
                            <a:schemeClr val="tx1"/>
                          </a:solidFill>
                        </a:rPr>
                        <a:t> </a:t>
                      </a:r>
                      <a:r>
                        <a:rPr lang="fr-FR" sz="1400" dirty="0" smtClean="0">
                          <a:solidFill>
                            <a:schemeClr val="tx1"/>
                          </a:solidFill>
                        </a:rPr>
                        <a:t>« Long-</a:t>
                      </a:r>
                      <a:r>
                        <a:rPr lang="fr-FR" sz="1400" dirty="0" err="1" smtClean="0">
                          <a:solidFill>
                            <a:schemeClr val="tx1"/>
                          </a:solidFill>
                        </a:rPr>
                        <a:t>term</a:t>
                      </a:r>
                      <a:r>
                        <a:rPr lang="fr-FR" sz="1400" dirty="0" smtClean="0">
                          <a:solidFill>
                            <a:schemeClr val="tx1"/>
                          </a:solidFill>
                        </a:rPr>
                        <a:t> support ».</a:t>
                      </a:r>
                      <a:endParaRPr lang="fr-FR" sz="14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Faible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035040"/>
          <a:ext cx="10271869" cy="769716"/>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6">
                <a:tc>
                  <a:txBody>
                    <a:bodyPr/>
                    <a:lstStyle/>
                    <a:p>
                      <a:r>
                        <a:rPr lang="fr-FR" sz="1400" b="0" dirty="0" smtClean="0">
                          <a:solidFill>
                            <a:srgbClr val="2F5597"/>
                          </a:solidFill>
                        </a:rPr>
                        <a:t>Source : RGESN version 2022 et 2024</a:t>
                      </a:r>
                    </a:p>
                    <a:p>
                      <a:r>
                        <a:rPr lang="fr-FR" sz="1400" b="0" dirty="0" smtClean="0">
                          <a:solidFill>
                            <a:srgbClr val="2F5597"/>
                          </a:solidFill>
                        </a:rPr>
                        <a:t>3.5 Le service numérique propose-t-il d’installer des mises à jour</a:t>
                      </a:r>
                      <a:r>
                        <a:rPr lang="fr-FR" sz="1400" b="0" baseline="0" dirty="0" smtClean="0">
                          <a:solidFill>
                            <a:srgbClr val="2F5597"/>
                          </a:solidFill>
                        </a:rPr>
                        <a:t> </a:t>
                      </a:r>
                      <a:r>
                        <a:rPr lang="fr-FR" sz="1400" b="0" dirty="0" smtClean="0">
                          <a:solidFill>
                            <a:srgbClr val="2F5597"/>
                          </a:solidFill>
                        </a:rPr>
                        <a:t>correctives indépendamment des mises à jour évolutives de façon</a:t>
                      </a:r>
                    </a:p>
                    <a:p>
                      <a:r>
                        <a:rPr lang="fr-FR" sz="1400" b="0" dirty="0" smtClean="0">
                          <a:solidFill>
                            <a:srgbClr val="2F5597"/>
                          </a:solidFill>
                        </a:rPr>
                        <a:t>transparente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56736860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52871294"/>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26/Héberger de façon distincte les données “chaudes” et “froides”.</a:t>
                      </a:r>
                    </a:p>
                  </a:txBody>
                  <a:tcPr anchor="ctr">
                    <a:solidFill>
                      <a:srgbClr val="2F5597"/>
                    </a:solidFill>
                  </a:tcPr>
                </a:tc>
                <a:tc hMerge="1">
                  <a:txBody>
                    <a:bodyPr/>
                    <a:lstStyle/>
                    <a:p>
                      <a:pP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smtClean="0">
                          <a:solidFill>
                            <a:schemeClr val="tx1"/>
                          </a:solidFill>
                        </a:rPr>
                        <a:t>Séparer les données chaudes des données froides en utilisant des solutions techniques adaptées au contexte d’utilisation.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Il convient d’avoir une réflexion sur le mode de stockage des données froides :il existe plusieurs technologies sur le marché, toutes n’ont pas nécessairement le même impact.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t>Par exemple les archives et les sauvegardes à conserver dans la durée peuvent être mises dans un stockage « froid ».</a:t>
                      </a:r>
                      <a:endParaRPr lang="fr-FR" sz="1600" dirty="0" smtClean="0">
                        <a:solidFill>
                          <a:schemeClr val="tx1"/>
                        </a:solidFill>
                      </a:endParaRP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Vérifier la séparation des données « chaudes » et « froides » dans l'architecture du service numérique, par</a:t>
                      </a:r>
                      <a:r>
                        <a:rPr lang="fr-FR" sz="1600" baseline="0" dirty="0" smtClean="0">
                          <a:solidFill>
                            <a:schemeClr val="tx1"/>
                          </a:solidFill>
                        </a:rPr>
                        <a:t> </a:t>
                      </a:r>
                      <a:r>
                        <a:rPr lang="fr-FR" sz="1600" dirty="0" smtClean="0">
                          <a:solidFill>
                            <a:schemeClr val="tx1"/>
                          </a:solidFill>
                        </a:rPr>
                        <a:t>exemple en examinant la configuration des systèmes, en s'assurant qu'ils sont distincts pour les deux types</a:t>
                      </a:r>
                      <a:r>
                        <a:rPr lang="fr-FR" sz="1600" baseline="0" dirty="0" smtClean="0">
                          <a:solidFill>
                            <a:schemeClr val="tx1"/>
                          </a:solidFill>
                        </a:rPr>
                        <a:t> </a:t>
                      </a:r>
                      <a:r>
                        <a:rPr lang="fr-FR" sz="1600" dirty="0" smtClean="0">
                          <a:solidFill>
                            <a:schemeClr val="tx1"/>
                          </a:solidFill>
                        </a:rPr>
                        <a:t>de données.</a:t>
                      </a:r>
                    </a:p>
                    <a:p>
                      <a:endParaRPr lang="fr-FR" sz="1600" dirty="0" smtClean="0">
                        <a:solidFill>
                          <a:schemeClr val="tx1"/>
                        </a:solidFill>
                      </a:endParaRPr>
                    </a:p>
                    <a:p>
                      <a:r>
                        <a:rPr lang="fr-FR" sz="1600" dirty="0" smtClean="0">
                          <a:solidFill>
                            <a:schemeClr val="tx1"/>
                          </a:solidFill>
                        </a:rPr>
                        <a:t>Pour valider ce critère, s'assurer que des stratégies de stockage appropriées sont mises en place pour les</a:t>
                      </a:r>
                      <a:r>
                        <a:rPr lang="fr-FR" sz="1600" baseline="0" dirty="0" smtClean="0">
                          <a:solidFill>
                            <a:schemeClr val="tx1"/>
                          </a:solidFill>
                        </a:rPr>
                        <a:t> </a:t>
                      </a:r>
                      <a:r>
                        <a:rPr lang="fr-FR" sz="1600" dirty="0" smtClean="0">
                          <a:solidFill>
                            <a:schemeClr val="tx1"/>
                          </a:solidFill>
                        </a:rPr>
                        <a:t>données « froides », en prenant en compte leur empreinte environnementale.</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Faible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Haute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7" name="Tableau 6"/>
          <p:cNvGraphicFramePr>
            <a:graphicFrameLocks noGrp="1"/>
          </p:cNvGraphicFramePr>
          <p:nvPr>
            <p:extLst/>
          </p:nvPr>
        </p:nvGraphicFramePr>
        <p:xfrm>
          <a:off x="-1" y="6035040"/>
          <a:ext cx="10271869" cy="769716"/>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6">
                <a:tc>
                  <a:txBody>
                    <a:bodyPr/>
                    <a:lstStyle/>
                    <a:p>
                      <a:r>
                        <a:rPr lang="fr-FR" sz="1400" b="0" dirty="0" smtClean="0">
                          <a:solidFill>
                            <a:srgbClr val="2F5597"/>
                          </a:solidFill>
                        </a:rPr>
                        <a:t>Source : RGESN version 2022 et 2024</a:t>
                      </a:r>
                    </a:p>
                    <a:p>
                      <a:r>
                        <a:rPr lang="fr-FR" sz="1400" b="0" dirty="0" smtClean="0">
                          <a:solidFill>
                            <a:srgbClr val="2F5597"/>
                          </a:solidFill>
                        </a:rPr>
                        <a:t>8.9 Le service numérique héberge-t-il de façon distincte les données « chaudes » et « froides »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426752802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196279158"/>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27/Héberger les ressources statiques dont on est l’émetteur sur un même domaine.</a:t>
                      </a:r>
                    </a:p>
                  </a:txBody>
                  <a:tcPr anchor="ctr">
                    <a:solidFill>
                      <a:srgbClr val="2F5597"/>
                    </a:solidFill>
                  </a:tcPr>
                </a:tc>
                <a:tc hMerge="1">
                  <a:txBody>
                    <a:bodyPr/>
                    <a:lstStyle/>
                    <a:p>
                      <a:pP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smtClean="0">
                          <a:solidFill>
                            <a:schemeClr val="tx1"/>
                          </a:solidFill>
                        </a:rPr>
                        <a:t>Activer HTTP/2 ou HTTP/3 et limiter le nombre de domaines différents pour les ressources utilisées afin</a:t>
                      </a:r>
                      <a:r>
                        <a:rPr lang="fr-FR" sz="1600" baseline="0" dirty="0" smtClean="0">
                          <a:solidFill>
                            <a:schemeClr val="tx1"/>
                          </a:solidFill>
                        </a:rPr>
                        <a:t> </a:t>
                      </a:r>
                      <a:r>
                        <a:rPr lang="fr-FR" sz="1600" dirty="0" smtClean="0">
                          <a:solidFill>
                            <a:schemeClr val="tx1"/>
                          </a:solidFill>
                        </a:rPr>
                        <a:t>notamment de profiter du multiplexage proposé par HTTP/2 ou HTTP/3.</a:t>
                      </a:r>
                      <a:endParaRPr lang="fr-FR" sz="1600" dirty="0">
                        <a:solidFill>
                          <a:schemeClr val="tx1"/>
                        </a:solidFill>
                      </a:endParaRPr>
                    </a:p>
                  </a:txBody>
                  <a:tcPr/>
                </a:tc>
                <a:tc>
                  <a:txBody>
                    <a:bodyPr/>
                    <a:lstStyle/>
                    <a:p>
                      <a:r>
                        <a:rPr lang="fr-FR" sz="1600" dirty="0" smtClean="0">
                          <a:solidFill>
                            <a:schemeClr val="tx1"/>
                          </a:solidFill>
                        </a:rPr>
                        <a:t>Le critère est validé si (conditions cumulatives) :</a:t>
                      </a:r>
                    </a:p>
                    <a:p>
                      <a:r>
                        <a:rPr lang="fr-FR" sz="1600" dirty="0" smtClean="0">
                          <a:solidFill>
                            <a:schemeClr val="tx1"/>
                          </a:solidFill>
                        </a:rPr>
                        <a:t>• L’ensemble de ses ressources prennent en charge HTTP/2 ou HTTP/3 ;</a:t>
                      </a:r>
                    </a:p>
                    <a:p>
                      <a:r>
                        <a:rPr lang="fr-FR" sz="1600" dirty="0" smtClean="0">
                          <a:solidFill>
                            <a:schemeClr val="tx1"/>
                          </a:solidFill>
                        </a:rPr>
                        <a:t>• Les ressources statiques, hors services tiers, sont transférées via un seul nom de domaine à un instant</a:t>
                      </a:r>
                      <a:r>
                        <a:rPr lang="fr-FR" sz="1600" baseline="0" dirty="0" smtClean="0">
                          <a:solidFill>
                            <a:schemeClr val="tx1"/>
                          </a:solidFill>
                        </a:rPr>
                        <a:t> </a:t>
                      </a:r>
                      <a:r>
                        <a:rPr lang="fr-FR" sz="1600" dirty="0" smtClean="0">
                          <a:solidFill>
                            <a:schemeClr val="tx1"/>
                          </a:solidFill>
                        </a:rPr>
                        <a:t>« t ».</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Faible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Faible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035040"/>
          <a:ext cx="10271869" cy="769716"/>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769716">
                <a:tc>
                  <a:txBody>
                    <a:bodyPr/>
                    <a:lstStyle/>
                    <a:p>
                      <a:r>
                        <a:rPr lang="fr-FR" sz="1400" b="0" dirty="0" smtClean="0">
                          <a:solidFill>
                            <a:srgbClr val="2F5597"/>
                          </a:solidFill>
                        </a:rPr>
                        <a:t>Source : RGESN version 2022 et 2024</a:t>
                      </a:r>
                    </a:p>
                    <a:p>
                      <a:r>
                        <a:rPr lang="fr-FR" sz="1400" b="0" dirty="0" smtClean="0">
                          <a:solidFill>
                            <a:srgbClr val="2F5597"/>
                          </a:solidFill>
                        </a:rPr>
                        <a:t>6.7 Le service numérique héberge-t-il toutes les ressources statiques</a:t>
                      </a:r>
                      <a:r>
                        <a:rPr lang="fr-FR" sz="1400" b="0" baseline="0" dirty="0" smtClean="0">
                          <a:solidFill>
                            <a:srgbClr val="2F5597"/>
                          </a:solidFill>
                        </a:rPr>
                        <a:t> </a:t>
                      </a:r>
                      <a:r>
                        <a:rPr lang="fr-FR" sz="1400" b="0" dirty="0" smtClean="0">
                          <a:solidFill>
                            <a:srgbClr val="2F5597"/>
                          </a:solidFill>
                        </a:rPr>
                        <a:t>transférées dont il est l’émetteur sur un même domaine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8910410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4097111697"/>
              </p:ext>
            </p:extLst>
          </p:nvPr>
        </p:nvGraphicFramePr>
        <p:xfrm>
          <a:off x="0" y="1112520"/>
          <a:ext cx="12192000" cy="502570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28/Eviter de dupliquer/répliquer toutes les données</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400" dirty="0" smtClean="0">
                          <a:solidFill>
                            <a:schemeClr val="tx1"/>
                          </a:solidFill>
                        </a:rPr>
                        <a:t>Se questionner sur la pertinence de la redondance du service, pour en établir le bon dosage. </a:t>
                      </a:r>
                    </a:p>
                    <a:p>
                      <a:pPr marL="0" indent="0">
                        <a:buFont typeface="Arial" panose="020B0604020202020204" pitchFamily="34" charset="0"/>
                        <a:buNone/>
                      </a:pPr>
                      <a:endParaRPr lang="fr-FR" sz="1400" dirty="0" smtClean="0">
                        <a:solidFill>
                          <a:schemeClr val="tx1"/>
                        </a:solidFill>
                      </a:endParaRPr>
                    </a:p>
                    <a:p>
                      <a:pPr marL="0" indent="0">
                        <a:buFont typeface="Arial" panose="020B0604020202020204" pitchFamily="34" charset="0"/>
                        <a:buNone/>
                      </a:pPr>
                      <a:r>
                        <a:rPr lang="fr-FR" sz="1400" dirty="0" smtClean="0">
                          <a:solidFill>
                            <a:schemeClr val="tx1"/>
                          </a:solidFill>
                        </a:rPr>
                        <a:t>• Le Backup &amp; Restore est ce qu’il y a de moins cher, parfaitement adapté aux applications qui ont un</a:t>
                      </a:r>
                      <a:r>
                        <a:rPr lang="fr-FR" sz="1400" baseline="0" dirty="0" smtClean="0">
                          <a:solidFill>
                            <a:schemeClr val="tx1"/>
                          </a:solidFill>
                        </a:rPr>
                        <a:t> </a:t>
                      </a:r>
                      <a:r>
                        <a:rPr lang="fr-FR" sz="1400" dirty="0" smtClean="0">
                          <a:solidFill>
                            <a:schemeClr val="tx1"/>
                          </a:solidFill>
                        </a:rPr>
                        <a:t>RTO (</a:t>
                      </a:r>
                      <a:r>
                        <a:rPr lang="fr-FR" sz="1400" dirty="0" err="1" smtClean="0">
                          <a:solidFill>
                            <a:schemeClr val="tx1"/>
                          </a:solidFill>
                        </a:rPr>
                        <a:t>Recovery</a:t>
                      </a:r>
                      <a:r>
                        <a:rPr lang="fr-FR" sz="1400" dirty="0" smtClean="0">
                          <a:solidFill>
                            <a:schemeClr val="tx1"/>
                          </a:solidFill>
                        </a:rPr>
                        <a:t> Time Objective) ou RPO (</a:t>
                      </a:r>
                      <a:r>
                        <a:rPr lang="fr-FR" sz="1400" dirty="0" err="1" smtClean="0">
                          <a:solidFill>
                            <a:schemeClr val="tx1"/>
                          </a:solidFill>
                        </a:rPr>
                        <a:t>Recovery</a:t>
                      </a:r>
                      <a:r>
                        <a:rPr lang="fr-FR" sz="1400" dirty="0" smtClean="0">
                          <a:solidFill>
                            <a:schemeClr val="tx1"/>
                          </a:solidFill>
                        </a:rPr>
                        <a:t> Point Objective) de quelques heures.</a:t>
                      </a:r>
                    </a:p>
                    <a:p>
                      <a:pPr marL="0" indent="0">
                        <a:buFont typeface="Arial" panose="020B0604020202020204" pitchFamily="34" charset="0"/>
                        <a:buNone/>
                      </a:pPr>
                      <a:r>
                        <a:rPr lang="fr-FR" sz="1400" dirty="0" smtClean="0">
                          <a:solidFill>
                            <a:schemeClr val="tx1"/>
                          </a:solidFill>
                        </a:rPr>
                        <a:t>• Le Pilot Light, à savoir par exemple une base de données « </a:t>
                      </a:r>
                      <a:r>
                        <a:rPr lang="fr-FR" sz="1400" dirty="0" err="1" smtClean="0">
                          <a:solidFill>
                            <a:schemeClr val="tx1"/>
                          </a:solidFill>
                        </a:rPr>
                        <a:t>mirrorée</a:t>
                      </a:r>
                      <a:r>
                        <a:rPr lang="fr-FR" sz="1400" baseline="0" dirty="0" smtClean="0">
                          <a:solidFill>
                            <a:schemeClr val="tx1"/>
                          </a:solidFill>
                        </a:rPr>
                        <a:t> </a:t>
                      </a:r>
                      <a:r>
                        <a:rPr lang="fr-FR" sz="1400" dirty="0" smtClean="0">
                          <a:solidFill>
                            <a:schemeClr val="tx1"/>
                          </a:solidFill>
                        </a:rPr>
                        <a:t>»/dupliquée mais avec des</a:t>
                      </a:r>
                      <a:r>
                        <a:rPr lang="fr-FR" sz="1400" baseline="0" dirty="0" smtClean="0">
                          <a:solidFill>
                            <a:schemeClr val="tx1"/>
                          </a:solidFill>
                        </a:rPr>
                        <a:t> </a:t>
                      </a:r>
                      <a:r>
                        <a:rPr lang="fr-FR" sz="1400" dirty="0" smtClean="0">
                          <a:solidFill>
                            <a:schemeClr val="tx1"/>
                          </a:solidFill>
                        </a:rPr>
                        <a:t>machines virtuelles éteintes. Procédé un peu plus cher qu’un Backup &amp; Restore, il fonctionne pour la</a:t>
                      </a:r>
                      <a:r>
                        <a:rPr lang="fr-FR" sz="1400" baseline="0" dirty="0" smtClean="0">
                          <a:solidFill>
                            <a:schemeClr val="tx1"/>
                          </a:solidFill>
                        </a:rPr>
                        <a:t> </a:t>
                      </a:r>
                      <a:r>
                        <a:rPr lang="fr-FR" sz="1400" dirty="0" smtClean="0">
                          <a:solidFill>
                            <a:schemeClr val="tx1"/>
                          </a:solidFill>
                        </a:rPr>
                        <a:t>plupart des applications qui n’ont pas d’exigences SLA (Service </a:t>
                      </a:r>
                      <a:r>
                        <a:rPr lang="fr-FR" sz="1400" dirty="0" err="1" smtClean="0">
                          <a:solidFill>
                            <a:schemeClr val="tx1"/>
                          </a:solidFill>
                        </a:rPr>
                        <a:t>Level</a:t>
                      </a:r>
                      <a:r>
                        <a:rPr lang="fr-FR" sz="1400" dirty="0" smtClean="0">
                          <a:solidFill>
                            <a:schemeClr val="tx1"/>
                          </a:solidFill>
                        </a:rPr>
                        <a:t> Agreement) extrêmes</a:t>
                      </a:r>
                      <a:r>
                        <a:rPr lang="fr-FR" sz="1400" baseline="0" dirty="0" smtClean="0">
                          <a:solidFill>
                            <a:schemeClr val="tx1"/>
                          </a:solidFill>
                        </a:rPr>
                        <a:t> </a:t>
                      </a:r>
                      <a:r>
                        <a:rPr lang="fr-FR" sz="1400" dirty="0" smtClean="0">
                          <a:solidFill>
                            <a:schemeClr val="tx1"/>
                          </a:solidFill>
                        </a:rPr>
                        <a:t>(inférieures à 1 heure).</a:t>
                      </a:r>
                    </a:p>
                    <a:p>
                      <a:pPr marL="0" indent="0">
                        <a:buFont typeface="Arial" panose="020B0604020202020204" pitchFamily="34" charset="0"/>
                        <a:buNone/>
                      </a:pPr>
                      <a:r>
                        <a:rPr lang="fr-FR" sz="1400" dirty="0" smtClean="0">
                          <a:solidFill>
                            <a:schemeClr val="tx1"/>
                          </a:solidFill>
                        </a:rPr>
                        <a:t>• Le Warm Standby, lorsque les </a:t>
                      </a:r>
                      <a:r>
                        <a:rPr lang="fr-FR" sz="1400" dirty="0" err="1" smtClean="0">
                          <a:solidFill>
                            <a:schemeClr val="tx1"/>
                          </a:solidFill>
                        </a:rPr>
                        <a:t>VMs</a:t>
                      </a:r>
                      <a:r>
                        <a:rPr lang="fr-FR" sz="1400" dirty="0" smtClean="0">
                          <a:solidFill>
                            <a:schemeClr val="tx1"/>
                          </a:solidFill>
                        </a:rPr>
                        <a:t> tournent déjà mais dans une </a:t>
                      </a:r>
                      <a:r>
                        <a:rPr lang="fr-FR" sz="1400" dirty="0" err="1" smtClean="0">
                          <a:solidFill>
                            <a:schemeClr val="tx1"/>
                          </a:solidFill>
                        </a:rPr>
                        <a:t>scalabilité</a:t>
                      </a:r>
                      <a:r>
                        <a:rPr lang="fr-FR" sz="1400" dirty="0" smtClean="0">
                          <a:solidFill>
                            <a:schemeClr val="tx1"/>
                          </a:solidFill>
                        </a:rPr>
                        <a:t> limitée, presque en temps</a:t>
                      </a:r>
                      <a:r>
                        <a:rPr lang="fr-FR" sz="1400" baseline="0" dirty="0" smtClean="0">
                          <a:solidFill>
                            <a:schemeClr val="tx1"/>
                          </a:solidFill>
                        </a:rPr>
                        <a:t> </a:t>
                      </a:r>
                      <a:r>
                        <a:rPr lang="fr-FR" sz="1400" dirty="0" smtClean="0">
                          <a:solidFill>
                            <a:schemeClr val="tx1"/>
                          </a:solidFill>
                        </a:rPr>
                        <a:t>réel mais potentiellement en qualité légèrement dégradée s’il y a un incident.</a:t>
                      </a:r>
                    </a:p>
                    <a:p>
                      <a:pPr marL="0" indent="0">
                        <a:buFont typeface="Arial" panose="020B0604020202020204" pitchFamily="34" charset="0"/>
                        <a:buNone/>
                      </a:pPr>
                      <a:r>
                        <a:rPr lang="fr-FR" sz="1400" dirty="0" smtClean="0">
                          <a:solidFill>
                            <a:schemeClr val="tx1"/>
                          </a:solidFill>
                        </a:rPr>
                        <a:t>• Le Hot Standby </a:t>
                      </a:r>
                      <a:r>
                        <a:rPr lang="fr-FR" sz="1400" dirty="0" err="1" smtClean="0">
                          <a:solidFill>
                            <a:schemeClr val="tx1"/>
                          </a:solidFill>
                        </a:rPr>
                        <a:t>multisite</a:t>
                      </a:r>
                      <a:r>
                        <a:rPr lang="fr-FR" sz="1400" dirty="0" smtClean="0">
                          <a:solidFill>
                            <a:schemeClr val="tx1"/>
                          </a:solidFill>
                        </a:rPr>
                        <a:t> : résilience totale pour des </a:t>
                      </a:r>
                      <a:r>
                        <a:rPr lang="fr-FR" sz="1400" dirty="0" err="1" smtClean="0">
                          <a:solidFill>
                            <a:schemeClr val="tx1"/>
                          </a:solidFill>
                        </a:rPr>
                        <a:t>SLAs</a:t>
                      </a:r>
                      <a:r>
                        <a:rPr lang="fr-FR" sz="1400" dirty="0" smtClean="0">
                          <a:solidFill>
                            <a:schemeClr val="tx1"/>
                          </a:solidFill>
                        </a:rPr>
                        <a:t> (Service </a:t>
                      </a:r>
                      <a:r>
                        <a:rPr lang="fr-FR" sz="1400" dirty="0" err="1" smtClean="0">
                          <a:solidFill>
                            <a:schemeClr val="tx1"/>
                          </a:solidFill>
                        </a:rPr>
                        <a:t>Level</a:t>
                      </a:r>
                      <a:r>
                        <a:rPr lang="fr-FR" sz="1400" dirty="0" smtClean="0">
                          <a:solidFill>
                            <a:schemeClr val="tx1"/>
                          </a:solidFill>
                        </a:rPr>
                        <a:t> </a:t>
                      </a:r>
                      <a:r>
                        <a:rPr lang="fr-FR" sz="1400" dirty="0" err="1" smtClean="0">
                          <a:solidFill>
                            <a:schemeClr val="tx1"/>
                          </a:solidFill>
                        </a:rPr>
                        <a:t>Agreements</a:t>
                      </a:r>
                      <a:r>
                        <a:rPr lang="fr-FR" sz="1400" dirty="0" smtClean="0">
                          <a:solidFill>
                            <a:schemeClr val="tx1"/>
                          </a:solidFill>
                        </a:rPr>
                        <a:t>) temps réel.</a:t>
                      </a:r>
                    </a:p>
                    <a:p>
                      <a:pPr marL="0" indent="0">
                        <a:buFont typeface="Arial" panose="020B0604020202020204" pitchFamily="34" charset="0"/>
                        <a:buNone/>
                      </a:pPr>
                      <a:endParaRPr lang="fr-FR" sz="1400" dirty="0" smtClean="0">
                        <a:solidFill>
                          <a:schemeClr val="tx1"/>
                        </a:solidFill>
                      </a:endParaRPr>
                    </a:p>
                    <a:p>
                      <a:pPr marL="0" indent="0">
                        <a:buFont typeface="Arial" panose="020B0604020202020204" pitchFamily="34" charset="0"/>
                        <a:buNone/>
                      </a:pPr>
                      <a:r>
                        <a:rPr lang="fr-FR" sz="1400" dirty="0" smtClean="0">
                          <a:solidFill>
                            <a:schemeClr val="tx1"/>
                          </a:solidFill>
                        </a:rPr>
                        <a:t>Aucune perte de service n’est tolérée, mais cela a nécessairement un coût.</a:t>
                      </a:r>
                      <a:endParaRPr lang="fr-FR" sz="1400" dirty="0">
                        <a:solidFill>
                          <a:schemeClr val="tx1"/>
                        </a:solidFill>
                      </a:endParaRPr>
                    </a:p>
                  </a:txBody>
                  <a:tcPr/>
                </a:tc>
                <a:tc>
                  <a:txBody>
                    <a:bodyPr/>
                    <a:lstStyle/>
                    <a:p>
                      <a:r>
                        <a:rPr lang="fr-FR" sz="1400" dirty="0" smtClean="0">
                          <a:solidFill>
                            <a:schemeClr val="tx1"/>
                          </a:solidFill>
                        </a:rPr>
                        <a:t>Pour valider ce critère, vérifier la présence d’un SLA (Service </a:t>
                      </a:r>
                      <a:r>
                        <a:rPr lang="fr-FR" sz="1400" dirty="0" err="1" smtClean="0">
                          <a:solidFill>
                            <a:schemeClr val="tx1"/>
                          </a:solidFill>
                        </a:rPr>
                        <a:t>Level</a:t>
                      </a:r>
                      <a:r>
                        <a:rPr lang="fr-FR" sz="1400" dirty="0" smtClean="0">
                          <a:solidFill>
                            <a:schemeClr val="tx1"/>
                          </a:solidFill>
                        </a:rPr>
                        <a:t> Agreement) ajusté selon les besoins.</a:t>
                      </a:r>
                      <a:endParaRPr lang="fr-FR" sz="14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2022 et 2024</a:t>
                      </a:r>
                    </a:p>
                    <a:p>
                      <a:r>
                        <a:rPr lang="fr-FR" sz="1400" b="0" dirty="0" smtClean="0">
                          <a:solidFill>
                            <a:srgbClr val="2F5597"/>
                          </a:solidFill>
                        </a:rPr>
                        <a:t>8.9 Le service numérique duplique-t-il les données uniquement</a:t>
                      </a:r>
                      <a:r>
                        <a:rPr lang="fr-FR" sz="1400" b="0" baseline="0" dirty="0" smtClean="0">
                          <a:solidFill>
                            <a:srgbClr val="2F5597"/>
                          </a:solidFill>
                        </a:rPr>
                        <a:t> </a:t>
                      </a:r>
                      <a:r>
                        <a:rPr lang="fr-FR" sz="1400" b="0" dirty="0" smtClean="0">
                          <a:solidFill>
                            <a:srgbClr val="2F5597"/>
                          </a:solidFill>
                        </a:rPr>
                        <a:t>lorsque cela est nécessaire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73117859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110785170"/>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29/Eviter la multiplication des machines virtuelles : privilégier la réutilisation de machines virtuelles existantes (mutualisation) et redonder de machine virtuelle seulement si l'application le nécessite</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smtClean="0">
                          <a:solidFill>
                            <a:schemeClr val="tx1"/>
                          </a:solidFill>
                        </a:rPr>
                        <a:t>Ajuster les ressources IT aux réels besoins tout au long du cycle projet/produit : </a:t>
                      </a:r>
                      <a:r>
                        <a:rPr lang="fr-FR" sz="1600" baseline="0" dirty="0" smtClean="0">
                          <a:solidFill>
                            <a:schemeClr val="tx1"/>
                          </a:solidFill>
                        </a:rPr>
                        <a:t> </a:t>
                      </a:r>
                      <a:r>
                        <a:rPr lang="fr-FR" sz="1600" dirty="0" smtClean="0">
                          <a:solidFill>
                            <a:schemeClr val="tx1"/>
                          </a:solidFill>
                        </a:rPr>
                        <a:t>pas trop en amont, pas de surdimensionnement initial, ressources adaptées aux environnements, identifier et traiter les surconsommations </a:t>
                      </a:r>
                      <a:endParaRPr lang="fr-FR" sz="1600" dirty="0">
                        <a:solidFill>
                          <a:schemeClr val="tx1"/>
                        </a:solidFill>
                      </a:endParaRPr>
                    </a:p>
                  </a:txBody>
                  <a:tcPr/>
                </a:tc>
                <a:tc>
                  <a:txBody>
                    <a:bodyPr/>
                    <a:lstStyle/>
                    <a:p>
                      <a:r>
                        <a:rPr lang="fr-FR" sz="1600" dirty="0" smtClean="0">
                          <a:solidFill>
                            <a:schemeClr val="tx1"/>
                          </a:solidFill>
                        </a:rPr>
                        <a:t>% d'augmentation du nombre de machine virtuel par an.</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Bonnes pratiques numérique responsable pour les organisations</a:t>
                      </a:r>
                    </a:p>
                    <a:p>
                      <a:r>
                        <a:rPr lang="fr-FR" sz="1400" b="0" dirty="0" smtClean="0">
                          <a:solidFill>
                            <a:srgbClr val="2F5597"/>
                          </a:solidFill>
                        </a:rPr>
                        <a:t>h.4 Regrouper et rationaliser les serveurs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231170516"/>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4183566217"/>
              </p:ext>
            </p:extLst>
          </p:nvPr>
        </p:nvGraphicFramePr>
        <p:xfrm>
          <a:off x="0" y="1112520"/>
          <a:ext cx="12192000" cy="4904123"/>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28832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30/Répliquer les </a:t>
                      </a:r>
                      <a:r>
                        <a:rPr lang="fr-FR" sz="1800" b="1" u="sng" kern="1200" dirty="0" err="1" smtClean="0">
                          <a:solidFill>
                            <a:schemeClr val="bg1"/>
                          </a:solidFill>
                          <a:latin typeface="+mn-lt"/>
                          <a:ea typeface="+mn-ea"/>
                          <a:cs typeface="+mn-cs"/>
                        </a:rPr>
                        <a:t>infrastrutures</a:t>
                      </a:r>
                      <a:r>
                        <a:rPr lang="fr-FR" sz="1800" b="1" u="sng" kern="1200" dirty="0" smtClean="0">
                          <a:solidFill>
                            <a:schemeClr val="bg1"/>
                          </a:solidFill>
                          <a:latin typeface="+mn-lt"/>
                          <a:ea typeface="+mn-ea"/>
                          <a:cs typeface="+mn-cs"/>
                        </a:rPr>
                        <a:t> d'hébergement de l'application sur plusieurs sites d'hébergement que si le niveau de </a:t>
                      </a:r>
                      <a:r>
                        <a:rPr lang="fr-FR" sz="1800" b="1" u="sng" kern="1200" dirty="0" err="1" smtClean="0">
                          <a:solidFill>
                            <a:schemeClr val="bg1"/>
                          </a:solidFill>
                          <a:latin typeface="+mn-lt"/>
                          <a:ea typeface="+mn-ea"/>
                          <a:cs typeface="+mn-cs"/>
                        </a:rPr>
                        <a:t>servide</a:t>
                      </a:r>
                      <a:r>
                        <a:rPr lang="fr-FR" sz="1800" b="1" u="sng" kern="1200" dirty="0" smtClean="0">
                          <a:solidFill>
                            <a:schemeClr val="bg1"/>
                          </a:solidFill>
                          <a:latin typeface="+mn-lt"/>
                          <a:ea typeface="+mn-ea"/>
                          <a:cs typeface="+mn-cs"/>
                        </a:rPr>
                        <a:t> attendu l'impose</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15799">
                <a:tc>
                  <a:txBody>
                    <a:bodyPr/>
                    <a:lstStyle/>
                    <a:p>
                      <a:pPr marL="0" indent="0">
                        <a:buFont typeface="Arial" panose="020B0604020202020204" pitchFamily="34" charset="0"/>
                        <a:buNone/>
                      </a:pPr>
                      <a:r>
                        <a:rPr lang="fr-FR" sz="1600" dirty="0" smtClean="0">
                          <a:solidFill>
                            <a:schemeClr val="tx1"/>
                          </a:solidFill>
                        </a:rPr>
                        <a:t>Exemple de mise en œuvre</a:t>
                      </a:r>
                      <a:endParaRPr lang="fr-FR" sz="1600" dirty="0">
                        <a:solidFill>
                          <a:schemeClr val="tx1"/>
                        </a:solidFill>
                      </a:endParaRPr>
                    </a:p>
                  </a:txBody>
                  <a:tcPr/>
                </a:tc>
                <a:tc>
                  <a:txBody>
                    <a:bodyPr/>
                    <a:lstStyle/>
                    <a:p>
                      <a:r>
                        <a:rPr lang="fr-FR" sz="1400" dirty="0" smtClean="0"/>
                        <a:t>Moyen de test ou de contrôle.</a:t>
                      </a:r>
                    </a:p>
                  </a:txBody>
                  <a:tcPr/>
                </a:tc>
                <a:extLst>
                  <a:ext uri="{0D108BD9-81ED-4DB2-BD59-A6C34878D82A}">
                    <a16:rowId xmlns:a16="http://schemas.microsoft.com/office/drawing/2014/main" val="3420094902"/>
                  </a:ext>
                </a:extLst>
              </a:tr>
            </a:tbl>
          </a:graphicData>
        </a:graphic>
      </p:graphicFrame>
      <p:graphicFrame>
        <p:nvGraphicFramePr>
          <p:cNvPr id="2" name="Tableau 1"/>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solidFill>
                      <a:srgbClr val="2F5597"/>
                    </a:solidFill>
                  </a:tcPr>
                </a:tc>
                <a:tc>
                  <a:txBody>
                    <a:bodyPr/>
                    <a:lstStyle/>
                    <a:p>
                      <a:pPr algn="ctr"/>
                      <a:endParaRPr lang="fr-FR"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solidFill>
                      <a:srgbClr val="2F5597"/>
                    </a:solidFill>
                  </a:tcPr>
                </a:tc>
                <a:tc>
                  <a:txBody>
                    <a:bodyPr/>
                    <a:lstStyle/>
                    <a:p>
                      <a:pPr algn="ctr"/>
                      <a:endParaRPr lang="fr-FR" b="1" dirty="0"/>
                    </a:p>
                  </a:txBody>
                  <a:tcP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6" name="Tableau 5"/>
          <p:cNvGraphicFramePr>
            <a:graphicFrameLocks noGrp="1"/>
          </p:cNvGraphicFramePr>
          <p:nvPr>
            <p:extLst/>
          </p:nvPr>
        </p:nvGraphicFramePr>
        <p:xfrm>
          <a:off x="-1" y="6016643"/>
          <a:ext cx="10271869" cy="84135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841357">
                <a:tc>
                  <a:txBody>
                    <a:bodyPr/>
                    <a:lstStyle/>
                    <a:p>
                      <a:r>
                        <a:rPr lang="fr-FR" sz="1600" b="0" dirty="0" smtClean="0">
                          <a:solidFill>
                            <a:srgbClr val="2F5597"/>
                          </a:solidFill>
                        </a:rPr>
                        <a:t>Référentiel</a:t>
                      </a:r>
                    </a:p>
                    <a:p>
                      <a:r>
                        <a:rPr lang="fr-FR" sz="1600" b="0" dirty="0" smtClean="0">
                          <a:solidFill>
                            <a:srgbClr val="2F5597"/>
                          </a:solidFill>
                        </a:rPr>
                        <a:t>Numéro du</a:t>
                      </a:r>
                      <a:r>
                        <a:rPr lang="fr-FR" sz="1600" b="0" baseline="0" dirty="0" smtClean="0">
                          <a:solidFill>
                            <a:srgbClr val="2F5597"/>
                          </a:solidFill>
                        </a:rPr>
                        <a:t> critère dans le référentiel</a:t>
                      </a:r>
                      <a:endParaRPr lang="fr-FR" sz="1600" b="0" dirty="0">
                        <a:solidFill>
                          <a:srgbClr val="2F5597"/>
                        </a:solidFill>
                      </a:endParaRP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586732746"/>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770679573"/>
              </p:ext>
            </p:extLst>
          </p:nvPr>
        </p:nvGraphicFramePr>
        <p:xfrm>
          <a:off x="0" y="1112520"/>
          <a:ext cx="12191999"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31/Privilégier la déduplication des données.</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smtClean="0">
                          <a:solidFill>
                            <a:schemeClr val="tx1"/>
                          </a:solidFill>
                        </a:rPr>
                        <a:t>Voici quelques exemples de solutions pour réduire le volume de</a:t>
                      </a:r>
                      <a:r>
                        <a:rPr lang="fr-FR" sz="1600" baseline="0" dirty="0" smtClean="0">
                          <a:solidFill>
                            <a:schemeClr val="tx1"/>
                          </a:solidFill>
                        </a:rPr>
                        <a:t> </a:t>
                      </a:r>
                      <a:r>
                        <a:rPr lang="fr-FR" sz="1600" dirty="0" smtClean="0">
                          <a:solidFill>
                            <a:schemeClr val="tx1"/>
                          </a:solidFill>
                        </a:rPr>
                        <a:t>données :</a:t>
                      </a:r>
                    </a:p>
                    <a:p>
                      <a:pPr marL="285750" indent="-285750">
                        <a:buFont typeface="Arial" panose="020B0604020202020204" pitchFamily="34" charset="0"/>
                        <a:buChar char="•"/>
                      </a:pPr>
                      <a:r>
                        <a:rPr lang="fr-FR" sz="1600" b="0" dirty="0" smtClean="0">
                          <a:solidFill>
                            <a:schemeClr val="tx1"/>
                          </a:solidFill>
                        </a:rPr>
                        <a:t>Configurer la déduplication sur les serveurs le supportant.</a:t>
                      </a:r>
                    </a:p>
                    <a:p>
                      <a:pPr marL="285750" indent="-285750">
                        <a:buFont typeface="Arial" panose="020B0604020202020204" pitchFamily="34" charset="0"/>
                        <a:buChar char="•"/>
                      </a:pPr>
                      <a:r>
                        <a:rPr lang="fr-FR" sz="1600" b="0" dirty="0" smtClean="0">
                          <a:solidFill>
                            <a:schemeClr val="tx1"/>
                          </a:solidFill>
                        </a:rPr>
                        <a:t>Configurer des stratégies de filtrage des fichiers déposés sur les serveurs. Par exemple, en interdisant le dépôt de fichiers vidéos ou musicaux si ces fichiers ne sont pas pertinents.</a:t>
                      </a:r>
                    </a:p>
                    <a:p>
                      <a:pPr marL="285750" indent="-285750">
                        <a:buFont typeface="Arial" panose="020B0604020202020204" pitchFamily="34" charset="0"/>
                        <a:buChar char="•"/>
                      </a:pPr>
                      <a:r>
                        <a:rPr lang="fr-FR" sz="1600" b="0" dirty="0" smtClean="0">
                          <a:solidFill>
                            <a:schemeClr val="tx1"/>
                          </a:solidFill>
                        </a:rPr>
                        <a:t>Compresser les données quand cela est possible</a:t>
                      </a:r>
                      <a:endParaRPr lang="fr-FR" sz="1600" b="0" dirty="0">
                        <a:solidFill>
                          <a:schemeClr val="tx1"/>
                        </a:solidFill>
                      </a:endParaRPr>
                    </a:p>
                  </a:txBody>
                  <a:tcPr/>
                </a:tc>
                <a:tc>
                  <a:txBody>
                    <a:bodyPr/>
                    <a:lstStyle/>
                    <a:p>
                      <a:pPr marL="285750" indent="-285750">
                        <a:buFont typeface="Arial" panose="020B0604020202020204" pitchFamily="34" charset="0"/>
                        <a:buChar char="•"/>
                      </a:pPr>
                      <a:r>
                        <a:rPr lang="fr-FR" sz="1600" dirty="0" smtClean="0">
                          <a:solidFill>
                            <a:schemeClr val="tx1"/>
                          </a:solidFill>
                        </a:rPr>
                        <a:t>Volume total</a:t>
                      </a:r>
                      <a:r>
                        <a:rPr lang="fr-FR" sz="1600" baseline="0" dirty="0" smtClean="0">
                          <a:solidFill>
                            <a:schemeClr val="tx1"/>
                          </a:solidFill>
                        </a:rPr>
                        <a:t> </a:t>
                      </a:r>
                      <a:r>
                        <a:rPr lang="fr-FR" sz="1600" dirty="0" smtClean="0">
                          <a:solidFill>
                            <a:schemeClr val="tx1"/>
                          </a:solidFill>
                        </a:rPr>
                        <a:t>de données</a:t>
                      </a:r>
                      <a:r>
                        <a:rPr lang="fr-FR" sz="1600" baseline="0" dirty="0" smtClean="0">
                          <a:solidFill>
                            <a:schemeClr val="tx1"/>
                          </a:solidFill>
                        </a:rPr>
                        <a:t> </a:t>
                      </a:r>
                      <a:r>
                        <a:rPr lang="fr-FR" sz="1600" dirty="0" smtClean="0">
                          <a:solidFill>
                            <a:schemeClr val="tx1"/>
                          </a:solidFill>
                        </a:rPr>
                        <a:t>stockées (en To)</a:t>
                      </a:r>
                    </a:p>
                    <a:p>
                      <a:pPr marL="285750" indent="-285750">
                        <a:buFont typeface="Arial" panose="020B0604020202020204" pitchFamily="34" charset="0"/>
                        <a:buChar char="•"/>
                      </a:pPr>
                      <a:r>
                        <a:rPr lang="fr-FR" sz="1600" dirty="0" smtClean="0">
                          <a:solidFill>
                            <a:schemeClr val="tx1"/>
                          </a:solidFill>
                        </a:rPr>
                        <a:t>Volume total</a:t>
                      </a:r>
                      <a:r>
                        <a:rPr lang="fr-FR" sz="1600" baseline="0" dirty="0" smtClean="0">
                          <a:solidFill>
                            <a:schemeClr val="tx1"/>
                          </a:solidFill>
                        </a:rPr>
                        <a:t> </a:t>
                      </a:r>
                      <a:r>
                        <a:rPr lang="fr-FR" sz="1600" dirty="0" smtClean="0">
                          <a:solidFill>
                            <a:schemeClr val="tx1"/>
                          </a:solidFill>
                        </a:rPr>
                        <a:t>de données</a:t>
                      </a:r>
                      <a:r>
                        <a:rPr lang="fr-FR" sz="1600" baseline="0" dirty="0" smtClean="0">
                          <a:solidFill>
                            <a:schemeClr val="tx1"/>
                          </a:solidFill>
                        </a:rPr>
                        <a:t> </a:t>
                      </a:r>
                      <a:r>
                        <a:rPr lang="fr-FR" sz="1600" dirty="0" smtClean="0">
                          <a:solidFill>
                            <a:schemeClr val="tx1"/>
                          </a:solidFill>
                        </a:rPr>
                        <a:t>par nombre</a:t>
                      </a:r>
                      <a:r>
                        <a:rPr lang="fr-FR" sz="1600" baseline="0" dirty="0" smtClean="0">
                          <a:solidFill>
                            <a:schemeClr val="tx1"/>
                          </a:solidFill>
                        </a:rPr>
                        <a:t> </a:t>
                      </a:r>
                      <a:r>
                        <a:rPr lang="fr-FR" sz="1600" dirty="0" smtClean="0">
                          <a:solidFill>
                            <a:schemeClr val="tx1"/>
                          </a:solidFill>
                        </a:rPr>
                        <a:t>d’utilisateurs</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Bonnes pratiques numérique responsable pour les organisations</a:t>
                      </a:r>
                    </a:p>
                    <a:p>
                      <a:r>
                        <a:rPr lang="fr-FR" sz="1400" b="0" dirty="0" smtClean="0">
                          <a:solidFill>
                            <a:srgbClr val="2F5597"/>
                          </a:solidFill>
                        </a:rPr>
                        <a:t>f.5 Réduire le volume de données stockées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284052546"/>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087115969"/>
              </p:ext>
            </p:extLst>
          </p:nvPr>
        </p:nvGraphicFramePr>
        <p:xfrm>
          <a:off x="0" y="1112520"/>
          <a:ext cx="12192000" cy="4975763"/>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19463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32/Choisir un format de données adapté</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781127">
                <a:tc>
                  <a:txBody>
                    <a:bodyPr/>
                    <a:lstStyle/>
                    <a:p>
                      <a:pPr marL="0" indent="0">
                        <a:buFont typeface="Arial" panose="020B0604020202020204" pitchFamily="34" charset="0"/>
                        <a:buNone/>
                      </a:pPr>
                      <a:r>
                        <a:rPr lang="fr-FR" sz="1600" dirty="0" smtClean="0">
                          <a:solidFill>
                            <a:schemeClr val="tx1"/>
                          </a:solidFill>
                        </a:rPr>
                        <a:t>Le type de données utilisé pour manipuler et stocker une donnée a un impact significatif sur la consommation mémoire et les cycles processeurs nécessaires lors des manipulations en base de données, au niveau du serveur d’applications et même dans le navigateur (manipulation via JavaScript), ainsi que sur l’espace de stockage nécessaire. Choisir un mauvais type de données entraîne :</a:t>
                      </a:r>
                    </a:p>
                    <a:p>
                      <a:pPr marL="285750" indent="-285750">
                        <a:buFont typeface="Arial" panose="020B0604020202020204" pitchFamily="34" charset="0"/>
                        <a:buChar char="•"/>
                      </a:pPr>
                      <a:r>
                        <a:rPr lang="fr-FR" sz="1600" dirty="0" smtClean="0">
                          <a:solidFill>
                            <a:schemeClr val="tx1"/>
                          </a:solidFill>
                        </a:rPr>
                        <a:t>un gaspillage de mémoire (par exemple, si vous stockez de toutes petites données dans une colonne prévue pour stocker de grosses quantités de données) ;</a:t>
                      </a:r>
                    </a:p>
                    <a:p>
                      <a:pPr marL="285750" indent="-285750">
                        <a:buFont typeface="Arial" panose="020B0604020202020204" pitchFamily="34" charset="0"/>
                        <a:buChar char="•"/>
                      </a:pPr>
                      <a:r>
                        <a:rPr lang="fr-FR" sz="1600" dirty="0" smtClean="0">
                          <a:solidFill>
                            <a:schemeClr val="tx1"/>
                          </a:solidFill>
                        </a:rPr>
                        <a:t>des problèmes de performance (il sera plus rapide de faire une recherche sur un nombre que sur une chaîne de caractères).</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Idéalement, les choix du type de données et de son dimensionnement doivent être fondés sur l’analyse d’un échantillon représentatif de données.</a:t>
                      </a:r>
                      <a:endParaRPr lang="fr-FR" sz="1600" dirty="0">
                        <a:solidFill>
                          <a:schemeClr val="tx1"/>
                        </a:solidFill>
                      </a:endParaRPr>
                    </a:p>
                  </a:txBody>
                  <a:tcPr/>
                </a:tc>
                <a:tc>
                  <a:txBody>
                    <a:bodyPr/>
                    <a:lstStyle/>
                    <a:p>
                      <a:r>
                        <a:rPr lang="fr-FR" sz="1600" dirty="0" smtClean="0">
                          <a:solidFill>
                            <a:schemeClr val="tx1"/>
                          </a:solidFill>
                        </a:rPr>
                        <a:t>Le nombre de champs de la base dont le format est inadapté </a:t>
                      </a:r>
                      <a:r>
                        <a:rPr lang="fr-FR" sz="1600" baseline="0" dirty="0" smtClean="0">
                          <a:solidFill>
                            <a:schemeClr val="tx1"/>
                          </a:solidFill>
                        </a:rPr>
                        <a:t>est inférieur ou égal à 15%.</a:t>
                      </a:r>
                    </a:p>
                    <a:p>
                      <a:endParaRPr lang="fr-FR" sz="2400" baseline="0" dirty="0" smtClean="0">
                        <a:solidFill>
                          <a:schemeClr val="tx1"/>
                        </a:solidFill>
                      </a:endParaRPr>
                    </a:p>
                    <a:p>
                      <a:r>
                        <a:rPr lang="fr-FR" sz="2400" dirty="0" smtClean="0">
                          <a:solidFill>
                            <a:schemeClr val="tx1"/>
                          </a:solidFill>
                        </a:rPr>
                        <a:t>	</a:t>
                      </a:r>
                      <a:endParaRPr lang="fr-FR" sz="24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2"/>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a:t>
                      </a:r>
                    </a:p>
                    <a:p>
                      <a:r>
                        <a:rPr lang="fr-FR" sz="1400" b="0" dirty="0" smtClean="0">
                          <a:solidFill>
                            <a:srgbClr val="2F5597"/>
                          </a:solidFill>
                        </a:rPr>
                        <a:t>Choisir un format de données adapté</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71009587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86826333"/>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33/Utiliser un serveur asynchrone.</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smtClean="0">
                          <a:solidFill>
                            <a:schemeClr val="tx1"/>
                          </a:solidFill>
                        </a:rPr>
                        <a:t>Les serveurs (web, d’applications, etc.) tels que NGINX, node.js ou </a:t>
                      </a:r>
                      <a:r>
                        <a:rPr lang="fr-FR" sz="1600" dirty="0" err="1" smtClean="0">
                          <a:solidFill>
                            <a:schemeClr val="tx1"/>
                          </a:solidFill>
                        </a:rPr>
                        <a:t>Gwan</a:t>
                      </a:r>
                      <a:r>
                        <a:rPr lang="fr-FR" sz="1600" dirty="0" smtClean="0">
                          <a:solidFill>
                            <a:schemeClr val="tx1"/>
                          </a:solidFill>
                        </a:rPr>
                        <a:t> sont conçus pour utiliser le minimum de ressources possible. Grâce à leur fonctionnement en mode asynchrone, ils ne sont pas tenus de créer un processus ou un thread pour chaque requête.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Ils évitent ainsi de gaspiller leurs ressources. Alors que la plupart des serveurs web augmentent leur consommation de mémoire vive au fur et à mesure des sollicitations, les serveurs asynchrones demeurent eux très stables.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Le nombre de serveurs applicatifs synchrones</a:t>
                      </a:r>
                      <a:r>
                        <a:rPr lang="fr-FR" sz="1600" baseline="0" dirty="0" smtClean="0">
                          <a:solidFill>
                            <a:schemeClr val="tx1"/>
                          </a:solidFill>
                        </a:rPr>
                        <a:t> </a:t>
                      </a:r>
                      <a:r>
                        <a:rPr lang="fr-FR" sz="1600" dirty="0" smtClean="0">
                          <a:solidFill>
                            <a:schemeClr val="tx1"/>
                          </a:solidFill>
                        </a:rPr>
                        <a:t>est inférieur ou égal à 1.</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a:t>
                      </a:r>
                    </a:p>
                    <a:p>
                      <a:r>
                        <a:rPr lang="fr-FR" sz="1400" b="0" dirty="0" smtClean="0">
                          <a:solidFill>
                            <a:srgbClr val="2F5597"/>
                          </a:solidFill>
                        </a:rPr>
                        <a:t>Utiliser un serveur asynchrone</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640191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408426325"/>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5">
                  <a:extLst>
                    <a:ext uri="{9D8B030D-6E8A-4147-A177-3AD203B41FA5}">
                      <a16:colId xmlns:a16="http://schemas.microsoft.com/office/drawing/2014/main" val="1470604376"/>
                    </a:ext>
                  </a:extLst>
                </a:gridCol>
                <a:gridCol w="6091335">
                  <a:extLst>
                    <a:ext uri="{9D8B030D-6E8A-4147-A177-3AD203B41FA5}">
                      <a16:colId xmlns:a16="http://schemas.microsoft.com/office/drawing/2014/main" val="588129664"/>
                    </a:ext>
                  </a:extLst>
                </a:gridCol>
              </a:tblGrid>
              <a:tr h="1059811">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34/Découper les CSS.</a:t>
                      </a:r>
                    </a:p>
                  </a:txBody>
                  <a:tcPr anchor="ctr">
                    <a:solidFill>
                      <a:srgbClr val="2F5597"/>
                    </a:solidFill>
                  </a:tcPr>
                </a:tc>
                <a:tc hMerge="1">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915953">
                <a:tc>
                  <a:txBody>
                    <a:bodyPr/>
                    <a:lstStyle/>
                    <a:p>
                      <a:pPr marL="0" indent="0">
                        <a:buFont typeface="Arial" panose="020B0604020202020204" pitchFamily="34" charset="0"/>
                        <a:buNone/>
                      </a:pPr>
                      <a:r>
                        <a:rPr lang="fr-FR" sz="1600" dirty="0" smtClean="0">
                          <a:solidFill>
                            <a:schemeClr val="tx1"/>
                          </a:solidFill>
                        </a:rPr>
                        <a:t>Employer un ensemble de CSS plutôt qu’une seule, et appeler uniquement les CSS utiles en fonction du contexte.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Cette méthode permet de limiter le poids de la page lors du premier téléchargement, donc d’économiser de la bande passante et de réduire la charge CPU.</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Le nombre de bibliothèques CSS est inférieur ou égal</a:t>
                      </a:r>
                      <a:r>
                        <a:rPr lang="fr-FR" sz="1600" baseline="0" dirty="0" smtClean="0">
                          <a:solidFill>
                            <a:schemeClr val="tx1"/>
                          </a:solidFill>
                        </a:rPr>
                        <a:t> </a:t>
                      </a:r>
                      <a:r>
                        <a:rPr lang="fr-FR" sz="1600" dirty="0" smtClean="0">
                          <a:solidFill>
                            <a:schemeClr val="tx1"/>
                          </a:solidFill>
                        </a:rPr>
                        <a:t>à 2.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Haute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49110"/>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a:t>
                      </a:r>
                    </a:p>
                    <a:p>
                      <a:r>
                        <a:rPr lang="fr-FR" sz="1400" b="0" dirty="0" smtClean="0">
                          <a:solidFill>
                            <a:srgbClr val="2F5597"/>
                          </a:solidFill>
                        </a:rPr>
                        <a:t>Découper les CSS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34696357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560342980"/>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35/Limiter le nombre de requêtes HTTP.</a:t>
                      </a:r>
                    </a:p>
                  </a:txBody>
                  <a:tcPr anchor="ctr">
                    <a:solidFill>
                      <a:srgbClr val="2F5597"/>
                    </a:solidFill>
                  </a:tcPr>
                </a:tc>
                <a:tc hMerge="1">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smtClean="0">
                          <a:solidFill>
                            <a:schemeClr val="tx1"/>
                          </a:solidFill>
                        </a:rPr>
                        <a:t>Diminuer le nombre de requêtes par page est crucial pour réduire le nombre de serveurs HTTP (voire des serveurs d'application et de base de données) nécessaires au fonctionnement du site, et donc les impacts environnementaux associés.</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Le nombre de requêtes HTTP</a:t>
                      </a:r>
                      <a:r>
                        <a:rPr lang="fr-FR" sz="1600" baseline="0" dirty="0" smtClean="0">
                          <a:solidFill>
                            <a:schemeClr val="tx1"/>
                          </a:solidFill>
                        </a:rPr>
                        <a:t> </a:t>
                      </a:r>
                      <a:r>
                        <a:rPr lang="fr-FR" sz="1600" dirty="0" smtClean="0">
                          <a:solidFill>
                            <a:schemeClr val="tx1"/>
                          </a:solidFill>
                        </a:rPr>
                        <a:t>est inférieur ou égal à 40.</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 </a:t>
                      </a:r>
                    </a:p>
                    <a:p>
                      <a:r>
                        <a:rPr lang="fr-FR" sz="1400" b="0" dirty="0" smtClean="0">
                          <a:solidFill>
                            <a:srgbClr val="2F5597"/>
                          </a:solidFill>
                        </a:rPr>
                        <a:t>Limiter le nombre de requêtes HTTP</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49827907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03284730"/>
              </p:ext>
            </p:extLst>
          </p:nvPr>
        </p:nvGraphicFramePr>
        <p:xfrm>
          <a:off x="0" y="1112520"/>
          <a:ext cx="12191999"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2">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36/Stocker les données statiques localement.</a:t>
                      </a:r>
                    </a:p>
                  </a:txBody>
                  <a:tcPr anchor="ctr">
                    <a:solidFill>
                      <a:srgbClr val="2F5597"/>
                    </a:solidFill>
                  </a:tcPr>
                </a:tc>
                <a:tc hMerge="1">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smtClean="0">
                          <a:solidFill>
                            <a:schemeClr val="tx1"/>
                          </a:solidFill>
                        </a:rPr>
                        <a:t>Avec le support désormais généralisé sur tous les navigateurs des bases de données clé-valeur (</a:t>
                      </a:r>
                      <a:r>
                        <a:rPr lang="fr-FR" sz="1600" dirty="0" err="1" smtClean="0">
                          <a:solidFill>
                            <a:schemeClr val="tx1"/>
                          </a:solidFill>
                        </a:rPr>
                        <a:t>IndexDB</a:t>
                      </a:r>
                      <a:r>
                        <a:rPr lang="fr-FR" sz="1600" dirty="0" smtClean="0">
                          <a:solidFill>
                            <a:schemeClr val="tx1"/>
                          </a:solidFill>
                        </a:rPr>
                        <a:t>, Web Storage), et de la mise en cache dans le Cache Storage API, il est possible de stocker localement des données structurées statiques.</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Le nombre de données statiques non stockées localement est inférieur ou égal à 25%.</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14036" y="0"/>
          <a:ext cx="6077964" cy="1112520"/>
        </p:xfrm>
        <a:graphic>
          <a:graphicData uri="http://schemas.openxmlformats.org/drawingml/2006/table">
            <a:tbl>
              <a:tblPr firstRow="1" bandRow="1">
                <a:tableStyleId>{5C22544A-7EE6-4342-B048-85BDC9FD1C3A}</a:tableStyleId>
              </a:tblPr>
              <a:tblGrid>
                <a:gridCol w="3038982">
                  <a:extLst>
                    <a:ext uri="{9D8B030D-6E8A-4147-A177-3AD203B41FA5}">
                      <a16:colId xmlns:a16="http://schemas.microsoft.com/office/drawing/2014/main" val="2625270736"/>
                    </a:ext>
                  </a:extLst>
                </a:gridCol>
                <a:gridCol w="3038982">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 </a:t>
                      </a:r>
                    </a:p>
                    <a:p>
                      <a:r>
                        <a:rPr lang="fr-FR" sz="1400" b="0" dirty="0" smtClean="0">
                          <a:solidFill>
                            <a:srgbClr val="2F5597"/>
                          </a:solidFill>
                        </a:rPr>
                        <a:t>Stocker les données statiques localement</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54343233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729011881"/>
              </p:ext>
            </p:extLst>
          </p:nvPr>
        </p:nvGraphicFramePr>
        <p:xfrm>
          <a:off x="0" y="1112520"/>
          <a:ext cx="12191999"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37/Mettre les caches entièrement en RAM (</a:t>
                      </a:r>
                      <a:r>
                        <a:rPr lang="fr-FR" sz="1800" b="1" u="sng" kern="1200" dirty="0" err="1" smtClean="0">
                          <a:solidFill>
                            <a:schemeClr val="bg1"/>
                          </a:solidFill>
                          <a:latin typeface="+mn-lt"/>
                          <a:ea typeface="+mn-ea"/>
                          <a:cs typeface="+mn-cs"/>
                        </a:rPr>
                        <a:t>opcode</a:t>
                      </a:r>
                      <a:r>
                        <a:rPr lang="fr-FR" sz="1800" b="1" u="sng" kern="1200" dirty="0" smtClean="0">
                          <a:solidFill>
                            <a:schemeClr val="bg1"/>
                          </a:solidFill>
                          <a:latin typeface="+mn-lt"/>
                          <a:ea typeface="+mn-ea"/>
                          <a:cs typeface="+mn-cs"/>
                        </a:rPr>
                        <a:t> et </a:t>
                      </a:r>
                      <a:r>
                        <a:rPr lang="fr-FR" sz="1800" b="1" u="sng" kern="1200" dirty="0" err="1" smtClean="0">
                          <a:solidFill>
                            <a:schemeClr val="bg1"/>
                          </a:solidFill>
                          <a:latin typeface="+mn-lt"/>
                          <a:ea typeface="+mn-ea"/>
                          <a:cs typeface="+mn-cs"/>
                        </a:rPr>
                        <a:t>kvs</a:t>
                      </a:r>
                      <a:r>
                        <a:rPr lang="fr-FR" sz="1800" b="1" u="sng" kern="1200" dirty="0" smtClean="0">
                          <a:solidFill>
                            <a:schemeClr val="bg1"/>
                          </a:solidFill>
                          <a:latin typeface="+mn-lt"/>
                          <a:ea typeface="+mn-ea"/>
                          <a:cs typeface="+mn-cs"/>
                        </a:rPr>
                        <a:t>).</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400" dirty="0" smtClean="0">
                          <a:solidFill>
                            <a:schemeClr val="tx1"/>
                          </a:solidFill>
                        </a:rPr>
                        <a:t>Les systèmes de cache doivent être, autant que possible, montés entièrement en mémoire vive (RAM). Cette mesure permet d’éviter des entrées/sorties sur les disques durs, ainsi que des cycles CPU pour les gérer. </a:t>
                      </a:r>
                    </a:p>
                    <a:p>
                      <a:pPr marL="0" indent="0">
                        <a:buFont typeface="Arial" panose="020B0604020202020204" pitchFamily="34" charset="0"/>
                        <a:buNone/>
                      </a:pPr>
                      <a:endParaRPr lang="fr-FR" sz="1400" dirty="0" smtClean="0">
                        <a:solidFill>
                          <a:schemeClr val="tx1"/>
                        </a:solidFill>
                      </a:endParaRPr>
                    </a:p>
                    <a:p>
                      <a:pPr marL="0" indent="0">
                        <a:buFont typeface="Arial" panose="020B0604020202020204" pitchFamily="34" charset="0"/>
                        <a:buNone/>
                      </a:pPr>
                      <a:r>
                        <a:rPr lang="fr-FR" sz="1400" dirty="0" smtClean="0">
                          <a:solidFill>
                            <a:schemeClr val="tx1"/>
                          </a:solidFill>
                        </a:rPr>
                        <a:t>L’objectif est double : servir rapidement une réponse au client, et limiter le nombre de composants matériels (et logiciels) impliqués dans la réponse retournée par le serveur. </a:t>
                      </a:r>
                    </a:p>
                    <a:p>
                      <a:pPr marL="0" indent="0">
                        <a:buFont typeface="Arial" panose="020B0604020202020204" pitchFamily="34" charset="0"/>
                        <a:buNone/>
                      </a:pPr>
                      <a:endParaRPr lang="fr-FR" sz="1400" dirty="0" smtClean="0">
                        <a:solidFill>
                          <a:schemeClr val="tx1"/>
                        </a:solidFill>
                      </a:endParaRPr>
                    </a:p>
                    <a:p>
                      <a:pPr marL="0" indent="0">
                        <a:buFont typeface="Arial" panose="020B0604020202020204" pitchFamily="34" charset="0"/>
                        <a:buNone/>
                      </a:pPr>
                      <a:r>
                        <a:rPr lang="fr-FR" sz="1400" dirty="0" smtClean="0">
                          <a:solidFill>
                            <a:schemeClr val="tx1"/>
                          </a:solidFill>
                        </a:rPr>
                        <a:t>La mémoire vive étant très rapide en termes d’accès en lecture/écriture, la durée de consommation des ressources est particulièrement courte. </a:t>
                      </a:r>
                    </a:p>
                    <a:p>
                      <a:pPr marL="0" indent="0">
                        <a:buFont typeface="Arial" panose="020B0604020202020204" pitchFamily="34" charset="0"/>
                        <a:buNone/>
                      </a:pPr>
                      <a:endParaRPr lang="fr-FR" sz="1400" dirty="0" smtClean="0">
                        <a:solidFill>
                          <a:schemeClr val="tx1"/>
                        </a:solidFill>
                      </a:endParaRPr>
                    </a:p>
                    <a:p>
                      <a:pPr marL="0" indent="0">
                        <a:buFont typeface="Arial" panose="020B0604020202020204" pitchFamily="34" charset="0"/>
                        <a:buNone/>
                      </a:pPr>
                      <a:r>
                        <a:rPr lang="fr-FR" sz="1400" dirty="0" smtClean="0">
                          <a:solidFill>
                            <a:schemeClr val="tx1"/>
                          </a:solidFill>
                        </a:rPr>
                        <a:t>En outre, la durée de vie des composants est allongée avec cette bonne pratique, puisqu’il n’y pas de mouvement mécanique comme lors d’un recours au disque dur. </a:t>
                      </a:r>
                    </a:p>
                    <a:p>
                      <a:pPr marL="0" indent="0">
                        <a:buFont typeface="Arial" panose="020B0604020202020204" pitchFamily="34" charset="0"/>
                        <a:buNone/>
                      </a:pPr>
                      <a:endParaRPr lang="fr-FR" sz="1600" dirty="0">
                        <a:solidFill>
                          <a:schemeClr val="tx1"/>
                        </a:solidFill>
                      </a:endParaRPr>
                    </a:p>
                  </a:txBody>
                  <a:tcPr/>
                </a:tc>
                <a:tc>
                  <a:txBody>
                    <a:bodyPr/>
                    <a:lstStyle/>
                    <a:p>
                      <a:r>
                        <a:rPr lang="fr-FR" sz="1400" dirty="0" smtClean="0">
                          <a:solidFill>
                            <a:schemeClr val="tx1"/>
                          </a:solidFill>
                        </a:rPr>
                        <a:t>Le nombre de caches non mis en RAM</a:t>
                      </a:r>
                      <a:r>
                        <a:rPr lang="fr-FR" sz="1400" baseline="0" dirty="0" smtClean="0">
                          <a:solidFill>
                            <a:schemeClr val="tx1"/>
                          </a:solidFill>
                        </a:rPr>
                        <a:t> </a:t>
                      </a:r>
                      <a:r>
                        <a:rPr lang="fr-FR" sz="1400" dirty="0" smtClean="0">
                          <a:solidFill>
                            <a:schemeClr val="tx1"/>
                          </a:solidFill>
                        </a:rPr>
                        <a:t>est inférieur ou égal à 0.</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Faible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Faible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Source : Ecoconception web : les 115 bonnes pratiques </a:t>
                      </a:r>
                    </a:p>
                    <a:p>
                      <a:r>
                        <a:rPr lang="fr-FR" sz="1400" b="0" dirty="0" smtClean="0">
                          <a:solidFill>
                            <a:srgbClr val="2F5597"/>
                          </a:solidFill>
                        </a:rPr>
                        <a:t>Mettre les caches entièrement en RAM (</a:t>
                      </a:r>
                      <a:r>
                        <a:rPr lang="fr-FR" sz="1400" b="0" dirty="0" err="1" smtClean="0">
                          <a:solidFill>
                            <a:srgbClr val="2F5597"/>
                          </a:solidFill>
                        </a:rPr>
                        <a:t>opcode</a:t>
                      </a:r>
                      <a:r>
                        <a:rPr lang="fr-FR" sz="1400" b="0" dirty="0" smtClean="0">
                          <a:solidFill>
                            <a:srgbClr val="2F5597"/>
                          </a:solidFill>
                        </a:rPr>
                        <a:t> et </a:t>
                      </a:r>
                      <a:r>
                        <a:rPr lang="fr-FR" sz="1400" b="0" dirty="0" err="1" smtClean="0">
                          <a:solidFill>
                            <a:srgbClr val="2F5597"/>
                          </a:solidFill>
                        </a:rPr>
                        <a:t>kvs</a:t>
                      </a:r>
                      <a:r>
                        <a:rPr lang="fr-FR" sz="1400" b="0" dirty="0" smtClean="0">
                          <a:solidFill>
                            <a:srgbClr val="2F5597"/>
                          </a:solidFill>
                        </a:rPr>
                        <a:t>)</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92396373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735373393"/>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4">
                  <a:extLst>
                    <a:ext uri="{9D8B030D-6E8A-4147-A177-3AD203B41FA5}">
                      <a16:colId xmlns:a16="http://schemas.microsoft.com/office/drawing/2014/main" val="1470604376"/>
                    </a:ext>
                  </a:extLst>
                </a:gridCol>
                <a:gridCol w="6091336">
                  <a:extLst>
                    <a:ext uri="{9D8B030D-6E8A-4147-A177-3AD203B41FA5}">
                      <a16:colId xmlns:a16="http://schemas.microsoft.com/office/drawing/2014/main" val="588129664"/>
                    </a:ext>
                  </a:extLst>
                </a:gridCol>
              </a:tblGrid>
              <a:tr h="86650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38/Optimiser les requêtes aux bases de données</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109255">
                <a:tc>
                  <a:txBody>
                    <a:bodyPr/>
                    <a:lstStyle/>
                    <a:p>
                      <a:r>
                        <a:rPr lang="fr-FR" sz="1400" b="0" i="0" kern="1200" dirty="0" smtClean="0">
                          <a:solidFill>
                            <a:schemeClr val="dk1"/>
                          </a:solidFill>
                          <a:effectLst/>
                          <a:latin typeface="+mn-lt"/>
                          <a:ea typeface="+mn-ea"/>
                          <a:cs typeface="+mn-cs"/>
                        </a:rPr>
                        <a:t>Les pistes classiques d'optimisation sont :</a:t>
                      </a:r>
                    </a:p>
                    <a:p>
                      <a:endParaRPr lang="fr-FR" sz="1400" b="0" i="0" kern="1200" dirty="0" smtClean="0">
                        <a:solidFill>
                          <a:schemeClr val="dk1"/>
                        </a:solidFill>
                        <a:effectLst/>
                        <a:latin typeface="+mn-lt"/>
                        <a:ea typeface="+mn-ea"/>
                        <a:cs typeface="+mn-cs"/>
                      </a:endParaRPr>
                    </a:p>
                    <a:p>
                      <a:pPr marL="285750" indent="-285750">
                        <a:buFont typeface="Arial" panose="020B0604020202020204" pitchFamily="34" charset="0"/>
                        <a:buChar char="•"/>
                      </a:pPr>
                      <a:r>
                        <a:rPr lang="fr-FR" sz="1400" b="0" i="0" kern="1200" dirty="0" smtClean="0">
                          <a:solidFill>
                            <a:schemeClr val="dk1"/>
                          </a:solidFill>
                          <a:effectLst/>
                          <a:latin typeface="+mn-lt"/>
                          <a:ea typeface="+mn-ea"/>
                          <a:cs typeface="+mn-cs"/>
                        </a:rPr>
                        <a:t>Ramener moins de données et se limiter au nécessaire. Par exemple, pour les bases relationnelles, la clause LIMIT limite le nombre de lignes du résultat. </a:t>
                      </a:r>
                    </a:p>
                    <a:p>
                      <a:pPr marL="285750" indent="-285750">
                        <a:buFont typeface="Arial" panose="020B0604020202020204" pitchFamily="34" charset="0"/>
                        <a:buChar char="•"/>
                      </a:pPr>
                      <a:r>
                        <a:rPr lang="fr-FR" sz="1400" b="0" i="0" kern="1200" dirty="0" smtClean="0">
                          <a:solidFill>
                            <a:schemeClr val="dk1"/>
                          </a:solidFill>
                          <a:effectLst/>
                          <a:latin typeface="+mn-lt"/>
                          <a:ea typeface="+mn-ea"/>
                          <a:cs typeface="+mn-cs"/>
                        </a:rPr>
                        <a:t>N'utiliser que les champs qui sont nécessaires dans les tables ou documents utilisés. </a:t>
                      </a:r>
                    </a:p>
                    <a:p>
                      <a:pPr marL="285750" indent="-285750">
                        <a:buFont typeface="Arial" panose="020B0604020202020204" pitchFamily="34" charset="0"/>
                        <a:buChar char="•"/>
                      </a:pPr>
                      <a:r>
                        <a:rPr lang="fr-FR" sz="1400" b="0" i="0" kern="1200" dirty="0" smtClean="0">
                          <a:solidFill>
                            <a:schemeClr val="dk1"/>
                          </a:solidFill>
                          <a:effectLst/>
                          <a:latin typeface="+mn-lt"/>
                          <a:ea typeface="+mn-ea"/>
                          <a:cs typeface="+mn-cs"/>
                        </a:rPr>
                        <a:t>Ajouter des index sur les champs utilisés comme clefs. </a:t>
                      </a:r>
                    </a:p>
                    <a:p>
                      <a:pPr marL="285750" indent="-285750">
                        <a:buFont typeface="Arial" panose="020B0604020202020204" pitchFamily="34" charset="0"/>
                        <a:buChar char="•"/>
                      </a:pPr>
                      <a:r>
                        <a:rPr lang="fr-FR" sz="1400" b="0" i="0" kern="1200" dirty="0" smtClean="0">
                          <a:solidFill>
                            <a:schemeClr val="dk1"/>
                          </a:solidFill>
                          <a:effectLst/>
                          <a:latin typeface="+mn-lt"/>
                          <a:ea typeface="+mn-ea"/>
                          <a:cs typeface="+mn-cs"/>
                        </a:rPr>
                        <a:t>Utiliser les outils du système de gestion de base de données permettant d'analyser les requêtes pour identifier les points d'amélioration, EXPLAIN par exemple pour un SGBDR.</a:t>
                      </a:r>
                    </a:p>
                    <a:p>
                      <a:pPr marL="285750" indent="-285750">
                        <a:buFont typeface="Arial" panose="020B0604020202020204" pitchFamily="34" charset="0"/>
                        <a:buChar char="•"/>
                      </a:pPr>
                      <a:r>
                        <a:rPr lang="fr-FR" sz="1400" b="0" i="0" kern="1200" dirty="0" smtClean="0">
                          <a:solidFill>
                            <a:schemeClr val="dk1"/>
                          </a:solidFill>
                          <a:effectLst/>
                          <a:latin typeface="+mn-lt"/>
                          <a:ea typeface="+mn-ea"/>
                          <a:cs typeface="+mn-cs"/>
                        </a:rPr>
                        <a:t>Conserver en cache le résultat des requêtes les plus couteuses, ainsi que les données qui changent peu ou jamais (données de référence).</a:t>
                      </a:r>
                    </a:p>
                    <a:p>
                      <a:pPr marL="285750" indent="-285750">
                        <a:buFont typeface="Arial" panose="020B0604020202020204" pitchFamily="34" charset="0"/>
                        <a:buChar char="•"/>
                      </a:pPr>
                      <a:r>
                        <a:rPr lang="fr-FR" sz="1400" b="0" i="0" kern="1200" dirty="0" smtClean="0">
                          <a:solidFill>
                            <a:schemeClr val="dk1"/>
                          </a:solidFill>
                          <a:effectLst/>
                          <a:latin typeface="+mn-lt"/>
                          <a:ea typeface="+mn-ea"/>
                          <a:cs typeface="+mn-cs"/>
                        </a:rPr>
                        <a:t>Éventuellement, modifier le modèle de données pour pouvoir accéder plus facilement aux informations sans jointures (</a:t>
                      </a:r>
                      <a:r>
                        <a:rPr lang="fr-FR" sz="1400" b="0" i="0" kern="1200" dirty="0" err="1" smtClean="0">
                          <a:solidFill>
                            <a:schemeClr val="dk1"/>
                          </a:solidFill>
                          <a:effectLst/>
                          <a:latin typeface="+mn-lt"/>
                          <a:ea typeface="+mn-ea"/>
                          <a:cs typeface="+mn-cs"/>
                        </a:rPr>
                        <a:t>dénormalisation</a:t>
                      </a:r>
                      <a:r>
                        <a:rPr lang="fr-FR" sz="1400" b="0" i="0" kern="1200" dirty="0" smtClean="0">
                          <a:solidFill>
                            <a:schemeClr val="dk1"/>
                          </a:solidFill>
                          <a:effectLst/>
                          <a:latin typeface="+mn-lt"/>
                          <a:ea typeface="+mn-ea"/>
                          <a:cs typeface="+mn-cs"/>
                        </a:rPr>
                        <a:t>)</a:t>
                      </a:r>
                    </a:p>
                    <a:p>
                      <a:pPr marL="0" indent="0">
                        <a:buFont typeface="Arial" panose="020B0604020202020204" pitchFamily="34" charset="0"/>
                        <a:buNone/>
                      </a:pPr>
                      <a:endParaRPr lang="fr-FR" sz="1600" dirty="0">
                        <a:solidFill>
                          <a:schemeClr val="tx1"/>
                        </a:solidFill>
                      </a:endParaRPr>
                    </a:p>
                  </a:txBody>
                  <a:tcPr/>
                </a:tc>
                <a:tc>
                  <a:txBody>
                    <a:bodyPr/>
                    <a:lstStyle/>
                    <a:p>
                      <a:r>
                        <a:rPr lang="fr-FR" sz="1400" dirty="0" smtClean="0">
                          <a:solidFill>
                            <a:schemeClr val="tx1"/>
                          </a:solidFill>
                        </a:rPr>
                        <a:t>Le nombre de requêtes peu performantes identifiées non optimisées est inférieur ou égal à</a:t>
                      </a:r>
                      <a:r>
                        <a:rPr lang="fr-FR" sz="1400" baseline="0" dirty="0" smtClean="0">
                          <a:solidFill>
                            <a:schemeClr val="tx1"/>
                          </a:solidFill>
                        </a:rPr>
                        <a:t> 0.</a:t>
                      </a:r>
                      <a:r>
                        <a:rPr lang="fr-FR" sz="1600" dirty="0" smtClean="0">
                          <a:solidFill>
                            <a:schemeClr val="tx1"/>
                          </a:solidFill>
                        </a:rPr>
                        <a:t>		</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 </a:t>
                      </a:r>
                    </a:p>
                    <a:p>
                      <a:r>
                        <a:rPr lang="fr-FR" sz="1400" b="0" dirty="0" smtClean="0">
                          <a:solidFill>
                            <a:srgbClr val="2F5597"/>
                          </a:solidFill>
                        </a:rPr>
                        <a:t>Optimiser les requêtes aux bases de données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899743002"/>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218574949"/>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7410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39/Lecture des animations,</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vidéos et sons automatique désactivée.</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01658">
                <a:tc>
                  <a:txBody>
                    <a:bodyPr/>
                    <a:lstStyle/>
                    <a:p>
                      <a:pPr marL="0" indent="0">
                        <a:buFont typeface="Arial" panose="020B0604020202020204" pitchFamily="34" charset="0"/>
                        <a:buNone/>
                      </a:pPr>
                      <a:r>
                        <a:rPr lang="fr-FR" sz="1600" dirty="0" smtClean="0">
                          <a:solidFill>
                            <a:schemeClr val="tx1"/>
                          </a:solidFill>
                        </a:rPr>
                        <a:t>Désactiver par défaut le chargement et la lecture automatiques de contenus vidéo et/ou sonores dans les</a:t>
                      </a:r>
                      <a:r>
                        <a:rPr lang="fr-FR" sz="1600" baseline="0" dirty="0" smtClean="0">
                          <a:solidFill>
                            <a:schemeClr val="tx1"/>
                          </a:solidFill>
                        </a:rPr>
                        <a:t> </a:t>
                      </a:r>
                      <a:r>
                        <a:rPr lang="fr-FR" sz="1600" dirty="0" smtClean="0">
                          <a:solidFill>
                            <a:schemeClr val="tx1"/>
                          </a:solidFill>
                        </a:rPr>
                        <a:t>paramètres du service. Si ce n’est pas possible, permettre à l’utilisateur de supprimer ces fonctionnalités avec</a:t>
                      </a:r>
                      <a:r>
                        <a:rPr lang="fr-FR" sz="1600" baseline="0" dirty="0" smtClean="0">
                          <a:solidFill>
                            <a:schemeClr val="tx1"/>
                          </a:solidFill>
                        </a:rPr>
                        <a:t> </a:t>
                      </a:r>
                      <a:r>
                        <a:rPr lang="fr-FR" sz="1600" dirty="0" smtClean="0">
                          <a:solidFill>
                            <a:schemeClr val="tx1"/>
                          </a:solidFill>
                        </a:rPr>
                        <a:t>un bouton ou une interface directement accessible et visible.</a:t>
                      </a:r>
                    </a:p>
                    <a:p>
                      <a:pPr marL="0" indent="0">
                        <a:buFont typeface="Arial" panose="020B0604020202020204" pitchFamily="34" charset="0"/>
                        <a:buNone/>
                      </a:pPr>
                      <a:endParaRPr lang="fr-FR" sz="1600" dirty="0" smtClean="0"/>
                    </a:p>
                    <a:p>
                      <a:pPr marL="0" indent="0">
                        <a:buFont typeface="Arial" panose="020B0604020202020204" pitchFamily="34" charset="0"/>
                        <a:buNone/>
                      </a:pPr>
                      <a:r>
                        <a:rPr lang="fr-FR" sz="1600" dirty="0" smtClean="0"/>
                        <a:t>Pour les animations jugées essentielles vis-à-vis des fonctionnalités du service, proposer une possibilité à l’utilisateur de mettre en pause ces éléments. </a:t>
                      </a:r>
                      <a:endParaRPr lang="fr-FR" sz="1600" dirty="0" smtClean="0">
                        <a:solidFill>
                          <a:schemeClr val="tx1"/>
                        </a:solidFill>
                      </a:endParaRP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Vérifier que le service n’inclut pas de lecture automatique de contenu par défaut. </a:t>
                      </a:r>
                    </a:p>
                    <a:p>
                      <a:endParaRPr lang="fr-FR" sz="1600" dirty="0" smtClean="0">
                        <a:solidFill>
                          <a:schemeClr val="tx1"/>
                        </a:solidFill>
                      </a:endParaRPr>
                    </a:p>
                    <a:p>
                      <a:r>
                        <a:rPr lang="fr-FR" sz="1600" dirty="0" smtClean="0">
                          <a:solidFill>
                            <a:schemeClr val="tx1"/>
                          </a:solidFill>
                        </a:rPr>
                        <a:t>Si ce n’est pas possible,</a:t>
                      </a:r>
                      <a:r>
                        <a:rPr lang="fr-FR" sz="1600" baseline="0" dirty="0" smtClean="0">
                          <a:solidFill>
                            <a:schemeClr val="tx1"/>
                          </a:solidFill>
                        </a:rPr>
                        <a:t> </a:t>
                      </a:r>
                      <a:r>
                        <a:rPr lang="fr-FR" sz="1600" dirty="0" smtClean="0">
                          <a:solidFill>
                            <a:schemeClr val="tx1"/>
                          </a:solidFill>
                        </a:rPr>
                        <a:t>s’assurer que le service numérique donne la possibilité à l’utilisateur de supprimer facilement le chargement</a:t>
                      </a:r>
                      <a:r>
                        <a:rPr lang="fr-FR" sz="1600" baseline="0" dirty="0" smtClean="0">
                          <a:solidFill>
                            <a:schemeClr val="tx1"/>
                          </a:solidFill>
                        </a:rPr>
                        <a:t> </a:t>
                      </a:r>
                      <a:r>
                        <a:rPr lang="fr-FR" sz="1600" dirty="0" smtClean="0">
                          <a:solidFill>
                            <a:schemeClr val="tx1"/>
                          </a:solidFill>
                        </a:rPr>
                        <a:t>ou le lancement automatique de vidéos ou contenus </a:t>
                      </a:r>
                      <a:r>
                        <a:rPr lang="fr-FR" sz="1600" dirty="0" err="1" smtClean="0">
                          <a:solidFill>
                            <a:schemeClr val="tx1"/>
                          </a:solidFill>
                        </a:rPr>
                        <a:t>audios</a:t>
                      </a:r>
                      <a:r>
                        <a:rPr lang="fr-FR" sz="1600" dirty="0" smtClean="0">
                          <a:solidFill>
                            <a:schemeClr val="tx1"/>
                          </a:solidFill>
                        </a:rPr>
                        <a:t>.</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solidFill>
                            <a:schemeClr val="tx1"/>
                          </a:solidFill>
                        </a:rPr>
                        <a:t>Faible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2024</a:t>
                      </a:r>
                    </a:p>
                    <a:p>
                      <a:r>
                        <a:rPr lang="fr-FR" sz="1400" b="0" dirty="0" smtClean="0">
                          <a:solidFill>
                            <a:srgbClr val="2F5597"/>
                          </a:solidFill>
                        </a:rPr>
                        <a:t>4.1 Le service numérique comporte-t-il uniquement des animations,</a:t>
                      </a:r>
                      <a:r>
                        <a:rPr lang="fr-FR" sz="1400" b="0" baseline="0" dirty="0" smtClean="0">
                          <a:solidFill>
                            <a:srgbClr val="2F5597"/>
                          </a:solidFill>
                        </a:rPr>
                        <a:t> </a:t>
                      </a:r>
                      <a:r>
                        <a:rPr lang="fr-FR" sz="1400" b="0" dirty="0" smtClean="0">
                          <a:solidFill>
                            <a:srgbClr val="2F5597"/>
                          </a:solidFill>
                        </a:rPr>
                        <a:t>vidéos et sons dont la lecture automatique est désactivée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40265077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487196031"/>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022915">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40/Préférer la pagination au défilement infini</a:t>
                      </a:r>
                    </a:p>
                  </a:txBody>
                  <a:tcPr anchor="ctr">
                    <a:solidFill>
                      <a:srgbClr val="2F5597"/>
                    </a:solidFill>
                  </a:tcPr>
                </a:tc>
                <a:tc hMerge="1">
                  <a:txBody>
                    <a:bodyPr/>
                    <a:lstStyle/>
                    <a:p>
                      <a:pP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952849">
                <a:tc>
                  <a:txBody>
                    <a:bodyPr/>
                    <a:lstStyle/>
                    <a:p>
                      <a:pPr marL="0" indent="0">
                        <a:buFont typeface="Arial" panose="020B0604020202020204" pitchFamily="34" charset="0"/>
                        <a:buNone/>
                      </a:pPr>
                      <a:r>
                        <a:rPr lang="fr-FR" sz="1600" dirty="0" smtClean="0">
                          <a:solidFill>
                            <a:schemeClr val="tx1"/>
                          </a:solidFill>
                        </a:rPr>
                        <a:t>Éviter le « mur de contenus », la proposition infinie ou l’enchaînement infini de contenus pour amoindrir le</a:t>
                      </a:r>
                      <a:r>
                        <a:rPr lang="fr-FR" sz="1600" baseline="0" dirty="0" smtClean="0">
                          <a:solidFill>
                            <a:schemeClr val="tx1"/>
                          </a:solidFill>
                        </a:rPr>
                        <a:t> </a:t>
                      </a:r>
                      <a:r>
                        <a:rPr lang="fr-FR" sz="1600" dirty="0" smtClean="0">
                          <a:solidFill>
                            <a:schemeClr val="tx1"/>
                          </a:solidFill>
                        </a:rPr>
                        <a:t>poids de la page utilisée et optimiser l’expérience utilisateur.</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Mettre en place une navigation facile d’utilisation et proportionnée au contexte d’utilisation dont le</a:t>
                      </a:r>
                      <a:r>
                        <a:rPr lang="fr-FR" sz="1600" baseline="0" dirty="0" smtClean="0">
                          <a:solidFill>
                            <a:schemeClr val="tx1"/>
                          </a:solidFill>
                        </a:rPr>
                        <a:t> </a:t>
                      </a:r>
                      <a:r>
                        <a:rPr lang="fr-FR" sz="1600" dirty="0" smtClean="0">
                          <a:solidFill>
                            <a:schemeClr val="tx1"/>
                          </a:solidFill>
                        </a:rPr>
                        <a:t>chargement du contenu est à la demande de l’utilisateur (avec par exemple, un bouton « Voir plus » qui</a:t>
                      </a:r>
                    </a:p>
                    <a:p>
                      <a:pPr marL="0" indent="0">
                        <a:buFont typeface="Arial" panose="020B0604020202020204" pitchFamily="34" charset="0"/>
                        <a:buNone/>
                      </a:pPr>
                      <a:r>
                        <a:rPr lang="fr-FR" sz="1600" dirty="0" smtClean="0">
                          <a:solidFill>
                            <a:schemeClr val="tx1"/>
                          </a:solidFill>
                        </a:rPr>
                        <a:t>permet de poursuivre la navigation ou une pagination).</a:t>
                      </a:r>
                      <a:endParaRPr lang="fr-FR" sz="1600" dirty="0">
                        <a:solidFill>
                          <a:schemeClr val="tx1"/>
                        </a:solidFill>
                      </a:endParaRPr>
                    </a:p>
                  </a:txBody>
                  <a:tcPr/>
                </a:tc>
                <a:tc>
                  <a:txBody>
                    <a:bodyPr/>
                    <a:lstStyle/>
                    <a:p>
                      <a:r>
                        <a:rPr lang="fr-FR" sz="1600" dirty="0" smtClean="0"/>
                        <a:t>Le critère est validé si le design du service numérique repose sur un chargement à la demande du contenu proportionné au contexte d’utilisation (notamment la mise en place d’un bouton « Voir plus » pour continuer la navigation ou une pagination), ou peut s’afficher en entier sur un écran.</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6" name="Tableau 5"/>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5" name="Image 4"/>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2024</a:t>
                      </a:r>
                    </a:p>
                    <a:p>
                      <a:r>
                        <a:rPr lang="fr-FR" sz="1400" b="0" dirty="0" smtClean="0">
                          <a:solidFill>
                            <a:srgbClr val="2F5597"/>
                          </a:solidFill>
                        </a:rPr>
                        <a:t>4.2 Le service numérique affiche-t-il uniquement des contenus sans</a:t>
                      </a:r>
                      <a:r>
                        <a:rPr lang="fr-FR" sz="1400" b="0" baseline="0" dirty="0" smtClean="0">
                          <a:solidFill>
                            <a:srgbClr val="2F5597"/>
                          </a:solidFill>
                        </a:rPr>
                        <a:t> </a:t>
                      </a:r>
                      <a:r>
                        <a:rPr lang="fr-FR" sz="1400" b="0" dirty="0" smtClean="0">
                          <a:solidFill>
                            <a:srgbClr val="2F5597"/>
                          </a:solidFill>
                        </a:rPr>
                        <a:t>défilement infini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62618451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97249106"/>
              </p:ext>
            </p:extLst>
          </p:nvPr>
        </p:nvGraphicFramePr>
        <p:xfrm>
          <a:off x="0" y="1112520"/>
          <a:ext cx="12191999"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2">
                  <a:extLst>
                    <a:ext uri="{9D8B030D-6E8A-4147-A177-3AD203B41FA5}">
                      <a16:colId xmlns:a16="http://schemas.microsoft.com/office/drawing/2014/main" val="588129664"/>
                    </a:ext>
                  </a:extLst>
                </a:gridCol>
              </a:tblGrid>
              <a:tr h="115438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41/Simplifier le parcours</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821378">
                <a:tc>
                  <a:txBody>
                    <a:bodyPr/>
                    <a:lstStyle/>
                    <a:p>
                      <a:pPr marL="0" indent="0">
                        <a:buFont typeface="Arial" panose="020B0604020202020204" pitchFamily="34" charset="0"/>
                        <a:buNone/>
                      </a:pPr>
                      <a:r>
                        <a:rPr lang="fr-FR" sz="1600" dirty="0" smtClean="0">
                          <a:solidFill>
                            <a:schemeClr val="tx1"/>
                          </a:solidFill>
                        </a:rPr>
                        <a:t>Durant la phase de conception, éliminer les fonctionnalités non essentielles et optimiser le ou les parcours de navigation pour chaque unité fonctionnelle principale du service numérique.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Puis, observer les statistiques de fréquentation et d’usage, couplé aux moyens d’observation UX (expérience utilisateur),afin d’améliorer cette optimisation de parcours.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Par exemple, une unité fonctionnelle principale du service peut être   réserver un billet »,   rechercher un terme »,   trouver une adresse »,   contacter le support »,   discuter », etc.</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Le nombre de point de friction est égal à 0.</a:t>
                      </a:r>
                    </a:p>
                    <a:p>
                      <a:endParaRPr lang="fr-FR" sz="1600" dirty="0" smtClean="0">
                        <a:solidFill>
                          <a:schemeClr val="tx1"/>
                        </a:solidFill>
                      </a:endParaRPr>
                    </a:p>
                    <a:p>
                      <a:r>
                        <a:rPr lang="fr-FR" sz="1600" dirty="0" smtClean="0"/>
                        <a:t>Le critère est validé si (conditions cumulatives) : </a:t>
                      </a:r>
                    </a:p>
                    <a:p>
                      <a:r>
                        <a:rPr lang="fr-FR" sz="1600" dirty="0" smtClean="0"/>
                        <a:t>• Les parcours de navigation sont optimisés et recentrés autour des fonctionnalités essentielles d’après les outils UX et les statistiques d’usages effectuées ; </a:t>
                      </a:r>
                    </a:p>
                    <a:p>
                      <a:r>
                        <a:rPr lang="fr-FR" sz="1600" dirty="0" smtClean="0"/>
                        <a:t>• Des indicateurs techniques pour les parcours identifiés ont été ou sont en cours de mise en place pour assurer l’optimisation dans le temps du parcours de navigation, à la lumière des retours récoltés.</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2024</a:t>
                      </a:r>
                    </a:p>
                    <a:p>
                      <a:r>
                        <a:rPr lang="fr-FR" sz="1400" b="0" dirty="0" smtClean="0">
                          <a:solidFill>
                            <a:srgbClr val="2F5597"/>
                          </a:solidFill>
                        </a:rPr>
                        <a:t>4.3 Le service numérique optimise-t-il le parcours de navigation pour</a:t>
                      </a:r>
                      <a:r>
                        <a:rPr lang="fr-FR" sz="1400" b="0" baseline="0" dirty="0" smtClean="0">
                          <a:solidFill>
                            <a:srgbClr val="2F5597"/>
                          </a:solidFill>
                        </a:rPr>
                        <a:t> </a:t>
                      </a:r>
                      <a:r>
                        <a:rPr lang="fr-FR" sz="1400" b="0" dirty="0" smtClean="0">
                          <a:solidFill>
                            <a:srgbClr val="2F5597"/>
                          </a:solidFill>
                        </a:rPr>
                        <a:t>chaque fonctionnalité principale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34375406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103336696"/>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366471">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42/Permettre à l’utilisateur d’activer ou non un service tiers. </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09293">
                <a:tc>
                  <a:txBody>
                    <a:bodyPr/>
                    <a:lstStyle/>
                    <a:p>
                      <a:pPr marL="0" indent="0">
                        <a:buFont typeface="Arial" panose="020B0604020202020204" pitchFamily="34" charset="0"/>
                        <a:buNone/>
                      </a:pPr>
                      <a:r>
                        <a:rPr lang="fr-FR" sz="1600" dirty="0" smtClean="0">
                          <a:solidFill>
                            <a:schemeClr val="tx1"/>
                          </a:solidFill>
                        </a:rPr>
                        <a:t>Charger des contenus non indispensables qu’à la demande explicite de l’utilisateur. </a:t>
                      </a:r>
                    </a:p>
                    <a:p>
                      <a:pPr marL="0" indent="0">
                        <a:buFont typeface="Arial" panose="020B0604020202020204" pitchFamily="34" charset="0"/>
                        <a:buNone/>
                      </a:pPr>
                      <a:r>
                        <a:rPr lang="fr-FR" sz="1600" dirty="0" smtClean="0">
                          <a:solidFill>
                            <a:schemeClr val="tx1"/>
                          </a:solidFill>
                        </a:rPr>
                        <a:t>Ce critère rejoint une des obligations du RGPD sur la demande de consentement avant de charger du contenu tiers.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t>Le critère est validé si l’activation des services tiers intégrés au service numérique est conditionnée au consentement clair et explicite de l’utilisateur, du point de vue de la protection des données lorsque applicable, avec également une information spécifique sur le possible coût environnemental.</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Faible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2022 et 2024</a:t>
                      </a:r>
                    </a:p>
                    <a:p>
                      <a:r>
                        <a:rPr lang="fr-FR" sz="1400" b="0" dirty="0" smtClean="0">
                          <a:solidFill>
                            <a:srgbClr val="2F5597"/>
                          </a:solidFill>
                        </a:rPr>
                        <a:t>4.4 Le service numérique permet-il à l’utilisateur de décider de</a:t>
                      </a:r>
                      <a:r>
                        <a:rPr lang="fr-FR" sz="1400" b="0" baseline="0" dirty="0" smtClean="0">
                          <a:solidFill>
                            <a:srgbClr val="2F5597"/>
                          </a:solidFill>
                        </a:rPr>
                        <a:t> </a:t>
                      </a:r>
                      <a:r>
                        <a:rPr lang="fr-FR" sz="1400" b="0" dirty="0" smtClean="0">
                          <a:solidFill>
                            <a:srgbClr val="2F5597"/>
                          </a:solidFill>
                        </a:rPr>
                        <a:t>l’activation d’un service tiers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31063239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975258387"/>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29643">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43/Utiliser majoritairement des composants fonctionnels natifs.</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46121">
                <a:tc>
                  <a:txBody>
                    <a:bodyPr/>
                    <a:lstStyle/>
                    <a:p>
                      <a:pPr marL="0" indent="0">
                        <a:buFont typeface="Arial" panose="020B0604020202020204" pitchFamily="34" charset="0"/>
                        <a:buNone/>
                      </a:pPr>
                      <a:r>
                        <a:rPr lang="fr-FR" sz="1600" dirty="0" smtClean="0">
                          <a:solidFill>
                            <a:schemeClr val="tx1"/>
                          </a:solidFill>
                        </a:rPr>
                        <a:t>Privilégier l’utilisation des composants fonctionnels natifs du système d’exploitation, du navigateur ou du langage utilisé pour répondre au besoin.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t>En complément, il est préférable de ne charger les ressources et les composants que lorsqu’ils sont effectivement utilisés. </a:t>
                      </a:r>
                      <a:endParaRPr lang="fr-FR" sz="1600" dirty="0" smtClean="0">
                        <a:solidFill>
                          <a:schemeClr val="tx1"/>
                        </a:solidFill>
                      </a:endParaRPr>
                    </a:p>
                  </a:txBody>
                  <a:tcPr/>
                </a:tc>
                <a:tc>
                  <a:txBody>
                    <a:bodyPr/>
                    <a:lstStyle/>
                    <a:p>
                      <a:r>
                        <a:rPr lang="fr-FR" sz="1600" dirty="0" smtClean="0"/>
                        <a:t>Le critère est validé si le service favorise le recours à des composants fonctionnels natifs lorsque cela est possible. </a:t>
                      </a:r>
                    </a:p>
                    <a:p>
                      <a:endParaRPr lang="fr-FR" sz="1600" dirty="0" smtClean="0"/>
                    </a:p>
                    <a:p>
                      <a:r>
                        <a:rPr lang="fr-FR" sz="1600" dirty="0" smtClean="0"/>
                        <a:t>De plus, dans l’éventualité du recours à des composants non natifs, il convient d’évaluer la nécessité d’utiliser ces composants (contraintes techniques par exemple).</a:t>
                      </a:r>
                    </a:p>
                    <a:p>
                      <a:endParaRPr lang="fr-FR" sz="1600" dirty="0" smtClean="0"/>
                    </a:p>
                    <a:p>
                      <a:r>
                        <a:rPr lang="fr-FR" sz="1600" dirty="0" smtClean="0"/>
                        <a:t>Leur recours devra être régulièrement suivi en vérifiant le contenu des ressources chargées et leur utilisation effective.</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Faible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731520"/>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2022 et 2024</a:t>
                      </a:r>
                    </a:p>
                    <a:p>
                      <a:r>
                        <a:rPr lang="fr-FR" sz="1400" b="0" dirty="0" smtClean="0">
                          <a:solidFill>
                            <a:srgbClr val="2F5597"/>
                          </a:solidFill>
                        </a:rPr>
                        <a:t>4.5 Le service numérique utilise-t-il majoritairement des composants</a:t>
                      </a:r>
                      <a:r>
                        <a:rPr lang="fr-FR" sz="1400" b="0" baseline="0" dirty="0" smtClean="0">
                          <a:solidFill>
                            <a:srgbClr val="2F5597"/>
                          </a:solidFill>
                        </a:rPr>
                        <a:t> </a:t>
                      </a:r>
                      <a:r>
                        <a:rPr lang="fr-FR" sz="1400" b="0" dirty="0" smtClean="0">
                          <a:solidFill>
                            <a:srgbClr val="2F5597"/>
                          </a:solidFill>
                        </a:rPr>
                        <a:t>fonctionnels natifs du système d’exploitation, du navigateur ou du</a:t>
                      </a:r>
                    </a:p>
                    <a:p>
                      <a:r>
                        <a:rPr lang="fr-FR" sz="1400" b="0" dirty="0" smtClean="0">
                          <a:solidFill>
                            <a:srgbClr val="2F5597"/>
                          </a:solidFill>
                        </a:rPr>
                        <a:t>langage utilisé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91958615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87982262"/>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297295">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44/Utilisable sur d’anciennes versions de</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système d’exploitation et de navigateurs web </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78469">
                <a:tc>
                  <a:txBody>
                    <a:bodyPr/>
                    <a:lstStyle/>
                    <a:p>
                      <a:pPr marL="0" indent="0">
                        <a:buFont typeface="Arial" panose="020B0604020202020204" pitchFamily="34" charset="0"/>
                        <a:buNone/>
                      </a:pPr>
                      <a:r>
                        <a:rPr lang="fr-FR" sz="1400" dirty="0" smtClean="0">
                          <a:solidFill>
                            <a:schemeClr val="tx1"/>
                          </a:solidFill>
                        </a:rPr>
                        <a:t>Si le service numérique est une application native, il doit prendre en charge les dernières versions des</a:t>
                      </a:r>
                      <a:r>
                        <a:rPr lang="fr-FR" sz="1400" baseline="0" dirty="0" smtClean="0">
                          <a:solidFill>
                            <a:schemeClr val="tx1"/>
                          </a:solidFill>
                        </a:rPr>
                        <a:t> </a:t>
                      </a:r>
                      <a:r>
                        <a:rPr lang="fr-FR" sz="1400" dirty="0" smtClean="0">
                          <a:solidFill>
                            <a:schemeClr val="tx1"/>
                          </a:solidFill>
                        </a:rPr>
                        <a:t>systèmes d’exploitation supportés et être utilisable sur les versions anciennes de ces systèmes d’exploitation</a:t>
                      </a:r>
                      <a:r>
                        <a:rPr lang="fr-FR" sz="1400" baseline="0" dirty="0" smtClean="0">
                          <a:solidFill>
                            <a:schemeClr val="tx1"/>
                          </a:solidFill>
                        </a:rPr>
                        <a:t> </a:t>
                      </a:r>
                      <a:r>
                        <a:rPr lang="fr-FR" sz="1400" dirty="0" smtClean="0">
                          <a:solidFill>
                            <a:schemeClr val="tx1"/>
                          </a:solidFill>
                        </a:rPr>
                        <a:t>(hors mises à jour correctives), jusqu’à cinq ans, en prenant en compte la première date de mise à disposition</a:t>
                      </a:r>
                      <a:r>
                        <a:rPr lang="fr-FR" sz="1400" baseline="0" dirty="0" smtClean="0">
                          <a:solidFill>
                            <a:schemeClr val="tx1"/>
                          </a:solidFill>
                        </a:rPr>
                        <a:t> </a:t>
                      </a:r>
                      <a:r>
                        <a:rPr lang="fr-FR" sz="1400" dirty="0" smtClean="0">
                          <a:solidFill>
                            <a:schemeClr val="tx1"/>
                          </a:solidFill>
                        </a:rPr>
                        <a:t>en version stable.</a:t>
                      </a:r>
                    </a:p>
                    <a:p>
                      <a:pPr marL="0" indent="0">
                        <a:buFont typeface="Arial" panose="020B0604020202020204" pitchFamily="34" charset="0"/>
                        <a:buNone/>
                      </a:pPr>
                      <a:endParaRPr lang="fr-FR" sz="1400" dirty="0" smtClean="0">
                        <a:solidFill>
                          <a:schemeClr val="tx1"/>
                        </a:solidFill>
                      </a:endParaRPr>
                    </a:p>
                    <a:p>
                      <a:pPr marL="0" indent="0">
                        <a:buFont typeface="Arial" panose="020B0604020202020204" pitchFamily="34" charset="0"/>
                        <a:buNone/>
                      </a:pPr>
                      <a:r>
                        <a:rPr lang="fr-FR" sz="1400" dirty="0" smtClean="0">
                          <a:solidFill>
                            <a:schemeClr val="tx1"/>
                          </a:solidFill>
                        </a:rPr>
                        <a:t>Si le service numérique fonctionne sur un navigateur web, il doit prendre en charge les dernières versions</a:t>
                      </a:r>
                      <a:r>
                        <a:rPr lang="fr-FR" sz="1400" baseline="0" dirty="0" smtClean="0">
                          <a:solidFill>
                            <a:schemeClr val="tx1"/>
                          </a:solidFill>
                        </a:rPr>
                        <a:t> </a:t>
                      </a:r>
                      <a:r>
                        <a:rPr lang="fr-FR" sz="1400" dirty="0" smtClean="0">
                          <a:solidFill>
                            <a:schemeClr val="tx1"/>
                          </a:solidFill>
                        </a:rPr>
                        <a:t>des navigateurs web (hors mises à jour correctives) et être utilisable sur les versions anciennes des principaux</a:t>
                      </a:r>
                      <a:r>
                        <a:rPr lang="fr-FR" sz="1400" baseline="0" dirty="0" smtClean="0">
                          <a:solidFill>
                            <a:schemeClr val="tx1"/>
                          </a:solidFill>
                        </a:rPr>
                        <a:t> </a:t>
                      </a:r>
                      <a:r>
                        <a:rPr lang="fr-FR" sz="1400" dirty="0" smtClean="0">
                          <a:solidFill>
                            <a:schemeClr val="tx1"/>
                          </a:solidFill>
                        </a:rPr>
                        <a:t>navigateurs web, jusqu’à deux ans, en prenant en compte la première date de mise à disposition en version</a:t>
                      </a:r>
                      <a:r>
                        <a:rPr lang="fr-FR" sz="1400" baseline="0" dirty="0" smtClean="0">
                          <a:solidFill>
                            <a:schemeClr val="tx1"/>
                          </a:solidFill>
                        </a:rPr>
                        <a:t> </a:t>
                      </a:r>
                      <a:r>
                        <a:rPr lang="fr-FR" sz="1400" dirty="0" smtClean="0">
                          <a:solidFill>
                            <a:schemeClr val="tx1"/>
                          </a:solidFill>
                        </a:rPr>
                        <a:t>stable.</a:t>
                      </a:r>
                    </a:p>
                  </a:txBody>
                  <a:tcPr/>
                </a:tc>
                <a:tc>
                  <a:txBody>
                    <a:bodyPr/>
                    <a:lstStyle/>
                    <a:p>
                      <a:r>
                        <a:rPr lang="fr-FR" sz="1400" dirty="0" smtClean="0"/>
                        <a:t>Vérifier la mise en œuvre selon la nature du service en vérifiant les points suivants :</a:t>
                      </a:r>
                    </a:p>
                    <a:p>
                      <a:r>
                        <a:rPr lang="fr-FR" sz="1400" dirty="0" smtClean="0"/>
                        <a:t>• Si le service numérique est une application native : tester les fonctionnalités critiques du service</a:t>
                      </a:r>
                      <a:r>
                        <a:rPr lang="fr-FR" sz="1400" baseline="0" dirty="0" smtClean="0"/>
                        <a:t> </a:t>
                      </a:r>
                      <a:r>
                        <a:rPr lang="fr-FR" sz="1400" dirty="0" smtClean="0"/>
                        <a:t>numérique sur les systèmes d’exploitation supportés ayant cinq ans, en prenant en compte la</a:t>
                      </a:r>
                      <a:r>
                        <a:rPr lang="fr-FR" sz="1400" baseline="0" dirty="0" smtClean="0"/>
                        <a:t> </a:t>
                      </a:r>
                      <a:r>
                        <a:rPr lang="fr-FR" sz="1400" dirty="0" smtClean="0"/>
                        <a:t>première date de mise à disposition en version stable.</a:t>
                      </a:r>
                    </a:p>
                    <a:p>
                      <a:r>
                        <a:rPr lang="fr-FR" sz="1400" dirty="0" smtClean="0"/>
                        <a:t>• Si le service numérique fonctionne sur un navigateur web : s’assurer que les fonctionnalités critiques</a:t>
                      </a:r>
                      <a:r>
                        <a:rPr lang="fr-FR" sz="1400" baseline="0" dirty="0" smtClean="0"/>
                        <a:t> </a:t>
                      </a:r>
                      <a:r>
                        <a:rPr lang="fr-FR" sz="1400" dirty="0" smtClean="0"/>
                        <a:t>fonctionnent sur les principaux navigateurs web dans une version datée d’au moins deux ans, en</a:t>
                      </a:r>
                      <a:r>
                        <a:rPr lang="fr-FR" sz="1400" baseline="0" dirty="0" smtClean="0"/>
                        <a:t> </a:t>
                      </a:r>
                      <a:r>
                        <a:rPr lang="fr-FR" sz="1400" dirty="0" smtClean="0"/>
                        <a:t>prenant en compte la première date de mise à disposition en version stable.</a:t>
                      </a:r>
                      <a:endParaRPr lang="fr-FR" sz="14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Faible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2022 et 2024</a:t>
                      </a:r>
                    </a:p>
                    <a:p>
                      <a:r>
                        <a:rPr lang="fr-FR" sz="1400" b="0" dirty="0" smtClean="0">
                          <a:solidFill>
                            <a:srgbClr val="2F5597"/>
                          </a:solidFill>
                        </a:rPr>
                        <a:t>2.4 Le service numérique est-il utilisable sur d’anciennes versions de</a:t>
                      </a:r>
                      <a:r>
                        <a:rPr lang="fr-FR" sz="1400" b="0" baseline="0" dirty="0" smtClean="0">
                          <a:solidFill>
                            <a:srgbClr val="2F5597"/>
                          </a:solidFill>
                        </a:rPr>
                        <a:t> </a:t>
                      </a:r>
                      <a:r>
                        <a:rPr lang="fr-FR" sz="1400" b="0" dirty="0" smtClean="0">
                          <a:solidFill>
                            <a:srgbClr val="2F5597"/>
                          </a:solidFill>
                        </a:rPr>
                        <a:t>système d’exploitation et de navigateurs web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857162319"/>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773135697"/>
              </p:ext>
            </p:extLst>
          </p:nvPr>
        </p:nvGraphicFramePr>
        <p:xfrm>
          <a:off x="0" y="1112520"/>
          <a:ext cx="12191999"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411801">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45/Proposer des notifications uniquement lorsqu’elles sont nécessaires et permettre à l’utilisateur de contrôler celles qu’il reçoit. </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563963">
                <a:tc>
                  <a:txBody>
                    <a:bodyPr/>
                    <a:lstStyle/>
                    <a:p>
                      <a:pPr marL="0" indent="0">
                        <a:buFont typeface="Arial" panose="020B0604020202020204" pitchFamily="34" charset="0"/>
                        <a:buNone/>
                      </a:pPr>
                      <a:r>
                        <a:rPr lang="fr-FR" sz="1600" dirty="0" smtClean="0">
                          <a:solidFill>
                            <a:schemeClr val="tx1"/>
                          </a:solidFill>
                        </a:rPr>
                        <a:t>Les notifications envisagées par le service numérique sont dans l’intérêt de l’utilisateur en termes de besoin.</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Les notifications évitent également la multiplication sur différents canaux redondants (SMS, mails,</a:t>
                      </a:r>
                      <a:r>
                        <a:rPr lang="fr-FR" sz="1600" baseline="0" dirty="0" smtClean="0">
                          <a:solidFill>
                            <a:schemeClr val="tx1"/>
                          </a:solidFill>
                        </a:rPr>
                        <a:t> </a:t>
                      </a:r>
                      <a:r>
                        <a:rPr lang="fr-FR" sz="1600" dirty="0" smtClean="0">
                          <a:solidFill>
                            <a:schemeClr val="tx1"/>
                          </a:solidFill>
                        </a:rPr>
                        <a:t>notification d’application, notification d’interface, pop-in, etc.).</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L’utilisateur peut désactiver les notifications ou choisir la fréquence de réception de ces notifications.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Le critère est validé si le service numérique :</a:t>
                      </a:r>
                    </a:p>
                    <a:p>
                      <a:r>
                        <a:rPr lang="fr-FR" sz="1600" dirty="0" smtClean="0">
                          <a:solidFill>
                            <a:schemeClr val="tx1"/>
                          </a:solidFill>
                        </a:rPr>
                        <a:t>• Ne propose pas de notification ou propose par défaut un nombre de notifications limité (un seuil</a:t>
                      </a:r>
                      <a:r>
                        <a:rPr lang="fr-FR" sz="1600" baseline="0" dirty="0" smtClean="0">
                          <a:solidFill>
                            <a:schemeClr val="tx1"/>
                          </a:solidFill>
                        </a:rPr>
                        <a:t> </a:t>
                      </a:r>
                      <a:r>
                        <a:rPr lang="fr-FR" sz="1600" dirty="0" smtClean="0">
                          <a:solidFill>
                            <a:schemeClr val="tx1"/>
                          </a:solidFill>
                        </a:rPr>
                        <a:t>inférieur à cinq par jour devrait être visé) ;</a:t>
                      </a:r>
                    </a:p>
                    <a:p>
                      <a:r>
                        <a:rPr lang="fr-FR" sz="1600" dirty="0" smtClean="0">
                          <a:solidFill>
                            <a:schemeClr val="tx1"/>
                          </a:solidFill>
                        </a:rPr>
                        <a:t>• Donne à l’utilisateur la possibilité de désactiver et de réduire, via son interface, les notifications</a:t>
                      </a:r>
                      <a:r>
                        <a:rPr lang="fr-FR" sz="1600" baseline="0" dirty="0" smtClean="0">
                          <a:solidFill>
                            <a:schemeClr val="tx1"/>
                          </a:solidFill>
                        </a:rPr>
                        <a:t> </a:t>
                      </a:r>
                      <a:r>
                        <a:rPr lang="fr-FR" sz="1600" dirty="0" smtClean="0">
                          <a:solidFill>
                            <a:schemeClr val="tx1"/>
                          </a:solidFill>
                        </a:rPr>
                        <a:t>proposées par le service de façon simple et rapide (par exemple, un bouton directement visible sur</a:t>
                      </a:r>
                    </a:p>
                    <a:p>
                      <a:r>
                        <a:rPr lang="fr-FR" sz="1600" dirty="0" smtClean="0">
                          <a:solidFill>
                            <a:schemeClr val="tx1"/>
                          </a:solidFill>
                        </a:rPr>
                        <a:t>l’interface utilisateur). </a:t>
                      </a:r>
                    </a:p>
                    <a:p>
                      <a:endParaRPr lang="fr-FR" sz="1600" dirty="0" smtClean="0">
                        <a:solidFill>
                          <a:schemeClr val="tx1"/>
                        </a:solidFill>
                      </a:endParaRPr>
                    </a:p>
                    <a:p>
                      <a:r>
                        <a:rPr lang="fr-FR" sz="1600" dirty="0" smtClean="0">
                          <a:solidFill>
                            <a:schemeClr val="tx1"/>
                          </a:solidFill>
                        </a:rPr>
                        <a:t>Les possibilités de suppression ou de réduction des notifications doivent être</a:t>
                      </a:r>
                      <a:r>
                        <a:rPr lang="fr-FR" sz="1600" baseline="0" dirty="0" smtClean="0">
                          <a:solidFill>
                            <a:schemeClr val="tx1"/>
                          </a:solidFill>
                        </a:rPr>
                        <a:t> </a:t>
                      </a:r>
                      <a:r>
                        <a:rPr lang="fr-FR" sz="1600" dirty="0" smtClean="0">
                          <a:solidFill>
                            <a:schemeClr val="tx1"/>
                          </a:solidFill>
                        </a:rPr>
                        <a:t>mises en évidence dans le service numérique.</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2022 et 2024</a:t>
                      </a:r>
                    </a:p>
                    <a:p>
                      <a:r>
                        <a:rPr lang="fr-FR" sz="1400" b="0" dirty="0" smtClean="0">
                          <a:solidFill>
                            <a:srgbClr val="2F5597"/>
                          </a:solidFill>
                        </a:rPr>
                        <a:t>4.13 Le service numérique limite-t-il le recours aux notifications, tout en laissant la possibilité à l’utilisateur de les désactiver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97779886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629262053"/>
              </p:ext>
            </p:extLst>
          </p:nvPr>
        </p:nvGraphicFramePr>
        <p:xfrm>
          <a:off x="0" y="1112520"/>
          <a:ext cx="12191999"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419245">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46/Eviter le recours à des procédés</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manipulatoires dans son interface utilisateur</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556519">
                <a:tc>
                  <a:txBody>
                    <a:bodyPr/>
                    <a:lstStyle/>
                    <a:p>
                      <a:pPr marL="0" indent="0">
                        <a:buFont typeface="Arial" panose="020B0604020202020204" pitchFamily="34" charset="0"/>
                        <a:buNone/>
                      </a:pPr>
                      <a:r>
                        <a:rPr lang="fr-FR" sz="1400" dirty="0" smtClean="0">
                          <a:solidFill>
                            <a:schemeClr val="tx1"/>
                          </a:solidFill>
                        </a:rPr>
                        <a:t>Quelques exemples de pratiques de </a:t>
                      </a:r>
                      <a:r>
                        <a:rPr lang="fr-FR" sz="1400" dirty="0" err="1" smtClean="0">
                          <a:solidFill>
                            <a:schemeClr val="tx1"/>
                          </a:solidFill>
                        </a:rPr>
                        <a:t>dark</a:t>
                      </a:r>
                      <a:r>
                        <a:rPr lang="fr-FR" sz="1400" dirty="0" smtClean="0">
                          <a:solidFill>
                            <a:schemeClr val="tx1"/>
                          </a:solidFill>
                        </a:rPr>
                        <a:t> patterns à éviter :</a:t>
                      </a:r>
                    </a:p>
                    <a:p>
                      <a:pPr marL="0" indent="0">
                        <a:buFont typeface="Arial" panose="020B0604020202020204" pitchFamily="34" charset="0"/>
                        <a:buNone/>
                      </a:pPr>
                      <a:r>
                        <a:rPr lang="fr-FR" sz="1400" dirty="0" smtClean="0">
                          <a:solidFill>
                            <a:schemeClr val="tx1"/>
                          </a:solidFill>
                        </a:rPr>
                        <a:t>- Mise en place de parcours de navigation « labyrinthe » qui complexifie la possibilité des utilisateurs de</a:t>
                      </a:r>
                      <a:r>
                        <a:rPr lang="fr-FR" sz="1400" baseline="0" dirty="0" smtClean="0">
                          <a:solidFill>
                            <a:schemeClr val="tx1"/>
                          </a:solidFill>
                        </a:rPr>
                        <a:t> </a:t>
                      </a:r>
                      <a:r>
                        <a:rPr lang="fr-FR" sz="1400" dirty="0" smtClean="0">
                          <a:solidFill>
                            <a:schemeClr val="tx1"/>
                          </a:solidFill>
                        </a:rPr>
                        <a:t>faire certaines actions (désabonnement, désinscription) ou rend difficile l’accès à des informations sur</a:t>
                      </a:r>
                      <a:r>
                        <a:rPr lang="fr-FR" sz="1400" baseline="0" dirty="0" smtClean="0">
                          <a:solidFill>
                            <a:schemeClr val="tx1"/>
                          </a:solidFill>
                        </a:rPr>
                        <a:t> </a:t>
                      </a:r>
                      <a:r>
                        <a:rPr lang="fr-FR" sz="1400" dirty="0" smtClean="0">
                          <a:solidFill>
                            <a:schemeClr val="tx1"/>
                          </a:solidFill>
                        </a:rPr>
                        <a:t>les mentions légales, l’empreinte environnementale du service par exemple ;</a:t>
                      </a:r>
                    </a:p>
                    <a:p>
                      <a:pPr marL="0" indent="0">
                        <a:buFont typeface="Arial" panose="020B0604020202020204" pitchFamily="34" charset="0"/>
                        <a:buNone/>
                      </a:pPr>
                      <a:r>
                        <a:rPr lang="fr-FR" sz="1400" dirty="0" smtClean="0">
                          <a:solidFill>
                            <a:schemeClr val="tx1"/>
                          </a:solidFill>
                        </a:rPr>
                        <a:t>- Affichage de publicité déguisée ou d’exit pop-up publicitaire sans sélection ou choix de l’utilisateur ;</a:t>
                      </a:r>
                    </a:p>
                    <a:p>
                      <a:pPr marL="0" indent="0">
                        <a:buFont typeface="Arial" panose="020B0604020202020204" pitchFamily="34" charset="0"/>
                        <a:buNone/>
                      </a:pPr>
                      <a:r>
                        <a:rPr lang="fr-FR" sz="1400" dirty="0" smtClean="0">
                          <a:solidFill>
                            <a:schemeClr val="tx1"/>
                          </a:solidFill>
                        </a:rPr>
                        <a:t>- Définition d’une option présélectionnée pour l'utilisateur, souvent sous la forme d'une case pré-cochée,</a:t>
                      </a:r>
                      <a:r>
                        <a:rPr lang="fr-FR" sz="1400" baseline="0" dirty="0" smtClean="0">
                          <a:solidFill>
                            <a:schemeClr val="tx1"/>
                          </a:solidFill>
                        </a:rPr>
                        <a:t> </a:t>
                      </a:r>
                      <a:r>
                        <a:rPr lang="fr-FR" sz="1400" dirty="0" smtClean="0">
                          <a:solidFill>
                            <a:schemeClr val="tx1"/>
                          </a:solidFill>
                        </a:rPr>
                        <a:t>dans le but de l'inciter à accepter quelque chose qu'il n'aurait peut-être pas choisi délibérément ;</a:t>
                      </a:r>
                    </a:p>
                    <a:p>
                      <a:pPr marL="0" indent="0">
                        <a:buFont typeface="Arial" panose="020B0604020202020204" pitchFamily="34" charset="0"/>
                        <a:buNone/>
                      </a:pPr>
                      <a:r>
                        <a:rPr lang="fr-FR" sz="1400" dirty="0" smtClean="0">
                          <a:solidFill>
                            <a:schemeClr val="tx1"/>
                          </a:solidFill>
                        </a:rPr>
                        <a:t>- Affichage un compte à rebours pour une offre spéciale, mais chaque fois que le compte à rebours atteint</a:t>
                      </a:r>
                      <a:r>
                        <a:rPr lang="fr-FR" sz="1400" baseline="0" dirty="0" smtClean="0">
                          <a:solidFill>
                            <a:schemeClr val="tx1"/>
                          </a:solidFill>
                        </a:rPr>
                        <a:t> </a:t>
                      </a:r>
                      <a:r>
                        <a:rPr lang="fr-FR" sz="1400" dirty="0" smtClean="0">
                          <a:solidFill>
                            <a:schemeClr val="tx1"/>
                          </a:solidFill>
                        </a:rPr>
                        <a:t>zéro, il recommence, créant une fausse urgence</a:t>
                      </a:r>
                      <a:endParaRPr lang="fr-FR" sz="1400" dirty="0">
                        <a:solidFill>
                          <a:schemeClr val="tx1"/>
                        </a:solidFill>
                      </a:endParaRPr>
                    </a:p>
                  </a:txBody>
                  <a:tcPr/>
                </a:tc>
                <a:tc>
                  <a:txBody>
                    <a:bodyPr/>
                    <a:lstStyle/>
                    <a:p>
                      <a:r>
                        <a:rPr lang="fr-FR" sz="1600" dirty="0" smtClean="0">
                          <a:solidFill>
                            <a:schemeClr val="tx1"/>
                          </a:solidFill>
                        </a:rPr>
                        <a:t>Le critère est validé si l'interface utilisateur ne contient pas de </a:t>
                      </a:r>
                      <a:r>
                        <a:rPr lang="fr-FR" sz="1600" dirty="0" err="1" smtClean="0">
                          <a:solidFill>
                            <a:schemeClr val="tx1"/>
                          </a:solidFill>
                        </a:rPr>
                        <a:t>dark</a:t>
                      </a:r>
                      <a:r>
                        <a:rPr lang="fr-FR" sz="1600" dirty="0" smtClean="0">
                          <a:solidFill>
                            <a:schemeClr val="tx1"/>
                          </a:solidFill>
                        </a:rPr>
                        <a:t> patterns.</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2024</a:t>
                      </a:r>
                    </a:p>
                    <a:p>
                      <a:r>
                        <a:rPr lang="fr-FR" sz="1400" b="0" dirty="0" smtClean="0">
                          <a:solidFill>
                            <a:srgbClr val="2F5597"/>
                          </a:solidFill>
                        </a:rPr>
                        <a:t>4.14 Le service numérique évite-t-il le recours à des procédés</a:t>
                      </a:r>
                      <a:r>
                        <a:rPr lang="fr-FR" sz="1400" b="0" baseline="0" dirty="0" smtClean="0">
                          <a:solidFill>
                            <a:srgbClr val="2F5597"/>
                          </a:solidFill>
                        </a:rPr>
                        <a:t> </a:t>
                      </a:r>
                      <a:r>
                        <a:rPr lang="fr-FR" sz="1400" b="0" dirty="0" smtClean="0">
                          <a:solidFill>
                            <a:srgbClr val="2F5597"/>
                          </a:solidFill>
                        </a:rPr>
                        <a:t>manipulatoires dans son interface utilisateur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68627947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945929446"/>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535521">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47/Utiliser uniquement du contenu vidéo, audio et animé porteur d’informations</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440243">
                <a:tc>
                  <a:txBody>
                    <a:bodyPr/>
                    <a:lstStyle/>
                    <a:p>
                      <a:pPr marL="0" indent="0">
                        <a:buFont typeface="Arial" panose="020B0604020202020204" pitchFamily="34" charset="0"/>
                        <a:buNone/>
                      </a:pPr>
                      <a:r>
                        <a:rPr lang="fr-FR" sz="1600" dirty="0" smtClean="0">
                          <a:solidFill>
                            <a:schemeClr val="tx1"/>
                          </a:solidFill>
                        </a:rPr>
                        <a:t>Vérifier la pertinence sur l’usage de vidéos, animations et </a:t>
                      </a:r>
                      <a:r>
                        <a:rPr lang="fr-FR" sz="1600" dirty="0" err="1" smtClean="0">
                          <a:solidFill>
                            <a:schemeClr val="tx1"/>
                          </a:solidFill>
                        </a:rPr>
                        <a:t>audios</a:t>
                      </a:r>
                      <a:r>
                        <a:rPr lang="fr-FR" sz="1600" dirty="0" smtClean="0">
                          <a:solidFill>
                            <a:schemeClr val="tx1"/>
                          </a:solidFill>
                        </a:rPr>
                        <a:t> : ces médias sont-ils porteurs ou non d’une information (VS ces médias ne sont utilisés qu’à des fins décoratifs).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S’interroger sur la pertinence d’utiliser des contenus vidéo, d’animation et audio décoratifs. Les micro-animations d’interface non décoratifs et apportant une information à l’utilisateur (UX) sont autorisées.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t>Le critère est validé si le service ne contient pas de contenu vidéo, audio ou d’animation à but purement décoratif, c’est-à-dire ne concernant pas les fonctions critiques du service.</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Faible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2022 et 2024</a:t>
                      </a:r>
                    </a:p>
                    <a:p>
                      <a:r>
                        <a:rPr lang="fr-FR" sz="1400" b="0" dirty="0" smtClean="0">
                          <a:solidFill>
                            <a:srgbClr val="2F5597"/>
                          </a:solidFill>
                        </a:rPr>
                        <a:t>4.6 Le service numérique utilise-t-il uniquement du contenu vidéo,</a:t>
                      </a:r>
                      <a:r>
                        <a:rPr lang="fr-FR" sz="1400" b="0" baseline="0" dirty="0" smtClean="0">
                          <a:solidFill>
                            <a:srgbClr val="2F5597"/>
                          </a:solidFill>
                        </a:rPr>
                        <a:t> </a:t>
                      </a:r>
                      <a:r>
                        <a:rPr lang="fr-FR" sz="1400" b="0" dirty="0" smtClean="0">
                          <a:solidFill>
                            <a:srgbClr val="2F5597"/>
                          </a:solidFill>
                        </a:rPr>
                        <a:t>audio et animé porteur d’informations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624094172"/>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99805649"/>
              </p:ext>
            </p:extLst>
          </p:nvPr>
        </p:nvGraphicFramePr>
        <p:xfrm>
          <a:off x="0" y="1112520"/>
          <a:ext cx="12192000" cy="502570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73718">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48/Opter pour les choix les plus sobres entre</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le texte, l’image, l’audio ou la vidéo, selon les besoins utilisateurs </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51986">
                <a:tc>
                  <a:txBody>
                    <a:bodyPr/>
                    <a:lstStyle/>
                    <a:p>
                      <a:pPr marL="0" indent="0">
                        <a:buFont typeface="Arial" panose="020B0604020202020204" pitchFamily="34" charset="0"/>
                        <a:buNone/>
                      </a:pPr>
                      <a:r>
                        <a:rPr lang="fr-FR" sz="1600" dirty="0" smtClean="0">
                          <a:solidFill>
                            <a:schemeClr val="tx1"/>
                          </a:solidFill>
                        </a:rPr>
                        <a:t>Mettre en question et documenter le besoin d’afficher un média (vidéo, animation ou enregistrement audio).</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Le cas échéant, choisir la solution la plus sobre possible tout en répondant au besoin de l’utilisateur.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À titre</a:t>
                      </a:r>
                      <a:r>
                        <a:rPr lang="fr-FR" sz="1600" baseline="0" dirty="0" smtClean="0">
                          <a:solidFill>
                            <a:schemeClr val="tx1"/>
                          </a:solidFill>
                        </a:rPr>
                        <a:t> </a:t>
                      </a:r>
                      <a:r>
                        <a:rPr lang="fr-FR" sz="1600" dirty="0" smtClean="0">
                          <a:solidFill>
                            <a:schemeClr val="tx1"/>
                          </a:solidFill>
                        </a:rPr>
                        <a:t>indicatif, de façon générale : un texte pèse moins qu’une image, une image pèse moins qu’un audio et un</a:t>
                      </a:r>
                      <a:r>
                        <a:rPr lang="fr-FR" sz="1600" baseline="0" dirty="0" smtClean="0">
                          <a:solidFill>
                            <a:schemeClr val="tx1"/>
                          </a:solidFill>
                        </a:rPr>
                        <a:t> </a:t>
                      </a:r>
                      <a:r>
                        <a:rPr lang="fr-FR" sz="1600" dirty="0" smtClean="0">
                          <a:solidFill>
                            <a:schemeClr val="tx1"/>
                          </a:solidFill>
                        </a:rPr>
                        <a:t>audio pèse moins qu’une vidéo.</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t>Le critère est validé si le service n’utilise pas de contenu vidéo, audio ou animé, ou si le recours à la vidéo, à</a:t>
                      </a:r>
                      <a:r>
                        <a:rPr lang="fr-FR" sz="1600" baseline="0" dirty="0" smtClean="0"/>
                        <a:t> </a:t>
                      </a:r>
                      <a:r>
                        <a:rPr lang="fr-FR" sz="1600" dirty="0" smtClean="0"/>
                        <a:t>l’audio ou à l’animation a été décidé en optant pour le choix de la solution la plus sobre disponible, au regard</a:t>
                      </a:r>
                      <a:r>
                        <a:rPr lang="fr-FR" sz="1600" baseline="0" dirty="0" smtClean="0"/>
                        <a:t> </a:t>
                      </a:r>
                      <a:r>
                        <a:rPr lang="fr-FR" sz="1600" dirty="0" smtClean="0"/>
                        <a:t>des besoins et des fonctionnalités essentiels du service</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Faible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Faible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2024</a:t>
                      </a:r>
                    </a:p>
                    <a:p>
                      <a:r>
                        <a:rPr lang="fr-FR" sz="1400" b="0" dirty="0" smtClean="0">
                          <a:solidFill>
                            <a:srgbClr val="2F5597"/>
                          </a:solidFill>
                        </a:rPr>
                        <a:t>4.7 Le service numérique opte-t-il pour les choix les plus sobres entre</a:t>
                      </a:r>
                      <a:r>
                        <a:rPr lang="fr-FR" sz="1400" b="0" baseline="0" dirty="0" smtClean="0">
                          <a:solidFill>
                            <a:srgbClr val="2F5597"/>
                          </a:solidFill>
                        </a:rPr>
                        <a:t> </a:t>
                      </a:r>
                      <a:r>
                        <a:rPr lang="fr-FR" sz="1400" b="0" dirty="0" smtClean="0">
                          <a:solidFill>
                            <a:srgbClr val="2F5597"/>
                          </a:solidFill>
                        </a:rPr>
                        <a:t>le texte, l’image, l’audio ou la vidéo, selon les besoins utilisateurs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922185444"/>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150829764"/>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40344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49/Limiter</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nombre des polices de</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caractères téléchargées</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572318">
                <a:tc>
                  <a:txBody>
                    <a:bodyPr/>
                    <a:lstStyle/>
                    <a:p>
                      <a:pPr marL="0" indent="0">
                        <a:buFont typeface="Arial" panose="020B0604020202020204" pitchFamily="34" charset="0"/>
                        <a:buNone/>
                      </a:pPr>
                      <a:r>
                        <a:rPr lang="fr-FR" sz="1600" dirty="0" smtClean="0">
                          <a:solidFill>
                            <a:schemeClr val="tx1"/>
                          </a:solidFill>
                        </a:rPr>
                        <a:t>Se fixer comme objectif de n’utiliser au maximum que deux polices différentes et au maximum quatre</a:t>
                      </a:r>
                      <a:r>
                        <a:rPr lang="fr-FR" sz="1600" baseline="0" dirty="0" smtClean="0">
                          <a:solidFill>
                            <a:schemeClr val="tx1"/>
                          </a:solidFill>
                        </a:rPr>
                        <a:t> </a:t>
                      </a:r>
                      <a:r>
                        <a:rPr lang="fr-FR" sz="1600" dirty="0" smtClean="0">
                          <a:solidFill>
                            <a:schemeClr val="tx1"/>
                          </a:solidFill>
                        </a:rPr>
                        <a:t>variantes au total par page ou « unité d’affichage » si la pagination n’est pas utilisée (ou si un seuil par taille</a:t>
                      </a:r>
                      <a:r>
                        <a:rPr lang="fr-FR" sz="1600" baseline="0" dirty="0" smtClean="0">
                          <a:solidFill>
                            <a:schemeClr val="tx1"/>
                          </a:solidFill>
                        </a:rPr>
                        <a:t> </a:t>
                      </a:r>
                      <a:r>
                        <a:rPr lang="fr-FR" sz="1600" dirty="0" smtClean="0">
                          <a:solidFill>
                            <a:schemeClr val="tx1"/>
                          </a:solidFill>
                        </a:rPr>
                        <a:t>de fichier est plus adapté, viser une taille maximale de 400 Ko pour les polices téléchargées).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Vérifier la</a:t>
                      </a:r>
                      <a:r>
                        <a:rPr lang="fr-FR" sz="1600" baseline="0" dirty="0" smtClean="0">
                          <a:solidFill>
                            <a:schemeClr val="tx1"/>
                          </a:solidFill>
                        </a:rPr>
                        <a:t> </a:t>
                      </a:r>
                      <a:r>
                        <a:rPr lang="fr-FR" sz="1600" dirty="0" smtClean="0">
                          <a:solidFill>
                            <a:schemeClr val="tx1"/>
                          </a:solidFill>
                        </a:rPr>
                        <a:t>compression des polices ou l’usage des glyphes nécessaires. Dans un contexte de site web, prêter aussi</a:t>
                      </a:r>
                    </a:p>
                    <a:p>
                      <a:pPr marL="0" indent="0">
                        <a:buFont typeface="Arial" panose="020B0604020202020204" pitchFamily="34" charset="0"/>
                        <a:buNone/>
                      </a:pPr>
                      <a:r>
                        <a:rPr lang="fr-FR" sz="1600" dirty="0" smtClean="0">
                          <a:solidFill>
                            <a:schemeClr val="tx1"/>
                          </a:solidFill>
                        </a:rPr>
                        <a:t>attention sur le mode de chargement : bloquant, non bloquant…</a:t>
                      </a:r>
                      <a:endParaRPr lang="fr-FR" sz="1600" dirty="0">
                        <a:solidFill>
                          <a:schemeClr val="tx1"/>
                        </a:solidFill>
                      </a:endParaRPr>
                    </a:p>
                  </a:txBody>
                  <a:tcPr/>
                </a:tc>
                <a:tc>
                  <a:txBody>
                    <a:bodyPr/>
                    <a:lstStyle/>
                    <a:p>
                      <a:r>
                        <a:rPr lang="fr-FR" sz="1600" dirty="0" smtClean="0">
                          <a:solidFill>
                            <a:schemeClr val="tx1"/>
                          </a:solidFill>
                        </a:rPr>
                        <a:t>Le nombre et le poids des polices de caractères utilisées sont à évaluer. Le critère est validé si les polices</a:t>
                      </a:r>
                      <a:r>
                        <a:rPr lang="fr-FR" sz="1600" baseline="0" dirty="0" smtClean="0">
                          <a:solidFill>
                            <a:schemeClr val="tx1"/>
                          </a:solidFill>
                        </a:rPr>
                        <a:t> </a:t>
                      </a:r>
                      <a:r>
                        <a:rPr lang="fr-FR" sz="1600" dirty="0" smtClean="0">
                          <a:solidFill>
                            <a:schemeClr val="tx1"/>
                          </a:solidFill>
                        </a:rPr>
                        <a:t>téléchargées pour le service respectent au moins l’une de ces conditions :</a:t>
                      </a:r>
                    </a:p>
                    <a:p>
                      <a:endParaRPr lang="fr-FR" sz="1600" dirty="0" smtClean="0">
                        <a:solidFill>
                          <a:schemeClr val="tx1"/>
                        </a:solidFill>
                      </a:endParaRPr>
                    </a:p>
                    <a:p>
                      <a:r>
                        <a:rPr lang="fr-FR" sz="1600" dirty="0" smtClean="0">
                          <a:solidFill>
                            <a:schemeClr val="tx1"/>
                          </a:solidFill>
                        </a:rPr>
                        <a:t>• Le nombre de polices téléchargées est limité à deux (avec au maximum quatre variantes au total) par</a:t>
                      </a:r>
                      <a:r>
                        <a:rPr lang="fr-FR" sz="1600" baseline="0" dirty="0" smtClean="0">
                          <a:solidFill>
                            <a:schemeClr val="tx1"/>
                          </a:solidFill>
                        </a:rPr>
                        <a:t> </a:t>
                      </a:r>
                      <a:r>
                        <a:rPr lang="fr-FR" sz="1600" dirty="0" smtClean="0">
                          <a:solidFill>
                            <a:schemeClr val="tx1"/>
                          </a:solidFill>
                        </a:rPr>
                        <a:t>page ou « unité d’affichage » (si la pagination n’est pas utilisée pour le service) ;</a:t>
                      </a:r>
                    </a:p>
                    <a:p>
                      <a:r>
                        <a:rPr lang="fr-FR" sz="1600" dirty="0" smtClean="0">
                          <a:solidFill>
                            <a:schemeClr val="tx1"/>
                          </a:solidFill>
                        </a:rPr>
                        <a:t>• La taille des polices téléchargées ne dépasse pas 400 Ko par page ou « unité d’affichage ».</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Faible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Faible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2024</a:t>
                      </a:r>
                    </a:p>
                    <a:p>
                      <a:r>
                        <a:rPr lang="fr-FR" sz="1400" b="0" dirty="0" smtClean="0">
                          <a:solidFill>
                            <a:srgbClr val="2F5597"/>
                          </a:solidFill>
                        </a:rPr>
                        <a:t>4.8 Le service numérique limite-t-il le nombre des polices de</a:t>
                      </a:r>
                      <a:r>
                        <a:rPr lang="fr-FR" sz="1400" b="0" baseline="0" dirty="0" smtClean="0">
                          <a:solidFill>
                            <a:srgbClr val="2F5597"/>
                          </a:solidFill>
                        </a:rPr>
                        <a:t> </a:t>
                      </a:r>
                      <a:r>
                        <a:rPr lang="fr-FR" sz="1400" b="0" dirty="0" smtClean="0">
                          <a:solidFill>
                            <a:srgbClr val="2F5597"/>
                          </a:solidFill>
                        </a:rPr>
                        <a:t>caractères téléchargées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68486068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624894612"/>
              </p:ext>
            </p:extLst>
          </p:nvPr>
        </p:nvGraphicFramePr>
        <p:xfrm>
          <a:off x="0" y="1112520"/>
          <a:ext cx="12191999" cy="4975764"/>
        </p:xfrm>
        <a:graphic>
          <a:graphicData uri="http://schemas.openxmlformats.org/drawingml/2006/table">
            <a:tbl>
              <a:tblPr firstRow="1" bandRow="1">
                <a:tableStyleId>{5C22544A-7EE6-4342-B048-85BDC9FD1C3A}</a:tableStyleId>
              </a:tblPr>
              <a:tblGrid>
                <a:gridCol w="6100665">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33584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50/Informer</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l’utilisateur du format de saisie attendu avant sa validation</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39918">
                <a:tc>
                  <a:txBody>
                    <a:bodyPr/>
                    <a:lstStyle/>
                    <a:p>
                      <a:pPr marL="0" indent="0">
                        <a:buFont typeface="Arial" panose="020B0604020202020204" pitchFamily="34" charset="0"/>
                        <a:buNone/>
                      </a:pPr>
                      <a:r>
                        <a:rPr lang="fr-FR" sz="1600" dirty="0" smtClean="0">
                          <a:solidFill>
                            <a:schemeClr val="tx1"/>
                          </a:solidFill>
                        </a:rPr>
                        <a:t>Vérifier les formats attendus lors de la saisie de l’utilisateur avant soumission du formulaire et indiquer les erreurs de saisie.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t>Il convient de valider les saisies et les formats de données obligatoires à la soumission d’un formulaire sans requête serveur lorsque c’est possible. Cela peut être réalisé en utilisant des fonctionnalités de validation intégrées aux langages de programmation web, tels que JavaScript. </a:t>
                      </a:r>
                    </a:p>
                  </a:txBody>
                  <a:tcPr/>
                </a:tc>
                <a:tc>
                  <a:txBody>
                    <a:bodyPr/>
                    <a:lstStyle/>
                    <a:p>
                      <a:r>
                        <a:rPr lang="fr-FR" sz="1600" dirty="0" smtClean="0"/>
                        <a:t>Le critère est validé si l’utilisateur est informé des formats de saisie attendus avant la soumission du formulaire.</a:t>
                      </a:r>
                    </a:p>
                    <a:p>
                      <a:endParaRPr lang="fr-FR" sz="1600" dirty="0" smtClean="0"/>
                    </a:p>
                    <a:p>
                      <a:r>
                        <a:rPr lang="fr-FR" sz="1600" dirty="0" smtClean="0"/>
                        <a:t>Les saisies et les formats de données obligatoires du service devront également être validés d’abord côté client avant la soumission du formulaire.</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Faible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kumimoji="0" lang="fr-FR" sz="1800" b="1" i="0" u="none" strike="noStrike" kern="1200" cap="none" spc="0" normalizeH="0" baseline="0" noProof="0" dirty="0" smtClean="0">
                          <a:ln>
                            <a:noFill/>
                          </a:ln>
                          <a:solidFill>
                            <a:prstClr val="black"/>
                          </a:solidFill>
                          <a:effectLst/>
                          <a:uLnTx/>
                          <a:uFillTx/>
                          <a:latin typeface="Calibri" panose="020F0502020204030204"/>
                          <a:ea typeface="+mn-ea"/>
                          <a:cs typeface="+mn-cs"/>
                        </a:rPr>
                        <a:t>Faible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731520"/>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2022 et 2024</a:t>
                      </a:r>
                    </a:p>
                    <a:p>
                      <a:r>
                        <a:rPr lang="fr-FR" sz="1400" b="0" dirty="0" smtClean="0">
                          <a:solidFill>
                            <a:srgbClr val="2F5597"/>
                          </a:solidFill>
                        </a:rPr>
                        <a:t>4.10 Le service numérique informe-t-il l’utilisateur du format de saisie</a:t>
                      </a:r>
                      <a:r>
                        <a:rPr lang="fr-FR" sz="1400" b="0" baseline="0" dirty="0" smtClean="0">
                          <a:solidFill>
                            <a:srgbClr val="2F5597"/>
                          </a:solidFill>
                        </a:rPr>
                        <a:t> </a:t>
                      </a:r>
                      <a:r>
                        <a:rPr lang="fr-FR" sz="1400" b="0" dirty="0" smtClean="0">
                          <a:solidFill>
                            <a:srgbClr val="2F5597"/>
                          </a:solidFill>
                        </a:rPr>
                        <a:t>attendu, en évitant les requêtes serveur inutiles pour la soumission</a:t>
                      </a:r>
                    </a:p>
                    <a:p>
                      <a:r>
                        <a:rPr lang="fr-FR" sz="1400" b="0" dirty="0" smtClean="0">
                          <a:solidFill>
                            <a:srgbClr val="2F5597"/>
                          </a:solidFill>
                        </a:rPr>
                        <a:t>d’un formulaire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877554764"/>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928463495"/>
              </p:ext>
            </p:extLst>
          </p:nvPr>
        </p:nvGraphicFramePr>
        <p:xfrm>
          <a:off x="0" y="1112520"/>
          <a:ext cx="12191999" cy="502570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169227">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51/Informer l’utilisateur, avant le</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transfert, des poids et formats de fichier attendus</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856477">
                <a:tc>
                  <a:txBody>
                    <a:bodyPr/>
                    <a:lstStyle/>
                    <a:p>
                      <a:pPr marL="0" indent="0">
                        <a:buFont typeface="Arial" panose="020B0604020202020204" pitchFamily="34" charset="0"/>
                        <a:buNone/>
                      </a:pPr>
                      <a:r>
                        <a:rPr lang="fr-FR" sz="1200" dirty="0" smtClean="0">
                          <a:solidFill>
                            <a:schemeClr val="tx1"/>
                          </a:solidFill>
                        </a:rPr>
                        <a:t>• Fichiers téléchargés : Indiquer clairement à l’utilisateur, au minimum pour les fichiers de plus de 10</a:t>
                      </a:r>
                      <a:r>
                        <a:rPr lang="fr-FR" sz="1200" baseline="0" dirty="0" smtClean="0">
                          <a:solidFill>
                            <a:schemeClr val="tx1"/>
                          </a:solidFill>
                        </a:rPr>
                        <a:t> </a:t>
                      </a:r>
                      <a:r>
                        <a:rPr lang="fr-FR" sz="1200" dirty="0" smtClean="0">
                          <a:solidFill>
                            <a:schemeClr val="tx1"/>
                          </a:solidFill>
                        </a:rPr>
                        <a:t>Mo et avant le transfert, des poids et des formats de fichier attendus : un type de fichier, une taille</a:t>
                      </a:r>
                      <a:r>
                        <a:rPr lang="fr-FR" sz="1200" baseline="0" dirty="0" smtClean="0">
                          <a:solidFill>
                            <a:schemeClr val="tx1"/>
                          </a:solidFill>
                        </a:rPr>
                        <a:t> </a:t>
                      </a:r>
                      <a:r>
                        <a:rPr lang="fr-FR" sz="1200" dirty="0" smtClean="0">
                          <a:solidFill>
                            <a:schemeClr val="tx1"/>
                          </a:solidFill>
                        </a:rPr>
                        <a:t>maximale d’image, etc.</a:t>
                      </a:r>
                    </a:p>
                    <a:p>
                      <a:pPr marL="0" indent="0">
                        <a:buFont typeface="Arial" panose="020B0604020202020204" pitchFamily="34" charset="0"/>
                        <a:buNone/>
                      </a:pPr>
                      <a:r>
                        <a:rPr lang="fr-FR" sz="1200" dirty="0" smtClean="0">
                          <a:solidFill>
                            <a:schemeClr val="tx1"/>
                          </a:solidFill>
                        </a:rPr>
                        <a:t>• Fichiers </a:t>
                      </a:r>
                      <a:r>
                        <a:rPr lang="fr-FR" sz="1200" dirty="0" err="1" smtClean="0">
                          <a:solidFill>
                            <a:schemeClr val="tx1"/>
                          </a:solidFill>
                        </a:rPr>
                        <a:t>téléversés</a:t>
                      </a:r>
                      <a:r>
                        <a:rPr lang="fr-FR" sz="1200" dirty="0" smtClean="0">
                          <a:solidFill>
                            <a:schemeClr val="tx1"/>
                          </a:solidFill>
                        </a:rPr>
                        <a:t> (ou </a:t>
                      </a:r>
                      <a:r>
                        <a:rPr lang="fr-FR" sz="1200" dirty="0" err="1" smtClean="0">
                          <a:solidFill>
                            <a:schemeClr val="tx1"/>
                          </a:solidFill>
                        </a:rPr>
                        <a:t>upload</a:t>
                      </a:r>
                      <a:r>
                        <a:rPr lang="fr-FR" sz="1200" dirty="0" smtClean="0">
                          <a:solidFill>
                            <a:schemeClr val="tx1"/>
                          </a:solidFill>
                        </a:rPr>
                        <a:t>) : la soumission du formulaire n’est pas possible si les prérequis</a:t>
                      </a:r>
                      <a:r>
                        <a:rPr lang="fr-FR" sz="1200" baseline="0" dirty="0" smtClean="0">
                          <a:solidFill>
                            <a:schemeClr val="tx1"/>
                          </a:solidFill>
                        </a:rPr>
                        <a:t> </a:t>
                      </a:r>
                      <a:r>
                        <a:rPr lang="fr-FR" sz="1200" dirty="0" smtClean="0">
                          <a:solidFill>
                            <a:schemeClr val="tx1"/>
                          </a:solidFill>
                        </a:rPr>
                        <a:t>indiqués de poids et de format de fichier ne sont pas respectés. La limite mise en place doit toutefois</a:t>
                      </a:r>
                      <a:r>
                        <a:rPr lang="fr-FR" sz="1200" baseline="0" dirty="0" smtClean="0">
                          <a:solidFill>
                            <a:schemeClr val="tx1"/>
                          </a:solidFill>
                        </a:rPr>
                        <a:t> </a:t>
                      </a:r>
                      <a:r>
                        <a:rPr lang="fr-FR" sz="1200" dirty="0" smtClean="0">
                          <a:solidFill>
                            <a:schemeClr val="tx1"/>
                          </a:solidFill>
                        </a:rPr>
                        <a:t>prendre en compte tous les usages, y compris ceux nécessitant un envoi des fichiers volumineux, car</a:t>
                      </a:r>
                      <a:r>
                        <a:rPr lang="fr-FR" sz="1200" baseline="0" dirty="0" smtClean="0">
                          <a:solidFill>
                            <a:schemeClr val="tx1"/>
                          </a:solidFill>
                        </a:rPr>
                        <a:t> </a:t>
                      </a:r>
                      <a:r>
                        <a:rPr lang="fr-FR" sz="1200" dirty="0" smtClean="0">
                          <a:solidFill>
                            <a:schemeClr val="tx1"/>
                          </a:solidFill>
                        </a:rPr>
                        <a:t>bloquer la démarche numérique de l’utilisateur serait contreproductif. </a:t>
                      </a:r>
                    </a:p>
                    <a:p>
                      <a:pPr marL="0" indent="0">
                        <a:buFont typeface="Arial" panose="020B0604020202020204" pitchFamily="34" charset="0"/>
                        <a:buNone/>
                      </a:pPr>
                      <a:r>
                        <a:rPr lang="fr-FR" sz="1200" dirty="0" smtClean="0">
                          <a:solidFill>
                            <a:schemeClr val="tx1"/>
                          </a:solidFill>
                        </a:rPr>
                        <a:t>Il est important également de</a:t>
                      </a:r>
                      <a:r>
                        <a:rPr lang="fr-FR" sz="1200" baseline="0" dirty="0" smtClean="0">
                          <a:solidFill>
                            <a:schemeClr val="tx1"/>
                          </a:solidFill>
                        </a:rPr>
                        <a:t> </a:t>
                      </a:r>
                      <a:r>
                        <a:rPr lang="fr-FR" sz="1200" dirty="0" smtClean="0">
                          <a:solidFill>
                            <a:schemeClr val="tx1"/>
                          </a:solidFill>
                        </a:rPr>
                        <a:t>prendre en charge les nouveaux formats de fichiers (exemple : images </a:t>
                      </a:r>
                      <a:r>
                        <a:rPr lang="fr-FR" sz="1200" dirty="0" err="1" smtClean="0">
                          <a:solidFill>
                            <a:schemeClr val="tx1"/>
                          </a:solidFill>
                        </a:rPr>
                        <a:t>WebP</a:t>
                      </a:r>
                      <a:r>
                        <a:rPr lang="fr-FR" sz="1200" dirty="0" smtClean="0">
                          <a:solidFill>
                            <a:schemeClr val="tx1"/>
                          </a:solidFill>
                        </a:rPr>
                        <a:t> et AVIF en plus des</a:t>
                      </a:r>
                      <a:r>
                        <a:rPr lang="fr-FR" sz="1200" baseline="0" dirty="0" smtClean="0">
                          <a:solidFill>
                            <a:schemeClr val="tx1"/>
                          </a:solidFill>
                        </a:rPr>
                        <a:t> </a:t>
                      </a:r>
                      <a:r>
                        <a:rPr lang="fr-FR" sz="1200" dirty="0" smtClean="0">
                          <a:solidFill>
                            <a:schemeClr val="tx1"/>
                          </a:solidFill>
                        </a:rPr>
                        <a:t>images JPEG et PNG) afin d’éviter d’imposer à l’utilisateur de passer par une étape de conversion</a:t>
                      </a:r>
                      <a:r>
                        <a:rPr lang="fr-FR" sz="1200" baseline="0" dirty="0" smtClean="0">
                          <a:solidFill>
                            <a:schemeClr val="tx1"/>
                          </a:solidFill>
                        </a:rPr>
                        <a:t> </a:t>
                      </a:r>
                      <a:r>
                        <a:rPr lang="fr-FR" sz="1200" dirty="0" smtClean="0">
                          <a:solidFill>
                            <a:schemeClr val="tx1"/>
                          </a:solidFill>
                        </a:rPr>
                        <a:t>contreproductive.</a:t>
                      </a:r>
                    </a:p>
                    <a:p>
                      <a:pPr marL="0" indent="0">
                        <a:buFont typeface="Arial" panose="020B0604020202020204" pitchFamily="34" charset="0"/>
                        <a:buNone/>
                      </a:pPr>
                      <a:endParaRPr lang="fr-FR" sz="1200" dirty="0" smtClean="0">
                        <a:solidFill>
                          <a:schemeClr val="tx1"/>
                        </a:solidFill>
                      </a:endParaRPr>
                    </a:p>
                    <a:p>
                      <a:pPr marL="0" indent="0">
                        <a:buFont typeface="Arial" panose="020B0604020202020204" pitchFamily="34" charset="0"/>
                        <a:buNone/>
                      </a:pPr>
                      <a:r>
                        <a:rPr lang="fr-FR" sz="1200" dirty="0" smtClean="0">
                          <a:solidFill>
                            <a:schemeClr val="tx1"/>
                          </a:solidFill>
                        </a:rPr>
                        <a:t>À noter : les limitations devront être définies de façon proportionnée afin de ne pas engendrer d’effet</a:t>
                      </a:r>
                      <a:r>
                        <a:rPr lang="fr-FR" sz="1200" baseline="0" dirty="0" smtClean="0">
                          <a:solidFill>
                            <a:schemeClr val="tx1"/>
                          </a:solidFill>
                        </a:rPr>
                        <a:t> </a:t>
                      </a:r>
                      <a:r>
                        <a:rPr lang="fr-FR" sz="1200" dirty="0" smtClean="0">
                          <a:solidFill>
                            <a:schemeClr val="tx1"/>
                          </a:solidFill>
                        </a:rPr>
                        <a:t>de bord négatif sur l’accessibilité du service, en tenant compte des cibles utilisatrices.</a:t>
                      </a:r>
                      <a:endParaRPr lang="fr-FR" sz="1200" dirty="0">
                        <a:solidFill>
                          <a:schemeClr val="tx1"/>
                        </a:solidFill>
                      </a:endParaRPr>
                    </a:p>
                  </a:txBody>
                  <a:tcPr/>
                </a:tc>
                <a:tc>
                  <a:txBody>
                    <a:bodyPr/>
                    <a:lstStyle/>
                    <a:p>
                      <a:r>
                        <a:rPr lang="fr-FR" sz="1200" dirty="0" smtClean="0"/>
                        <a:t>Le critère est validé si : </a:t>
                      </a:r>
                    </a:p>
                    <a:p>
                      <a:r>
                        <a:rPr lang="fr-FR" sz="1200" dirty="0" smtClean="0"/>
                        <a:t>• Fichiers téléchargés : les informations sur les poids et formats de fichier attendus pour le service sont correctement affichées à l'utilisateur avant le transfert, au minimum pour les fichiers de plus de 10 Mo. Un moyen de test peut consister à vérifier cet affichage préalable au transfert de fichier avec différents types et tailles de fichiers. </a:t>
                      </a:r>
                    </a:p>
                    <a:p>
                      <a:r>
                        <a:rPr lang="fr-FR" sz="1200" dirty="0" smtClean="0"/>
                        <a:t>• Fichiers </a:t>
                      </a:r>
                      <a:r>
                        <a:rPr lang="fr-FR" sz="1200" dirty="0" err="1" smtClean="0"/>
                        <a:t>téléversés</a:t>
                      </a:r>
                      <a:r>
                        <a:rPr lang="fr-FR" sz="1200" dirty="0" smtClean="0"/>
                        <a:t> ou </a:t>
                      </a:r>
                      <a:r>
                        <a:rPr lang="fr-FR" sz="1200" dirty="0" err="1" smtClean="0"/>
                        <a:t>upload</a:t>
                      </a:r>
                      <a:r>
                        <a:rPr lang="fr-FR" sz="1200" dirty="0" smtClean="0"/>
                        <a:t> : des limitations de poids et de formats de fichiers sont mises en œuvre et sont affichées clairement pour l’utilisateur du service numérique (hors situation spécifique où de telles limitations nuiraient à l’utilisation du service).</a:t>
                      </a:r>
                      <a:endParaRPr lang="fr-FR" sz="12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Faible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2022 et 2024</a:t>
                      </a:r>
                    </a:p>
                    <a:p>
                      <a:r>
                        <a:rPr lang="fr-FR" sz="1400" b="0" dirty="0" smtClean="0">
                          <a:solidFill>
                            <a:srgbClr val="2F5597"/>
                          </a:solidFill>
                        </a:rPr>
                        <a:t>4.11 Le service numérique informe-t-il l’utilisateur, avant le transfert,</a:t>
                      </a:r>
                      <a:r>
                        <a:rPr lang="fr-FR" sz="1400" b="0" baseline="0" dirty="0" smtClean="0">
                          <a:solidFill>
                            <a:srgbClr val="2F5597"/>
                          </a:solidFill>
                        </a:rPr>
                        <a:t> </a:t>
                      </a:r>
                      <a:r>
                        <a:rPr lang="fr-FR" sz="1400" b="0" dirty="0" smtClean="0">
                          <a:solidFill>
                            <a:srgbClr val="2F5597"/>
                          </a:solidFill>
                        </a:rPr>
                        <a:t>des poids et formats de fichier attendus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785004578"/>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526398958"/>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64345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52/</a:t>
                      </a:r>
                      <a:r>
                        <a:rPr lang="fr-FR" sz="1800" b="1" u="sng" kern="1200" baseline="0" dirty="0" smtClean="0">
                          <a:solidFill>
                            <a:schemeClr val="bg1"/>
                          </a:solidFill>
                          <a:latin typeface="+mn-lt"/>
                          <a:ea typeface="+mn-ea"/>
                          <a:cs typeface="+mn-cs"/>
                        </a:rPr>
                        <a:t>Fournir </a:t>
                      </a:r>
                      <a:r>
                        <a:rPr lang="fr-FR" sz="1800" b="1" u="sng" kern="1200" dirty="0" smtClean="0">
                          <a:solidFill>
                            <a:schemeClr val="bg1"/>
                          </a:solidFill>
                          <a:latin typeface="+mn-lt"/>
                          <a:ea typeface="+mn-ea"/>
                          <a:cs typeface="+mn-cs"/>
                        </a:rPr>
                        <a:t>à l’utilisateur un moyen de contrôle sur ses contenus et ses services afin de réduire les impacts environnementaux</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332305">
                <a:tc>
                  <a:txBody>
                    <a:bodyPr/>
                    <a:lstStyle/>
                    <a:p>
                      <a:pPr marL="0" indent="0">
                        <a:buFont typeface="Arial" panose="020B0604020202020204" pitchFamily="34" charset="0"/>
                        <a:buNone/>
                      </a:pPr>
                      <a:r>
                        <a:rPr lang="fr-FR" sz="1600" dirty="0" smtClean="0">
                          <a:solidFill>
                            <a:schemeClr val="tx1"/>
                          </a:solidFill>
                        </a:rPr>
                        <a:t>Exemples : des fonctions proposant de choisir la définition de l’image à télécharger, des possibilités de choix en résolutions des médias (vidéos, sons, images, documents), de désactiver l’affichage des médias, etc. </a:t>
                      </a:r>
                      <a:endParaRPr lang="fr-FR" sz="1600" dirty="0">
                        <a:solidFill>
                          <a:schemeClr val="tx1"/>
                        </a:solidFill>
                      </a:endParaRPr>
                    </a:p>
                  </a:txBody>
                  <a:tcPr/>
                </a:tc>
                <a:tc>
                  <a:txBody>
                    <a:bodyPr/>
                    <a:lstStyle/>
                    <a:p>
                      <a:r>
                        <a:rPr lang="fr-FR" sz="1200" kern="1200" dirty="0" smtClean="0">
                          <a:solidFill>
                            <a:schemeClr val="tx1"/>
                          </a:solidFill>
                          <a:latin typeface="+mn-lt"/>
                          <a:ea typeface="+mn-ea"/>
                          <a:cs typeface="+mn-cs"/>
                        </a:rPr>
                        <a:t>Le service numérique fournit à l’utilisateur un moyen de contrôle sur ses contenus et ses services : OUI / NON.</a:t>
                      </a:r>
                    </a:p>
                    <a:p>
                      <a:endParaRPr lang="fr-FR" sz="1600" dirty="0" smtClean="0">
                        <a:solidFill>
                          <a:schemeClr val="tx1"/>
                        </a:solidFill>
                      </a:endParaRPr>
                    </a:p>
                    <a:p>
                      <a:r>
                        <a:rPr lang="fr-FR" sz="1200" dirty="0" smtClean="0">
                          <a:solidFill>
                            <a:schemeClr val="tx1"/>
                          </a:solidFill>
                        </a:rPr>
                        <a:t>Le critère est validé si le service numérique respecte les conditions cumulatives suivantes :</a:t>
                      </a:r>
                    </a:p>
                    <a:p>
                      <a:r>
                        <a:rPr lang="fr-FR" sz="1200" dirty="0" smtClean="0">
                          <a:solidFill>
                            <a:schemeClr val="tx1"/>
                          </a:solidFill>
                        </a:rPr>
                        <a:t>• Le service affiche sur son interface une information à destination des utilisateurs sur l’empreinte</a:t>
                      </a:r>
                      <a:r>
                        <a:rPr lang="fr-FR" sz="1200" baseline="0" dirty="0" smtClean="0">
                          <a:solidFill>
                            <a:schemeClr val="tx1"/>
                          </a:solidFill>
                        </a:rPr>
                        <a:t> </a:t>
                      </a:r>
                      <a:r>
                        <a:rPr lang="fr-FR" sz="1200" dirty="0" smtClean="0">
                          <a:solidFill>
                            <a:schemeClr val="tx1"/>
                          </a:solidFill>
                        </a:rPr>
                        <a:t>environnementale de l’usage du service.</a:t>
                      </a:r>
                    </a:p>
                    <a:p>
                      <a:r>
                        <a:rPr lang="fr-FR" sz="1200" dirty="0" smtClean="0">
                          <a:solidFill>
                            <a:schemeClr val="tx1"/>
                          </a:solidFill>
                        </a:rPr>
                        <a:t>• Le service numérique propose un mode d’affichage et d’usage sobre, par défaut ou dont l’activation</a:t>
                      </a:r>
                      <a:r>
                        <a:rPr lang="fr-FR" sz="1200" baseline="0" dirty="0" smtClean="0">
                          <a:solidFill>
                            <a:schemeClr val="tx1"/>
                          </a:solidFill>
                        </a:rPr>
                        <a:t> </a:t>
                      </a:r>
                      <a:r>
                        <a:rPr lang="fr-FR" sz="1200" dirty="0" smtClean="0">
                          <a:solidFill>
                            <a:schemeClr val="tx1"/>
                          </a:solidFill>
                        </a:rPr>
                        <a:t>est laissée à la discrétion de l’utilisateur, pour diminuer l’empreinte environnementale associée à</a:t>
                      </a:r>
                      <a:r>
                        <a:rPr lang="fr-FR" sz="1200" baseline="0" dirty="0" smtClean="0">
                          <a:solidFill>
                            <a:schemeClr val="tx1"/>
                          </a:solidFill>
                        </a:rPr>
                        <a:t> </a:t>
                      </a:r>
                      <a:r>
                        <a:rPr lang="fr-FR" sz="1200" dirty="0" smtClean="0">
                          <a:solidFill>
                            <a:schemeClr val="tx1"/>
                          </a:solidFill>
                        </a:rPr>
                        <a:t>son usage. </a:t>
                      </a:r>
                    </a:p>
                    <a:p>
                      <a:r>
                        <a:rPr lang="fr-FR" sz="1200" dirty="0" smtClean="0">
                          <a:solidFill>
                            <a:schemeClr val="tx1"/>
                          </a:solidFill>
                        </a:rPr>
                        <a:t>• Documenter les actions mises en place dans la déclaration d’écoconception, en particulier</a:t>
                      </a:r>
                    </a:p>
                    <a:p>
                      <a:r>
                        <a:rPr lang="fr-FR" sz="1200" dirty="0" smtClean="0">
                          <a:solidFill>
                            <a:schemeClr val="tx1"/>
                          </a:solidFill>
                        </a:rPr>
                        <a:t>l’information environnementale délivrée à l’utilisateur et le paramétrage du mode de « sobriété</a:t>
                      </a:r>
                    </a:p>
                    <a:p>
                      <a:r>
                        <a:rPr lang="fr-FR" sz="1200" dirty="0" smtClean="0">
                          <a:solidFill>
                            <a:schemeClr val="tx1"/>
                          </a:solidFill>
                        </a:rPr>
                        <a:t>énergétique », y compris les gains environnementaux associés.</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solidFill>
                            <a:schemeClr val="tx1"/>
                          </a:solidFill>
                        </a:rPr>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731520"/>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2022 et 2024</a:t>
                      </a:r>
                    </a:p>
                    <a:p>
                      <a:r>
                        <a:rPr lang="fr-FR" sz="1400" b="0" dirty="0" smtClean="0">
                          <a:solidFill>
                            <a:srgbClr val="2F5597"/>
                          </a:solidFill>
                        </a:rPr>
                        <a:t>4.15 Le service numérique fournit-il à l’utilisateur un moyen de contrôle</a:t>
                      </a:r>
                      <a:r>
                        <a:rPr lang="fr-FR" sz="1400" b="0" baseline="0" dirty="0" smtClean="0">
                          <a:solidFill>
                            <a:srgbClr val="2F5597"/>
                          </a:solidFill>
                        </a:rPr>
                        <a:t> </a:t>
                      </a:r>
                      <a:r>
                        <a:rPr lang="fr-FR" sz="1400" b="0" dirty="0" smtClean="0">
                          <a:solidFill>
                            <a:srgbClr val="2F5597"/>
                          </a:solidFill>
                        </a:rPr>
                        <a:t>sur ses usages afin de suivre et de réduire les impacts</a:t>
                      </a:r>
                    </a:p>
                    <a:p>
                      <a:r>
                        <a:rPr lang="fr-FR" sz="1400" b="0" dirty="0" smtClean="0">
                          <a:solidFill>
                            <a:srgbClr val="2F5597"/>
                          </a:solidFill>
                        </a:rPr>
                        <a:t>environnementaux associés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51236352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96057526"/>
              </p:ext>
            </p:extLst>
          </p:nvPr>
        </p:nvGraphicFramePr>
        <p:xfrm>
          <a:off x="16232"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228787">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53/Optimiser le parcours utilisateur.</a:t>
                      </a:r>
                    </a:p>
                  </a:txBody>
                  <a:tcPr anchor="ctr">
                    <a:solidFill>
                      <a:srgbClr val="2F5597"/>
                    </a:solidFill>
                  </a:tcPr>
                </a:tc>
                <a:tc hMerge="1">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746977">
                <a:tc>
                  <a:txBody>
                    <a:bodyPr/>
                    <a:lstStyle/>
                    <a:p>
                      <a:pPr marL="0" indent="0">
                        <a:buFont typeface="Arial" panose="020B0604020202020204" pitchFamily="34" charset="0"/>
                        <a:buNone/>
                      </a:pPr>
                      <a:r>
                        <a:rPr lang="fr-FR" sz="1600" dirty="0" smtClean="0">
                          <a:solidFill>
                            <a:schemeClr val="tx1"/>
                          </a:solidFill>
                        </a:rPr>
                        <a:t>Diminuer le temps passé par l'utilisateur sur ses usages les plus fréquents. Dans un premier temps, cibler les parcours les plus fréquents puis optimiser leur usage : diminuer le nombre d'étapes, diminuer le nombre d'actions, supprimer l'inutile, identifier les cas d'échecs, optimiser les temps de réponse... Un parcours est bien conçu lorsque le programme se comporte exactement comme l'utilisateur l'avait imaginé.</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Le nombre de</a:t>
                      </a:r>
                      <a:r>
                        <a:rPr lang="fr-FR" sz="1600" baseline="0" dirty="0" smtClean="0">
                          <a:solidFill>
                            <a:schemeClr val="tx1"/>
                          </a:solidFill>
                        </a:rPr>
                        <a:t> </a:t>
                      </a:r>
                      <a:r>
                        <a:rPr lang="fr-FR" sz="1600" dirty="0" smtClean="0">
                          <a:solidFill>
                            <a:schemeClr val="tx1"/>
                          </a:solidFill>
                        </a:rPr>
                        <a:t>points de friction</a:t>
                      </a:r>
                      <a:r>
                        <a:rPr lang="fr-FR" sz="1600" baseline="0" dirty="0" smtClean="0">
                          <a:solidFill>
                            <a:schemeClr val="tx1"/>
                          </a:solidFill>
                        </a:rPr>
                        <a:t> </a:t>
                      </a:r>
                      <a:r>
                        <a:rPr lang="fr-FR" sz="1600" dirty="0" smtClean="0">
                          <a:solidFill>
                            <a:schemeClr val="tx1"/>
                          </a:solidFill>
                        </a:rPr>
                        <a:t>est inférieur à ou égal à 0.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14036" y="0"/>
          <a:ext cx="6077964" cy="1112520"/>
        </p:xfrm>
        <a:graphic>
          <a:graphicData uri="http://schemas.openxmlformats.org/drawingml/2006/table">
            <a:tbl>
              <a:tblPr firstRow="1" bandRow="1">
                <a:tableStyleId>{5C22544A-7EE6-4342-B048-85BDC9FD1C3A}</a:tableStyleId>
              </a:tblPr>
              <a:tblGrid>
                <a:gridCol w="3038982">
                  <a:extLst>
                    <a:ext uri="{9D8B030D-6E8A-4147-A177-3AD203B41FA5}">
                      <a16:colId xmlns:a16="http://schemas.microsoft.com/office/drawing/2014/main" val="2625270736"/>
                    </a:ext>
                  </a:extLst>
                </a:gridCol>
                <a:gridCol w="3038982">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a:t>
                      </a:r>
                    </a:p>
                    <a:p>
                      <a:r>
                        <a:rPr lang="fr-FR" sz="1400" b="0" dirty="0" smtClean="0">
                          <a:solidFill>
                            <a:srgbClr val="2F5597"/>
                          </a:solidFill>
                        </a:rPr>
                        <a:t>Optimiser le parcours utilisateur</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413075596"/>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621643544"/>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12751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54/Les documents à télécharger sont proposés au téléchargement par un système de </a:t>
                      </a:r>
                      <a:r>
                        <a:rPr lang="fr-FR" sz="1800" b="1" u="sng" kern="1200" dirty="0" err="1" smtClean="0">
                          <a:solidFill>
                            <a:schemeClr val="bg1"/>
                          </a:solidFill>
                          <a:latin typeface="+mn-lt"/>
                          <a:ea typeface="+mn-ea"/>
                          <a:cs typeface="+mn-cs"/>
                        </a:rPr>
                        <a:t>chapitrage</a:t>
                      </a:r>
                      <a:r>
                        <a:rPr lang="fr-FR" sz="1800" b="1" u="sng" kern="1200" dirty="0" smtClean="0">
                          <a:solidFill>
                            <a:schemeClr val="bg1"/>
                          </a:solidFill>
                          <a:latin typeface="+mn-lt"/>
                          <a:ea typeface="+mn-ea"/>
                          <a:cs typeface="+mn-cs"/>
                        </a:rPr>
                        <a:t> ou de résumé</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afin d’éviter de télécharger la totalité d’un document.</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848248">
                <a:tc>
                  <a:txBody>
                    <a:bodyPr/>
                    <a:lstStyle/>
                    <a:p>
                      <a:pPr marL="0" indent="0">
                        <a:buFont typeface="Arial" panose="020B0604020202020204" pitchFamily="34" charset="0"/>
                        <a:buNone/>
                      </a:pPr>
                      <a:r>
                        <a:rPr lang="fr-FR" sz="1600" dirty="0" smtClean="0">
                          <a:solidFill>
                            <a:schemeClr val="tx1"/>
                          </a:solidFill>
                        </a:rPr>
                        <a:t>Lorsqu’un document est long, et pour éviter qu’il soit téléchargé inutilement, vous pouvez fournir</a:t>
                      </a:r>
                      <a:r>
                        <a:rPr lang="fr-FR" sz="1600" baseline="0" dirty="0" smtClean="0">
                          <a:solidFill>
                            <a:schemeClr val="tx1"/>
                          </a:solidFill>
                        </a:rPr>
                        <a:t> </a:t>
                      </a:r>
                      <a:r>
                        <a:rPr lang="fr-FR" sz="1600" dirty="0" smtClean="0">
                          <a:solidFill>
                            <a:schemeClr val="tx1"/>
                          </a:solidFill>
                        </a:rPr>
                        <a:t>une description ou un court résumé du document directement dans la page.</a:t>
                      </a:r>
                    </a:p>
                    <a:p>
                      <a:pPr marL="0" indent="0">
                        <a:buFont typeface="Arial" panose="020B0604020202020204" pitchFamily="34" charset="0"/>
                        <a:buNone/>
                      </a:pPr>
                      <a:r>
                        <a:rPr lang="fr-FR" sz="1600" dirty="0" smtClean="0">
                          <a:solidFill>
                            <a:schemeClr val="tx1"/>
                          </a:solidFill>
                        </a:rPr>
                        <a:t>On peut également fournir 2 versions d’un document, une version courte constituant une synthèse</a:t>
                      </a:r>
                      <a:r>
                        <a:rPr lang="fr-FR" sz="1600" baseline="0" dirty="0" smtClean="0">
                          <a:solidFill>
                            <a:schemeClr val="tx1"/>
                          </a:solidFill>
                        </a:rPr>
                        <a:t> </a:t>
                      </a:r>
                      <a:r>
                        <a:rPr lang="fr-FR" sz="1600" dirty="0" smtClean="0">
                          <a:solidFill>
                            <a:schemeClr val="tx1"/>
                          </a:solidFill>
                        </a:rPr>
                        <a:t>et une version longue contenant tous les détails, sans oublier d’indiquer le poids de chaque.</a:t>
                      </a:r>
                      <a:endParaRPr lang="fr-FR" sz="1600" dirty="0">
                        <a:solidFill>
                          <a:schemeClr val="tx1"/>
                        </a:solidFill>
                      </a:endParaRPr>
                    </a:p>
                  </a:txBody>
                  <a:tcPr/>
                </a:tc>
                <a:tc>
                  <a:txBody>
                    <a:bodyPr/>
                    <a:lstStyle/>
                    <a:p>
                      <a:r>
                        <a:rPr lang="fr-FR" sz="1600" dirty="0" smtClean="0">
                          <a:solidFill>
                            <a:schemeClr val="tx1"/>
                          </a:solidFill>
                        </a:rPr>
                        <a:t>Téléchargement des documents par </a:t>
                      </a:r>
                      <a:r>
                        <a:rPr lang="fr-FR" sz="1600" dirty="0" err="1" smtClean="0">
                          <a:solidFill>
                            <a:schemeClr val="tx1"/>
                          </a:solidFill>
                        </a:rPr>
                        <a:t>chapitrage</a:t>
                      </a:r>
                      <a:r>
                        <a:rPr lang="fr-FR" sz="1600" dirty="0" smtClean="0">
                          <a:solidFill>
                            <a:schemeClr val="tx1"/>
                          </a:solidFill>
                        </a:rPr>
                        <a:t> : OUI / NON.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Le guide d’écoconception de services numériques</a:t>
                      </a:r>
                    </a:p>
                    <a:p>
                      <a:r>
                        <a:rPr lang="fr-FR" sz="1400" b="0" dirty="0" smtClean="0">
                          <a:solidFill>
                            <a:srgbClr val="2F5597"/>
                          </a:solidFill>
                        </a:rPr>
                        <a:t>9. Les documents à télécharger</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105851943"/>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87152850"/>
              </p:ext>
            </p:extLst>
          </p:nvPr>
        </p:nvGraphicFramePr>
        <p:xfrm>
          <a:off x="1" y="1112520"/>
          <a:ext cx="12191998"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2">
                  <a:extLst>
                    <a:ext uri="{9D8B030D-6E8A-4147-A177-3AD203B41FA5}">
                      <a16:colId xmlns:a16="http://schemas.microsoft.com/office/drawing/2014/main" val="588129664"/>
                    </a:ext>
                  </a:extLst>
                </a:gridCol>
              </a:tblGrid>
              <a:tr h="1023825">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55/Utiliser</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un format de fichier adapté au</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contenu et au contexte de visualisation de chaque image</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951939">
                <a:tc>
                  <a:txBody>
                    <a:bodyPr/>
                    <a:lstStyle/>
                    <a:p>
                      <a:pPr marL="0" indent="0">
                        <a:buFont typeface="Arial" panose="020B0604020202020204" pitchFamily="34" charset="0"/>
                        <a:buNone/>
                      </a:pPr>
                      <a:r>
                        <a:rPr lang="fr-FR" sz="1400" dirty="0" smtClean="0">
                          <a:solidFill>
                            <a:schemeClr val="tx1"/>
                          </a:solidFill>
                        </a:rPr>
                        <a:t>Choisir le format image adapté à la typologie d’image et au contexte d’affichage :</a:t>
                      </a:r>
                    </a:p>
                    <a:p>
                      <a:pPr marL="0" indent="0">
                        <a:buFont typeface="Arial" panose="020B0604020202020204" pitchFamily="34" charset="0"/>
                        <a:buNone/>
                      </a:pPr>
                      <a:r>
                        <a:rPr lang="fr-FR" sz="1400" dirty="0" smtClean="0">
                          <a:solidFill>
                            <a:schemeClr val="tx1"/>
                          </a:solidFill>
                        </a:rPr>
                        <a:t>• Format vectoriel (exemple SVG) : utiliser ce format lorsque cela est possible (illustrations, icônes,</a:t>
                      </a:r>
                      <a:r>
                        <a:rPr lang="fr-FR" sz="1400" baseline="0" dirty="0" smtClean="0">
                          <a:solidFill>
                            <a:schemeClr val="tx1"/>
                          </a:solidFill>
                        </a:rPr>
                        <a:t> </a:t>
                      </a:r>
                      <a:r>
                        <a:rPr lang="fr-FR" sz="1400" dirty="0" smtClean="0">
                          <a:solidFill>
                            <a:schemeClr val="tx1"/>
                          </a:solidFill>
                        </a:rPr>
                        <a:t>logos, graphes…) ;</a:t>
                      </a:r>
                    </a:p>
                    <a:p>
                      <a:pPr marL="0" indent="0">
                        <a:buFont typeface="Arial" panose="020B0604020202020204" pitchFamily="34" charset="0"/>
                        <a:buNone/>
                      </a:pPr>
                      <a:r>
                        <a:rPr lang="fr-FR" sz="1400" dirty="0" smtClean="0">
                          <a:solidFill>
                            <a:schemeClr val="tx1"/>
                          </a:solidFill>
                        </a:rPr>
                        <a:t>• Format matriciel, compression sans perte ou « </a:t>
                      </a:r>
                      <a:r>
                        <a:rPr lang="fr-FR" sz="1400" dirty="0" err="1" smtClean="0">
                          <a:solidFill>
                            <a:schemeClr val="tx1"/>
                          </a:solidFill>
                        </a:rPr>
                        <a:t>lossless</a:t>
                      </a:r>
                      <a:r>
                        <a:rPr lang="fr-FR" sz="1400" dirty="0" smtClean="0">
                          <a:solidFill>
                            <a:schemeClr val="tx1"/>
                          </a:solidFill>
                        </a:rPr>
                        <a:t> » (c’est le mode de compression du PNG) :</a:t>
                      </a:r>
                      <a:r>
                        <a:rPr lang="fr-FR" sz="1400" baseline="0" dirty="0" smtClean="0">
                          <a:solidFill>
                            <a:schemeClr val="tx1"/>
                          </a:solidFill>
                        </a:rPr>
                        <a:t> </a:t>
                      </a:r>
                      <a:r>
                        <a:rPr lang="fr-FR" sz="1400" dirty="0" smtClean="0">
                          <a:solidFill>
                            <a:schemeClr val="tx1"/>
                          </a:solidFill>
                        </a:rPr>
                        <a:t>pour des illustrations avec aplats de couleur (remplacer le PNG peu efficace par des images </a:t>
                      </a:r>
                      <a:r>
                        <a:rPr lang="fr-FR" sz="1400" dirty="0" err="1" smtClean="0">
                          <a:solidFill>
                            <a:schemeClr val="tx1"/>
                          </a:solidFill>
                        </a:rPr>
                        <a:t>WebP</a:t>
                      </a:r>
                      <a:r>
                        <a:rPr lang="fr-FR" sz="1400" dirty="0" smtClean="0">
                          <a:solidFill>
                            <a:schemeClr val="tx1"/>
                          </a:solidFill>
                        </a:rPr>
                        <a:t> ou</a:t>
                      </a:r>
                      <a:r>
                        <a:rPr lang="fr-FR" sz="1400" baseline="0" dirty="0" smtClean="0">
                          <a:solidFill>
                            <a:schemeClr val="tx1"/>
                          </a:solidFill>
                        </a:rPr>
                        <a:t> </a:t>
                      </a:r>
                      <a:r>
                        <a:rPr lang="fr-FR" sz="1400" dirty="0" smtClean="0">
                          <a:solidFill>
                            <a:schemeClr val="tx1"/>
                          </a:solidFill>
                        </a:rPr>
                        <a:t>JPEG XL, en mode « compression sans perte ») ;</a:t>
                      </a:r>
                    </a:p>
                    <a:p>
                      <a:pPr marL="0" indent="0">
                        <a:buFont typeface="Arial" panose="020B0604020202020204" pitchFamily="34" charset="0"/>
                        <a:buNone/>
                      </a:pPr>
                      <a:r>
                        <a:rPr lang="fr-FR" sz="1400" dirty="0" smtClean="0">
                          <a:solidFill>
                            <a:schemeClr val="tx1"/>
                          </a:solidFill>
                        </a:rPr>
                        <a:t>• Format matriciel, compression avec perte (c’est le mode de compression du JPEG) : pour des photos</a:t>
                      </a:r>
                      <a:r>
                        <a:rPr lang="fr-FR" sz="1400" baseline="0" dirty="0" smtClean="0">
                          <a:solidFill>
                            <a:schemeClr val="tx1"/>
                          </a:solidFill>
                        </a:rPr>
                        <a:t> </a:t>
                      </a:r>
                      <a:r>
                        <a:rPr lang="fr-FR" sz="1400" dirty="0" smtClean="0">
                          <a:solidFill>
                            <a:schemeClr val="tx1"/>
                          </a:solidFill>
                        </a:rPr>
                        <a:t>ou des illustrations avec des milliers de couleurs (remplacer le JPEG peu efficace par des images</a:t>
                      </a:r>
                      <a:r>
                        <a:rPr lang="fr-FR" sz="1400" baseline="0" dirty="0" smtClean="0">
                          <a:solidFill>
                            <a:schemeClr val="tx1"/>
                          </a:solidFill>
                        </a:rPr>
                        <a:t> </a:t>
                      </a:r>
                      <a:r>
                        <a:rPr lang="fr-FR" sz="1400" dirty="0" err="1" smtClean="0">
                          <a:solidFill>
                            <a:schemeClr val="tx1"/>
                          </a:solidFill>
                        </a:rPr>
                        <a:t>WebP</a:t>
                      </a:r>
                      <a:r>
                        <a:rPr lang="fr-FR" sz="1400" dirty="0" smtClean="0">
                          <a:solidFill>
                            <a:schemeClr val="tx1"/>
                          </a:solidFill>
                        </a:rPr>
                        <a:t>, AVIF ou JPEG XL en mode « compression avec perte »)</a:t>
                      </a:r>
                      <a:endParaRPr lang="fr-FR" sz="1400" dirty="0">
                        <a:solidFill>
                          <a:schemeClr val="tx1"/>
                        </a:solidFill>
                      </a:endParaRPr>
                    </a:p>
                  </a:txBody>
                  <a:tcPr/>
                </a:tc>
                <a:tc>
                  <a:txBody>
                    <a:bodyPr/>
                    <a:lstStyle/>
                    <a:p>
                      <a:r>
                        <a:rPr lang="fr-FR" sz="1400" dirty="0" smtClean="0">
                          <a:solidFill>
                            <a:schemeClr val="tx1"/>
                          </a:solidFill>
                        </a:rPr>
                        <a:t>Le critère est validé</a:t>
                      </a:r>
                      <a:r>
                        <a:rPr lang="fr-FR" sz="1400" baseline="0" dirty="0" smtClean="0">
                          <a:solidFill>
                            <a:schemeClr val="tx1"/>
                          </a:solidFill>
                        </a:rPr>
                        <a:t> </a:t>
                      </a:r>
                      <a:r>
                        <a:rPr lang="fr-FR" sz="1400" dirty="0" smtClean="0">
                          <a:solidFill>
                            <a:schemeClr val="tx1"/>
                          </a:solidFill>
                        </a:rPr>
                        <a:t>si plus de 75 % des images matricielles utilisées pour le service numérique sont dans un format efficace</a:t>
                      </a:r>
                      <a:r>
                        <a:rPr lang="fr-FR" sz="1400" baseline="0" dirty="0" smtClean="0">
                          <a:solidFill>
                            <a:schemeClr val="tx1"/>
                          </a:solidFill>
                        </a:rPr>
                        <a:t> </a:t>
                      </a:r>
                      <a:r>
                        <a:rPr lang="fr-FR" sz="1400" dirty="0" smtClean="0">
                          <a:solidFill>
                            <a:schemeClr val="tx1"/>
                          </a:solidFill>
                        </a:rPr>
                        <a:t>(</a:t>
                      </a:r>
                      <a:r>
                        <a:rPr lang="fr-FR" sz="1400" dirty="0" err="1" smtClean="0">
                          <a:solidFill>
                            <a:schemeClr val="tx1"/>
                          </a:solidFill>
                        </a:rPr>
                        <a:t>WebP</a:t>
                      </a:r>
                      <a:r>
                        <a:rPr lang="fr-FR" sz="1400" dirty="0" smtClean="0">
                          <a:solidFill>
                            <a:schemeClr val="tx1"/>
                          </a:solidFill>
                        </a:rPr>
                        <a:t>, AVIF, JPEG XL ou un format d’image plus performant).</a:t>
                      </a:r>
                    </a:p>
                    <a:p>
                      <a:endParaRPr lang="fr-FR" sz="1400" dirty="0" smtClean="0">
                        <a:solidFill>
                          <a:schemeClr val="tx1"/>
                        </a:solidFill>
                      </a:endParaRPr>
                    </a:p>
                    <a:p>
                      <a:r>
                        <a:rPr lang="fr-FR" sz="1400" dirty="0" smtClean="0">
                          <a:solidFill>
                            <a:schemeClr val="tx1"/>
                          </a:solidFill>
                        </a:rPr>
                        <a:t>Un service numérique qui propose chaque image dans deux formats (exemple : JPEG XL avec un </a:t>
                      </a:r>
                      <a:r>
                        <a:rPr lang="fr-FR" sz="1400" dirty="0" err="1" smtClean="0">
                          <a:solidFill>
                            <a:schemeClr val="tx1"/>
                          </a:solidFill>
                        </a:rPr>
                        <a:t>fallback</a:t>
                      </a:r>
                      <a:r>
                        <a:rPr lang="fr-FR" sz="1400" dirty="0" smtClean="0">
                          <a:solidFill>
                            <a:schemeClr val="tx1"/>
                          </a:solidFill>
                        </a:rPr>
                        <a:t> vers</a:t>
                      </a:r>
                      <a:r>
                        <a:rPr lang="fr-FR" sz="1400" baseline="0" dirty="0" smtClean="0">
                          <a:solidFill>
                            <a:schemeClr val="tx1"/>
                          </a:solidFill>
                        </a:rPr>
                        <a:t> </a:t>
                      </a:r>
                      <a:r>
                        <a:rPr lang="fr-FR" sz="1400" dirty="0" smtClean="0">
                          <a:solidFill>
                            <a:schemeClr val="tx1"/>
                          </a:solidFill>
                        </a:rPr>
                        <a:t>JPEG / PNG pour les navigateurs non compatibles) valide également le critère si un des formats est </a:t>
                      </a:r>
                      <a:r>
                        <a:rPr lang="fr-FR" sz="1400" dirty="0" err="1" smtClean="0">
                          <a:solidFill>
                            <a:schemeClr val="tx1"/>
                          </a:solidFill>
                        </a:rPr>
                        <a:t>WebP</a:t>
                      </a:r>
                      <a:r>
                        <a:rPr lang="fr-FR" sz="1400" dirty="0" smtClean="0">
                          <a:solidFill>
                            <a:schemeClr val="tx1"/>
                          </a:solidFill>
                        </a:rPr>
                        <a:t>,</a:t>
                      </a:r>
                      <a:r>
                        <a:rPr lang="fr-FR" sz="1400" baseline="0" dirty="0" smtClean="0">
                          <a:solidFill>
                            <a:schemeClr val="tx1"/>
                          </a:solidFill>
                        </a:rPr>
                        <a:t> </a:t>
                      </a:r>
                      <a:r>
                        <a:rPr lang="fr-FR" sz="1400" dirty="0" smtClean="0">
                          <a:solidFill>
                            <a:schemeClr val="tx1"/>
                          </a:solidFill>
                        </a:rPr>
                        <a:t>AVIF, JPEG XL ou un format d’image plus performant.</a:t>
                      </a:r>
                      <a:endParaRPr lang="fr-FR" sz="14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Faible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2022 et 2024</a:t>
                      </a:r>
                    </a:p>
                    <a:p>
                      <a:r>
                        <a:rPr lang="fr-FR" sz="1400" b="0" dirty="0" smtClean="0">
                          <a:solidFill>
                            <a:srgbClr val="2F5597"/>
                          </a:solidFill>
                        </a:rPr>
                        <a:t>5.1 Le service numérique utilise-t-il un format de fichier adapté au</a:t>
                      </a:r>
                      <a:r>
                        <a:rPr lang="fr-FR" sz="1400" b="0" baseline="0" dirty="0" smtClean="0">
                          <a:solidFill>
                            <a:srgbClr val="2F5597"/>
                          </a:solidFill>
                        </a:rPr>
                        <a:t> </a:t>
                      </a:r>
                      <a:r>
                        <a:rPr lang="fr-FR" sz="1400" b="0" dirty="0" smtClean="0">
                          <a:solidFill>
                            <a:srgbClr val="2F5597"/>
                          </a:solidFill>
                        </a:rPr>
                        <a:t>contenu et au contexte de visualisation de chaque image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855443873"/>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105666680"/>
              </p:ext>
            </p:extLst>
          </p:nvPr>
        </p:nvGraphicFramePr>
        <p:xfrm>
          <a:off x="1" y="1112520"/>
          <a:ext cx="12191998"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2">
                  <a:extLst>
                    <a:ext uri="{9D8B030D-6E8A-4147-A177-3AD203B41FA5}">
                      <a16:colId xmlns:a16="http://schemas.microsoft.com/office/drawing/2014/main" val="588129664"/>
                    </a:ext>
                  </a:extLst>
                </a:gridCol>
              </a:tblGrid>
              <a:tr h="146654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56/Proposer des images dont le niveau de</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compression est adapté au contenu et au contexte de visualisation</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509224">
                <a:tc>
                  <a:txBody>
                    <a:bodyPr/>
                    <a:lstStyle/>
                    <a:p>
                      <a:pPr marL="0" indent="0">
                        <a:buFont typeface="Arial" panose="020B0604020202020204" pitchFamily="34" charset="0"/>
                        <a:buNone/>
                      </a:pPr>
                      <a:r>
                        <a:rPr lang="fr-FR" sz="1200" dirty="0" smtClean="0">
                          <a:solidFill>
                            <a:schemeClr val="tx1"/>
                          </a:solidFill>
                        </a:rPr>
                        <a:t>Lors de la génération d’une image matricielle, en mode compression avec perte (c’est le mode de</a:t>
                      </a:r>
                      <a:r>
                        <a:rPr lang="fr-FR" sz="1200" baseline="0" dirty="0" smtClean="0">
                          <a:solidFill>
                            <a:schemeClr val="tx1"/>
                          </a:solidFill>
                        </a:rPr>
                        <a:t> </a:t>
                      </a:r>
                      <a:r>
                        <a:rPr lang="fr-FR" sz="1200" dirty="0" smtClean="0">
                          <a:solidFill>
                            <a:schemeClr val="tx1"/>
                          </a:solidFill>
                        </a:rPr>
                        <a:t>compression du JPEG), la compression à une qualité de 70 % (JPEG), 72 % (</a:t>
                      </a:r>
                      <a:r>
                        <a:rPr lang="fr-FR" sz="1200" dirty="0" err="1" smtClean="0">
                          <a:solidFill>
                            <a:schemeClr val="tx1"/>
                          </a:solidFill>
                        </a:rPr>
                        <a:t>WebP</a:t>
                      </a:r>
                      <a:r>
                        <a:rPr lang="fr-FR" sz="1200" dirty="0" smtClean="0">
                          <a:solidFill>
                            <a:schemeClr val="tx1"/>
                          </a:solidFill>
                        </a:rPr>
                        <a:t>) ou 56 % (AVIF) peut être</a:t>
                      </a:r>
                      <a:r>
                        <a:rPr lang="fr-FR" sz="1200" baseline="0" dirty="0" smtClean="0">
                          <a:solidFill>
                            <a:schemeClr val="tx1"/>
                          </a:solidFill>
                        </a:rPr>
                        <a:t> </a:t>
                      </a:r>
                      <a:r>
                        <a:rPr lang="fr-FR" sz="1200" dirty="0" smtClean="0">
                          <a:solidFill>
                            <a:schemeClr val="tx1"/>
                          </a:solidFill>
                        </a:rPr>
                        <a:t>visuellement acceptable.</a:t>
                      </a:r>
                    </a:p>
                    <a:p>
                      <a:pPr marL="0" indent="0">
                        <a:buFont typeface="Arial" panose="020B0604020202020204" pitchFamily="34" charset="0"/>
                        <a:buNone/>
                      </a:pPr>
                      <a:endParaRPr lang="fr-FR" sz="1200" dirty="0" smtClean="0">
                        <a:solidFill>
                          <a:schemeClr val="tx1"/>
                        </a:solidFill>
                      </a:endParaRPr>
                    </a:p>
                    <a:p>
                      <a:pPr marL="0" indent="0">
                        <a:buFont typeface="Arial" panose="020B0604020202020204" pitchFamily="34" charset="0"/>
                        <a:buNone/>
                      </a:pPr>
                      <a:r>
                        <a:rPr lang="fr-FR" sz="1200" dirty="0" smtClean="0">
                          <a:solidFill>
                            <a:schemeClr val="tx1"/>
                          </a:solidFill>
                        </a:rPr>
                        <a:t>Les formats de compression sans perte de la qualité de l’image (PNG, </a:t>
                      </a:r>
                      <a:r>
                        <a:rPr lang="fr-FR" sz="1200" dirty="0" err="1" smtClean="0">
                          <a:solidFill>
                            <a:schemeClr val="tx1"/>
                          </a:solidFill>
                        </a:rPr>
                        <a:t>WebP</a:t>
                      </a:r>
                      <a:r>
                        <a:rPr lang="fr-FR" sz="1200" dirty="0" smtClean="0">
                          <a:solidFill>
                            <a:schemeClr val="tx1"/>
                          </a:solidFill>
                        </a:rPr>
                        <a:t> en mode « compression sans</a:t>
                      </a:r>
                      <a:r>
                        <a:rPr lang="fr-FR" sz="1200" baseline="0" dirty="0" smtClean="0">
                          <a:solidFill>
                            <a:schemeClr val="tx1"/>
                          </a:solidFill>
                        </a:rPr>
                        <a:t> </a:t>
                      </a:r>
                      <a:r>
                        <a:rPr lang="fr-FR" sz="1200" dirty="0" smtClean="0">
                          <a:solidFill>
                            <a:schemeClr val="tx1"/>
                          </a:solidFill>
                        </a:rPr>
                        <a:t>perte », JPEG XL en mode « compression sans perte ») ne disposent pas de paramétrage de qualité, la</a:t>
                      </a:r>
                      <a:r>
                        <a:rPr lang="fr-FR" sz="1200" baseline="0" dirty="0" smtClean="0">
                          <a:solidFill>
                            <a:schemeClr val="tx1"/>
                          </a:solidFill>
                        </a:rPr>
                        <a:t> </a:t>
                      </a:r>
                      <a:r>
                        <a:rPr lang="fr-FR" sz="1200" dirty="0" smtClean="0">
                          <a:solidFill>
                            <a:schemeClr val="tx1"/>
                          </a:solidFill>
                        </a:rPr>
                        <a:t>compression ne dégradant pas la qualité de l’image. Il est toutefois possible de réduire significativement la</a:t>
                      </a:r>
                      <a:r>
                        <a:rPr lang="fr-FR" sz="1200" baseline="0" dirty="0" smtClean="0">
                          <a:solidFill>
                            <a:schemeClr val="tx1"/>
                          </a:solidFill>
                        </a:rPr>
                        <a:t> </a:t>
                      </a:r>
                      <a:r>
                        <a:rPr lang="fr-FR" sz="1200" dirty="0" smtClean="0">
                          <a:solidFill>
                            <a:schemeClr val="tx1"/>
                          </a:solidFill>
                        </a:rPr>
                        <a:t>taille en réduisant la palette de couleurs de l’image avant compression.</a:t>
                      </a:r>
                    </a:p>
                    <a:p>
                      <a:pPr marL="0" indent="0">
                        <a:buFont typeface="Arial" panose="020B0604020202020204" pitchFamily="34" charset="0"/>
                        <a:buNone/>
                      </a:pPr>
                      <a:endParaRPr lang="fr-FR" sz="1200" dirty="0" smtClean="0">
                        <a:solidFill>
                          <a:schemeClr val="tx1"/>
                        </a:solidFill>
                      </a:endParaRPr>
                    </a:p>
                    <a:p>
                      <a:pPr marL="0" indent="0">
                        <a:buFont typeface="Arial" panose="020B0604020202020204" pitchFamily="34" charset="0"/>
                        <a:buNone/>
                      </a:pPr>
                      <a:r>
                        <a:rPr lang="fr-FR" sz="1200" dirty="0" smtClean="0">
                          <a:solidFill>
                            <a:schemeClr val="tx1"/>
                          </a:solidFill>
                        </a:rPr>
                        <a:t>Des résolutions multiples peuvent être pertinentes, via les attributs « </a:t>
                      </a:r>
                      <a:r>
                        <a:rPr lang="fr-FR" sz="1200" dirty="0" err="1" smtClean="0">
                          <a:solidFill>
                            <a:schemeClr val="tx1"/>
                          </a:solidFill>
                        </a:rPr>
                        <a:t>srcset</a:t>
                      </a:r>
                      <a:r>
                        <a:rPr lang="fr-FR" sz="1200" dirty="0" smtClean="0">
                          <a:solidFill>
                            <a:schemeClr val="tx1"/>
                          </a:solidFill>
                        </a:rPr>
                        <a:t> » et « sizes », afin de s’adapter</a:t>
                      </a:r>
                      <a:r>
                        <a:rPr lang="fr-FR" sz="1200" baseline="0" dirty="0" smtClean="0">
                          <a:solidFill>
                            <a:schemeClr val="tx1"/>
                          </a:solidFill>
                        </a:rPr>
                        <a:t> </a:t>
                      </a:r>
                      <a:r>
                        <a:rPr lang="fr-FR" sz="1200" dirty="0" smtClean="0">
                          <a:solidFill>
                            <a:schemeClr val="tx1"/>
                          </a:solidFill>
                        </a:rPr>
                        <a:t>automatiquement à la résolution du terminal depuis lequel est consulté le site. Il faut toutefois faire attention</a:t>
                      </a:r>
                      <a:r>
                        <a:rPr lang="fr-FR" sz="1200" baseline="0" dirty="0" smtClean="0">
                          <a:solidFill>
                            <a:schemeClr val="tx1"/>
                          </a:solidFill>
                        </a:rPr>
                        <a:t> </a:t>
                      </a:r>
                      <a:r>
                        <a:rPr lang="fr-FR" sz="1200" dirty="0" smtClean="0">
                          <a:solidFill>
                            <a:schemeClr val="tx1"/>
                          </a:solidFill>
                        </a:rPr>
                        <a:t>que cela n’empêche pas le service d’adopter un « Responsive design ».</a:t>
                      </a:r>
                    </a:p>
                    <a:p>
                      <a:pPr marL="0" indent="0">
                        <a:buFont typeface="Arial" panose="020B0604020202020204" pitchFamily="34" charset="0"/>
                        <a:buNone/>
                      </a:pPr>
                      <a:endParaRPr lang="fr-FR" sz="1200" dirty="0">
                        <a:solidFill>
                          <a:schemeClr val="tx1"/>
                        </a:solidFill>
                      </a:endParaRPr>
                    </a:p>
                  </a:txBody>
                  <a:tcPr/>
                </a:tc>
                <a:tc>
                  <a:txBody>
                    <a:bodyPr/>
                    <a:lstStyle/>
                    <a:p>
                      <a:r>
                        <a:rPr lang="fr-FR" sz="1400" dirty="0" smtClean="0">
                          <a:solidFill>
                            <a:schemeClr val="tx1"/>
                          </a:solidFill>
                        </a:rPr>
                        <a:t>Évaluer la qualité et le poids des images matricielles affichées sur différents types de terminaux.</a:t>
                      </a:r>
                    </a:p>
                    <a:p>
                      <a:endParaRPr lang="fr-FR" sz="1400" dirty="0" smtClean="0">
                        <a:solidFill>
                          <a:schemeClr val="tx1"/>
                        </a:solidFill>
                      </a:endParaRPr>
                    </a:p>
                    <a:p>
                      <a:r>
                        <a:rPr lang="fr-FR" sz="1400" dirty="0" smtClean="0">
                          <a:solidFill>
                            <a:schemeClr val="tx1"/>
                          </a:solidFill>
                        </a:rPr>
                        <a:t>Pour le mode de compression avec perte, documenter dans la déclaration d’écoconception la politique de</a:t>
                      </a:r>
                      <a:r>
                        <a:rPr lang="fr-FR" sz="1400" baseline="0" dirty="0" smtClean="0">
                          <a:solidFill>
                            <a:schemeClr val="tx1"/>
                          </a:solidFill>
                        </a:rPr>
                        <a:t> </a:t>
                      </a:r>
                      <a:r>
                        <a:rPr lang="fr-FR" sz="1400" dirty="0" smtClean="0">
                          <a:solidFill>
                            <a:schemeClr val="tx1"/>
                          </a:solidFill>
                        </a:rPr>
                        <a:t>paramétrage de la qualité lors de la génération ou conversion des images.</a:t>
                      </a:r>
                      <a:endParaRPr lang="fr-FR" sz="14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solidFill>
                            <a:schemeClr val="tx1"/>
                          </a:solidFill>
                        </a:rPr>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2022 et 2024</a:t>
                      </a:r>
                    </a:p>
                    <a:p>
                      <a:r>
                        <a:rPr lang="fr-FR" sz="1400" b="0" dirty="0" smtClean="0">
                          <a:solidFill>
                            <a:srgbClr val="2F5597"/>
                          </a:solidFill>
                        </a:rPr>
                        <a:t>5.2 Le service numérique propose-t-il des images dont le niveau de compression est adapté au contenu et au contexte de visualisation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647114555"/>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393229981"/>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45222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57/Utiliser pour chaque vidéo,</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une définition adaptée au contenu et au contexte de visualisation</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523535">
                <a:tc>
                  <a:txBody>
                    <a:bodyPr/>
                    <a:lstStyle/>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Tester, y compris périodiquement, la lecture des vidéos sur différents terminaux afin de vérifier que ces</a:t>
                      </a:r>
                      <a:r>
                        <a:rPr lang="fr-FR" sz="1600" baseline="0" dirty="0" smtClean="0">
                          <a:solidFill>
                            <a:schemeClr val="tx1"/>
                          </a:solidFill>
                        </a:rPr>
                        <a:t> </a:t>
                      </a:r>
                      <a:r>
                        <a:rPr lang="fr-FR" sz="1600" dirty="0" smtClean="0">
                          <a:solidFill>
                            <a:schemeClr val="tx1"/>
                          </a:solidFill>
                        </a:rPr>
                        <a:t>vidéos en mode « qualité standard » et « sobriété énergétique » ont un format adapté à ces terminaux.</a:t>
                      </a:r>
                    </a:p>
                    <a:p>
                      <a:endParaRPr lang="fr-FR" sz="1600" dirty="0" smtClean="0">
                        <a:solidFill>
                          <a:schemeClr val="tx1"/>
                        </a:solidFill>
                      </a:endParaRPr>
                    </a:p>
                    <a:p>
                      <a:r>
                        <a:rPr lang="fr-FR" sz="1600" dirty="0" smtClean="0">
                          <a:solidFill>
                            <a:schemeClr val="tx1"/>
                          </a:solidFill>
                        </a:rPr>
                        <a:t>Contrôler la facilité d’accès au mode « sobriété énergétique » (qui peut également être appelé « économie</a:t>
                      </a:r>
                      <a:r>
                        <a:rPr lang="fr-FR" sz="1600" baseline="0" dirty="0" smtClean="0">
                          <a:solidFill>
                            <a:schemeClr val="tx1"/>
                          </a:solidFill>
                        </a:rPr>
                        <a:t> </a:t>
                      </a:r>
                      <a:r>
                        <a:rPr lang="fr-FR" sz="1600" dirty="0" smtClean="0">
                          <a:solidFill>
                            <a:schemeClr val="tx1"/>
                          </a:solidFill>
                        </a:rPr>
                        <a:t>de données ») tel que décrit dans la partie « Mise en œuvre ».</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18"/>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59">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59">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Faible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2" name="Tableau 1"/>
          <p:cNvGraphicFramePr>
            <a:graphicFrameLocks noGrp="1"/>
          </p:cNvGraphicFramePr>
          <p:nvPr>
            <p:extLst/>
          </p:nvPr>
        </p:nvGraphicFramePr>
        <p:xfrm>
          <a:off x="5410" y="2554410"/>
          <a:ext cx="6097804" cy="3533874"/>
        </p:xfrm>
        <a:graphic>
          <a:graphicData uri="http://schemas.openxmlformats.org/drawingml/2006/table">
            <a:tbl>
              <a:tblPr firstRow="1" bandRow="1">
                <a:tableStyleId>{5C22544A-7EE6-4342-B048-85BDC9FD1C3A}</a:tableStyleId>
              </a:tblPr>
              <a:tblGrid>
                <a:gridCol w="1524451">
                  <a:extLst>
                    <a:ext uri="{9D8B030D-6E8A-4147-A177-3AD203B41FA5}">
                      <a16:colId xmlns:a16="http://schemas.microsoft.com/office/drawing/2014/main" val="603426945"/>
                    </a:ext>
                  </a:extLst>
                </a:gridCol>
                <a:gridCol w="1524451">
                  <a:extLst>
                    <a:ext uri="{9D8B030D-6E8A-4147-A177-3AD203B41FA5}">
                      <a16:colId xmlns:a16="http://schemas.microsoft.com/office/drawing/2014/main" val="492194995"/>
                    </a:ext>
                  </a:extLst>
                </a:gridCol>
                <a:gridCol w="1524451">
                  <a:extLst>
                    <a:ext uri="{9D8B030D-6E8A-4147-A177-3AD203B41FA5}">
                      <a16:colId xmlns:a16="http://schemas.microsoft.com/office/drawing/2014/main" val="424270025"/>
                    </a:ext>
                  </a:extLst>
                </a:gridCol>
                <a:gridCol w="1524451">
                  <a:extLst>
                    <a:ext uri="{9D8B030D-6E8A-4147-A177-3AD203B41FA5}">
                      <a16:colId xmlns:a16="http://schemas.microsoft.com/office/drawing/2014/main" val="3678951004"/>
                    </a:ext>
                  </a:extLst>
                </a:gridCol>
              </a:tblGrid>
              <a:tr h="588979">
                <a:tc>
                  <a:txBody>
                    <a:bodyPr/>
                    <a:lstStyle/>
                    <a:p>
                      <a:endParaRPr lang="fr-FR" sz="1200" dirty="0"/>
                    </a:p>
                  </a:txBody>
                  <a:tcPr/>
                </a:tc>
                <a:tc>
                  <a:txBody>
                    <a:bodyPr/>
                    <a:lstStyle/>
                    <a:p>
                      <a:r>
                        <a:rPr lang="fr-FR" sz="1200" dirty="0" smtClean="0"/>
                        <a:t>Mode</a:t>
                      </a:r>
                      <a:r>
                        <a:rPr lang="fr-FR" sz="1200" baseline="0" dirty="0" smtClean="0"/>
                        <a:t> </a:t>
                      </a:r>
                      <a:r>
                        <a:rPr lang="fr-FR" sz="1200" dirty="0" smtClean="0"/>
                        <a:t>« sobriété énergétique »</a:t>
                      </a:r>
                      <a:endParaRPr lang="fr-FR" sz="1200" dirty="0"/>
                    </a:p>
                  </a:txBody>
                  <a:tcPr/>
                </a:tc>
                <a:tc>
                  <a:txBody>
                    <a:bodyPr/>
                    <a:lstStyle/>
                    <a:p>
                      <a:r>
                        <a:rPr lang="fr-FR" sz="1200" dirty="0" smtClean="0"/>
                        <a:t>Mode</a:t>
                      </a:r>
                      <a:r>
                        <a:rPr lang="fr-FR" sz="1200" baseline="0" dirty="0" smtClean="0"/>
                        <a:t> </a:t>
                      </a:r>
                      <a:r>
                        <a:rPr lang="fr-FR" sz="1200" dirty="0" smtClean="0"/>
                        <a:t>« qualité standard »</a:t>
                      </a:r>
                      <a:endParaRPr lang="fr-FR" sz="1200" dirty="0"/>
                    </a:p>
                  </a:txBody>
                  <a:tcPr/>
                </a:tc>
                <a:tc>
                  <a:txBody>
                    <a:bodyPr/>
                    <a:lstStyle/>
                    <a:p>
                      <a:r>
                        <a:rPr lang="fr-FR" sz="1200" dirty="0" smtClean="0"/>
                        <a:t>Mode</a:t>
                      </a:r>
                      <a:r>
                        <a:rPr lang="fr-FR" sz="1200" baseline="0" dirty="0" smtClean="0"/>
                        <a:t> </a:t>
                      </a:r>
                      <a:r>
                        <a:rPr lang="fr-FR" sz="1200" dirty="0" smtClean="0"/>
                        <a:t>« haute qualité »</a:t>
                      </a:r>
                      <a:endParaRPr lang="fr-FR" sz="1200" dirty="0"/>
                    </a:p>
                  </a:txBody>
                  <a:tcPr/>
                </a:tc>
                <a:extLst>
                  <a:ext uri="{0D108BD9-81ED-4DB2-BD59-A6C34878D82A}">
                    <a16:rowId xmlns:a16="http://schemas.microsoft.com/office/drawing/2014/main" val="504971910"/>
                  </a:ext>
                </a:extLst>
              </a:tr>
              <a:tr h="588979">
                <a:tc>
                  <a:txBody>
                    <a:bodyPr/>
                    <a:lstStyle/>
                    <a:p>
                      <a:r>
                        <a:rPr lang="fr-FR" sz="1200" dirty="0" smtClean="0"/>
                        <a:t>Smartphone</a:t>
                      </a:r>
                      <a:endParaRPr lang="fr-FR" sz="1200" dirty="0"/>
                    </a:p>
                  </a:txBody>
                  <a:tcPr/>
                </a:tc>
                <a:tc>
                  <a:txBody>
                    <a:bodyPr/>
                    <a:lstStyle/>
                    <a:p>
                      <a:r>
                        <a:rPr lang="fr-FR" sz="1200" dirty="0" smtClean="0"/>
                        <a:t>480p maximum</a:t>
                      </a:r>
                      <a:endParaRPr lang="fr-FR" sz="1200" dirty="0"/>
                    </a:p>
                  </a:txBody>
                  <a:tcPr/>
                </a:tc>
                <a:tc>
                  <a:txBody>
                    <a:bodyPr/>
                    <a:lstStyle/>
                    <a:p>
                      <a:r>
                        <a:rPr lang="fr-FR" sz="1200" dirty="0" smtClean="0"/>
                        <a:t>720p maximum</a:t>
                      </a:r>
                      <a:endParaRPr lang="fr-FR" sz="1200" dirty="0"/>
                    </a:p>
                  </a:txBody>
                  <a:tcPr/>
                </a:tc>
                <a:tc>
                  <a:txBody>
                    <a:bodyPr/>
                    <a:lstStyle/>
                    <a:p>
                      <a:r>
                        <a:rPr lang="fr-FR" sz="1200" dirty="0" smtClean="0"/>
                        <a:t>Pas de contrainte</a:t>
                      </a:r>
                      <a:endParaRPr lang="fr-FR" sz="1200" dirty="0"/>
                    </a:p>
                  </a:txBody>
                  <a:tcPr/>
                </a:tc>
                <a:extLst>
                  <a:ext uri="{0D108BD9-81ED-4DB2-BD59-A6C34878D82A}">
                    <a16:rowId xmlns:a16="http://schemas.microsoft.com/office/drawing/2014/main" val="3851339684"/>
                  </a:ext>
                </a:extLst>
              </a:tr>
              <a:tr h="588979">
                <a:tc>
                  <a:txBody>
                    <a:bodyPr/>
                    <a:lstStyle/>
                    <a:p>
                      <a:r>
                        <a:rPr lang="fr-FR" sz="1200" dirty="0" smtClean="0"/>
                        <a:t>Tablette</a:t>
                      </a:r>
                      <a:endParaRPr lang="fr-FR" sz="1200" dirty="0"/>
                    </a:p>
                  </a:txBody>
                  <a:tcPr/>
                </a:tc>
                <a:tc>
                  <a:txBody>
                    <a:bodyPr/>
                    <a:lstStyle/>
                    <a:p>
                      <a:r>
                        <a:rPr lang="fr-FR" sz="1200" dirty="0" smtClean="0"/>
                        <a:t>720p maximum</a:t>
                      </a:r>
                      <a:endParaRPr lang="fr-FR" sz="1200" dirty="0"/>
                    </a:p>
                  </a:txBody>
                  <a:tcPr/>
                </a:tc>
                <a:tc>
                  <a:txBody>
                    <a:bodyPr/>
                    <a:lstStyle/>
                    <a:p>
                      <a:r>
                        <a:rPr lang="fr-FR" sz="1200" dirty="0" smtClean="0"/>
                        <a:t>1080p maximum</a:t>
                      </a:r>
                      <a:endParaRPr lang="fr-FR" sz="1200" dirty="0"/>
                    </a:p>
                  </a:txBody>
                  <a:tcPr/>
                </a:tc>
                <a:tc>
                  <a:txBody>
                    <a:bodyPr/>
                    <a:lstStyle/>
                    <a:p>
                      <a:r>
                        <a:rPr lang="fr-FR" sz="1200" smtClean="0"/>
                        <a:t>Pas de contrainte</a:t>
                      </a:r>
                      <a:endParaRPr lang="fr-FR" sz="1200" dirty="0"/>
                    </a:p>
                  </a:txBody>
                  <a:tcPr/>
                </a:tc>
                <a:extLst>
                  <a:ext uri="{0D108BD9-81ED-4DB2-BD59-A6C34878D82A}">
                    <a16:rowId xmlns:a16="http://schemas.microsoft.com/office/drawing/2014/main" val="2377504745"/>
                  </a:ext>
                </a:extLst>
              </a:tr>
              <a:tr h="588979">
                <a:tc>
                  <a:txBody>
                    <a:bodyPr/>
                    <a:lstStyle/>
                    <a:p>
                      <a:r>
                        <a:rPr lang="fr-FR" sz="1200" dirty="0" smtClean="0"/>
                        <a:t>PC</a:t>
                      </a:r>
                      <a:endParaRPr lang="fr-FR" sz="1200" dirty="0"/>
                    </a:p>
                  </a:txBody>
                  <a:tcPr/>
                </a:tc>
                <a:tc>
                  <a:txBody>
                    <a:bodyPr/>
                    <a:lstStyle/>
                    <a:p>
                      <a:r>
                        <a:rPr lang="fr-FR" sz="1200" dirty="0" smtClean="0"/>
                        <a:t>720p maximum</a:t>
                      </a:r>
                      <a:endParaRPr lang="fr-FR" sz="1200" dirty="0"/>
                    </a:p>
                  </a:txBody>
                  <a:tcPr/>
                </a:tc>
                <a:tc>
                  <a:txBody>
                    <a:bodyPr/>
                    <a:lstStyle/>
                    <a:p>
                      <a:r>
                        <a:rPr lang="fr-FR" sz="1200" dirty="0" smtClean="0"/>
                        <a:t>1080p maximum</a:t>
                      </a:r>
                      <a:endParaRPr lang="fr-FR" sz="1200" dirty="0"/>
                    </a:p>
                  </a:txBody>
                  <a:tcPr/>
                </a:tc>
                <a:tc>
                  <a:txBody>
                    <a:bodyPr/>
                    <a:lstStyle/>
                    <a:p>
                      <a:r>
                        <a:rPr lang="fr-FR" sz="1200" smtClean="0"/>
                        <a:t>Pas de contrainte</a:t>
                      </a:r>
                      <a:endParaRPr lang="fr-FR" sz="1200" dirty="0"/>
                    </a:p>
                  </a:txBody>
                  <a:tcPr/>
                </a:tc>
                <a:extLst>
                  <a:ext uri="{0D108BD9-81ED-4DB2-BD59-A6C34878D82A}">
                    <a16:rowId xmlns:a16="http://schemas.microsoft.com/office/drawing/2014/main" val="3769843707"/>
                  </a:ext>
                </a:extLst>
              </a:tr>
              <a:tr h="588979">
                <a:tc>
                  <a:txBody>
                    <a:bodyPr/>
                    <a:lstStyle/>
                    <a:p>
                      <a:r>
                        <a:rPr lang="fr-FR" sz="1200" dirty="0" smtClean="0"/>
                        <a:t>TV</a:t>
                      </a:r>
                      <a:endParaRPr lang="fr-FR" sz="1200" dirty="0"/>
                    </a:p>
                  </a:txBody>
                  <a:tcPr/>
                </a:tc>
                <a:tc>
                  <a:txBody>
                    <a:bodyPr/>
                    <a:lstStyle/>
                    <a:p>
                      <a:r>
                        <a:rPr lang="fr-FR" sz="1200" dirty="0" smtClean="0"/>
                        <a:t>1080p maximum</a:t>
                      </a:r>
                      <a:endParaRPr lang="fr-FR" sz="1200" dirty="0"/>
                    </a:p>
                  </a:txBody>
                  <a:tcPr/>
                </a:tc>
                <a:tc>
                  <a:txBody>
                    <a:bodyPr/>
                    <a:lstStyle/>
                    <a:p>
                      <a:r>
                        <a:rPr lang="fr-FR" sz="1200" dirty="0" smtClean="0"/>
                        <a:t>1440p maximum </a:t>
                      </a:r>
                      <a:endParaRPr lang="fr-FR" sz="1200" dirty="0"/>
                    </a:p>
                  </a:txBody>
                  <a:tcPr/>
                </a:tc>
                <a:tc>
                  <a:txBody>
                    <a:bodyPr/>
                    <a:lstStyle/>
                    <a:p>
                      <a:r>
                        <a:rPr lang="fr-FR" sz="1200" smtClean="0"/>
                        <a:t>Pas de contrainte</a:t>
                      </a:r>
                      <a:endParaRPr lang="fr-FR" sz="1200" dirty="0"/>
                    </a:p>
                  </a:txBody>
                  <a:tcPr/>
                </a:tc>
                <a:extLst>
                  <a:ext uri="{0D108BD9-81ED-4DB2-BD59-A6C34878D82A}">
                    <a16:rowId xmlns:a16="http://schemas.microsoft.com/office/drawing/2014/main" val="248835084"/>
                  </a:ext>
                </a:extLst>
              </a:tr>
              <a:tr h="588979">
                <a:tc>
                  <a:txBody>
                    <a:bodyPr/>
                    <a:lstStyle/>
                    <a:p>
                      <a:r>
                        <a:rPr lang="fr-FR" sz="1200" dirty="0" smtClean="0"/>
                        <a:t>Type d’écran inconnu </a:t>
                      </a:r>
                      <a:endParaRPr lang="fr-FR" sz="1200" dirty="0"/>
                    </a:p>
                  </a:txBody>
                  <a:tcPr/>
                </a:tc>
                <a:tc>
                  <a:txBody>
                    <a:bodyPr/>
                    <a:lstStyle/>
                    <a:p>
                      <a:r>
                        <a:rPr lang="fr-FR" sz="1200" dirty="0" smtClean="0"/>
                        <a:t>720p maximum</a:t>
                      </a:r>
                      <a:endParaRPr lang="fr-FR" sz="1200" dirty="0"/>
                    </a:p>
                  </a:txBody>
                  <a:tcPr/>
                </a:tc>
                <a:tc>
                  <a:txBody>
                    <a:bodyPr/>
                    <a:lstStyle/>
                    <a:p>
                      <a:r>
                        <a:rPr lang="fr-FR" sz="1200" dirty="0" smtClean="0"/>
                        <a:t>1080p maximum</a:t>
                      </a:r>
                      <a:endParaRPr lang="fr-FR" sz="1200" dirty="0"/>
                    </a:p>
                  </a:txBody>
                  <a:tcPr/>
                </a:tc>
                <a:tc>
                  <a:txBody>
                    <a:bodyPr/>
                    <a:lstStyle/>
                    <a:p>
                      <a:r>
                        <a:rPr lang="fr-FR" sz="1200" dirty="0" smtClean="0"/>
                        <a:t>Pas de contrainte</a:t>
                      </a:r>
                      <a:endParaRPr lang="fr-FR" sz="1200" dirty="0"/>
                    </a:p>
                  </a:txBody>
                  <a:tcPr/>
                </a:tc>
                <a:extLst>
                  <a:ext uri="{0D108BD9-81ED-4DB2-BD59-A6C34878D82A}">
                    <a16:rowId xmlns:a16="http://schemas.microsoft.com/office/drawing/2014/main" val="2701778360"/>
                  </a:ext>
                </a:extLst>
              </a:tr>
            </a:tbl>
          </a:graphicData>
        </a:graphic>
      </p:graphicFrame>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2022 et 2024</a:t>
                      </a:r>
                    </a:p>
                    <a:p>
                      <a:r>
                        <a:rPr lang="fr-FR" sz="1400" b="0" dirty="0" smtClean="0">
                          <a:solidFill>
                            <a:srgbClr val="2F5597"/>
                          </a:solidFill>
                        </a:rPr>
                        <a:t>5.3 Le service numérique utilise-t-il, pour chaque vidéo, une définition adaptée au contenu et au contexte de visualisation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55881769"/>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618679695"/>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404691">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58/Proposer des vidéos dont le mode de</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compression est efficace et adapté au contenu et au contexte de</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visualisation</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571073">
                <a:tc>
                  <a:txBody>
                    <a:bodyPr/>
                    <a:lstStyle/>
                    <a:p>
                      <a:pPr marL="0" indent="0">
                        <a:buFont typeface="Arial" panose="020B0604020202020204" pitchFamily="34" charset="0"/>
                        <a:buNone/>
                      </a:pPr>
                      <a:r>
                        <a:rPr lang="fr-FR" sz="1200" dirty="0" smtClean="0">
                          <a:solidFill>
                            <a:schemeClr val="tx1"/>
                          </a:solidFill>
                        </a:rPr>
                        <a:t>Les vidéos sont proposées avec au moins un codec performant (à date : AV1, VP9 et HEVC) tenant compte</a:t>
                      </a:r>
                      <a:r>
                        <a:rPr lang="fr-FR" sz="1200" baseline="0" dirty="0" smtClean="0">
                          <a:solidFill>
                            <a:schemeClr val="tx1"/>
                          </a:solidFill>
                        </a:rPr>
                        <a:t> </a:t>
                      </a:r>
                      <a:r>
                        <a:rPr lang="fr-FR" sz="1200" dirty="0" smtClean="0">
                          <a:solidFill>
                            <a:schemeClr val="tx1"/>
                          </a:solidFill>
                        </a:rPr>
                        <a:t>de l’efficacité de compression du codec et son accélération matérielle dans les définitions 720p et au-delà.</a:t>
                      </a:r>
                    </a:p>
                    <a:p>
                      <a:pPr marL="0" indent="0">
                        <a:buFont typeface="Arial" panose="020B0604020202020204" pitchFamily="34" charset="0"/>
                        <a:buNone/>
                      </a:pPr>
                      <a:endParaRPr lang="fr-FR" sz="1200" dirty="0" smtClean="0">
                        <a:solidFill>
                          <a:schemeClr val="tx1"/>
                        </a:solidFill>
                      </a:endParaRPr>
                    </a:p>
                    <a:p>
                      <a:pPr marL="0" indent="0">
                        <a:buFont typeface="Arial" panose="020B0604020202020204" pitchFamily="34" charset="0"/>
                        <a:buNone/>
                      </a:pPr>
                      <a:r>
                        <a:rPr lang="fr-FR" sz="1200" dirty="0" smtClean="0">
                          <a:solidFill>
                            <a:schemeClr val="tx1"/>
                          </a:solidFill>
                        </a:rPr>
                        <a:t>H.264 peut être proposé en complément du codec performant.</a:t>
                      </a:r>
                    </a:p>
                    <a:p>
                      <a:pPr marL="0" indent="0">
                        <a:buFont typeface="Arial" panose="020B0604020202020204" pitchFamily="34" charset="0"/>
                        <a:buNone/>
                      </a:pPr>
                      <a:r>
                        <a:rPr lang="fr-FR" sz="1200" dirty="0" smtClean="0">
                          <a:solidFill>
                            <a:schemeClr val="tx1"/>
                          </a:solidFill>
                        </a:rPr>
                        <a:t>Pour économiser de la bande passante sur les scènes simples à encoder, un encodage à débit variable doit</a:t>
                      </a:r>
                      <a:r>
                        <a:rPr lang="fr-FR" sz="1200" baseline="0" dirty="0" smtClean="0">
                          <a:solidFill>
                            <a:schemeClr val="tx1"/>
                          </a:solidFill>
                        </a:rPr>
                        <a:t> </a:t>
                      </a:r>
                      <a:r>
                        <a:rPr lang="fr-FR" sz="1200" dirty="0" smtClean="0">
                          <a:solidFill>
                            <a:schemeClr val="tx1"/>
                          </a:solidFill>
                        </a:rPr>
                        <a:t>être préféré.</a:t>
                      </a:r>
                    </a:p>
                    <a:p>
                      <a:pPr marL="0" indent="0">
                        <a:buFont typeface="Arial" panose="020B0604020202020204" pitchFamily="34" charset="0"/>
                        <a:buNone/>
                      </a:pPr>
                      <a:endParaRPr lang="fr-FR" sz="1200" dirty="0" smtClean="0">
                        <a:solidFill>
                          <a:schemeClr val="tx1"/>
                        </a:solidFill>
                      </a:endParaRPr>
                    </a:p>
                    <a:p>
                      <a:pPr marL="0" indent="0">
                        <a:buFont typeface="Arial" panose="020B0604020202020204" pitchFamily="34" charset="0"/>
                        <a:buNone/>
                      </a:pPr>
                      <a:r>
                        <a:rPr lang="fr-FR" sz="1200" dirty="0" smtClean="0">
                          <a:solidFill>
                            <a:schemeClr val="tx1"/>
                          </a:solidFill>
                        </a:rPr>
                        <a:t>La qualité d’encodage des flux audio devrait être adaptée au besoin de l’utilisateur :</a:t>
                      </a:r>
                    </a:p>
                    <a:p>
                      <a:pPr marL="0" indent="0">
                        <a:buFont typeface="Arial" panose="020B0604020202020204" pitchFamily="34" charset="0"/>
                        <a:buNone/>
                      </a:pPr>
                      <a:r>
                        <a:rPr lang="fr-FR" sz="1200" dirty="0" smtClean="0">
                          <a:solidFill>
                            <a:schemeClr val="tx1"/>
                          </a:solidFill>
                        </a:rPr>
                        <a:t>• Optimisation du </a:t>
                      </a:r>
                      <a:r>
                        <a:rPr lang="fr-FR" sz="1200" dirty="0" err="1" smtClean="0">
                          <a:solidFill>
                            <a:schemeClr val="tx1"/>
                          </a:solidFill>
                        </a:rPr>
                        <a:t>bitrate</a:t>
                      </a:r>
                      <a:r>
                        <a:rPr lang="fr-FR" sz="1200" dirty="0" smtClean="0">
                          <a:solidFill>
                            <a:schemeClr val="tx1"/>
                          </a:solidFill>
                        </a:rPr>
                        <a:t> (débit), du ratio (taux de compression) et de la fréquence d’échantillonnage</a:t>
                      </a:r>
                      <a:r>
                        <a:rPr lang="fr-FR" sz="1200" baseline="0" dirty="0" smtClean="0">
                          <a:solidFill>
                            <a:schemeClr val="tx1"/>
                          </a:solidFill>
                        </a:rPr>
                        <a:t> </a:t>
                      </a:r>
                      <a:r>
                        <a:rPr lang="fr-FR" sz="1200" dirty="0" smtClean="0">
                          <a:solidFill>
                            <a:schemeClr val="tx1"/>
                          </a:solidFill>
                        </a:rPr>
                        <a:t>au sein du format ;</a:t>
                      </a:r>
                    </a:p>
                    <a:p>
                      <a:pPr marL="0" indent="0">
                        <a:buFont typeface="Arial" panose="020B0604020202020204" pitchFamily="34" charset="0"/>
                        <a:buNone/>
                      </a:pPr>
                      <a:r>
                        <a:rPr lang="fr-FR" sz="1200" dirty="0" smtClean="0">
                          <a:solidFill>
                            <a:schemeClr val="tx1"/>
                          </a:solidFill>
                        </a:rPr>
                        <a:t>• Choix adapté de nombre de canaux : stéréo pour de la musique ou mono pour des dialogues.</a:t>
                      </a:r>
                      <a:endParaRPr lang="fr-FR" sz="1200" dirty="0">
                        <a:solidFill>
                          <a:schemeClr val="tx1"/>
                        </a:solidFill>
                      </a:endParaRPr>
                    </a:p>
                  </a:txBody>
                  <a:tcPr/>
                </a:tc>
                <a:tc>
                  <a:txBody>
                    <a:bodyPr/>
                    <a:lstStyle/>
                    <a:p>
                      <a:r>
                        <a:rPr lang="fr-FR" sz="1200" dirty="0" smtClean="0">
                          <a:solidFill>
                            <a:schemeClr val="tx1"/>
                          </a:solidFill>
                        </a:rPr>
                        <a:t>Le critère est validé si le service remplit les conditions suivantes :</a:t>
                      </a:r>
                    </a:p>
                    <a:p>
                      <a:r>
                        <a:rPr lang="fr-FR" sz="1200" dirty="0" smtClean="0">
                          <a:solidFill>
                            <a:schemeClr val="tx1"/>
                          </a:solidFill>
                        </a:rPr>
                        <a:t>• Les vidéos sont encodées avec un débit variable, quel que soit le codec vidéo utilisé. Ce mode</a:t>
                      </a:r>
                    </a:p>
                    <a:p>
                      <a:r>
                        <a:rPr lang="fr-FR" sz="1200" dirty="0" smtClean="0">
                          <a:solidFill>
                            <a:schemeClr val="tx1"/>
                          </a:solidFill>
                        </a:rPr>
                        <a:t>d’encodage peut dans certains cas être associé à un plafond pour le débit maximal afin</a:t>
                      </a:r>
                      <a:r>
                        <a:rPr lang="fr-FR" sz="1200" baseline="0" dirty="0" smtClean="0">
                          <a:solidFill>
                            <a:schemeClr val="tx1"/>
                          </a:solidFill>
                        </a:rPr>
                        <a:t> </a:t>
                      </a:r>
                      <a:r>
                        <a:rPr lang="fr-FR" sz="1200" dirty="0" smtClean="0">
                          <a:solidFill>
                            <a:schemeClr val="tx1"/>
                          </a:solidFill>
                        </a:rPr>
                        <a:t>d’assurer que</a:t>
                      </a:r>
                      <a:r>
                        <a:rPr lang="fr-FR" sz="1200" baseline="0" dirty="0" smtClean="0">
                          <a:solidFill>
                            <a:schemeClr val="tx1"/>
                          </a:solidFill>
                        </a:rPr>
                        <a:t> </a:t>
                      </a:r>
                      <a:r>
                        <a:rPr lang="fr-FR" sz="1200" dirty="0" smtClean="0">
                          <a:solidFill>
                            <a:schemeClr val="tx1"/>
                          </a:solidFill>
                        </a:rPr>
                        <a:t>les contenus plus complexes restent lisibles avec une connexion internet à bas débit.</a:t>
                      </a:r>
                    </a:p>
                    <a:p>
                      <a:r>
                        <a:rPr lang="fr-FR" sz="1200" dirty="0" smtClean="0">
                          <a:solidFill>
                            <a:schemeClr val="tx1"/>
                          </a:solidFill>
                        </a:rPr>
                        <a:t>• Les vidéos disponibles sur le service numérique ont une définition inférieure à 720p ou sont</a:t>
                      </a:r>
                    </a:p>
                    <a:p>
                      <a:r>
                        <a:rPr lang="fr-FR" sz="1200" dirty="0" smtClean="0">
                          <a:solidFill>
                            <a:schemeClr val="tx1"/>
                          </a:solidFill>
                        </a:rPr>
                        <a:t>proposées avec un codec vidéo efficace, à date AV1, VP9 ou HEVC (pour les vidéos encodées en 720p</a:t>
                      </a:r>
                      <a:r>
                        <a:rPr lang="fr-FR" sz="1200" baseline="0" dirty="0" smtClean="0">
                          <a:solidFill>
                            <a:schemeClr val="tx1"/>
                          </a:solidFill>
                        </a:rPr>
                        <a:t> </a:t>
                      </a:r>
                      <a:r>
                        <a:rPr lang="fr-FR" sz="1200" dirty="0" smtClean="0">
                          <a:solidFill>
                            <a:schemeClr val="tx1"/>
                          </a:solidFill>
                        </a:rPr>
                        <a:t>ou plus). Le codec H.264 peut être utilisé en secours, en cas d’incompatibilité, à condition qu’un</a:t>
                      </a:r>
                      <a:r>
                        <a:rPr lang="fr-FR" sz="1200" baseline="0" dirty="0" smtClean="0">
                          <a:solidFill>
                            <a:schemeClr val="tx1"/>
                          </a:solidFill>
                        </a:rPr>
                        <a:t> </a:t>
                      </a:r>
                      <a:r>
                        <a:rPr lang="fr-FR" sz="1200" dirty="0" smtClean="0">
                          <a:solidFill>
                            <a:schemeClr val="tx1"/>
                          </a:solidFill>
                        </a:rPr>
                        <a:t>codec plus performant soit proposé aux terminaux compatibles.</a:t>
                      </a:r>
                    </a:p>
                    <a:p>
                      <a:r>
                        <a:rPr lang="fr-FR" sz="1200" dirty="0" smtClean="0">
                          <a:solidFill>
                            <a:schemeClr val="tx1"/>
                          </a:solidFill>
                        </a:rPr>
                        <a:t>• Le ou les codecs utilisés sont accélérés matériellement par la majorité du parc des terminaux.</a:t>
                      </a:r>
                    </a:p>
                    <a:p>
                      <a:r>
                        <a:rPr lang="fr-FR" sz="1200" dirty="0" smtClean="0">
                          <a:solidFill>
                            <a:schemeClr val="tx1"/>
                          </a:solidFill>
                        </a:rPr>
                        <a:t>• Sont documentés dans la déclaration d’écoconception du service numérique le(s) codec(s) vidéo et</a:t>
                      </a:r>
                      <a:r>
                        <a:rPr lang="fr-FR" sz="1200" baseline="0" dirty="0" smtClean="0">
                          <a:solidFill>
                            <a:schemeClr val="tx1"/>
                          </a:solidFill>
                        </a:rPr>
                        <a:t> </a:t>
                      </a:r>
                      <a:r>
                        <a:rPr lang="fr-FR" sz="1200" dirty="0" smtClean="0">
                          <a:solidFill>
                            <a:schemeClr val="tx1"/>
                          </a:solidFill>
                        </a:rPr>
                        <a:t>audio utilisé(s) pour chaque définition vidéo, le type d’encodage vidéo : débit fixe, variable, variable</a:t>
                      </a:r>
                      <a:r>
                        <a:rPr lang="fr-FR" sz="1200" baseline="0" dirty="0" smtClean="0">
                          <a:solidFill>
                            <a:schemeClr val="tx1"/>
                          </a:solidFill>
                        </a:rPr>
                        <a:t> </a:t>
                      </a:r>
                      <a:r>
                        <a:rPr lang="fr-FR" sz="1200" dirty="0" smtClean="0">
                          <a:solidFill>
                            <a:schemeClr val="tx1"/>
                          </a:solidFill>
                        </a:rPr>
                        <a:t>avec débit maximum/présence de HDR, et le type d’encodage audio : débit, nombre de canaux.</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731520"/>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2022 et 2024</a:t>
                      </a:r>
                    </a:p>
                    <a:p>
                      <a:r>
                        <a:rPr lang="fr-FR" sz="1400" b="0" dirty="0" smtClean="0">
                          <a:solidFill>
                            <a:srgbClr val="2F5597"/>
                          </a:solidFill>
                        </a:rPr>
                        <a:t>5.4 Le service numérique propose-t-il des vidéos dont le mode de</a:t>
                      </a:r>
                      <a:r>
                        <a:rPr lang="fr-FR" sz="1400" b="0" baseline="0" dirty="0" smtClean="0">
                          <a:solidFill>
                            <a:srgbClr val="2F5597"/>
                          </a:solidFill>
                        </a:rPr>
                        <a:t> </a:t>
                      </a:r>
                      <a:r>
                        <a:rPr lang="fr-FR" sz="1400" b="0" dirty="0" smtClean="0">
                          <a:solidFill>
                            <a:srgbClr val="2F5597"/>
                          </a:solidFill>
                        </a:rPr>
                        <a:t>compression est efficace et adapté au contenu et au contexte de</a:t>
                      </a:r>
                    </a:p>
                    <a:p>
                      <a:r>
                        <a:rPr lang="fr-FR" sz="1400" b="0" dirty="0" smtClean="0">
                          <a:solidFill>
                            <a:srgbClr val="2F5597"/>
                          </a:solidFill>
                        </a:rPr>
                        <a:t>visualisation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834303785"/>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4186932470"/>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20098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59/Proposer</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un mode « écoute seule » pour</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ses vidéos</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774780">
                <a:tc>
                  <a:txBody>
                    <a:bodyPr/>
                    <a:lstStyle/>
                    <a:p>
                      <a:pPr marL="0" indent="0">
                        <a:buFont typeface="Arial" panose="020B0604020202020204" pitchFamily="34" charset="0"/>
                        <a:buNone/>
                      </a:pPr>
                      <a:r>
                        <a:rPr lang="fr-FR" sz="1200" dirty="0" smtClean="0">
                          <a:solidFill>
                            <a:schemeClr val="tx1"/>
                          </a:solidFill>
                        </a:rPr>
                        <a:t>Basculer automatiquement les vidéos en « écoute seule » quand le service numérique détecte que le média</a:t>
                      </a:r>
                      <a:r>
                        <a:rPr lang="fr-FR" sz="1200" baseline="0" dirty="0" smtClean="0">
                          <a:solidFill>
                            <a:schemeClr val="tx1"/>
                          </a:solidFill>
                        </a:rPr>
                        <a:t> </a:t>
                      </a:r>
                      <a:r>
                        <a:rPr lang="fr-FR" sz="1200" dirty="0" smtClean="0">
                          <a:solidFill>
                            <a:schemeClr val="tx1"/>
                          </a:solidFill>
                        </a:rPr>
                        <a:t>n’est plus visualisé ou que l’utilisateur éteint son écran. </a:t>
                      </a:r>
                    </a:p>
                    <a:p>
                      <a:pPr marL="0" indent="0">
                        <a:buFont typeface="Arial" panose="020B0604020202020204" pitchFamily="34" charset="0"/>
                        <a:buNone/>
                      </a:pPr>
                      <a:endParaRPr lang="fr-FR" sz="1200" dirty="0" smtClean="0">
                        <a:solidFill>
                          <a:schemeClr val="tx1"/>
                        </a:solidFill>
                      </a:endParaRPr>
                    </a:p>
                    <a:p>
                      <a:pPr marL="0" indent="0">
                        <a:buFont typeface="Arial" panose="020B0604020202020204" pitchFamily="34" charset="0"/>
                        <a:buNone/>
                      </a:pPr>
                      <a:r>
                        <a:rPr lang="fr-FR" sz="1200" dirty="0" smtClean="0">
                          <a:solidFill>
                            <a:schemeClr val="tx1"/>
                          </a:solidFill>
                        </a:rPr>
                        <a:t>Par exemple :</a:t>
                      </a:r>
                    </a:p>
                    <a:p>
                      <a:pPr marL="0" indent="0">
                        <a:buFont typeface="Arial" panose="020B0604020202020204" pitchFamily="34" charset="0"/>
                        <a:buNone/>
                      </a:pPr>
                      <a:r>
                        <a:rPr lang="fr-FR" sz="1200" dirty="0" smtClean="0">
                          <a:solidFill>
                            <a:schemeClr val="tx1"/>
                          </a:solidFill>
                        </a:rPr>
                        <a:t>• Utilisation de service numérique sur smartphone / tablette / équipement connecté (application</a:t>
                      </a:r>
                      <a:r>
                        <a:rPr lang="fr-FR" sz="1200" baseline="0" dirty="0" smtClean="0">
                          <a:solidFill>
                            <a:schemeClr val="tx1"/>
                          </a:solidFill>
                        </a:rPr>
                        <a:t> </a:t>
                      </a:r>
                      <a:r>
                        <a:rPr lang="fr-FR" sz="1200" dirty="0" smtClean="0">
                          <a:solidFill>
                            <a:schemeClr val="tx1"/>
                          </a:solidFill>
                        </a:rPr>
                        <a:t>native ou via un navigateur web) : le fait d’appuyer sur le bouton de mise en veille doit basculer la</a:t>
                      </a:r>
                      <a:r>
                        <a:rPr lang="fr-FR" sz="1200" baseline="0" dirty="0" smtClean="0">
                          <a:solidFill>
                            <a:schemeClr val="tx1"/>
                          </a:solidFill>
                        </a:rPr>
                        <a:t> </a:t>
                      </a:r>
                      <a:r>
                        <a:rPr lang="fr-FR" sz="1200" dirty="0" smtClean="0">
                          <a:solidFill>
                            <a:schemeClr val="tx1"/>
                          </a:solidFill>
                        </a:rPr>
                        <a:t>vidéo en mode audio seul, de façon à permettre à l’utilisateur de continuer à écouter la vidéo en</a:t>
                      </a:r>
                      <a:r>
                        <a:rPr lang="fr-FR" sz="1200" baseline="0" dirty="0" smtClean="0">
                          <a:solidFill>
                            <a:schemeClr val="tx1"/>
                          </a:solidFill>
                        </a:rPr>
                        <a:t> </a:t>
                      </a:r>
                      <a:r>
                        <a:rPr lang="fr-FR" sz="1200" dirty="0" smtClean="0">
                          <a:solidFill>
                            <a:schemeClr val="tx1"/>
                          </a:solidFill>
                        </a:rPr>
                        <a:t>limitant fortement la consommation d’énergie, l’écran étant éteint et seules les données nécessaires</a:t>
                      </a:r>
                      <a:r>
                        <a:rPr lang="fr-FR" sz="1200" baseline="0" dirty="0" smtClean="0">
                          <a:solidFill>
                            <a:schemeClr val="tx1"/>
                          </a:solidFill>
                        </a:rPr>
                        <a:t> </a:t>
                      </a:r>
                      <a:r>
                        <a:rPr lang="fr-FR" sz="1200" dirty="0" smtClean="0">
                          <a:solidFill>
                            <a:schemeClr val="tx1"/>
                          </a:solidFill>
                        </a:rPr>
                        <a:t>à l’audio étant transférées.</a:t>
                      </a:r>
                    </a:p>
                    <a:p>
                      <a:pPr marL="0" indent="0">
                        <a:buFont typeface="Arial" panose="020B0604020202020204" pitchFamily="34" charset="0"/>
                        <a:buNone/>
                      </a:pPr>
                      <a:r>
                        <a:rPr lang="fr-FR" sz="1200" dirty="0" smtClean="0">
                          <a:solidFill>
                            <a:schemeClr val="tx1"/>
                          </a:solidFill>
                        </a:rPr>
                        <a:t>• Si le service numérique est utilisé dans un navigateur web, le fait de passer dans un autre onglet que</a:t>
                      </a:r>
                      <a:r>
                        <a:rPr lang="fr-FR" sz="1200" baseline="0" dirty="0" smtClean="0">
                          <a:solidFill>
                            <a:schemeClr val="tx1"/>
                          </a:solidFill>
                        </a:rPr>
                        <a:t> </a:t>
                      </a:r>
                      <a:r>
                        <a:rPr lang="fr-FR" sz="1200" dirty="0" smtClean="0">
                          <a:solidFill>
                            <a:schemeClr val="tx1"/>
                          </a:solidFill>
                        </a:rPr>
                        <a:t>celui de la vidéo doit déclencher le mode « écoute seule ». Quand l’utilisateur affiche de nouveau</a:t>
                      </a:r>
                      <a:r>
                        <a:rPr lang="fr-FR" sz="1200" baseline="0" dirty="0" smtClean="0">
                          <a:solidFill>
                            <a:schemeClr val="tx1"/>
                          </a:solidFill>
                        </a:rPr>
                        <a:t> </a:t>
                      </a:r>
                      <a:r>
                        <a:rPr lang="fr-FR" sz="1200" dirty="0" smtClean="0">
                          <a:solidFill>
                            <a:schemeClr val="tx1"/>
                          </a:solidFill>
                        </a:rPr>
                        <a:t>l’onglet de la vidéo, celle-ci peut rebasculer en mode vidéo.</a:t>
                      </a:r>
                      <a:endParaRPr lang="fr-FR" sz="1200" dirty="0">
                        <a:solidFill>
                          <a:schemeClr val="tx1"/>
                        </a:solidFill>
                      </a:endParaRPr>
                    </a:p>
                  </a:txBody>
                  <a:tcPr/>
                </a:tc>
                <a:tc>
                  <a:txBody>
                    <a:bodyPr/>
                    <a:lstStyle/>
                    <a:p>
                      <a:r>
                        <a:rPr lang="fr-FR" sz="1200" dirty="0" smtClean="0">
                          <a:solidFill>
                            <a:schemeClr val="tx1"/>
                          </a:solidFill>
                        </a:rPr>
                        <a:t>Le critère est validé si :</a:t>
                      </a:r>
                    </a:p>
                    <a:p>
                      <a:endParaRPr lang="fr-FR" sz="1200" dirty="0" smtClean="0">
                        <a:solidFill>
                          <a:schemeClr val="tx1"/>
                        </a:solidFill>
                      </a:endParaRPr>
                    </a:p>
                    <a:p>
                      <a:r>
                        <a:rPr lang="fr-FR" sz="1200" dirty="0" smtClean="0">
                          <a:solidFill>
                            <a:schemeClr val="tx1"/>
                          </a:solidFill>
                        </a:rPr>
                        <a:t>• Le service propose un mode « écoute seule » sur les vidéos, activable à la demande de l’utilisateur</a:t>
                      </a:r>
                      <a:r>
                        <a:rPr lang="fr-FR" sz="1200" baseline="0" dirty="0" smtClean="0">
                          <a:solidFill>
                            <a:schemeClr val="tx1"/>
                          </a:solidFill>
                        </a:rPr>
                        <a:t> </a:t>
                      </a:r>
                      <a:r>
                        <a:rPr lang="fr-FR" sz="1200" dirty="0" smtClean="0">
                          <a:solidFill>
                            <a:schemeClr val="tx1"/>
                          </a:solidFill>
                        </a:rPr>
                        <a:t>et qui s’enclenche lorsqu’il peut être détecté que la vidéo n’est pas affichée sur le terminal (par</a:t>
                      </a:r>
                      <a:r>
                        <a:rPr lang="fr-FR" sz="1200" baseline="0" dirty="0" smtClean="0">
                          <a:solidFill>
                            <a:schemeClr val="tx1"/>
                          </a:solidFill>
                        </a:rPr>
                        <a:t> </a:t>
                      </a:r>
                      <a:r>
                        <a:rPr lang="fr-FR" sz="1200" dirty="0" smtClean="0">
                          <a:solidFill>
                            <a:schemeClr val="tx1"/>
                          </a:solidFill>
                        </a:rPr>
                        <a:t>exemple : changement d’onglet dans un navigateur ou d’application sur un terminal, fermeture</a:t>
                      </a:r>
                      <a:r>
                        <a:rPr lang="fr-FR" sz="1200" baseline="0" dirty="0" smtClean="0">
                          <a:solidFill>
                            <a:schemeClr val="tx1"/>
                          </a:solidFill>
                        </a:rPr>
                        <a:t> </a:t>
                      </a:r>
                      <a:r>
                        <a:rPr lang="fr-FR" sz="1200" dirty="0" smtClean="0">
                          <a:solidFill>
                            <a:schemeClr val="tx1"/>
                          </a:solidFill>
                        </a:rPr>
                        <a:t>d’écran, etc.). Dans l’éventualité où les vidéos du service sont déjà hébergées par un service tiers qui</a:t>
                      </a:r>
                      <a:r>
                        <a:rPr lang="fr-FR" sz="1200" baseline="0" dirty="0" smtClean="0">
                          <a:solidFill>
                            <a:schemeClr val="tx1"/>
                          </a:solidFill>
                        </a:rPr>
                        <a:t> </a:t>
                      </a:r>
                      <a:r>
                        <a:rPr lang="fr-FR" sz="1200" dirty="0" smtClean="0">
                          <a:solidFill>
                            <a:schemeClr val="tx1"/>
                          </a:solidFill>
                        </a:rPr>
                        <a:t>ne propose pas ce mode « écoute seule », il est possible de valider le critère en proposant un</a:t>
                      </a:r>
                      <a:r>
                        <a:rPr lang="fr-FR" sz="1200" baseline="0" dirty="0" smtClean="0">
                          <a:solidFill>
                            <a:schemeClr val="tx1"/>
                          </a:solidFill>
                        </a:rPr>
                        <a:t> </a:t>
                      </a:r>
                      <a:r>
                        <a:rPr lang="fr-FR" sz="1200" dirty="0" smtClean="0">
                          <a:solidFill>
                            <a:schemeClr val="tx1"/>
                          </a:solidFill>
                        </a:rPr>
                        <a:t>enregistrement « écoute seule » sous chaque vidéo (sans </a:t>
                      </a:r>
                      <a:r>
                        <a:rPr lang="fr-FR" sz="1200" dirty="0" err="1" smtClean="0">
                          <a:solidFill>
                            <a:schemeClr val="tx1"/>
                          </a:solidFill>
                        </a:rPr>
                        <a:t>préchargement</a:t>
                      </a:r>
                      <a:r>
                        <a:rPr lang="fr-FR" sz="1200" dirty="0" smtClean="0">
                          <a:solidFill>
                            <a:schemeClr val="tx1"/>
                          </a:solidFill>
                        </a:rPr>
                        <a:t> de la vidéo associée).</a:t>
                      </a:r>
                    </a:p>
                    <a:p>
                      <a:r>
                        <a:rPr lang="fr-FR" sz="1200" dirty="0" smtClean="0">
                          <a:solidFill>
                            <a:schemeClr val="tx1"/>
                          </a:solidFill>
                        </a:rPr>
                        <a:t>• Sont documentés dans la déclaration d’écoconception du service numérique l’emplacement et le</a:t>
                      </a:r>
                      <a:r>
                        <a:rPr lang="fr-FR" sz="1200" baseline="0" dirty="0" smtClean="0">
                          <a:solidFill>
                            <a:schemeClr val="tx1"/>
                          </a:solidFill>
                        </a:rPr>
                        <a:t> </a:t>
                      </a:r>
                      <a:r>
                        <a:rPr lang="fr-FR" sz="1200" dirty="0" smtClean="0">
                          <a:solidFill>
                            <a:schemeClr val="tx1"/>
                          </a:solidFill>
                        </a:rPr>
                        <a:t>fonctionnement du mode « écoute seule ».</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solidFill>
                            <a:schemeClr val="tx1"/>
                          </a:solidFill>
                        </a:rPr>
                        <a:t>Haute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2024</a:t>
                      </a:r>
                    </a:p>
                    <a:p>
                      <a:r>
                        <a:rPr lang="fr-FR" sz="1400" b="0" dirty="0" smtClean="0">
                          <a:solidFill>
                            <a:srgbClr val="2F5597"/>
                          </a:solidFill>
                        </a:rPr>
                        <a:t>5.5 Le service numérique propose-t-il un mode « écoute seule » pour</a:t>
                      </a:r>
                      <a:r>
                        <a:rPr lang="fr-FR" sz="1400" b="0" baseline="0" dirty="0" smtClean="0">
                          <a:solidFill>
                            <a:srgbClr val="2F5597"/>
                          </a:solidFill>
                        </a:rPr>
                        <a:t> </a:t>
                      </a:r>
                      <a:r>
                        <a:rPr lang="fr-FR" sz="1400" b="0" dirty="0" smtClean="0">
                          <a:solidFill>
                            <a:srgbClr val="2F5597"/>
                          </a:solidFill>
                        </a:rPr>
                        <a:t>ses vidéos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367428412"/>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4226965112"/>
              </p:ext>
            </p:extLst>
          </p:nvPr>
        </p:nvGraphicFramePr>
        <p:xfrm>
          <a:off x="1" y="1130276"/>
          <a:ext cx="12191998" cy="4958008"/>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2">
                  <a:extLst>
                    <a:ext uri="{9D8B030D-6E8A-4147-A177-3AD203B41FA5}">
                      <a16:colId xmlns:a16="http://schemas.microsoft.com/office/drawing/2014/main" val="588129664"/>
                    </a:ext>
                  </a:extLst>
                </a:gridCol>
              </a:tblGrid>
              <a:tr h="82023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60/Proposer des contenus </a:t>
                      </a:r>
                      <a:r>
                        <a:rPr lang="fr-FR" sz="1800" b="1" u="sng" kern="1200" dirty="0" err="1" smtClean="0">
                          <a:solidFill>
                            <a:schemeClr val="bg1"/>
                          </a:solidFill>
                          <a:latin typeface="+mn-lt"/>
                          <a:ea typeface="+mn-ea"/>
                          <a:cs typeface="+mn-cs"/>
                        </a:rPr>
                        <a:t>audios</a:t>
                      </a:r>
                      <a:r>
                        <a:rPr lang="fr-FR" sz="1800" b="1" u="sng" kern="1200" dirty="0" smtClean="0">
                          <a:solidFill>
                            <a:schemeClr val="bg1"/>
                          </a:solidFill>
                          <a:latin typeface="+mn-lt"/>
                          <a:ea typeface="+mn-ea"/>
                          <a:cs typeface="+mn-cs"/>
                        </a:rPr>
                        <a:t> dont le</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mode de compression est adapté au contenu et au contexte</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d’écoute </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137778">
                <a:tc>
                  <a:txBody>
                    <a:bodyPr/>
                    <a:lstStyle/>
                    <a:p>
                      <a:pPr marL="0" indent="0">
                        <a:buFont typeface="Arial" panose="020B0604020202020204" pitchFamily="34" charset="0"/>
                        <a:buNone/>
                      </a:pPr>
                      <a:r>
                        <a:rPr lang="fr-FR" sz="1400" dirty="0" smtClean="0">
                          <a:solidFill>
                            <a:schemeClr val="tx1"/>
                          </a:solidFill>
                        </a:rPr>
                        <a:t>Afin de réduire la taille des contenus audio, envisager les actions suivantes :</a:t>
                      </a:r>
                    </a:p>
                    <a:p>
                      <a:pPr marL="0" indent="0">
                        <a:buFont typeface="Arial" panose="020B0604020202020204" pitchFamily="34" charset="0"/>
                        <a:buNone/>
                      </a:pPr>
                      <a:endParaRPr lang="fr-FR" sz="1400" dirty="0" smtClean="0">
                        <a:solidFill>
                          <a:schemeClr val="tx1"/>
                        </a:solidFill>
                      </a:endParaRPr>
                    </a:p>
                    <a:p>
                      <a:pPr marL="0" indent="0">
                        <a:buFont typeface="Arial" panose="020B0604020202020204" pitchFamily="34" charset="0"/>
                        <a:buNone/>
                      </a:pPr>
                      <a:r>
                        <a:rPr lang="fr-FR" sz="1400" dirty="0" smtClean="0">
                          <a:solidFill>
                            <a:schemeClr val="tx1"/>
                          </a:solidFill>
                        </a:rPr>
                        <a:t>• Utiliser des codecs audio efficaces (à date : Opus, AAC, HE-AAC, HE-AAC v2, HD-AAC, Dolby E-AC-3</a:t>
                      </a:r>
                      <a:r>
                        <a:rPr lang="fr-FR" sz="1400" baseline="0" dirty="0" smtClean="0">
                          <a:solidFill>
                            <a:schemeClr val="tx1"/>
                          </a:solidFill>
                        </a:rPr>
                        <a:t> </a:t>
                      </a:r>
                      <a:r>
                        <a:rPr lang="fr-FR" sz="1400" dirty="0" smtClean="0">
                          <a:solidFill>
                            <a:schemeClr val="tx1"/>
                          </a:solidFill>
                        </a:rPr>
                        <a:t>ou Dolby AC-4), en évitant les formats les plus volumineux. L’ensemble des navigateurs web</a:t>
                      </a:r>
                      <a:r>
                        <a:rPr lang="fr-FR" sz="1400" baseline="0" dirty="0" smtClean="0">
                          <a:solidFill>
                            <a:schemeClr val="tx1"/>
                          </a:solidFill>
                        </a:rPr>
                        <a:t> </a:t>
                      </a:r>
                      <a:r>
                        <a:rPr lang="fr-FR" sz="1400" dirty="0" smtClean="0">
                          <a:solidFill>
                            <a:schemeClr val="tx1"/>
                          </a:solidFill>
                        </a:rPr>
                        <a:t>supportent un flux audio seul (sans vidéo accompagnant le flux audio) avec le codec Opus, dans un</a:t>
                      </a:r>
                      <a:r>
                        <a:rPr lang="fr-FR" sz="1400" baseline="0" dirty="0" smtClean="0">
                          <a:solidFill>
                            <a:schemeClr val="tx1"/>
                          </a:solidFill>
                        </a:rPr>
                        <a:t> </a:t>
                      </a:r>
                      <a:r>
                        <a:rPr lang="fr-FR" sz="1400" dirty="0" smtClean="0">
                          <a:solidFill>
                            <a:schemeClr val="tx1"/>
                          </a:solidFill>
                        </a:rPr>
                        <a:t>conteneur </a:t>
                      </a:r>
                      <a:r>
                        <a:rPr lang="fr-FR" sz="1400" dirty="0" err="1" smtClean="0">
                          <a:solidFill>
                            <a:schemeClr val="tx1"/>
                          </a:solidFill>
                        </a:rPr>
                        <a:t>WebM</a:t>
                      </a:r>
                      <a:r>
                        <a:rPr lang="fr-FR" sz="1400" dirty="0" smtClean="0">
                          <a:solidFill>
                            <a:schemeClr val="tx1"/>
                          </a:solidFill>
                        </a:rPr>
                        <a:t> et avec le codec AAC, dans un conteneur MP4.</a:t>
                      </a:r>
                    </a:p>
                    <a:p>
                      <a:pPr marL="0" indent="0">
                        <a:buFont typeface="Arial" panose="020B0604020202020204" pitchFamily="34" charset="0"/>
                        <a:buNone/>
                      </a:pPr>
                      <a:r>
                        <a:rPr lang="fr-FR" sz="1400" dirty="0" smtClean="0">
                          <a:solidFill>
                            <a:schemeClr val="tx1"/>
                          </a:solidFill>
                        </a:rPr>
                        <a:t>• Optimiser le </a:t>
                      </a:r>
                      <a:r>
                        <a:rPr lang="fr-FR" sz="1400" dirty="0" err="1" smtClean="0">
                          <a:solidFill>
                            <a:schemeClr val="tx1"/>
                          </a:solidFill>
                        </a:rPr>
                        <a:t>bitrate</a:t>
                      </a:r>
                      <a:r>
                        <a:rPr lang="fr-FR" sz="1400" dirty="0" smtClean="0">
                          <a:solidFill>
                            <a:schemeClr val="tx1"/>
                          </a:solidFill>
                        </a:rPr>
                        <a:t> (débit), le ratio (taux de compression) et la fréquence d’échantillonnage au sein</a:t>
                      </a:r>
                      <a:r>
                        <a:rPr lang="fr-FR" sz="1400" baseline="0" dirty="0" smtClean="0">
                          <a:solidFill>
                            <a:schemeClr val="tx1"/>
                          </a:solidFill>
                        </a:rPr>
                        <a:t> </a:t>
                      </a:r>
                      <a:r>
                        <a:rPr lang="fr-FR" sz="1400" dirty="0" smtClean="0">
                          <a:solidFill>
                            <a:schemeClr val="tx1"/>
                          </a:solidFill>
                        </a:rPr>
                        <a:t>du format.</a:t>
                      </a:r>
                    </a:p>
                    <a:p>
                      <a:pPr marL="0" indent="0">
                        <a:buFont typeface="Arial" panose="020B0604020202020204" pitchFamily="34" charset="0"/>
                        <a:buNone/>
                      </a:pPr>
                      <a:r>
                        <a:rPr lang="fr-FR" sz="1400" dirty="0" smtClean="0">
                          <a:solidFill>
                            <a:schemeClr val="tx1"/>
                          </a:solidFill>
                        </a:rPr>
                        <a:t>• Faire un choix adapté : stéréo pour de la musique ou mono pour des dialogues.</a:t>
                      </a:r>
                    </a:p>
                    <a:p>
                      <a:pPr marL="0" indent="0">
                        <a:buFont typeface="Arial" panose="020B0604020202020204" pitchFamily="34" charset="0"/>
                        <a:buNone/>
                      </a:pPr>
                      <a:r>
                        <a:rPr lang="fr-FR" sz="1400" dirty="0" smtClean="0">
                          <a:solidFill>
                            <a:schemeClr val="tx1"/>
                          </a:solidFill>
                        </a:rPr>
                        <a:t>• Éviter le ratio poids en mégaoctet/durée en minute supérieur à 1</a:t>
                      </a:r>
                      <a:endParaRPr lang="fr-FR" sz="1400" dirty="0">
                        <a:solidFill>
                          <a:schemeClr val="tx1"/>
                        </a:solidFill>
                      </a:endParaRPr>
                    </a:p>
                  </a:txBody>
                  <a:tcPr/>
                </a:tc>
                <a:tc>
                  <a:txBody>
                    <a:bodyPr/>
                    <a:lstStyle/>
                    <a:p>
                      <a:r>
                        <a:rPr lang="fr-FR" sz="1400" dirty="0" smtClean="0">
                          <a:solidFill>
                            <a:schemeClr val="tx1"/>
                          </a:solidFill>
                        </a:rPr>
                        <a:t>Le critère est validé si le service remplit les conditions suivantes :</a:t>
                      </a:r>
                    </a:p>
                    <a:p>
                      <a:endParaRPr lang="fr-FR" sz="1400" dirty="0" smtClean="0">
                        <a:solidFill>
                          <a:schemeClr val="tx1"/>
                        </a:solidFill>
                      </a:endParaRPr>
                    </a:p>
                    <a:p>
                      <a:r>
                        <a:rPr lang="fr-FR" sz="1400" dirty="0" smtClean="0">
                          <a:solidFill>
                            <a:schemeClr val="tx1"/>
                          </a:solidFill>
                        </a:rPr>
                        <a:t>• Les contenus audio disponibles sur le service numérique sont proposés avec un codec audio efficace,</a:t>
                      </a:r>
                      <a:r>
                        <a:rPr lang="fr-FR" sz="1400" baseline="0" dirty="0" smtClean="0">
                          <a:solidFill>
                            <a:schemeClr val="tx1"/>
                          </a:solidFill>
                        </a:rPr>
                        <a:t> </a:t>
                      </a:r>
                      <a:r>
                        <a:rPr lang="fr-FR" sz="1400" dirty="0" smtClean="0">
                          <a:solidFill>
                            <a:schemeClr val="tx1"/>
                          </a:solidFill>
                        </a:rPr>
                        <a:t>à date Opus, AAC ou Dolby AC-4 (un codec non efficace peut être proposé en </a:t>
                      </a:r>
                      <a:r>
                        <a:rPr lang="fr-FR" sz="1400" dirty="0" err="1" smtClean="0">
                          <a:solidFill>
                            <a:schemeClr val="tx1"/>
                          </a:solidFill>
                        </a:rPr>
                        <a:t>fallback</a:t>
                      </a:r>
                      <a:r>
                        <a:rPr lang="fr-FR" sz="1400" dirty="0" smtClean="0">
                          <a:solidFill>
                            <a:schemeClr val="tx1"/>
                          </a:solidFill>
                        </a:rPr>
                        <a:t>, à condition</a:t>
                      </a:r>
                      <a:r>
                        <a:rPr lang="fr-FR" sz="1400" baseline="0" dirty="0" smtClean="0">
                          <a:solidFill>
                            <a:schemeClr val="tx1"/>
                          </a:solidFill>
                        </a:rPr>
                        <a:t> </a:t>
                      </a:r>
                      <a:r>
                        <a:rPr lang="fr-FR" sz="1400" dirty="0" smtClean="0">
                          <a:solidFill>
                            <a:schemeClr val="tx1"/>
                          </a:solidFill>
                        </a:rPr>
                        <a:t>qu’un codec plus performant soit proposé aux terminaux compatibles).</a:t>
                      </a:r>
                    </a:p>
                    <a:p>
                      <a:r>
                        <a:rPr lang="fr-FR" sz="1400" dirty="0" smtClean="0">
                          <a:solidFill>
                            <a:schemeClr val="tx1"/>
                          </a:solidFill>
                        </a:rPr>
                        <a:t>• Le(s) codec(s) audio utilisé(s) et le type d’encodage audio (débit, nombre de canaux) sont</a:t>
                      </a:r>
                      <a:r>
                        <a:rPr lang="fr-FR" sz="1400" baseline="0" dirty="0" smtClean="0">
                          <a:solidFill>
                            <a:schemeClr val="tx1"/>
                          </a:solidFill>
                        </a:rPr>
                        <a:t> </a:t>
                      </a:r>
                      <a:r>
                        <a:rPr lang="fr-FR" sz="1400" dirty="0" smtClean="0">
                          <a:solidFill>
                            <a:schemeClr val="tx1"/>
                          </a:solidFill>
                        </a:rPr>
                        <a:t>documentés dans la déclaration</a:t>
                      </a:r>
                      <a:r>
                        <a:rPr lang="fr-FR" sz="1400" baseline="0" dirty="0" smtClean="0">
                          <a:solidFill>
                            <a:schemeClr val="tx1"/>
                          </a:solidFill>
                        </a:rPr>
                        <a:t> </a:t>
                      </a:r>
                      <a:r>
                        <a:rPr lang="fr-FR" sz="1400" dirty="0" smtClean="0">
                          <a:solidFill>
                            <a:schemeClr val="tx1"/>
                          </a:solidFill>
                        </a:rPr>
                        <a:t>d’écoconception du service</a:t>
                      </a:r>
                      <a:r>
                        <a:rPr lang="fr-FR" sz="1400" baseline="0" dirty="0" smtClean="0">
                          <a:solidFill>
                            <a:schemeClr val="tx1"/>
                          </a:solidFill>
                        </a:rPr>
                        <a:t> </a:t>
                      </a:r>
                      <a:r>
                        <a:rPr lang="fr-FR" sz="1400" dirty="0" smtClean="0">
                          <a:solidFill>
                            <a:schemeClr val="tx1"/>
                          </a:solidFill>
                        </a:rPr>
                        <a:t>numérique.</a:t>
                      </a:r>
                      <a:endParaRPr lang="fr-FR" sz="14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17757"/>
          <a:ext cx="6094196" cy="1112518"/>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59">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Faible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59">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Faible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2022 et 2024</a:t>
                      </a:r>
                    </a:p>
                    <a:p>
                      <a:r>
                        <a:rPr lang="fr-FR" sz="1400" b="0" dirty="0" smtClean="0">
                          <a:solidFill>
                            <a:srgbClr val="2F5597"/>
                          </a:solidFill>
                        </a:rPr>
                        <a:t>5.6 Le service numérique propose-t-il des contenus audio dont le niveau de compression est adapté au contenu et au contexte d’écoute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39905912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815152443"/>
              </p:ext>
            </p:extLst>
          </p:nvPr>
        </p:nvGraphicFramePr>
        <p:xfrm>
          <a:off x="0" y="1112520"/>
          <a:ext cx="12202473" cy="4975764"/>
        </p:xfrm>
        <a:graphic>
          <a:graphicData uri="http://schemas.openxmlformats.org/drawingml/2006/table">
            <a:tbl>
              <a:tblPr firstRow="1" bandRow="1">
                <a:tableStyleId>{5C22544A-7EE6-4342-B048-85BDC9FD1C3A}</a:tableStyleId>
              </a:tblPr>
              <a:tblGrid>
                <a:gridCol w="6105907">
                  <a:extLst>
                    <a:ext uri="{9D8B030D-6E8A-4147-A177-3AD203B41FA5}">
                      <a16:colId xmlns:a16="http://schemas.microsoft.com/office/drawing/2014/main" val="1470604376"/>
                    </a:ext>
                  </a:extLst>
                </a:gridCol>
                <a:gridCol w="6096566">
                  <a:extLst>
                    <a:ext uri="{9D8B030D-6E8A-4147-A177-3AD203B41FA5}">
                      <a16:colId xmlns:a16="http://schemas.microsoft.com/office/drawing/2014/main" val="588129664"/>
                    </a:ext>
                  </a:extLst>
                </a:gridCol>
              </a:tblGrid>
              <a:tr h="1223293">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61/Utiliser un format de fichier adapté au contenu et au pour chaque document.</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752471">
                <a:tc>
                  <a:txBody>
                    <a:bodyPr/>
                    <a:lstStyle/>
                    <a:p>
                      <a:pPr marL="0" indent="0">
                        <a:buFont typeface="Arial" panose="020B0604020202020204" pitchFamily="34" charset="0"/>
                        <a:buNone/>
                      </a:pPr>
                      <a:r>
                        <a:rPr lang="fr-FR" sz="1400" dirty="0" smtClean="0">
                          <a:solidFill>
                            <a:schemeClr val="tx1"/>
                          </a:solidFill>
                        </a:rPr>
                        <a:t>Définir les paramètres de compression des documents afin de générer des fichiers de taille réduite.</a:t>
                      </a:r>
                    </a:p>
                    <a:p>
                      <a:pPr marL="0" indent="0">
                        <a:buFont typeface="Arial" panose="020B0604020202020204" pitchFamily="34" charset="0"/>
                        <a:buNone/>
                      </a:pPr>
                      <a:endParaRPr lang="fr-FR" sz="1400" dirty="0" smtClean="0">
                        <a:solidFill>
                          <a:schemeClr val="tx1"/>
                        </a:solidFill>
                      </a:endParaRPr>
                    </a:p>
                    <a:p>
                      <a:pPr marL="0" indent="0">
                        <a:buFont typeface="Arial" panose="020B0604020202020204" pitchFamily="34" charset="0"/>
                        <a:buNone/>
                      </a:pPr>
                      <a:r>
                        <a:rPr lang="fr-FR" sz="1400" dirty="0" smtClean="0">
                          <a:solidFill>
                            <a:schemeClr val="tx1"/>
                          </a:solidFill>
                        </a:rPr>
                        <a:t>Prendre en compte les besoins spécifiques du contenu et du contexte d'utilisation pour déterminer le format</a:t>
                      </a:r>
                      <a:r>
                        <a:rPr lang="fr-FR" sz="1400" baseline="0" dirty="0" smtClean="0">
                          <a:solidFill>
                            <a:schemeClr val="tx1"/>
                          </a:solidFill>
                        </a:rPr>
                        <a:t> </a:t>
                      </a:r>
                      <a:r>
                        <a:rPr lang="fr-FR" sz="1400" dirty="0" smtClean="0">
                          <a:solidFill>
                            <a:schemeClr val="tx1"/>
                          </a:solidFill>
                        </a:rPr>
                        <a:t>de fichier le plus approprié. Par exemple utiliser une image vectorielle si c’est plus pertinent qu’une image</a:t>
                      </a:r>
                      <a:r>
                        <a:rPr lang="fr-FR" sz="1400" baseline="0" dirty="0" smtClean="0">
                          <a:solidFill>
                            <a:schemeClr val="tx1"/>
                          </a:solidFill>
                        </a:rPr>
                        <a:t> </a:t>
                      </a:r>
                      <a:r>
                        <a:rPr lang="fr-FR" sz="1400" dirty="0" smtClean="0">
                          <a:solidFill>
                            <a:schemeClr val="tx1"/>
                          </a:solidFill>
                        </a:rPr>
                        <a:t>matricielle (ou images bitmap), constituée de pixels.</a:t>
                      </a:r>
                    </a:p>
                    <a:p>
                      <a:pPr marL="0" indent="0">
                        <a:buFont typeface="Arial" panose="020B0604020202020204" pitchFamily="34" charset="0"/>
                        <a:buNone/>
                      </a:pPr>
                      <a:endParaRPr lang="fr-FR" sz="1400" dirty="0" smtClean="0">
                        <a:solidFill>
                          <a:schemeClr val="tx1"/>
                        </a:solidFill>
                      </a:endParaRPr>
                    </a:p>
                    <a:p>
                      <a:pPr marL="0" indent="0">
                        <a:buFont typeface="Arial" panose="020B0604020202020204" pitchFamily="34" charset="0"/>
                        <a:buNone/>
                      </a:pPr>
                      <a:r>
                        <a:rPr lang="fr-FR" sz="1400" dirty="0" smtClean="0">
                          <a:solidFill>
                            <a:schemeClr val="tx1"/>
                          </a:solidFill>
                        </a:rPr>
                        <a:t>Avoir notamment recourt à un format de fichier optimisé pour une visualisation en ligne, lorsque le document</a:t>
                      </a:r>
                      <a:r>
                        <a:rPr lang="fr-FR" sz="1400" baseline="0" dirty="0" smtClean="0">
                          <a:solidFill>
                            <a:schemeClr val="tx1"/>
                          </a:solidFill>
                        </a:rPr>
                        <a:t> </a:t>
                      </a:r>
                      <a:r>
                        <a:rPr lang="fr-FR" sz="1400" dirty="0" smtClean="0">
                          <a:solidFill>
                            <a:schemeClr val="tx1"/>
                          </a:solidFill>
                        </a:rPr>
                        <a:t>est destiné à être consulté en ligne.</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Évaluer le poids du document en fonction de son contenu. Le critère est validé si les documents utilisés pour l’opération du service numérique sont compressés de façon à réduire leur poids et à s’adapter au</a:t>
                      </a:r>
                      <a:r>
                        <a:rPr lang="fr-FR" sz="1600" baseline="0" dirty="0" smtClean="0">
                          <a:solidFill>
                            <a:schemeClr val="tx1"/>
                          </a:solidFill>
                        </a:rPr>
                        <a:t> </a:t>
                      </a:r>
                      <a:r>
                        <a:rPr lang="fr-FR" sz="1600" dirty="0" smtClean="0">
                          <a:solidFill>
                            <a:schemeClr val="tx1"/>
                          </a:solidFill>
                        </a:rPr>
                        <a:t>contexte</a:t>
                      </a:r>
                      <a:r>
                        <a:rPr lang="fr-FR" sz="1600" baseline="0" dirty="0" smtClean="0">
                          <a:solidFill>
                            <a:schemeClr val="tx1"/>
                          </a:solidFill>
                        </a:rPr>
                        <a:t> </a:t>
                      </a:r>
                      <a:r>
                        <a:rPr lang="fr-FR" sz="1600" dirty="0" smtClean="0">
                          <a:solidFill>
                            <a:schemeClr val="tx1"/>
                          </a:solidFill>
                        </a:rPr>
                        <a:t>de visualisation, d’utilisation, et à leur contenu. </a:t>
                      </a:r>
                    </a:p>
                    <a:p>
                      <a:endParaRPr lang="fr-FR" sz="1600" dirty="0" smtClean="0">
                        <a:solidFill>
                          <a:schemeClr val="tx1"/>
                        </a:solidFill>
                      </a:endParaRPr>
                    </a:p>
                    <a:p>
                      <a:r>
                        <a:rPr lang="fr-FR" sz="1600" dirty="0" smtClean="0">
                          <a:solidFill>
                            <a:schemeClr val="tx1"/>
                          </a:solidFill>
                        </a:rPr>
                        <a:t>La stratégie de compression des documents doit être</a:t>
                      </a:r>
                      <a:r>
                        <a:rPr lang="fr-FR" sz="1600" baseline="0" dirty="0" smtClean="0">
                          <a:solidFill>
                            <a:schemeClr val="tx1"/>
                          </a:solidFill>
                        </a:rPr>
                        <a:t> </a:t>
                      </a:r>
                      <a:r>
                        <a:rPr lang="fr-FR" sz="1600" dirty="0" smtClean="0">
                          <a:solidFill>
                            <a:schemeClr val="tx1"/>
                          </a:solidFill>
                        </a:rPr>
                        <a:t>documentée et </a:t>
                      </a:r>
                      <a:r>
                        <a:rPr lang="fr-FR" sz="1600" dirty="0" err="1" smtClean="0">
                          <a:solidFill>
                            <a:schemeClr val="tx1"/>
                          </a:solidFill>
                        </a:rPr>
                        <a:t>auditable</a:t>
                      </a:r>
                      <a:r>
                        <a:rPr lang="fr-FR" sz="1600" dirty="0" smtClean="0">
                          <a:solidFill>
                            <a:schemeClr val="tx1"/>
                          </a:solidFill>
                        </a:rPr>
                        <a:t> par un tiers, par exemple en étant détaillée dans la déclaration d’écoconception du</a:t>
                      </a:r>
                      <a:r>
                        <a:rPr lang="fr-FR" sz="1600" baseline="0" dirty="0" smtClean="0">
                          <a:solidFill>
                            <a:schemeClr val="tx1"/>
                          </a:solidFill>
                        </a:rPr>
                        <a:t> </a:t>
                      </a:r>
                      <a:r>
                        <a:rPr lang="fr-FR" sz="1600" dirty="0" smtClean="0">
                          <a:solidFill>
                            <a:schemeClr val="tx1"/>
                          </a:solidFill>
                        </a:rPr>
                        <a:t>service numérique.</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b="1" dirty="0" smtClean="0">
                          <a:solidFill>
                            <a:schemeClr val="tx1"/>
                          </a:solidFill>
                        </a:rPr>
                        <a:t>Faible</a:t>
                      </a:r>
                      <a:endParaRPr lang="fr-FR" b="1"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2022 et 2024</a:t>
                      </a:r>
                    </a:p>
                    <a:p>
                      <a:r>
                        <a:rPr lang="fr-FR" sz="1400" b="0" dirty="0" smtClean="0">
                          <a:solidFill>
                            <a:srgbClr val="2F5597"/>
                          </a:solidFill>
                        </a:rPr>
                        <a:t>5.7 Le service numérique utilise-t-il un format de fichier adapté au</a:t>
                      </a:r>
                      <a:r>
                        <a:rPr lang="fr-FR" sz="1400" b="0" baseline="0" dirty="0" smtClean="0">
                          <a:solidFill>
                            <a:srgbClr val="2F5597"/>
                          </a:solidFill>
                        </a:rPr>
                        <a:t> </a:t>
                      </a:r>
                      <a:r>
                        <a:rPr lang="fr-FR" sz="1400" b="0" dirty="0" smtClean="0">
                          <a:solidFill>
                            <a:srgbClr val="2F5597"/>
                          </a:solidFill>
                        </a:rPr>
                        <a:t>contenu et au contexte d’utilisation pour chaque document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055511886"/>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328766626"/>
              </p:ext>
            </p:extLst>
          </p:nvPr>
        </p:nvGraphicFramePr>
        <p:xfrm>
          <a:off x="0" y="1112520"/>
          <a:ext cx="12188618" cy="4975764"/>
        </p:xfrm>
        <a:graphic>
          <a:graphicData uri="http://schemas.openxmlformats.org/drawingml/2006/table">
            <a:tbl>
              <a:tblPr firstRow="1" bandRow="1">
                <a:tableStyleId>{5C22544A-7EE6-4342-B048-85BDC9FD1C3A}</a:tableStyleId>
              </a:tblPr>
              <a:tblGrid>
                <a:gridCol w="6098975">
                  <a:extLst>
                    <a:ext uri="{9D8B030D-6E8A-4147-A177-3AD203B41FA5}">
                      <a16:colId xmlns:a16="http://schemas.microsoft.com/office/drawing/2014/main" val="1470604376"/>
                    </a:ext>
                  </a:extLst>
                </a:gridCol>
                <a:gridCol w="6089643">
                  <a:extLst>
                    <a:ext uri="{9D8B030D-6E8A-4147-A177-3AD203B41FA5}">
                      <a16:colId xmlns:a16="http://schemas.microsoft.com/office/drawing/2014/main" val="588129664"/>
                    </a:ext>
                  </a:extLst>
                </a:gridCol>
              </a:tblGrid>
              <a:tr h="1355148">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62/Mettre en place une stratégie d’archivage et de</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suppression, automatique ou manuelle, des contenus</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obsolètes ou</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périmés </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20616">
                <a:tc>
                  <a:txBody>
                    <a:bodyPr/>
                    <a:lstStyle/>
                    <a:p>
                      <a:pPr marL="0" indent="0">
                        <a:buFont typeface="Arial" panose="020B0604020202020204" pitchFamily="34" charset="0"/>
                        <a:buNone/>
                      </a:pPr>
                      <a:r>
                        <a:rPr lang="fr-FR" sz="1200" dirty="0" smtClean="0">
                          <a:solidFill>
                            <a:schemeClr val="tx1"/>
                          </a:solidFill>
                        </a:rPr>
                        <a:t>Définir une stratégie d’archivage et de suppression des contenus obsolètes, périmés, dépassés ou inutiles à</a:t>
                      </a:r>
                      <a:r>
                        <a:rPr lang="fr-FR" sz="1200" baseline="0" dirty="0" smtClean="0">
                          <a:solidFill>
                            <a:schemeClr val="tx1"/>
                          </a:solidFill>
                        </a:rPr>
                        <a:t> </a:t>
                      </a:r>
                      <a:r>
                        <a:rPr lang="fr-FR" sz="1200" dirty="0" smtClean="0">
                          <a:solidFill>
                            <a:schemeClr val="tx1"/>
                          </a:solidFill>
                        </a:rPr>
                        <a:t>conserver dans le service numérique. Cette stratégie peut être automatique en définissant une date</a:t>
                      </a:r>
                      <a:r>
                        <a:rPr lang="fr-FR" sz="1200" baseline="0" dirty="0" smtClean="0">
                          <a:solidFill>
                            <a:schemeClr val="tx1"/>
                          </a:solidFill>
                        </a:rPr>
                        <a:t> </a:t>
                      </a:r>
                      <a:r>
                        <a:rPr lang="fr-FR" sz="1200" dirty="0" smtClean="0">
                          <a:solidFill>
                            <a:schemeClr val="tx1"/>
                          </a:solidFill>
                        </a:rPr>
                        <a:t>d’expiration et un processus d’archivage et/ou de purge automatique.</a:t>
                      </a:r>
                    </a:p>
                    <a:p>
                      <a:pPr marL="0" indent="0">
                        <a:buFont typeface="Arial" panose="020B0604020202020204" pitchFamily="34" charset="0"/>
                        <a:buNone/>
                      </a:pPr>
                      <a:endParaRPr lang="fr-FR" sz="1200" dirty="0" smtClean="0">
                        <a:solidFill>
                          <a:schemeClr val="tx1"/>
                        </a:solidFill>
                      </a:endParaRPr>
                    </a:p>
                    <a:p>
                      <a:pPr marL="0" indent="0">
                        <a:buFont typeface="Arial" panose="020B0604020202020204" pitchFamily="34" charset="0"/>
                        <a:buNone/>
                      </a:pPr>
                      <a:r>
                        <a:rPr lang="fr-FR" sz="1200" dirty="0" smtClean="0">
                          <a:solidFill>
                            <a:schemeClr val="tx1"/>
                          </a:solidFill>
                        </a:rPr>
                        <a:t>De façon complémentaire à des mécanismes d’archivage automatique, prévoir également des mécanismes</a:t>
                      </a:r>
                      <a:r>
                        <a:rPr lang="fr-FR" sz="1200" baseline="0" dirty="0" smtClean="0">
                          <a:solidFill>
                            <a:schemeClr val="tx1"/>
                          </a:solidFill>
                        </a:rPr>
                        <a:t> </a:t>
                      </a:r>
                      <a:r>
                        <a:rPr lang="fr-FR" sz="1200" dirty="0" smtClean="0">
                          <a:solidFill>
                            <a:schemeClr val="tx1"/>
                          </a:solidFill>
                        </a:rPr>
                        <a:t>de suppression manuelle pour les contenus spécifiques qui nécessitent une évaluation humaine.</a:t>
                      </a:r>
                    </a:p>
                    <a:p>
                      <a:pPr marL="0" indent="0">
                        <a:buFont typeface="Arial" panose="020B0604020202020204" pitchFamily="34" charset="0"/>
                        <a:buNone/>
                      </a:pPr>
                      <a:endParaRPr lang="fr-FR" sz="1200" dirty="0" smtClean="0">
                        <a:solidFill>
                          <a:schemeClr val="tx1"/>
                        </a:solidFill>
                      </a:endParaRPr>
                    </a:p>
                    <a:p>
                      <a:pPr marL="0" indent="0">
                        <a:buFont typeface="Arial" panose="020B0604020202020204" pitchFamily="34" charset="0"/>
                        <a:buNone/>
                      </a:pPr>
                      <a:r>
                        <a:rPr lang="fr-FR" sz="1200" dirty="0" smtClean="0">
                          <a:solidFill>
                            <a:schemeClr val="tx1"/>
                          </a:solidFill>
                        </a:rPr>
                        <a:t>Cette stratégie est obligatoire pour le sous-ensemble des données personnelles collectées par les services,</a:t>
                      </a:r>
                      <a:r>
                        <a:rPr lang="fr-FR" sz="1200" baseline="0" dirty="0" smtClean="0">
                          <a:solidFill>
                            <a:schemeClr val="tx1"/>
                          </a:solidFill>
                        </a:rPr>
                        <a:t> </a:t>
                      </a:r>
                      <a:r>
                        <a:rPr lang="fr-FR" sz="1200" dirty="0" smtClean="0">
                          <a:solidFill>
                            <a:schemeClr val="tx1"/>
                          </a:solidFill>
                        </a:rPr>
                        <a:t>qui impose de définir et communiquer une durée de conservation des données personnelles (art. 13-2 du</a:t>
                      </a:r>
                      <a:r>
                        <a:rPr lang="fr-FR" sz="1200" baseline="0" dirty="0" smtClean="0">
                          <a:solidFill>
                            <a:schemeClr val="tx1"/>
                          </a:solidFill>
                        </a:rPr>
                        <a:t> </a:t>
                      </a:r>
                      <a:r>
                        <a:rPr lang="fr-FR" sz="1200" dirty="0" smtClean="0">
                          <a:solidFill>
                            <a:schemeClr val="tx1"/>
                          </a:solidFill>
                        </a:rPr>
                        <a:t>RGPD).</a:t>
                      </a:r>
                      <a:endParaRPr lang="fr-FR" sz="1200" dirty="0">
                        <a:solidFill>
                          <a:schemeClr val="tx1"/>
                        </a:solidFill>
                      </a:endParaRPr>
                    </a:p>
                  </a:txBody>
                  <a:tcPr/>
                </a:tc>
                <a:tc>
                  <a:txBody>
                    <a:bodyPr/>
                    <a:lstStyle/>
                    <a:p>
                      <a:r>
                        <a:rPr lang="fr-FR" sz="1400" dirty="0" smtClean="0">
                          <a:effectLst/>
                        </a:rPr>
                        <a:t>Pour valider ce critère, vérifier l’existence d’une stratégie d’archivage et de suppression clairement définie,</a:t>
                      </a:r>
                      <a:r>
                        <a:rPr lang="fr-FR" sz="1400" baseline="0" dirty="0" smtClean="0">
                          <a:effectLst/>
                        </a:rPr>
                        <a:t> </a:t>
                      </a:r>
                      <a:r>
                        <a:rPr lang="fr-FR" sz="1400" dirty="0" smtClean="0">
                          <a:effectLst/>
                        </a:rPr>
                        <a:t>l’existence de mécanismes automatiques et de processus manuels pour les contenus dont le traitement</a:t>
                      </a:r>
                      <a:r>
                        <a:rPr lang="fr-FR" sz="1400" baseline="0" dirty="0" smtClean="0">
                          <a:effectLst/>
                        </a:rPr>
                        <a:t> </a:t>
                      </a:r>
                      <a:r>
                        <a:rPr lang="fr-FR" sz="1400" dirty="0" smtClean="0">
                          <a:effectLst/>
                        </a:rPr>
                        <a:t>requiert une intervention humaine. </a:t>
                      </a:r>
                    </a:p>
                    <a:p>
                      <a:endParaRPr lang="fr-FR" sz="1400" dirty="0" smtClean="0">
                        <a:effectLst/>
                      </a:endParaRPr>
                    </a:p>
                    <a:p>
                      <a:r>
                        <a:rPr lang="fr-FR" sz="1400" dirty="0" smtClean="0">
                          <a:effectLst/>
                        </a:rPr>
                        <a:t>Le suivi de cette stratégie pourra être réalisé en évaluant régulièrement</a:t>
                      </a:r>
                      <a:r>
                        <a:rPr lang="fr-FR" sz="1400" baseline="0" dirty="0" smtClean="0">
                          <a:effectLst/>
                        </a:rPr>
                        <a:t> </a:t>
                      </a:r>
                      <a:r>
                        <a:rPr lang="fr-FR" sz="1400" dirty="0" smtClean="0">
                          <a:effectLst/>
                        </a:rPr>
                        <a:t>le taux d’occupation des bases de données et des serveurs physiques</a:t>
                      </a:r>
                      <a:endParaRPr lang="fr-FR" sz="1400" dirty="0">
                        <a:effectLst/>
                      </a:endParaRPr>
                    </a:p>
                  </a:txBody>
                  <a:tcPr marL="82550" marR="82550" marT="38100" marB="38100"/>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2022 et 2024</a:t>
                      </a:r>
                    </a:p>
                    <a:p>
                      <a:r>
                        <a:rPr lang="fr-FR" sz="1400" b="0" dirty="0" smtClean="0">
                          <a:solidFill>
                            <a:srgbClr val="2F5597"/>
                          </a:solidFill>
                        </a:rPr>
                        <a:t>5.8 Le service numérique </a:t>
                      </a:r>
                      <a:r>
                        <a:rPr lang="fr-FR" sz="1400" b="0" dirty="0" err="1" smtClean="0">
                          <a:solidFill>
                            <a:srgbClr val="2F5597"/>
                          </a:solidFill>
                        </a:rPr>
                        <a:t>a-t-il</a:t>
                      </a:r>
                      <a:r>
                        <a:rPr lang="fr-FR" sz="1400" b="0" dirty="0" smtClean="0">
                          <a:solidFill>
                            <a:srgbClr val="2F5597"/>
                          </a:solidFill>
                        </a:rPr>
                        <a:t> une stratégie d’archivage et de</a:t>
                      </a:r>
                      <a:r>
                        <a:rPr lang="fr-FR" sz="1400" b="0" baseline="0" dirty="0" smtClean="0">
                          <a:solidFill>
                            <a:srgbClr val="2F5597"/>
                          </a:solidFill>
                        </a:rPr>
                        <a:t> </a:t>
                      </a:r>
                      <a:r>
                        <a:rPr lang="fr-FR" sz="1400" b="0" dirty="0" smtClean="0">
                          <a:solidFill>
                            <a:srgbClr val="2F5597"/>
                          </a:solidFill>
                        </a:rPr>
                        <a:t>suppression, automatique ou manuelle, des contenus obsolètes ou</a:t>
                      </a:r>
                      <a:r>
                        <a:rPr lang="fr-FR" sz="1400" b="0" baseline="0" dirty="0" smtClean="0">
                          <a:solidFill>
                            <a:srgbClr val="2F5597"/>
                          </a:solidFill>
                        </a:rPr>
                        <a:t> </a:t>
                      </a:r>
                      <a:r>
                        <a:rPr lang="fr-FR" sz="1400" b="0" dirty="0" smtClean="0">
                          <a:solidFill>
                            <a:srgbClr val="2F5597"/>
                          </a:solidFill>
                        </a:rPr>
                        <a:t>périmés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463142210"/>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679952755"/>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914878">
                <a:tc gridSpan="2">
                  <a:txBody>
                    <a:bodyPr/>
                    <a:lstStyle/>
                    <a:p>
                      <a:pPr algn="ctr" fontAlgn="b"/>
                      <a:r>
                        <a:rPr lang="fr-FR" sz="1800" b="1" u="sng" kern="1200" dirty="0" smtClean="0">
                          <a:solidFill>
                            <a:schemeClr val="bg1"/>
                          </a:solidFill>
                          <a:effectLst/>
                          <a:latin typeface="+mn-lt"/>
                          <a:ea typeface="+mn-ea"/>
                          <a:cs typeface="+mn-cs"/>
                        </a:rPr>
                        <a:t>63/S’astreindre à un poids maximum par écran et une limite</a:t>
                      </a:r>
                    </a:p>
                    <a:p>
                      <a:pPr algn="ctr" fontAlgn="b"/>
                      <a:r>
                        <a:rPr lang="fr-FR" sz="1800" b="1" u="sng" kern="1200" dirty="0" smtClean="0">
                          <a:solidFill>
                            <a:schemeClr val="bg1"/>
                          </a:solidFill>
                          <a:effectLst/>
                          <a:latin typeface="+mn-lt"/>
                          <a:ea typeface="+mn-ea"/>
                          <a:cs typeface="+mn-cs"/>
                        </a:rPr>
                        <a:t>de requête par écran </a:t>
                      </a:r>
                    </a:p>
                  </a:txBody>
                  <a:tcPr marL="6350" marR="6350" marT="6350" marB="0"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60886">
                <a:tc>
                  <a:txBody>
                    <a:bodyPr/>
                    <a:lstStyle/>
                    <a:p>
                      <a:pPr marL="0" indent="0">
                        <a:buFont typeface="Arial" panose="020B0604020202020204" pitchFamily="34" charset="0"/>
                        <a:buNone/>
                      </a:pPr>
                      <a:r>
                        <a:rPr lang="fr-FR" sz="1600" dirty="0" smtClean="0">
                          <a:solidFill>
                            <a:schemeClr val="tx1"/>
                          </a:solidFill>
                        </a:rPr>
                        <a:t>Définir et suivre des indicateurs de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 Poids maximum par écran, en tenant compte de toutes les ressources téléchargées (composants</a:t>
                      </a:r>
                      <a:r>
                        <a:rPr lang="fr-FR" sz="1600" baseline="0" dirty="0" smtClean="0">
                          <a:solidFill>
                            <a:schemeClr val="tx1"/>
                          </a:solidFill>
                        </a:rPr>
                        <a:t> </a:t>
                      </a:r>
                      <a:r>
                        <a:rPr lang="fr-FR" sz="1600" dirty="0" smtClean="0">
                          <a:solidFill>
                            <a:schemeClr val="tx1"/>
                          </a:solidFill>
                        </a:rPr>
                        <a:t>d’interface, données, contenus, scripts, feuilles de style…). Par exemple pour une page web (avec</a:t>
                      </a:r>
                      <a:r>
                        <a:rPr lang="fr-FR" sz="1600" baseline="0" dirty="0" smtClean="0">
                          <a:solidFill>
                            <a:schemeClr val="tx1"/>
                          </a:solidFill>
                        </a:rPr>
                        <a:t> </a:t>
                      </a:r>
                      <a:r>
                        <a:rPr lang="fr-FR" sz="1600" dirty="0" smtClean="0">
                          <a:solidFill>
                            <a:schemeClr val="tx1"/>
                          </a:solidFill>
                        </a:rPr>
                        <a:t>toutes les ressources chargées) qui pèse 2 Mo, l’objectif serait de descendre à 1 Mo. Selon le</a:t>
                      </a:r>
                      <a:r>
                        <a:rPr lang="fr-FR" sz="1600" baseline="0" dirty="0" smtClean="0">
                          <a:solidFill>
                            <a:schemeClr val="tx1"/>
                          </a:solidFill>
                        </a:rPr>
                        <a:t> </a:t>
                      </a:r>
                      <a:r>
                        <a:rPr lang="fr-FR" sz="1600" dirty="0" smtClean="0">
                          <a:solidFill>
                            <a:schemeClr val="tx1"/>
                          </a:solidFill>
                        </a:rPr>
                        <a:t>contexte, cet objectif peut être beaucoup plus bas.</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 Requêtes client/serveur maximum par écran, en tenant compte de toutes les ressources</a:t>
                      </a:r>
                      <a:r>
                        <a:rPr lang="fr-FR" sz="1600" baseline="0" dirty="0" smtClean="0">
                          <a:solidFill>
                            <a:schemeClr val="tx1"/>
                          </a:solidFill>
                        </a:rPr>
                        <a:t> </a:t>
                      </a:r>
                      <a:r>
                        <a:rPr lang="fr-FR" sz="1600" dirty="0" smtClean="0">
                          <a:solidFill>
                            <a:schemeClr val="tx1"/>
                          </a:solidFill>
                        </a:rPr>
                        <a:t>téléchargées (composants d’interface, données, contenus, scripts, feuilles de style…). Par exemple,</a:t>
                      </a:r>
                      <a:r>
                        <a:rPr lang="fr-FR" sz="1600" baseline="0" dirty="0" smtClean="0">
                          <a:solidFill>
                            <a:schemeClr val="tx1"/>
                          </a:solidFill>
                        </a:rPr>
                        <a:t> </a:t>
                      </a:r>
                      <a:r>
                        <a:rPr lang="fr-FR" sz="1600" dirty="0" smtClean="0">
                          <a:solidFill>
                            <a:schemeClr val="tx1"/>
                          </a:solidFill>
                        </a:rPr>
                        <a:t>pour un site web, il serait intéressant d’avoir moins de 30 requêtes par page au lieu de 100.</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 Le poids maximum par écran défini et proportionné, et respecter cette limite ;</a:t>
                      </a:r>
                    </a:p>
                    <a:p>
                      <a:r>
                        <a:rPr lang="fr-FR" sz="1600" dirty="0" smtClean="0">
                          <a:solidFill>
                            <a:schemeClr val="tx1"/>
                          </a:solidFill>
                        </a:rPr>
                        <a:t>• Le nombre de requêtes maximum par écran défini, en précisant si la limitation du nombre de</a:t>
                      </a:r>
                      <a:r>
                        <a:rPr lang="fr-FR" sz="1600" baseline="0" dirty="0" smtClean="0">
                          <a:solidFill>
                            <a:schemeClr val="tx1"/>
                          </a:solidFill>
                        </a:rPr>
                        <a:t> </a:t>
                      </a:r>
                      <a:r>
                        <a:rPr lang="fr-FR" sz="1600" dirty="0" smtClean="0">
                          <a:solidFill>
                            <a:schemeClr val="tx1"/>
                          </a:solidFill>
                        </a:rPr>
                        <a:t>requêtes porte sur le seul chargement de la page web ou également sur son fonctionnement (par</a:t>
                      </a:r>
                      <a:r>
                        <a:rPr lang="fr-FR" sz="1600" baseline="0" dirty="0" smtClean="0">
                          <a:solidFill>
                            <a:schemeClr val="tx1"/>
                          </a:solidFill>
                        </a:rPr>
                        <a:t> </a:t>
                      </a:r>
                      <a:r>
                        <a:rPr lang="fr-FR" sz="1600" dirty="0" smtClean="0">
                          <a:solidFill>
                            <a:schemeClr val="tx1"/>
                          </a:solidFill>
                        </a:rPr>
                        <a:t>exemple : pour une page web comportant un formulaire de saisie ; est-ce que le nombre de requêtes</a:t>
                      </a:r>
                      <a:r>
                        <a:rPr lang="fr-FR" sz="1600" baseline="0" dirty="0" smtClean="0">
                          <a:solidFill>
                            <a:schemeClr val="tx1"/>
                          </a:solidFill>
                        </a:rPr>
                        <a:t> </a:t>
                      </a:r>
                      <a:r>
                        <a:rPr lang="fr-FR" sz="1600" dirty="0" smtClean="0">
                          <a:solidFill>
                            <a:schemeClr val="tx1"/>
                          </a:solidFill>
                        </a:rPr>
                        <a:t>intègre les requêtes de contrôle de champs ?)</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2022 et 2024</a:t>
                      </a:r>
                    </a:p>
                    <a:p>
                      <a:r>
                        <a:rPr lang="fr-FR" sz="1400" b="0" dirty="0" smtClean="0">
                          <a:solidFill>
                            <a:srgbClr val="2F5597"/>
                          </a:solidFill>
                        </a:rPr>
                        <a:t>6.1 Le service numérique s’astreint-il à un poids maximum et une limite</a:t>
                      </a:r>
                      <a:r>
                        <a:rPr lang="fr-FR" sz="1400" b="0" baseline="0" dirty="0" smtClean="0">
                          <a:solidFill>
                            <a:srgbClr val="2F5597"/>
                          </a:solidFill>
                        </a:rPr>
                        <a:t> </a:t>
                      </a:r>
                      <a:r>
                        <a:rPr lang="fr-FR" sz="1400" b="0" dirty="0" smtClean="0">
                          <a:solidFill>
                            <a:srgbClr val="2F5597"/>
                          </a:solidFill>
                        </a:rPr>
                        <a:t>de requête par écran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852452493"/>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324847384"/>
              </p:ext>
            </p:extLst>
          </p:nvPr>
        </p:nvGraphicFramePr>
        <p:xfrm>
          <a:off x="0" y="1112520"/>
          <a:ext cx="12184000" cy="4975764"/>
        </p:xfrm>
        <a:graphic>
          <a:graphicData uri="http://schemas.openxmlformats.org/drawingml/2006/table">
            <a:tbl>
              <a:tblPr firstRow="1" bandRow="1">
                <a:tableStyleId>{5C22544A-7EE6-4342-B048-85BDC9FD1C3A}</a:tableStyleId>
              </a:tblPr>
              <a:tblGrid>
                <a:gridCol w="6096665">
                  <a:extLst>
                    <a:ext uri="{9D8B030D-6E8A-4147-A177-3AD203B41FA5}">
                      <a16:colId xmlns:a16="http://schemas.microsoft.com/office/drawing/2014/main" val="1470604376"/>
                    </a:ext>
                  </a:extLst>
                </a:gridCol>
                <a:gridCol w="6087335">
                  <a:extLst>
                    <a:ext uri="{9D8B030D-6E8A-4147-A177-3AD203B41FA5}">
                      <a16:colId xmlns:a16="http://schemas.microsoft.com/office/drawing/2014/main" val="588129664"/>
                    </a:ext>
                  </a:extLst>
                </a:gridCol>
              </a:tblGrid>
              <a:tr h="137515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64/Instaurer des mécanismes de mises en cache pour la totalité des contenus transférés dont il a le contrôle.</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00614">
                <a:tc>
                  <a:txBody>
                    <a:bodyPr/>
                    <a:lstStyle/>
                    <a:p>
                      <a:pPr marL="0" indent="0">
                        <a:buFont typeface="Arial" panose="020B0604020202020204" pitchFamily="34" charset="0"/>
                        <a:buNone/>
                      </a:pPr>
                      <a:r>
                        <a:rPr lang="fr-FR" sz="1400" dirty="0" smtClean="0">
                          <a:solidFill>
                            <a:schemeClr val="tx1"/>
                          </a:solidFill>
                        </a:rPr>
                        <a:t>La stratégie de cache doit être adaptée au contexte d’application, au type de contenus (images, fichiers CSS,</a:t>
                      </a:r>
                      <a:r>
                        <a:rPr lang="fr-FR" sz="1400" baseline="0" dirty="0" smtClean="0">
                          <a:solidFill>
                            <a:schemeClr val="tx1"/>
                          </a:solidFill>
                        </a:rPr>
                        <a:t> </a:t>
                      </a:r>
                      <a:r>
                        <a:rPr lang="fr-FR" sz="1400" dirty="0" smtClean="0">
                          <a:solidFill>
                            <a:schemeClr val="tx1"/>
                          </a:solidFill>
                        </a:rPr>
                        <a:t>JavaScript, etc.) qui sont transférés fréquemment depuis le serveur vers le client et au scénario d’usage.</a:t>
                      </a:r>
                    </a:p>
                    <a:p>
                      <a:pPr marL="0" indent="0">
                        <a:buFont typeface="Arial" panose="020B0604020202020204" pitchFamily="34" charset="0"/>
                        <a:buNone/>
                      </a:pPr>
                      <a:endParaRPr lang="fr-FR" sz="1400" dirty="0" smtClean="0">
                        <a:solidFill>
                          <a:schemeClr val="tx1"/>
                        </a:solidFill>
                      </a:endParaRPr>
                    </a:p>
                    <a:p>
                      <a:pPr marL="0" indent="0">
                        <a:buFont typeface="Arial" panose="020B0604020202020204" pitchFamily="34" charset="0"/>
                        <a:buNone/>
                      </a:pPr>
                      <a:r>
                        <a:rPr lang="fr-FR" sz="1400" dirty="0" smtClean="0">
                          <a:solidFill>
                            <a:schemeClr val="tx1"/>
                          </a:solidFill>
                        </a:rPr>
                        <a:t>Mettre en place un mécanisme de cache côté utilisateur, en </a:t>
                      </a:r>
                      <a:r>
                        <a:rPr lang="fr-FR" sz="1400" dirty="0" err="1" smtClean="0">
                          <a:solidFill>
                            <a:schemeClr val="tx1"/>
                          </a:solidFill>
                        </a:rPr>
                        <a:t>frontend</a:t>
                      </a:r>
                      <a:r>
                        <a:rPr lang="fr-FR" sz="1400" dirty="0" smtClean="0">
                          <a:solidFill>
                            <a:schemeClr val="tx1"/>
                          </a:solidFill>
                        </a:rPr>
                        <a:t> (cache HTTP par exemple). La gestion</a:t>
                      </a:r>
                      <a:r>
                        <a:rPr lang="fr-FR" sz="1400" baseline="0" dirty="0" smtClean="0">
                          <a:solidFill>
                            <a:schemeClr val="tx1"/>
                          </a:solidFill>
                        </a:rPr>
                        <a:t> </a:t>
                      </a:r>
                      <a:r>
                        <a:rPr lang="fr-FR" sz="1400" dirty="0" smtClean="0">
                          <a:solidFill>
                            <a:schemeClr val="tx1"/>
                          </a:solidFill>
                        </a:rPr>
                        <a:t>du mode déconnecté (offline) est parfois très pertinente, parfois non.</a:t>
                      </a:r>
                    </a:p>
                    <a:p>
                      <a:pPr marL="0" indent="0">
                        <a:buFont typeface="Arial" panose="020B0604020202020204" pitchFamily="34" charset="0"/>
                        <a:buNone/>
                      </a:pPr>
                      <a:endParaRPr lang="fr-FR" sz="1400" dirty="0" smtClean="0">
                        <a:solidFill>
                          <a:schemeClr val="tx1"/>
                        </a:solidFill>
                      </a:endParaRPr>
                    </a:p>
                    <a:p>
                      <a:pPr marL="0" indent="0">
                        <a:buFont typeface="Arial" panose="020B0604020202020204" pitchFamily="34" charset="0"/>
                        <a:buNone/>
                      </a:pPr>
                      <a:r>
                        <a:rPr lang="fr-FR" sz="1400" dirty="0" smtClean="0">
                          <a:solidFill>
                            <a:schemeClr val="tx1"/>
                          </a:solidFill>
                        </a:rPr>
                        <a:t>Lorsqu’une même information est susceptible d’être requêtée plusieurs fois, privilégier un stockage</a:t>
                      </a:r>
                      <a:r>
                        <a:rPr lang="fr-FR" sz="1400" baseline="0" dirty="0" smtClean="0">
                          <a:solidFill>
                            <a:schemeClr val="tx1"/>
                          </a:solidFill>
                        </a:rPr>
                        <a:t> </a:t>
                      </a:r>
                      <a:r>
                        <a:rPr lang="fr-FR" sz="1400" dirty="0" smtClean="0">
                          <a:solidFill>
                            <a:schemeClr val="tx1"/>
                          </a:solidFill>
                        </a:rPr>
                        <a:t>temporaire local pour éviter un trafic réseau inutile. Par exemple, il est possible de stocker des données</a:t>
                      </a:r>
                    </a:p>
                    <a:p>
                      <a:pPr marL="0" indent="0">
                        <a:buFont typeface="Arial" panose="020B0604020202020204" pitchFamily="34" charset="0"/>
                        <a:buNone/>
                      </a:pPr>
                      <a:r>
                        <a:rPr lang="fr-FR" sz="1400" dirty="0" smtClean="0">
                          <a:solidFill>
                            <a:schemeClr val="tx1"/>
                          </a:solidFill>
                        </a:rPr>
                        <a:t>souvent utilisées dans le navigateur web, afin de limiter les échanges avec le serveur.</a:t>
                      </a:r>
                      <a:endParaRPr lang="fr-FR" sz="1400" dirty="0">
                        <a:solidFill>
                          <a:schemeClr val="tx1"/>
                        </a:solidFill>
                      </a:endParaRPr>
                    </a:p>
                  </a:txBody>
                  <a:tcPr/>
                </a:tc>
                <a:tc>
                  <a:txBody>
                    <a:bodyPr/>
                    <a:lstStyle/>
                    <a:p>
                      <a:r>
                        <a:rPr lang="fr-FR" sz="1400" dirty="0" smtClean="0">
                          <a:solidFill>
                            <a:schemeClr val="tx1"/>
                          </a:solidFill>
                        </a:rPr>
                        <a:t>Pour valider ce critère, un mécanisme de cache côté utilisateur est mis en place, quand la solution est</a:t>
                      </a:r>
                      <a:r>
                        <a:rPr lang="fr-FR" sz="1400" baseline="0" dirty="0" smtClean="0">
                          <a:solidFill>
                            <a:schemeClr val="tx1"/>
                          </a:solidFill>
                        </a:rPr>
                        <a:t> </a:t>
                      </a:r>
                      <a:r>
                        <a:rPr lang="fr-FR" sz="1400" dirty="0" smtClean="0">
                          <a:solidFill>
                            <a:schemeClr val="tx1"/>
                          </a:solidFill>
                        </a:rPr>
                        <a:t>pertinente. </a:t>
                      </a:r>
                    </a:p>
                    <a:p>
                      <a:endParaRPr lang="fr-FR" sz="1400" dirty="0" smtClean="0">
                        <a:solidFill>
                          <a:schemeClr val="tx1"/>
                        </a:solidFill>
                      </a:endParaRPr>
                    </a:p>
                    <a:p>
                      <a:r>
                        <a:rPr lang="fr-FR" sz="1400" dirty="0" smtClean="0">
                          <a:solidFill>
                            <a:schemeClr val="tx1"/>
                          </a:solidFill>
                        </a:rPr>
                        <a:t>En termes de moyens de test, accéder à plusieurs reprises au service et vérifier si les contenus</a:t>
                      </a:r>
                      <a:r>
                        <a:rPr lang="fr-FR" sz="1400" baseline="0" dirty="0" smtClean="0">
                          <a:solidFill>
                            <a:schemeClr val="tx1"/>
                          </a:solidFill>
                        </a:rPr>
                        <a:t> </a:t>
                      </a:r>
                      <a:r>
                        <a:rPr lang="fr-FR" sz="1400" dirty="0" smtClean="0">
                          <a:solidFill>
                            <a:schemeClr val="tx1"/>
                          </a:solidFill>
                        </a:rPr>
                        <a:t>sont récupérés à partir du cache plutôt que du serveur.</a:t>
                      </a:r>
                    </a:p>
                    <a:p>
                      <a:endParaRPr lang="fr-FR" sz="1400" dirty="0" smtClean="0">
                        <a:solidFill>
                          <a:schemeClr val="tx1"/>
                        </a:solidFill>
                      </a:endParaRPr>
                    </a:p>
                    <a:p>
                      <a:r>
                        <a:rPr lang="fr-FR" sz="1400" dirty="0" smtClean="0">
                          <a:solidFill>
                            <a:schemeClr val="tx1"/>
                          </a:solidFill>
                        </a:rPr>
                        <a:t>Expliciter dans la déclaration d’écoconception du service la stratégie de cache </a:t>
                      </a:r>
                      <a:r>
                        <a:rPr lang="fr-FR" sz="1400" dirty="0" err="1" smtClean="0">
                          <a:solidFill>
                            <a:schemeClr val="tx1"/>
                          </a:solidFill>
                        </a:rPr>
                        <a:t>frontend</a:t>
                      </a:r>
                      <a:r>
                        <a:rPr lang="fr-FR" sz="1400" dirty="0" smtClean="0">
                          <a:solidFill>
                            <a:schemeClr val="tx1"/>
                          </a:solidFill>
                        </a:rPr>
                        <a:t>, y compris son</a:t>
                      </a:r>
                      <a:r>
                        <a:rPr lang="fr-FR" sz="1400" baseline="0" dirty="0" smtClean="0">
                          <a:solidFill>
                            <a:schemeClr val="tx1"/>
                          </a:solidFill>
                        </a:rPr>
                        <a:t> </a:t>
                      </a:r>
                      <a:r>
                        <a:rPr lang="fr-FR" sz="1400" dirty="0" smtClean="0">
                          <a:solidFill>
                            <a:schemeClr val="tx1"/>
                          </a:solidFill>
                        </a:rPr>
                        <a:t>optimisation au regard du type de contenu, du contexte d’application et des scénarios d’usage.</a:t>
                      </a:r>
                      <a:endParaRPr lang="fr-FR" sz="14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2022 et 2024</a:t>
                      </a:r>
                    </a:p>
                    <a:p>
                      <a:r>
                        <a:rPr lang="fr-FR" sz="1400" b="0" dirty="0" smtClean="0">
                          <a:solidFill>
                            <a:srgbClr val="2F5597"/>
                          </a:solidFill>
                        </a:rPr>
                        <a:t>6.2 Le service numérique utilise-t-il des mécanismes de mise en cache</a:t>
                      </a:r>
                      <a:r>
                        <a:rPr lang="fr-FR" sz="1400" b="0" baseline="0" dirty="0" smtClean="0">
                          <a:solidFill>
                            <a:srgbClr val="2F5597"/>
                          </a:solidFill>
                        </a:rPr>
                        <a:t> </a:t>
                      </a:r>
                      <a:r>
                        <a:rPr lang="fr-FR" sz="1400" b="0" dirty="0" smtClean="0">
                          <a:solidFill>
                            <a:srgbClr val="2F5597"/>
                          </a:solidFill>
                        </a:rPr>
                        <a:t>pour la totalité des contenus transférés dont il a le contrôle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425677200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465851637"/>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464762">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65/Mettre en place des techniques de compression sur la totalité des ressources transférées.</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511002">
                <a:tc>
                  <a:txBody>
                    <a:bodyPr/>
                    <a:lstStyle/>
                    <a:p>
                      <a:pPr marL="0" indent="0">
                        <a:buFont typeface="Arial" panose="020B0604020202020204" pitchFamily="34" charset="0"/>
                        <a:buNone/>
                      </a:pPr>
                      <a:r>
                        <a:rPr lang="fr-FR" sz="1400" dirty="0" smtClean="0">
                          <a:solidFill>
                            <a:schemeClr val="tx1"/>
                          </a:solidFill>
                        </a:rPr>
                        <a:t>Mettre en place la compression, </a:t>
                      </a:r>
                      <a:r>
                        <a:rPr lang="fr-FR" sz="1400" dirty="0" err="1" smtClean="0">
                          <a:solidFill>
                            <a:schemeClr val="tx1"/>
                          </a:solidFill>
                        </a:rPr>
                        <a:t>minification</a:t>
                      </a:r>
                      <a:r>
                        <a:rPr lang="fr-FR" sz="1400" dirty="0" smtClean="0">
                          <a:solidFill>
                            <a:schemeClr val="tx1"/>
                          </a:solidFill>
                        </a:rPr>
                        <a:t> (réduction la taille du</a:t>
                      </a:r>
                      <a:r>
                        <a:rPr lang="fr-FR" sz="1400" baseline="0" dirty="0" smtClean="0">
                          <a:solidFill>
                            <a:schemeClr val="tx1"/>
                          </a:solidFill>
                        </a:rPr>
                        <a:t> </a:t>
                      </a:r>
                      <a:r>
                        <a:rPr lang="fr-FR" sz="1400" dirty="0" smtClean="0">
                          <a:solidFill>
                            <a:schemeClr val="tx1"/>
                          </a:solidFill>
                        </a:rPr>
                        <a:t>code) des fichiers de scripts. </a:t>
                      </a:r>
                    </a:p>
                    <a:p>
                      <a:pPr marL="0" indent="0">
                        <a:buFont typeface="Arial" panose="020B0604020202020204" pitchFamily="34" charset="0"/>
                        <a:buNone/>
                      </a:pPr>
                      <a:endParaRPr lang="fr-FR" sz="1400" dirty="0" smtClean="0">
                        <a:solidFill>
                          <a:schemeClr val="tx1"/>
                        </a:solidFill>
                      </a:endParaRPr>
                    </a:p>
                    <a:p>
                      <a:pPr marL="0" indent="0">
                        <a:buFont typeface="Arial" panose="020B0604020202020204" pitchFamily="34" charset="0"/>
                        <a:buNone/>
                      </a:pPr>
                      <a:r>
                        <a:rPr lang="fr-FR" sz="1400" dirty="0" smtClean="0">
                          <a:solidFill>
                            <a:schemeClr val="tx1"/>
                          </a:solidFill>
                        </a:rPr>
                        <a:t>Attention</a:t>
                      </a:r>
                      <a:r>
                        <a:rPr lang="fr-FR" sz="1400" baseline="0" dirty="0" smtClean="0">
                          <a:solidFill>
                            <a:schemeClr val="tx1"/>
                          </a:solidFill>
                        </a:rPr>
                        <a:t> </a:t>
                      </a:r>
                      <a:r>
                        <a:rPr lang="fr-FR" sz="1400" dirty="0" smtClean="0">
                          <a:solidFill>
                            <a:schemeClr val="tx1"/>
                          </a:solidFill>
                        </a:rPr>
                        <a:t>toutefois à ne pas générer de la consommation de ressources s’il y a besoin de puissance de calcul pour</a:t>
                      </a:r>
                      <a:r>
                        <a:rPr lang="fr-FR" sz="1400" baseline="0" dirty="0" smtClean="0">
                          <a:solidFill>
                            <a:schemeClr val="tx1"/>
                          </a:solidFill>
                        </a:rPr>
                        <a:t> </a:t>
                      </a:r>
                      <a:r>
                        <a:rPr lang="fr-FR" sz="1400" dirty="0" smtClean="0">
                          <a:solidFill>
                            <a:schemeClr val="tx1"/>
                          </a:solidFill>
                        </a:rPr>
                        <a:t>« décompresser » les fichiers : la compression systématique de type « .</a:t>
                      </a:r>
                      <a:r>
                        <a:rPr lang="fr-FR" sz="1400" dirty="0" err="1" smtClean="0">
                          <a:solidFill>
                            <a:schemeClr val="tx1"/>
                          </a:solidFill>
                        </a:rPr>
                        <a:t>tgz</a:t>
                      </a:r>
                      <a:r>
                        <a:rPr lang="fr-FR" sz="1400" dirty="0" smtClean="0">
                          <a:solidFill>
                            <a:schemeClr val="tx1"/>
                          </a:solidFill>
                        </a:rPr>
                        <a:t> » par exemple pour des petits</a:t>
                      </a:r>
                      <a:r>
                        <a:rPr lang="fr-FR" sz="1400" baseline="0" dirty="0" smtClean="0">
                          <a:solidFill>
                            <a:schemeClr val="tx1"/>
                          </a:solidFill>
                        </a:rPr>
                        <a:t> </a:t>
                      </a:r>
                      <a:r>
                        <a:rPr lang="fr-FR" sz="1400" dirty="0" smtClean="0">
                          <a:solidFill>
                            <a:schemeClr val="tx1"/>
                          </a:solidFill>
                        </a:rPr>
                        <a:t>fichiers peut être contreproductive.</a:t>
                      </a:r>
                    </a:p>
                    <a:p>
                      <a:pPr marL="0" indent="0">
                        <a:buFont typeface="Arial" panose="020B0604020202020204" pitchFamily="34" charset="0"/>
                        <a:buNone/>
                      </a:pPr>
                      <a:endParaRPr lang="fr-FR" sz="1400" dirty="0" smtClean="0">
                        <a:solidFill>
                          <a:schemeClr val="tx1"/>
                        </a:solidFill>
                      </a:endParaRPr>
                    </a:p>
                    <a:p>
                      <a:pPr marL="0" indent="0">
                        <a:buFont typeface="Arial" panose="020B0604020202020204" pitchFamily="34" charset="0"/>
                        <a:buNone/>
                      </a:pPr>
                      <a:r>
                        <a:rPr lang="fr-FR" sz="1400" dirty="0" smtClean="0">
                          <a:solidFill>
                            <a:schemeClr val="tx1"/>
                          </a:solidFill>
                        </a:rPr>
                        <a:t>Ce critère s’applique uniquement aux fichiers texte (HTML, CSS,</a:t>
                      </a:r>
                      <a:r>
                        <a:rPr lang="fr-FR" sz="1400" baseline="0" dirty="0" smtClean="0">
                          <a:solidFill>
                            <a:schemeClr val="tx1"/>
                          </a:solidFill>
                        </a:rPr>
                        <a:t> </a:t>
                      </a:r>
                      <a:r>
                        <a:rPr lang="fr-FR" sz="1400" dirty="0" smtClean="0">
                          <a:solidFill>
                            <a:schemeClr val="tx1"/>
                          </a:solidFill>
                        </a:rPr>
                        <a:t>JavaScript par exemple).</a:t>
                      </a:r>
                    </a:p>
                    <a:p>
                      <a:pPr marL="0" indent="0">
                        <a:buFont typeface="Arial" panose="020B0604020202020204" pitchFamily="34" charset="0"/>
                        <a:buNone/>
                      </a:pPr>
                      <a:r>
                        <a:rPr lang="fr-FR" sz="1400" dirty="0" smtClean="0">
                          <a:solidFill>
                            <a:schemeClr val="tx1"/>
                          </a:solidFill>
                        </a:rPr>
                        <a:t>Par exemple, pour HTTP plusieurs protocoles de compression existent, tels en particulier </a:t>
                      </a:r>
                      <a:r>
                        <a:rPr lang="fr-FR" sz="1400" dirty="0" err="1" smtClean="0">
                          <a:solidFill>
                            <a:schemeClr val="tx1"/>
                          </a:solidFill>
                        </a:rPr>
                        <a:t>Brotli</a:t>
                      </a:r>
                      <a:r>
                        <a:rPr lang="fr-FR" sz="1400" dirty="0" smtClean="0">
                          <a:solidFill>
                            <a:schemeClr val="tx1"/>
                          </a:solidFill>
                        </a:rPr>
                        <a:t> et GZIP.</a:t>
                      </a:r>
                    </a:p>
                  </a:txBody>
                  <a:tcPr/>
                </a:tc>
                <a:tc>
                  <a:txBody>
                    <a:bodyPr/>
                    <a:lstStyle/>
                    <a:p>
                      <a:r>
                        <a:rPr lang="fr-FR" sz="1400" dirty="0" smtClean="0">
                          <a:solidFill>
                            <a:schemeClr val="tx1"/>
                          </a:solidFill>
                        </a:rPr>
                        <a:t>Le critère est validé si les requêtes du service numérique utilisent un mécanisme de compression des données au niveau du </a:t>
                      </a:r>
                      <a:r>
                        <a:rPr lang="fr-FR" sz="1400" dirty="0" err="1" smtClean="0">
                          <a:solidFill>
                            <a:schemeClr val="tx1"/>
                          </a:solidFill>
                        </a:rPr>
                        <a:t>frontend</a:t>
                      </a:r>
                      <a:r>
                        <a:rPr lang="fr-FR" sz="1400" dirty="0" smtClean="0">
                          <a:solidFill>
                            <a:schemeClr val="tx1"/>
                          </a:solidFill>
                        </a:rPr>
                        <a:t>. </a:t>
                      </a:r>
                    </a:p>
                    <a:p>
                      <a:endParaRPr lang="fr-FR" sz="1400" dirty="0" smtClean="0">
                        <a:solidFill>
                          <a:schemeClr val="tx1"/>
                        </a:solidFill>
                      </a:endParaRPr>
                    </a:p>
                    <a:p>
                      <a:r>
                        <a:rPr lang="fr-FR" sz="1400" dirty="0" smtClean="0">
                          <a:solidFill>
                            <a:schemeClr val="tx1"/>
                          </a:solidFill>
                        </a:rPr>
                        <a:t>Pour le protocole HTTP et la compression HTML, les mécanismes de compression</a:t>
                      </a:r>
                      <a:r>
                        <a:rPr lang="fr-FR" sz="1400" baseline="0" dirty="0" smtClean="0">
                          <a:solidFill>
                            <a:schemeClr val="tx1"/>
                          </a:solidFill>
                        </a:rPr>
                        <a:t> </a:t>
                      </a:r>
                      <a:r>
                        <a:rPr lang="fr-FR" sz="1400" dirty="0" err="1" smtClean="0">
                          <a:solidFill>
                            <a:schemeClr val="tx1"/>
                          </a:solidFill>
                        </a:rPr>
                        <a:t>Brotli</a:t>
                      </a:r>
                      <a:r>
                        <a:rPr lang="fr-FR" sz="1400" dirty="0" smtClean="0">
                          <a:solidFill>
                            <a:schemeClr val="tx1"/>
                          </a:solidFill>
                        </a:rPr>
                        <a:t> ou GZIP sont conseillés</a:t>
                      </a:r>
                      <a:endParaRPr lang="fr-FR" sz="14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smtClean="0">
                          <a:solidFill>
                            <a:schemeClr val="tx1"/>
                          </a:solidFill>
                        </a:rPr>
                        <a:t>Faible</a:t>
                      </a:r>
                      <a:endParaRPr lang="fr-FR" dirty="0" smtClean="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Faible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2022 et 2024</a:t>
                      </a:r>
                    </a:p>
                    <a:p>
                      <a:r>
                        <a:rPr lang="fr-FR" sz="1400" b="0" dirty="0" smtClean="0">
                          <a:solidFill>
                            <a:srgbClr val="2F5597"/>
                          </a:solidFill>
                        </a:rPr>
                        <a:t>6.3 Le service numérique </a:t>
                      </a:r>
                      <a:r>
                        <a:rPr lang="fr-FR" sz="1400" b="0" dirty="0" err="1" smtClean="0">
                          <a:solidFill>
                            <a:srgbClr val="2F5597"/>
                          </a:solidFill>
                        </a:rPr>
                        <a:t>a-t-il</a:t>
                      </a:r>
                      <a:r>
                        <a:rPr lang="fr-FR" sz="1400" b="0" dirty="0" smtClean="0">
                          <a:solidFill>
                            <a:srgbClr val="2F5597"/>
                          </a:solidFill>
                        </a:rPr>
                        <a:t> mis en place des techniques de</a:t>
                      </a:r>
                      <a:r>
                        <a:rPr lang="fr-FR" sz="1400" b="0" baseline="0" dirty="0" smtClean="0">
                          <a:solidFill>
                            <a:srgbClr val="2F5597"/>
                          </a:solidFill>
                        </a:rPr>
                        <a:t> </a:t>
                      </a:r>
                      <a:r>
                        <a:rPr lang="fr-FR" sz="1400" b="0" dirty="0" smtClean="0">
                          <a:solidFill>
                            <a:srgbClr val="2F5597"/>
                          </a:solidFill>
                        </a:rPr>
                        <a:t>compression pour les ressources transférées dont il a le contrôle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91689843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273925535"/>
              </p:ext>
            </p:extLst>
          </p:nvPr>
        </p:nvGraphicFramePr>
        <p:xfrm>
          <a:off x="0" y="1121772"/>
          <a:ext cx="12192000" cy="4966512"/>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46405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66/Dimensionner les éléments graphiques et les médias correspondants au contexte d’affichage.</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502458">
                <a:tc>
                  <a:txBody>
                    <a:bodyPr/>
                    <a:lstStyle/>
                    <a:p>
                      <a:pPr marL="0" indent="0">
                        <a:buFont typeface="Arial" panose="020B0604020202020204" pitchFamily="34" charset="0"/>
                        <a:buNone/>
                      </a:pPr>
                      <a:r>
                        <a:rPr lang="fr-FR" sz="1200" dirty="0" smtClean="0">
                          <a:solidFill>
                            <a:schemeClr val="tx1"/>
                          </a:solidFill>
                        </a:rPr>
                        <a:t>Les images matricielles (ou images bitmap) proposées par un service numérique sont soit affichées dans leur</a:t>
                      </a:r>
                      <a:r>
                        <a:rPr lang="fr-FR" sz="1200" baseline="0" dirty="0" smtClean="0">
                          <a:solidFill>
                            <a:schemeClr val="tx1"/>
                          </a:solidFill>
                        </a:rPr>
                        <a:t> </a:t>
                      </a:r>
                      <a:r>
                        <a:rPr lang="fr-FR" sz="1200" dirty="0" smtClean="0">
                          <a:solidFill>
                            <a:schemeClr val="tx1"/>
                          </a:solidFill>
                        </a:rPr>
                        <a:t>taille d’origine, soit proposées dans de multiples définitions, afin de ne pas charger une image avec une</a:t>
                      </a:r>
                      <a:r>
                        <a:rPr lang="fr-FR" sz="1200" baseline="0" dirty="0" smtClean="0">
                          <a:solidFill>
                            <a:schemeClr val="tx1"/>
                          </a:solidFill>
                        </a:rPr>
                        <a:t> </a:t>
                      </a:r>
                      <a:r>
                        <a:rPr lang="fr-FR" sz="1200" dirty="0" smtClean="0">
                          <a:solidFill>
                            <a:schemeClr val="tx1"/>
                          </a:solidFill>
                        </a:rPr>
                        <a:t>définition significativement supérieure à celle du contexte d’affichage utilisé par le client.</a:t>
                      </a:r>
                    </a:p>
                    <a:p>
                      <a:pPr marL="0" indent="0">
                        <a:buFont typeface="Arial" panose="020B0604020202020204" pitchFamily="34" charset="0"/>
                        <a:buNone/>
                      </a:pPr>
                      <a:endParaRPr lang="fr-FR" sz="1200" dirty="0" smtClean="0">
                        <a:solidFill>
                          <a:schemeClr val="tx1"/>
                        </a:solidFill>
                      </a:endParaRPr>
                    </a:p>
                    <a:p>
                      <a:pPr marL="0" indent="0">
                        <a:buFont typeface="Arial" panose="020B0604020202020204" pitchFamily="34" charset="0"/>
                        <a:buNone/>
                      </a:pPr>
                      <a:r>
                        <a:rPr lang="fr-FR" sz="1200" dirty="0" smtClean="0">
                          <a:solidFill>
                            <a:schemeClr val="tx1"/>
                          </a:solidFill>
                        </a:rPr>
                        <a:t>Lors de l’ajout des images matricielles au service numérique, les dimensions d’affichage sont requises ou un</a:t>
                      </a:r>
                      <a:r>
                        <a:rPr lang="fr-FR" sz="1200" baseline="0" dirty="0" smtClean="0">
                          <a:solidFill>
                            <a:schemeClr val="tx1"/>
                          </a:solidFill>
                        </a:rPr>
                        <a:t> </a:t>
                      </a:r>
                      <a:r>
                        <a:rPr lang="fr-FR" sz="1200" dirty="0" smtClean="0">
                          <a:solidFill>
                            <a:schemeClr val="tx1"/>
                          </a:solidFill>
                        </a:rPr>
                        <a:t>redimensionnement est réalisé côté serveur, lors de l’ajout du fichier par un contributeur.</a:t>
                      </a:r>
                    </a:p>
                    <a:p>
                      <a:pPr marL="0" indent="0">
                        <a:buFont typeface="Arial" panose="020B0604020202020204" pitchFamily="34" charset="0"/>
                        <a:buNone/>
                      </a:pPr>
                      <a:endParaRPr lang="fr-FR" sz="1600" dirty="0">
                        <a:solidFill>
                          <a:schemeClr val="tx1"/>
                        </a:solidFill>
                      </a:endParaRPr>
                    </a:p>
                  </a:txBody>
                  <a:tcPr/>
                </a:tc>
                <a:tc>
                  <a:txBody>
                    <a:bodyPr/>
                    <a:lstStyle/>
                    <a:p>
                      <a:r>
                        <a:rPr lang="fr-FR" sz="1200" dirty="0" smtClean="0">
                          <a:solidFill>
                            <a:schemeClr val="tx1"/>
                          </a:solidFill>
                        </a:rPr>
                        <a:t>Pour être valider ce critère, les images du service numérique doivent entrer dans une des trois</a:t>
                      </a:r>
                      <a:r>
                        <a:rPr lang="fr-FR" sz="1200" baseline="0" dirty="0" smtClean="0">
                          <a:solidFill>
                            <a:schemeClr val="tx1"/>
                          </a:solidFill>
                        </a:rPr>
                        <a:t> </a:t>
                      </a:r>
                      <a:r>
                        <a:rPr lang="fr-FR" sz="1200" dirty="0" smtClean="0">
                          <a:solidFill>
                            <a:schemeClr val="tx1"/>
                          </a:solidFill>
                        </a:rPr>
                        <a:t>catégories suivantes :</a:t>
                      </a:r>
                    </a:p>
                    <a:p>
                      <a:endParaRPr lang="fr-FR" sz="1200" dirty="0" smtClean="0">
                        <a:solidFill>
                          <a:schemeClr val="tx1"/>
                        </a:solidFill>
                      </a:endParaRPr>
                    </a:p>
                    <a:p>
                      <a:r>
                        <a:rPr lang="fr-FR" sz="1200" dirty="0" smtClean="0">
                          <a:solidFill>
                            <a:schemeClr val="tx1"/>
                          </a:solidFill>
                        </a:rPr>
                        <a:t>• Images vectorielles ;</a:t>
                      </a:r>
                    </a:p>
                    <a:p>
                      <a:r>
                        <a:rPr lang="fr-FR" sz="1200" dirty="0" smtClean="0">
                          <a:solidFill>
                            <a:schemeClr val="tx1"/>
                          </a:solidFill>
                        </a:rPr>
                        <a:t>• Images matricielles, affichées dans leur taille d’origine (pas de redimensionnement) ;</a:t>
                      </a:r>
                    </a:p>
                    <a:p>
                      <a:r>
                        <a:rPr lang="fr-FR" sz="1200" dirty="0" smtClean="0">
                          <a:solidFill>
                            <a:schemeClr val="tx1"/>
                          </a:solidFill>
                        </a:rPr>
                        <a:t>• Dans le cas d'images fluides (l'image occupe un pourcentage de la largeur du parent),</a:t>
                      </a:r>
                      <a:r>
                        <a:rPr lang="fr-FR" sz="1200" baseline="0" dirty="0" smtClean="0">
                          <a:solidFill>
                            <a:schemeClr val="tx1"/>
                          </a:solidFill>
                        </a:rPr>
                        <a:t> </a:t>
                      </a:r>
                      <a:r>
                        <a:rPr lang="fr-FR" sz="1200" dirty="0" smtClean="0">
                          <a:solidFill>
                            <a:schemeClr val="tx1"/>
                          </a:solidFill>
                        </a:rPr>
                        <a:t>plusieurs variantes</a:t>
                      </a:r>
                      <a:r>
                        <a:rPr lang="fr-FR" sz="1200" baseline="0" dirty="0" smtClean="0">
                          <a:solidFill>
                            <a:schemeClr val="tx1"/>
                          </a:solidFill>
                        </a:rPr>
                        <a:t> </a:t>
                      </a:r>
                      <a:r>
                        <a:rPr lang="fr-FR" sz="1200" dirty="0" smtClean="0">
                          <a:solidFill>
                            <a:schemeClr val="tx1"/>
                          </a:solidFill>
                        </a:rPr>
                        <a:t>d'images existent avec des définitions différentes, et la meilleure est proposée à l'écran, en fonction du</a:t>
                      </a:r>
                      <a:r>
                        <a:rPr lang="fr-FR" sz="1200" baseline="0" dirty="0" smtClean="0">
                          <a:solidFill>
                            <a:schemeClr val="tx1"/>
                          </a:solidFill>
                        </a:rPr>
                        <a:t> </a:t>
                      </a:r>
                      <a:r>
                        <a:rPr lang="fr-FR" sz="1200" dirty="0" smtClean="0">
                          <a:solidFill>
                            <a:schemeClr val="tx1"/>
                          </a:solidFill>
                        </a:rPr>
                        <a:t>contexte d’affichage.</a:t>
                      </a:r>
                    </a:p>
                    <a:p>
                      <a:endParaRPr lang="fr-FR" sz="1200" dirty="0" smtClean="0">
                        <a:solidFill>
                          <a:schemeClr val="tx1"/>
                        </a:solidFill>
                      </a:endParaRPr>
                    </a:p>
                    <a:p>
                      <a:r>
                        <a:rPr lang="fr-FR" sz="1200" dirty="0" smtClean="0">
                          <a:solidFill>
                            <a:schemeClr val="tx1"/>
                          </a:solidFill>
                        </a:rPr>
                        <a:t>Si le service numérique permet à un contributeur d’ajouter des images, un redimensionnement doit être</a:t>
                      </a:r>
                      <a:r>
                        <a:rPr lang="fr-FR" sz="1200" baseline="0" dirty="0" smtClean="0">
                          <a:solidFill>
                            <a:schemeClr val="tx1"/>
                          </a:solidFill>
                        </a:rPr>
                        <a:t> </a:t>
                      </a:r>
                      <a:r>
                        <a:rPr lang="fr-FR" sz="1200" dirty="0" smtClean="0">
                          <a:solidFill>
                            <a:schemeClr val="tx1"/>
                          </a:solidFill>
                        </a:rPr>
                        <a:t>réalisé côté serveur pour les images qui dépasseraient une certaine taille (exprimée en pixels ou en octets)</a:t>
                      </a:r>
                      <a:r>
                        <a:rPr lang="fr-FR" sz="1200" baseline="0" dirty="0" smtClean="0">
                          <a:solidFill>
                            <a:schemeClr val="tx1"/>
                          </a:solidFill>
                        </a:rPr>
                        <a:t> </a:t>
                      </a:r>
                      <a:r>
                        <a:rPr lang="fr-FR" sz="1200" dirty="0" smtClean="0">
                          <a:solidFill>
                            <a:schemeClr val="tx1"/>
                          </a:solidFill>
                        </a:rPr>
                        <a:t>ou définition d’image.</a:t>
                      </a:r>
                      <a:endParaRPr lang="fr-FR" sz="12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9253"/>
          <a:ext cx="6088786" cy="1112518"/>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59">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59">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731520"/>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2022 et 2024</a:t>
                      </a:r>
                    </a:p>
                    <a:p>
                      <a:r>
                        <a:rPr lang="fr-FR" sz="1400" b="0" dirty="0" smtClean="0">
                          <a:solidFill>
                            <a:srgbClr val="2F5597"/>
                          </a:solidFill>
                        </a:rPr>
                        <a:t>6.4 Le service numérique affiche-t-il majoritairement des images dont</a:t>
                      </a:r>
                      <a:r>
                        <a:rPr lang="fr-FR" sz="1400" b="0" baseline="0" dirty="0" smtClean="0">
                          <a:solidFill>
                            <a:srgbClr val="2F5597"/>
                          </a:solidFill>
                        </a:rPr>
                        <a:t> </a:t>
                      </a:r>
                      <a:r>
                        <a:rPr lang="fr-FR" sz="1400" b="0" dirty="0" smtClean="0">
                          <a:solidFill>
                            <a:srgbClr val="2F5597"/>
                          </a:solidFill>
                        </a:rPr>
                        <a:t>les dimensions d’origine correspondent aux dimensions du contexte</a:t>
                      </a:r>
                    </a:p>
                    <a:p>
                      <a:r>
                        <a:rPr lang="fr-FR" sz="1400" b="0" dirty="0" smtClean="0">
                          <a:solidFill>
                            <a:srgbClr val="2F5597"/>
                          </a:solidFill>
                        </a:rPr>
                        <a:t>d’affichage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347385400"/>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225243222"/>
              </p:ext>
            </p:extLst>
          </p:nvPr>
        </p:nvGraphicFramePr>
        <p:xfrm>
          <a:off x="0" y="1112520"/>
          <a:ext cx="12170145" cy="4975764"/>
        </p:xfrm>
        <a:graphic>
          <a:graphicData uri="http://schemas.openxmlformats.org/drawingml/2006/table">
            <a:tbl>
              <a:tblPr firstRow="1" bandRow="1">
                <a:tableStyleId>{5C22544A-7EE6-4342-B048-85BDC9FD1C3A}</a:tableStyleId>
              </a:tblPr>
              <a:tblGrid>
                <a:gridCol w="6089731">
                  <a:extLst>
                    <a:ext uri="{9D8B030D-6E8A-4147-A177-3AD203B41FA5}">
                      <a16:colId xmlns:a16="http://schemas.microsoft.com/office/drawing/2014/main" val="1470604376"/>
                    </a:ext>
                  </a:extLst>
                </a:gridCol>
                <a:gridCol w="6080414">
                  <a:extLst>
                    <a:ext uri="{9D8B030D-6E8A-4147-A177-3AD203B41FA5}">
                      <a16:colId xmlns:a16="http://schemas.microsoft.com/office/drawing/2014/main" val="588129664"/>
                    </a:ext>
                  </a:extLst>
                </a:gridCol>
              </a:tblGrid>
              <a:tr h="111341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67/Se limiter au chargement des composants utilisés au sein des bibliothèques lorsque cela est possible.</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862354">
                <a:tc>
                  <a:txBody>
                    <a:bodyPr/>
                    <a:lstStyle/>
                    <a:p>
                      <a:pPr marL="0" indent="0">
                        <a:buFont typeface="Arial" panose="020B0604020202020204" pitchFamily="34" charset="0"/>
                        <a:buNone/>
                      </a:pPr>
                      <a:r>
                        <a:rPr lang="fr-FR" sz="1600" dirty="0" smtClean="0">
                          <a:solidFill>
                            <a:schemeClr val="tx1"/>
                          </a:solidFill>
                        </a:rPr>
                        <a:t>Charger uniquement les composants nécessaires. Certaines bibliothèques rendent disponibles les composants pour une utilisation unitaire (par exemple </a:t>
                      </a:r>
                      <a:r>
                        <a:rPr lang="fr-FR" sz="1600" dirty="0" err="1" smtClean="0">
                          <a:solidFill>
                            <a:schemeClr val="tx1"/>
                          </a:solidFill>
                        </a:rPr>
                        <a:t>Bootstrap</a:t>
                      </a:r>
                      <a:r>
                        <a:rPr lang="fr-FR" sz="1600" dirty="0" smtClean="0">
                          <a:solidFill>
                            <a:schemeClr val="tx1"/>
                          </a:solidFill>
                        </a:rPr>
                        <a:t>. Autre exemple : le système de design de l’État est disponible sous forme packagée (feuilles de style et scripts) avec tous les composants.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Il est rarement nécessaire d’utiliser tous les composants. Il est possible de ne charger que les fichiers CSS et </a:t>
                      </a:r>
                      <a:r>
                        <a:rPr lang="fr-FR" sz="1600" dirty="0" err="1" smtClean="0">
                          <a:solidFill>
                            <a:schemeClr val="tx1"/>
                          </a:solidFill>
                        </a:rPr>
                        <a:t>javascript</a:t>
                      </a:r>
                      <a:r>
                        <a:rPr lang="fr-FR" sz="1600" dirty="0" smtClean="0">
                          <a:solidFill>
                            <a:schemeClr val="tx1"/>
                          </a:solidFill>
                        </a:rPr>
                        <a:t> des composants nécessaires.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b="0" i="0" kern="1200" dirty="0" smtClean="0">
                          <a:solidFill>
                            <a:schemeClr val="dk1"/>
                          </a:solidFill>
                          <a:effectLst/>
                          <a:latin typeface="+mn-lt"/>
                          <a:ea typeface="+mn-ea"/>
                          <a:cs typeface="+mn-cs"/>
                        </a:rPr>
                        <a:t>Vérifier le contenu des bibliothèques chargées et leur utilisation effective.</a:t>
                      </a:r>
                      <a:endParaRPr lang="fr-FR" sz="1600" dirty="0" smtClean="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81572" y="0"/>
          <a:ext cx="6110428" cy="1112520"/>
        </p:xfrm>
        <a:graphic>
          <a:graphicData uri="http://schemas.openxmlformats.org/drawingml/2006/table">
            <a:tbl>
              <a:tblPr firstRow="1" bandRow="1">
                <a:tableStyleId>{5C22544A-7EE6-4342-B048-85BDC9FD1C3A}</a:tableStyleId>
              </a:tblPr>
              <a:tblGrid>
                <a:gridCol w="3055214">
                  <a:extLst>
                    <a:ext uri="{9D8B030D-6E8A-4147-A177-3AD203B41FA5}">
                      <a16:colId xmlns:a16="http://schemas.microsoft.com/office/drawing/2014/main" val="2625270736"/>
                    </a:ext>
                  </a:extLst>
                </a:gridCol>
                <a:gridCol w="3055214">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2022</a:t>
                      </a:r>
                    </a:p>
                    <a:p>
                      <a:r>
                        <a:rPr lang="fr-FR" sz="1400" b="0" dirty="0" smtClean="0">
                          <a:solidFill>
                            <a:srgbClr val="2F5597"/>
                          </a:solidFill>
                        </a:rPr>
                        <a:t>6.7 Le service numérique se limite-t-il au chargement</a:t>
                      </a:r>
                      <a:r>
                        <a:rPr lang="fr-FR" sz="1400" b="0" baseline="0" dirty="0" smtClean="0">
                          <a:solidFill>
                            <a:srgbClr val="2F5597"/>
                          </a:solidFill>
                        </a:rPr>
                        <a:t> </a:t>
                      </a:r>
                      <a:r>
                        <a:rPr lang="fr-FR" sz="1400" b="0" dirty="0" smtClean="0">
                          <a:solidFill>
                            <a:srgbClr val="2F5597"/>
                          </a:solidFill>
                        </a:rPr>
                        <a:t>des composants utilisés au sein des bibliothèques</a:t>
                      </a:r>
                      <a:r>
                        <a:rPr lang="fr-FR" sz="1400" b="0" baseline="0" dirty="0" smtClean="0">
                          <a:solidFill>
                            <a:srgbClr val="2F5597"/>
                          </a:solidFill>
                        </a:rPr>
                        <a:t> </a:t>
                      </a:r>
                      <a:r>
                        <a:rPr lang="fr-FR" sz="1400" b="0" dirty="0" smtClean="0">
                          <a:solidFill>
                            <a:srgbClr val="2F5597"/>
                          </a:solidFill>
                        </a:rPr>
                        <a:t>lorsque cela est possible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771651713"/>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447262811"/>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2536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68/Eviter de déclencher le chargement de ressources et de contenus inutilisés pour chaque fonctionnalité.</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50395">
                <a:tc>
                  <a:txBody>
                    <a:bodyPr/>
                    <a:lstStyle/>
                    <a:p>
                      <a:pPr marL="0" indent="0">
                        <a:buFont typeface="Arial" panose="020B0604020202020204" pitchFamily="34" charset="0"/>
                        <a:buNone/>
                      </a:pPr>
                      <a:r>
                        <a:rPr lang="fr-FR" sz="1600" dirty="0" smtClean="0">
                          <a:solidFill>
                            <a:schemeClr val="tx1"/>
                          </a:solidFill>
                        </a:rPr>
                        <a:t>Ressources et composants ne doivent être chargés que lorsqu’ils sont effectivement utilisés.</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Prévoir des mécanismes de chargement progressif pour les éléments graphiques et les médias qui</a:t>
                      </a:r>
                      <a:r>
                        <a:rPr lang="fr-FR" sz="1600" baseline="0" dirty="0" smtClean="0">
                          <a:solidFill>
                            <a:schemeClr val="tx1"/>
                          </a:solidFill>
                        </a:rPr>
                        <a:t> </a:t>
                      </a:r>
                      <a:r>
                        <a:rPr lang="fr-FR" sz="1600" dirty="0" smtClean="0">
                          <a:solidFill>
                            <a:schemeClr val="tx1"/>
                          </a:solidFill>
                        </a:rPr>
                        <a:t>nécessitent un téléchargement.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Par exemple : streaming pour la vidéo, chargement uniquement des images</a:t>
                      </a:r>
                      <a:r>
                        <a:rPr lang="fr-FR" sz="1600" baseline="0" dirty="0" smtClean="0">
                          <a:solidFill>
                            <a:schemeClr val="tx1"/>
                          </a:solidFill>
                        </a:rPr>
                        <a:t> </a:t>
                      </a:r>
                      <a:r>
                        <a:rPr lang="fr-FR" sz="1600" dirty="0" smtClean="0">
                          <a:solidFill>
                            <a:schemeClr val="tx1"/>
                          </a:solidFill>
                        </a:rPr>
                        <a:t>ou ressources affichées à l’écran (« </a:t>
                      </a:r>
                      <a:r>
                        <a:rPr lang="fr-FR" sz="1600" dirty="0" err="1" smtClean="0">
                          <a:solidFill>
                            <a:schemeClr val="tx1"/>
                          </a:solidFill>
                        </a:rPr>
                        <a:t>lazy</a:t>
                      </a:r>
                      <a:r>
                        <a:rPr lang="fr-FR" sz="1600" dirty="0" smtClean="0">
                          <a:solidFill>
                            <a:schemeClr val="tx1"/>
                          </a:solidFill>
                        </a:rPr>
                        <a:t> </a:t>
                      </a:r>
                      <a:r>
                        <a:rPr lang="fr-FR" sz="1600" dirty="0" err="1" smtClean="0">
                          <a:solidFill>
                            <a:schemeClr val="tx1"/>
                          </a:solidFill>
                        </a:rPr>
                        <a:t>loading</a:t>
                      </a:r>
                      <a:r>
                        <a:rPr lang="fr-FR" sz="1600" dirty="0" smtClean="0">
                          <a:solidFill>
                            <a:schemeClr val="tx1"/>
                          </a:solidFill>
                        </a:rPr>
                        <a:t> ») lorsque l'utilisateur les atteint en faisant défiler la page.</a:t>
                      </a:r>
                      <a:endParaRPr lang="fr-FR" sz="1600" dirty="0">
                        <a:solidFill>
                          <a:schemeClr val="tx1"/>
                        </a:solidFill>
                      </a:endParaRPr>
                    </a:p>
                  </a:txBody>
                  <a:tcPr/>
                </a:tc>
                <a:tc>
                  <a:txBody>
                    <a:bodyPr/>
                    <a:lstStyle/>
                    <a:p>
                      <a:r>
                        <a:rPr lang="fr-FR" sz="1600" dirty="0" smtClean="0">
                          <a:solidFill>
                            <a:schemeClr val="tx1"/>
                          </a:solidFill>
                        </a:rPr>
                        <a:t>Vérifier le contenu des ressources chargées et leur utilisation effective en s'assurant qu'elles correspondent</a:t>
                      </a:r>
                      <a:r>
                        <a:rPr lang="fr-FR" sz="1600" baseline="0" dirty="0" smtClean="0">
                          <a:solidFill>
                            <a:schemeClr val="tx1"/>
                          </a:solidFill>
                        </a:rPr>
                        <a:t> </a:t>
                      </a:r>
                      <a:r>
                        <a:rPr lang="fr-FR" sz="1600" dirty="0" smtClean="0">
                          <a:solidFill>
                            <a:schemeClr val="tx1"/>
                          </a:solidFill>
                        </a:rPr>
                        <a:t>aux fonctionnalités effectivement utilisées : pour valider ce critère, il ne doit pas y avoir de ressources</a:t>
                      </a:r>
                    </a:p>
                    <a:p>
                      <a:r>
                        <a:rPr lang="fr-FR" sz="1600" dirty="0" smtClean="0">
                          <a:solidFill>
                            <a:schemeClr val="tx1"/>
                          </a:solidFill>
                        </a:rPr>
                        <a:t>chargées inutilement.</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solidFill>
                            <a:schemeClr val="tx1"/>
                          </a:solidFill>
                        </a:rPr>
                        <a:t>Haute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2022 et 2024</a:t>
                      </a:r>
                    </a:p>
                    <a:p>
                      <a:r>
                        <a:rPr lang="fr-FR" sz="1400" b="0" dirty="0" smtClean="0">
                          <a:solidFill>
                            <a:srgbClr val="2F5597"/>
                          </a:solidFill>
                        </a:rPr>
                        <a:t>6.5 Le service numérique évite-t-il de déclencher le chargement de</a:t>
                      </a:r>
                      <a:r>
                        <a:rPr lang="fr-FR" sz="1400" b="0" baseline="0" dirty="0" smtClean="0">
                          <a:solidFill>
                            <a:srgbClr val="2F5597"/>
                          </a:solidFill>
                        </a:rPr>
                        <a:t> </a:t>
                      </a:r>
                      <a:r>
                        <a:rPr lang="fr-FR" sz="1400" b="0" dirty="0" smtClean="0">
                          <a:solidFill>
                            <a:srgbClr val="2F5597"/>
                          </a:solidFill>
                        </a:rPr>
                        <a:t>ressources et de contenus inutilisés pour chaque fonctionnalité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4056941499"/>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352638157"/>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665187">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69/Restreindre l’usage des capteurs des terminaux utilisateurs au besoin du service.</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310577">
                <a:tc>
                  <a:txBody>
                    <a:bodyPr/>
                    <a:lstStyle/>
                    <a:p>
                      <a:pPr marL="0" indent="0">
                        <a:buFont typeface="Arial" panose="020B0604020202020204" pitchFamily="34" charset="0"/>
                        <a:buNone/>
                      </a:pPr>
                      <a:r>
                        <a:rPr lang="fr-FR" sz="1200" dirty="0" smtClean="0">
                          <a:solidFill>
                            <a:schemeClr val="tx1"/>
                          </a:solidFill>
                        </a:rPr>
                        <a:t>Prévoir des mécanismes d’alerte, d’information et de consentement et une validation avant tout</a:t>
                      </a:r>
                      <a:r>
                        <a:rPr lang="fr-FR" sz="1200" baseline="0" dirty="0" smtClean="0">
                          <a:solidFill>
                            <a:schemeClr val="tx1"/>
                          </a:solidFill>
                        </a:rPr>
                        <a:t> </a:t>
                      </a:r>
                      <a:r>
                        <a:rPr lang="fr-FR" sz="1200" dirty="0" smtClean="0">
                          <a:solidFill>
                            <a:schemeClr val="tx1"/>
                          </a:solidFill>
                        </a:rPr>
                        <a:t>déclenchement de capteur du terminal par l’utilisateur. </a:t>
                      </a:r>
                    </a:p>
                    <a:p>
                      <a:pPr marL="0" indent="0">
                        <a:buFont typeface="Arial" panose="020B0604020202020204" pitchFamily="34" charset="0"/>
                        <a:buNone/>
                      </a:pPr>
                      <a:endParaRPr lang="fr-FR" sz="1200" dirty="0" smtClean="0">
                        <a:solidFill>
                          <a:schemeClr val="tx1"/>
                        </a:solidFill>
                      </a:endParaRPr>
                    </a:p>
                    <a:p>
                      <a:pPr marL="0" indent="0">
                        <a:buFont typeface="Arial" panose="020B0604020202020204" pitchFamily="34" charset="0"/>
                        <a:buNone/>
                      </a:pPr>
                      <a:r>
                        <a:rPr lang="fr-FR" sz="1200" dirty="0" smtClean="0">
                          <a:solidFill>
                            <a:schemeClr val="tx1"/>
                          </a:solidFill>
                        </a:rPr>
                        <a:t>Il s’agit de limiter l'activation des capteurs aux</a:t>
                      </a:r>
                      <a:r>
                        <a:rPr lang="fr-FR" sz="1200" baseline="0" dirty="0" smtClean="0">
                          <a:solidFill>
                            <a:schemeClr val="tx1"/>
                          </a:solidFill>
                        </a:rPr>
                        <a:t> </a:t>
                      </a:r>
                      <a:r>
                        <a:rPr lang="fr-FR" sz="1200" dirty="0" smtClean="0">
                          <a:solidFill>
                            <a:schemeClr val="tx1"/>
                          </a:solidFill>
                        </a:rPr>
                        <a:t>moments où ils sont réellement nécessaires au bon fonctionnement du service, ou par l’activation d’une</a:t>
                      </a:r>
                      <a:r>
                        <a:rPr lang="fr-FR" sz="1200" baseline="0" dirty="0" smtClean="0">
                          <a:solidFill>
                            <a:schemeClr val="tx1"/>
                          </a:solidFill>
                        </a:rPr>
                        <a:t> </a:t>
                      </a:r>
                      <a:r>
                        <a:rPr lang="fr-FR" sz="1200" dirty="0" smtClean="0">
                          <a:solidFill>
                            <a:schemeClr val="tx1"/>
                          </a:solidFill>
                        </a:rPr>
                        <a:t>fonctionnalité expressément demandée par l’utilisateur. </a:t>
                      </a:r>
                    </a:p>
                    <a:p>
                      <a:pPr marL="0" indent="0">
                        <a:buFont typeface="Arial" panose="020B0604020202020204" pitchFamily="34" charset="0"/>
                        <a:buNone/>
                      </a:pPr>
                      <a:endParaRPr lang="fr-FR" sz="1200" dirty="0" smtClean="0">
                        <a:solidFill>
                          <a:schemeClr val="tx1"/>
                        </a:solidFill>
                      </a:endParaRPr>
                    </a:p>
                    <a:p>
                      <a:pPr marL="0" indent="0">
                        <a:buFont typeface="Arial" panose="020B0604020202020204" pitchFamily="34" charset="0"/>
                        <a:buNone/>
                      </a:pPr>
                      <a:r>
                        <a:rPr lang="fr-FR" sz="1200" dirty="0" smtClean="0">
                          <a:solidFill>
                            <a:schemeClr val="tx1"/>
                          </a:solidFill>
                        </a:rPr>
                        <a:t>La définition du « moment où ils sont réellement</a:t>
                      </a:r>
                      <a:r>
                        <a:rPr lang="fr-FR" sz="1200" baseline="0" dirty="0" smtClean="0">
                          <a:solidFill>
                            <a:schemeClr val="tx1"/>
                          </a:solidFill>
                        </a:rPr>
                        <a:t> </a:t>
                      </a:r>
                      <a:r>
                        <a:rPr lang="fr-FR" sz="1200" dirty="0" smtClean="0">
                          <a:solidFill>
                            <a:schemeClr val="tx1"/>
                          </a:solidFill>
                        </a:rPr>
                        <a:t>nécessaires » doit être objectivée pour chaque usage : l’usage des capteurs doit être minimal par défaut,</a:t>
                      </a:r>
                      <a:r>
                        <a:rPr lang="fr-FR" sz="1200" baseline="0" dirty="0" smtClean="0">
                          <a:solidFill>
                            <a:schemeClr val="tx1"/>
                          </a:solidFill>
                        </a:rPr>
                        <a:t> </a:t>
                      </a:r>
                      <a:r>
                        <a:rPr lang="fr-FR" sz="1200" dirty="0" smtClean="0">
                          <a:solidFill>
                            <a:schemeClr val="tx1"/>
                          </a:solidFill>
                        </a:rPr>
                        <a:t>mais peut également être proposé à l’utilisateur un « mode dégradé » permettant de répondre à l’usage</a:t>
                      </a:r>
                      <a:r>
                        <a:rPr lang="fr-FR" sz="1200" baseline="0" dirty="0" smtClean="0">
                          <a:solidFill>
                            <a:schemeClr val="tx1"/>
                          </a:solidFill>
                        </a:rPr>
                        <a:t> </a:t>
                      </a:r>
                      <a:r>
                        <a:rPr lang="fr-FR" sz="1200" dirty="0" smtClean="0">
                          <a:solidFill>
                            <a:schemeClr val="tx1"/>
                          </a:solidFill>
                        </a:rPr>
                        <a:t>essentiel souhaité, optimisant les ressources matérielles et en particulier la batterie, sans aller jusqu’au</a:t>
                      </a:r>
                      <a:r>
                        <a:rPr lang="fr-FR" sz="1200" baseline="0" dirty="0" smtClean="0">
                          <a:solidFill>
                            <a:schemeClr val="tx1"/>
                          </a:solidFill>
                        </a:rPr>
                        <a:t> </a:t>
                      </a:r>
                      <a:r>
                        <a:rPr lang="fr-FR" sz="1200" dirty="0" smtClean="0">
                          <a:solidFill>
                            <a:schemeClr val="tx1"/>
                          </a:solidFill>
                        </a:rPr>
                        <a:t>fonctionnement nominal ou idéal.</a:t>
                      </a:r>
                    </a:p>
                    <a:p>
                      <a:pPr marL="0" indent="0">
                        <a:buFont typeface="Arial" panose="020B0604020202020204" pitchFamily="34" charset="0"/>
                        <a:buNone/>
                      </a:pPr>
                      <a:endParaRPr lang="fr-FR" sz="1600" dirty="0">
                        <a:solidFill>
                          <a:schemeClr val="tx1"/>
                        </a:solidFill>
                      </a:endParaRPr>
                    </a:p>
                  </a:txBody>
                  <a:tcPr/>
                </a:tc>
                <a:tc>
                  <a:txBody>
                    <a:bodyPr/>
                    <a:lstStyle/>
                    <a:p>
                      <a:r>
                        <a:rPr lang="fr-FR" sz="1200" dirty="0" smtClean="0">
                          <a:solidFill>
                            <a:schemeClr val="tx1"/>
                          </a:solidFill>
                        </a:rPr>
                        <a:t>Vérifier l’affichage de mécanismes d’alerte et de consentement avant tout déclenchement de capteur du</a:t>
                      </a:r>
                      <a:r>
                        <a:rPr lang="fr-FR" sz="1200" baseline="0" dirty="0" smtClean="0">
                          <a:solidFill>
                            <a:schemeClr val="tx1"/>
                          </a:solidFill>
                        </a:rPr>
                        <a:t> </a:t>
                      </a:r>
                      <a:r>
                        <a:rPr lang="fr-FR" sz="1200" dirty="0" smtClean="0">
                          <a:solidFill>
                            <a:schemeClr val="tx1"/>
                          </a:solidFill>
                        </a:rPr>
                        <a:t>terminal accepté par l’utilisateur.</a:t>
                      </a:r>
                    </a:p>
                    <a:p>
                      <a:endParaRPr lang="fr-FR" sz="1200" dirty="0" smtClean="0">
                        <a:solidFill>
                          <a:schemeClr val="tx1"/>
                        </a:solidFill>
                      </a:endParaRPr>
                    </a:p>
                    <a:p>
                      <a:r>
                        <a:rPr lang="fr-FR" sz="1200" dirty="0" smtClean="0">
                          <a:solidFill>
                            <a:schemeClr val="tx1"/>
                          </a:solidFill>
                        </a:rPr>
                        <a:t>Examiner périodiquement que la durée d’utilisation des capteurs des</a:t>
                      </a:r>
                    </a:p>
                    <a:p>
                      <a:r>
                        <a:rPr lang="fr-FR" sz="1200" dirty="0" smtClean="0">
                          <a:solidFill>
                            <a:schemeClr val="tx1"/>
                          </a:solidFill>
                        </a:rPr>
                        <a:t>terminaux utilisateurs est minimisée.</a:t>
                      </a:r>
                    </a:p>
                    <a:p>
                      <a:endParaRPr lang="fr-FR" sz="1200" dirty="0" smtClean="0">
                        <a:solidFill>
                          <a:schemeClr val="tx1"/>
                        </a:solidFill>
                      </a:endParaRPr>
                    </a:p>
                    <a:p>
                      <a:r>
                        <a:rPr lang="fr-FR" sz="1200" dirty="0" smtClean="0">
                          <a:solidFill>
                            <a:schemeClr val="tx1"/>
                          </a:solidFill>
                        </a:rPr>
                        <a:t>Le critère est validé si un mécanisme d’alerte et de consentement s’enclenche pour tout déclenchement de</a:t>
                      </a:r>
                      <a:r>
                        <a:rPr lang="fr-FR" sz="1200" baseline="0" dirty="0" smtClean="0">
                          <a:solidFill>
                            <a:schemeClr val="tx1"/>
                          </a:solidFill>
                        </a:rPr>
                        <a:t> </a:t>
                      </a:r>
                      <a:r>
                        <a:rPr lang="fr-FR" sz="1200" dirty="0" smtClean="0">
                          <a:solidFill>
                            <a:schemeClr val="tx1"/>
                          </a:solidFill>
                        </a:rPr>
                        <a:t>capteur du terminal.</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Faible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2022 et 2024</a:t>
                      </a:r>
                    </a:p>
                    <a:p>
                      <a:r>
                        <a:rPr lang="fr-FR" sz="1400" b="0" dirty="0" smtClean="0">
                          <a:solidFill>
                            <a:srgbClr val="2F5597"/>
                          </a:solidFill>
                        </a:rPr>
                        <a:t>6.6 Le service numérique restreint-il l’usage des capteurs des</a:t>
                      </a:r>
                      <a:r>
                        <a:rPr lang="fr-FR" sz="1400" b="0" baseline="0" dirty="0" smtClean="0">
                          <a:solidFill>
                            <a:srgbClr val="2F5597"/>
                          </a:solidFill>
                        </a:rPr>
                        <a:t> </a:t>
                      </a:r>
                      <a:r>
                        <a:rPr lang="fr-FR" sz="1400" b="0" dirty="0" smtClean="0">
                          <a:solidFill>
                            <a:srgbClr val="2F5597"/>
                          </a:solidFill>
                        </a:rPr>
                        <a:t>terminaux utilisateurs au besoin du service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216310978"/>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189986831"/>
              </p:ext>
            </p:extLst>
          </p:nvPr>
        </p:nvGraphicFramePr>
        <p:xfrm>
          <a:off x="1" y="1112520"/>
          <a:ext cx="12191998" cy="4975764"/>
        </p:xfrm>
        <a:graphic>
          <a:graphicData uri="http://schemas.openxmlformats.org/drawingml/2006/table">
            <a:tbl>
              <a:tblPr firstRow="1" bandRow="1">
                <a:tableStyleId>{5C22544A-7EE6-4342-B048-85BDC9FD1C3A}</a:tableStyleId>
              </a:tblPr>
              <a:tblGrid>
                <a:gridCol w="6100665">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04808">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70/Favoriser les pages statiques.</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70956">
                <a:tc>
                  <a:txBody>
                    <a:bodyPr/>
                    <a:lstStyle/>
                    <a:p>
                      <a:pPr marL="0" indent="0">
                        <a:buFont typeface="Arial" panose="020B0604020202020204" pitchFamily="34" charset="0"/>
                        <a:buNone/>
                      </a:pPr>
                      <a:r>
                        <a:rPr lang="fr-FR" sz="1600" dirty="0" smtClean="0">
                          <a:solidFill>
                            <a:schemeClr val="tx1"/>
                          </a:solidFill>
                        </a:rPr>
                        <a:t>Si une page ne doit être modifiée que deux fois par an, préférer des pages statiques, construites en dehors du CMS. Cela permettra d’économiser des cycles CPU, de la bande passante, et réduira la consommation électrique.</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En fonction du service numérique à concevoir, il est envisageable :pour une landing page ou simple site vitrine de créer un site statique en HTML, CSS et JS.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Le nombre de pages dynamiques est inférieur ou égal à 25 %.  </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a:t>
                      </a:r>
                    </a:p>
                    <a:p>
                      <a:r>
                        <a:rPr lang="fr-FR" sz="1400" b="0" dirty="0" smtClean="0">
                          <a:solidFill>
                            <a:srgbClr val="2F5597"/>
                          </a:solidFill>
                        </a:rPr>
                        <a:t>Favoriser les pages statiques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743821427"/>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279349333"/>
              </p:ext>
            </p:extLst>
          </p:nvPr>
        </p:nvGraphicFramePr>
        <p:xfrm>
          <a:off x="0" y="1112520"/>
          <a:ext cx="12179382" cy="4975764"/>
        </p:xfrm>
        <a:graphic>
          <a:graphicData uri="http://schemas.openxmlformats.org/drawingml/2006/table">
            <a:tbl>
              <a:tblPr firstRow="1" bandRow="1">
                <a:tableStyleId>{5C22544A-7EE6-4342-B048-85BDC9FD1C3A}</a:tableStyleId>
              </a:tblPr>
              <a:tblGrid>
                <a:gridCol w="6094352">
                  <a:extLst>
                    <a:ext uri="{9D8B030D-6E8A-4147-A177-3AD203B41FA5}">
                      <a16:colId xmlns:a16="http://schemas.microsoft.com/office/drawing/2014/main" val="1470604376"/>
                    </a:ext>
                  </a:extLst>
                </a:gridCol>
                <a:gridCol w="6085030">
                  <a:extLst>
                    <a:ext uri="{9D8B030D-6E8A-4147-A177-3AD203B41FA5}">
                      <a16:colId xmlns:a16="http://schemas.microsoft.com/office/drawing/2014/main" val="588129664"/>
                    </a:ext>
                  </a:extLst>
                </a:gridCol>
              </a:tblGrid>
              <a:tr h="131123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71/Rendre les éléments du DOM invisibles lors de leur modification.</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4525">
                <a:tc>
                  <a:txBody>
                    <a:bodyPr/>
                    <a:lstStyle/>
                    <a:p>
                      <a:pPr marL="0" indent="0">
                        <a:buFont typeface="Arial" panose="020B0604020202020204" pitchFamily="34" charset="0"/>
                        <a:buNone/>
                      </a:pPr>
                      <a:r>
                        <a:rPr lang="fr-FR" sz="1600" dirty="0" smtClean="0">
                          <a:solidFill>
                            <a:schemeClr val="tx1"/>
                          </a:solidFill>
                        </a:rPr>
                        <a:t>Lorsqu’un élément du DOM (Document Object Model) doit être modifié par plusieurs propriétés, chaque changement de style ou de contenu va générer un </a:t>
                      </a:r>
                      <a:r>
                        <a:rPr lang="fr-FR" sz="1600" dirty="0" err="1" smtClean="0">
                          <a:solidFill>
                            <a:schemeClr val="tx1"/>
                          </a:solidFill>
                        </a:rPr>
                        <a:t>repaint</a:t>
                      </a:r>
                      <a:r>
                        <a:rPr lang="fr-FR" sz="1600" dirty="0" smtClean="0">
                          <a:solidFill>
                            <a:schemeClr val="tx1"/>
                          </a:solidFill>
                        </a:rPr>
                        <a:t> ou un </a:t>
                      </a:r>
                      <a:r>
                        <a:rPr lang="fr-FR" sz="1600" dirty="0" err="1" smtClean="0">
                          <a:solidFill>
                            <a:schemeClr val="tx1"/>
                          </a:solidFill>
                        </a:rPr>
                        <a:t>reﬂow</a:t>
                      </a:r>
                      <a:r>
                        <a:rPr lang="fr-FR" sz="1600" dirty="0" smtClean="0">
                          <a:solidFill>
                            <a:schemeClr val="tx1"/>
                          </a:solidFill>
                        </a:rPr>
                        <a:t>.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Aussi est-il généralement plus économe de : rendre l’élément invisible (passer la propriété display à none) (1 </a:t>
                      </a:r>
                      <a:r>
                        <a:rPr lang="fr-FR" sz="1600" dirty="0" err="1" smtClean="0">
                          <a:solidFill>
                            <a:schemeClr val="tx1"/>
                          </a:solidFill>
                        </a:rPr>
                        <a:t>reﬂow</a:t>
                      </a:r>
                      <a:r>
                        <a:rPr lang="fr-FR" sz="1600" dirty="0" smtClean="0">
                          <a:solidFill>
                            <a:schemeClr val="tx1"/>
                          </a:solidFill>
                        </a:rPr>
                        <a:t>) ; modifier toutes les propriétés de l’élément et rendre l’élément à nouveau visible (1 </a:t>
                      </a:r>
                      <a:r>
                        <a:rPr lang="fr-FR" sz="1600" dirty="0" err="1" smtClean="0">
                          <a:solidFill>
                            <a:schemeClr val="tx1"/>
                          </a:solidFill>
                        </a:rPr>
                        <a:t>reﬂow</a:t>
                      </a:r>
                      <a:r>
                        <a:rPr lang="fr-FR" sz="1600" dirty="0" smtClean="0">
                          <a:solidFill>
                            <a:schemeClr val="tx1"/>
                          </a:solidFill>
                        </a:rPr>
                        <a:t>). Soit 2 </a:t>
                      </a:r>
                      <a:r>
                        <a:rPr lang="fr-FR" sz="1600" dirty="0" err="1" smtClean="0">
                          <a:solidFill>
                            <a:schemeClr val="tx1"/>
                          </a:solidFill>
                        </a:rPr>
                        <a:t>reﬂow</a:t>
                      </a:r>
                      <a:r>
                        <a:rPr lang="fr-FR" sz="1600" dirty="0" smtClean="0">
                          <a:solidFill>
                            <a:schemeClr val="tx1"/>
                          </a:solidFill>
                        </a:rPr>
                        <a:t> au maximum.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Le nombre de manipulations d'un élément du DOM sans qu'il soit rendu invisible pendant sa modification</a:t>
                      </a:r>
                      <a:r>
                        <a:rPr lang="fr-FR" sz="1600" baseline="0" dirty="0" smtClean="0">
                          <a:solidFill>
                            <a:schemeClr val="tx1"/>
                          </a:solidFill>
                        </a:rPr>
                        <a:t> </a:t>
                      </a:r>
                      <a:r>
                        <a:rPr lang="fr-FR" sz="1600" dirty="0" smtClean="0">
                          <a:solidFill>
                            <a:schemeClr val="tx1"/>
                          </a:solidFill>
                        </a:rPr>
                        <a:t>est inférieur ou égal à 1.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Haute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a:t>
                      </a:r>
                    </a:p>
                    <a:p>
                      <a:r>
                        <a:rPr lang="fr-FR" sz="1400" b="0" dirty="0" smtClean="0">
                          <a:solidFill>
                            <a:srgbClr val="2F5597"/>
                          </a:solidFill>
                        </a:rPr>
                        <a:t>Rendre les éléments du DOM invisibles lors de leur modification</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867058964"/>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843950057"/>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341563">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72/Utiliser la délégation d'évènements. </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34201">
                <a:tc>
                  <a:txBody>
                    <a:bodyPr/>
                    <a:lstStyle/>
                    <a:p>
                      <a:pPr marL="0" indent="0">
                        <a:buFont typeface="Arial" panose="020B0604020202020204" pitchFamily="34" charset="0"/>
                        <a:buNone/>
                      </a:pPr>
                      <a:r>
                        <a:rPr lang="fr-FR" sz="1600" dirty="0" smtClean="0">
                          <a:solidFill>
                            <a:schemeClr val="tx1"/>
                          </a:solidFill>
                        </a:rPr>
                        <a:t>La délégation d’événements permet de ne pas surcharger la mémoire du navigateur en instanciant un seul écouteur pour plusieurs éléments du DOM (Document Object Model).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Le nombre d'écoutes (</a:t>
                      </a:r>
                      <a:r>
                        <a:rPr lang="fr-FR" sz="1600" dirty="0" err="1" smtClean="0">
                          <a:solidFill>
                            <a:schemeClr val="tx1"/>
                          </a:solidFill>
                        </a:rPr>
                        <a:t>listeners</a:t>
                      </a:r>
                      <a:r>
                        <a:rPr lang="fr-FR" sz="1600" dirty="0" smtClean="0">
                          <a:solidFill>
                            <a:schemeClr val="tx1"/>
                          </a:solidFill>
                        </a:rPr>
                        <a:t>) d'un même événement sur plusieurs éléments HTML, faisant partie d'un même groupe, sans utiliser la délégation d'événements</a:t>
                      </a:r>
                      <a:r>
                        <a:rPr lang="fr-FR" sz="1600" baseline="0" dirty="0" smtClean="0">
                          <a:solidFill>
                            <a:schemeClr val="tx1"/>
                          </a:solidFill>
                        </a:rPr>
                        <a:t> </a:t>
                      </a:r>
                      <a:r>
                        <a:rPr lang="fr-FR" sz="1600" dirty="0" smtClean="0">
                          <a:solidFill>
                            <a:schemeClr val="tx1"/>
                          </a:solidFill>
                        </a:rPr>
                        <a:t>est inférieur ou égal à 0.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a:t>
                      </a:r>
                    </a:p>
                    <a:p>
                      <a:r>
                        <a:rPr lang="fr-FR" sz="1400" b="0" dirty="0" smtClean="0">
                          <a:solidFill>
                            <a:srgbClr val="2F5597"/>
                          </a:solidFill>
                        </a:rPr>
                        <a:t>Utiliser la délégation d'évènements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391105307"/>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731494163"/>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3045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73/Modifier plusieurs propriétés CSS en 1 seule fois. </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45314">
                <a:tc>
                  <a:txBody>
                    <a:bodyPr/>
                    <a:lstStyle/>
                    <a:p>
                      <a:pPr marL="0" indent="0">
                        <a:buFont typeface="Arial" panose="020B0604020202020204" pitchFamily="34" charset="0"/>
                        <a:buNone/>
                      </a:pPr>
                      <a:r>
                        <a:rPr lang="fr-FR" sz="1600" dirty="0" smtClean="0">
                          <a:solidFill>
                            <a:schemeClr val="tx1"/>
                          </a:solidFill>
                        </a:rPr>
                        <a:t>Pour limiter le nombre de </a:t>
                      </a:r>
                      <a:r>
                        <a:rPr lang="fr-FR" sz="1600" dirty="0" err="1" smtClean="0">
                          <a:solidFill>
                            <a:schemeClr val="tx1"/>
                          </a:solidFill>
                        </a:rPr>
                        <a:t>repaint</a:t>
                      </a:r>
                      <a:r>
                        <a:rPr lang="fr-FR" sz="1600" dirty="0" smtClean="0">
                          <a:solidFill>
                            <a:schemeClr val="tx1"/>
                          </a:solidFill>
                        </a:rPr>
                        <a:t>/</a:t>
                      </a:r>
                      <a:r>
                        <a:rPr lang="fr-FR" sz="1600" dirty="0" err="1" smtClean="0">
                          <a:solidFill>
                            <a:schemeClr val="tx1"/>
                          </a:solidFill>
                        </a:rPr>
                        <a:t>reﬂow</a:t>
                      </a:r>
                      <a:r>
                        <a:rPr lang="fr-FR" sz="1600" dirty="0" smtClean="0">
                          <a:solidFill>
                            <a:schemeClr val="tx1"/>
                          </a:solidFill>
                        </a:rPr>
                        <a:t>, il est conseillé de ne pas modifier des propriétés une à une.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Préférer</a:t>
                      </a:r>
                      <a:r>
                        <a:rPr lang="fr-FR" sz="1600" baseline="0" dirty="0" smtClean="0">
                          <a:solidFill>
                            <a:schemeClr val="tx1"/>
                          </a:solidFill>
                        </a:rPr>
                        <a:t> </a:t>
                      </a:r>
                      <a:r>
                        <a:rPr lang="fr-FR" sz="1600" dirty="0" smtClean="0">
                          <a:solidFill>
                            <a:schemeClr val="tx1"/>
                          </a:solidFill>
                        </a:rPr>
                        <a:t>l’ajout/la suppression de classes CSS, ce qui permet de modifier en une seule fois plusieurs propriétés, tout en ne générant qu’un </a:t>
                      </a:r>
                      <a:r>
                        <a:rPr lang="fr-FR" sz="1600" dirty="0" err="1" smtClean="0">
                          <a:solidFill>
                            <a:schemeClr val="tx1"/>
                          </a:solidFill>
                        </a:rPr>
                        <a:t>repaint</a:t>
                      </a:r>
                      <a:r>
                        <a:rPr lang="fr-FR" sz="1600" dirty="0" smtClean="0">
                          <a:solidFill>
                            <a:schemeClr val="tx1"/>
                          </a:solidFill>
                        </a:rPr>
                        <a:t>/</a:t>
                      </a:r>
                      <a:r>
                        <a:rPr lang="fr-FR" sz="1600" dirty="0" err="1" smtClean="0">
                          <a:solidFill>
                            <a:schemeClr val="tx1"/>
                          </a:solidFill>
                        </a:rPr>
                        <a:t>reﬂow</a:t>
                      </a:r>
                      <a:r>
                        <a:rPr lang="fr-FR" sz="1600" dirty="0" smtClean="0">
                          <a:solidFill>
                            <a:schemeClr val="tx1"/>
                          </a:solidFill>
                        </a:rPr>
                        <a:t>.</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 Le nombre de déclarations CSS pouvant être regroupées en une seule (</a:t>
                      </a:r>
                      <a:r>
                        <a:rPr lang="fr-FR" sz="1600" dirty="0" err="1" smtClean="0">
                          <a:solidFill>
                            <a:schemeClr val="tx1"/>
                          </a:solidFill>
                        </a:rPr>
                        <a:t>margin</a:t>
                      </a:r>
                      <a:r>
                        <a:rPr lang="fr-FR" sz="1600" dirty="0" smtClean="0">
                          <a:solidFill>
                            <a:schemeClr val="tx1"/>
                          </a:solidFill>
                        </a:rPr>
                        <a:t>, </a:t>
                      </a:r>
                      <a:r>
                        <a:rPr lang="fr-FR" sz="1600" dirty="0" err="1" smtClean="0">
                          <a:solidFill>
                            <a:schemeClr val="tx1"/>
                          </a:solidFill>
                        </a:rPr>
                        <a:t>padding</a:t>
                      </a:r>
                      <a:r>
                        <a:rPr lang="fr-FR" sz="1600" dirty="0" smtClean="0">
                          <a:solidFill>
                            <a:schemeClr val="tx1"/>
                          </a:solidFill>
                        </a:rPr>
                        <a:t>, ...), et n'utilisant pas la version courte</a:t>
                      </a:r>
                      <a:r>
                        <a:rPr lang="fr-FR" sz="1600" baseline="0" dirty="0" smtClean="0">
                          <a:solidFill>
                            <a:schemeClr val="tx1"/>
                          </a:solidFill>
                        </a:rPr>
                        <a:t> </a:t>
                      </a:r>
                      <a:r>
                        <a:rPr lang="fr-FR" sz="1600" dirty="0" smtClean="0">
                          <a:solidFill>
                            <a:schemeClr val="tx1"/>
                          </a:solidFill>
                        </a:rPr>
                        <a:t>est inférieur ou égal à 0.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Haute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a:t>
                      </a:r>
                    </a:p>
                    <a:p>
                      <a:r>
                        <a:rPr lang="fr-FR" sz="1400" b="0" dirty="0" smtClean="0">
                          <a:solidFill>
                            <a:srgbClr val="2F5597"/>
                          </a:solidFill>
                        </a:rPr>
                        <a:t>Modifier plusieurs propriétés CSS en 1 seule fois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969221384"/>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03335047"/>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8">
                  <a:extLst>
                    <a:ext uri="{9D8B030D-6E8A-4147-A177-3AD203B41FA5}">
                      <a16:colId xmlns:a16="http://schemas.microsoft.com/office/drawing/2014/main" val="1470604376"/>
                    </a:ext>
                  </a:extLst>
                </a:gridCol>
                <a:gridCol w="6091332">
                  <a:extLst>
                    <a:ext uri="{9D8B030D-6E8A-4147-A177-3AD203B41FA5}">
                      <a16:colId xmlns:a16="http://schemas.microsoft.com/office/drawing/2014/main" val="588129664"/>
                    </a:ext>
                  </a:extLst>
                </a:gridCol>
              </a:tblGrid>
              <a:tr h="130325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74/Réduire les accès au DOM via JavaScript.</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72510">
                <a:tc>
                  <a:txBody>
                    <a:bodyPr/>
                    <a:lstStyle/>
                    <a:p>
                      <a:pPr marL="0" indent="0">
                        <a:buFont typeface="Arial" panose="020B0604020202020204" pitchFamily="34" charset="0"/>
                        <a:buNone/>
                      </a:pPr>
                      <a:r>
                        <a:rPr lang="fr-FR" sz="1600" dirty="0" smtClean="0">
                          <a:solidFill>
                            <a:schemeClr val="tx1"/>
                          </a:solidFill>
                        </a:rPr>
                        <a:t>L’accès au DOM (Document Object Model) via JavaScript est une procédure lourde qui consomme beaucoup de cycles processeur (CPU). Réduire autant que possible ces accès.</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Pour cela, vous pouvez assigner le nœud dans des variables que vous réutiliserez lors du cycle de vie de l’application, ce qui évite de retraverser l’arbre à chaque manipulation du document.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Il est également possible d’utiliser des bibliothèques de type  « Shadow DOM », qui optimisent les modifications de l’arbre par un système de batch.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Le nombre d'accès à un élément HTML sans passer par une variable locale</a:t>
                      </a:r>
                      <a:r>
                        <a:rPr lang="fr-FR" sz="1600" baseline="0" dirty="0" smtClean="0">
                          <a:solidFill>
                            <a:schemeClr val="tx1"/>
                          </a:solidFill>
                        </a:rPr>
                        <a:t> </a:t>
                      </a:r>
                      <a:r>
                        <a:rPr lang="fr-FR" sz="1600" dirty="0" smtClean="0">
                          <a:solidFill>
                            <a:schemeClr val="tx1"/>
                          </a:solidFill>
                        </a:rPr>
                        <a:t>est inférieur ou égal à 0.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Faible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Faible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a:t>
                      </a:r>
                    </a:p>
                    <a:p>
                      <a:r>
                        <a:rPr lang="fr-FR" sz="1400" b="0" dirty="0" smtClean="0">
                          <a:solidFill>
                            <a:srgbClr val="2F5597"/>
                          </a:solidFill>
                        </a:rPr>
                        <a:t>Réduire les accès au DOM via JavaScript</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104910082"/>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776386339"/>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5691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75/Proposer un traitement asynchrone lorsque c'est possible.</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18850">
                <a:tc>
                  <a:txBody>
                    <a:bodyPr/>
                    <a:lstStyle/>
                    <a:p>
                      <a:pPr marL="0" indent="0">
                        <a:buFont typeface="Arial" panose="020B0604020202020204" pitchFamily="34" charset="0"/>
                        <a:buNone/>
                      </a:pPr>
                      <a:r>
                        <a:rPr lang="fr-FR" sz="1600" dirty="0" smtClean="0">
                          <a:solidFill>
                            <a:schemeClr val="tx1"/>
                          </a:solidFill>
                        </a:rPr>
                        <a:t>Cette approche permet de réaliser des traitements par lots (</a:t>
                      </a:r>
                      <a:r>
                        <a:rPr lang="fr-FR" sz="1600" dirty="0" err="1" smtClean="0">
                          <a:solidFill>
                            <a:schemeClr val="tx1"/>
                          </a:solidFill>
                        </a:rPr>
                        <a:t>batchs</a:t>
                      </a:r>
                      <a:r>
                        <a:rPr lang="fr-FR" sz="1600" dirty="0" smtClean="0">
                          <a:solidFill>
                            <a:schemeClr val="tx1"/>
                          </a:solidFill>
                        </a:rPr>
                        <a:t>), souvent plus efficients en ressources que des traitements synchrones à la volée.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On libère ainsi les serveurs de présentation, qui peuvent prendre en charge d’autres internautes pendant que le traitement s’effectue en mode asynchrone côté serveur.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Il est également plus aisé de lisser la charge du serveur responsable du traitement, ce qui permet une meilleure mutualisation de serveurs et par conséquent moins de serveurs.</a:t>
                      </a:r>
                      <a:endParaRPr lang="fr-FR" sz="1600" dirty="0">
                        <a:solidFill>
                          <a:schemeClr val="tx1"/>
                        </a:solidFill>
                      </a:endParaRPr>
                    </a:p>
                  </a:txBody>
                  <a:tcPr/>
                </a:tc>
                <a:tc>
                  <a:txBody>
                    <a:bodyPr/>
                    <a:lstStyle/>
                    <a:p>
                      <a:r>
                        <a:rPr lang="fr-FR" sz="1600" dirty="0" smtClean="0">
                          <a:solidFill>
                            <a:schemeClr val="tx1"/>
                          </a:solidFill>
                        </a:rPr>
                        <a:t>Le nombre de traitements synchrones qui prennent plus d'une minute</a:t>
                      </a:r>
                      <a:r>
                        <a:rPr lang="fr-FR" sz="1600" baseline="0" dirty="0" smtClean="0">
                          <a:solidFill>
                            <a:schemeClr val="tx1"/>
                          </a:solidFill>
                        </a:rPr>
                        <a:t> </a:t>
                      </a:r>
                      <a:r>
                        <a:rPr lang="fr-FR" sz="1600" dirty="0" smtClean="0">
                          <a:solidFill>
                            <a:schemeClr val="tx1"/>
                          </a:solidFill>
                        </a:rPr>
                        <a:t>est inférieur ou égal à 0.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a:t>
                      </a:r>
                    </a:p>
                    <a:p>
                      <a:r>
                        <a:rPr lang="fr-FR" sz="1400" b="0" dirty="0" smtClean="0">
                          <a:solidFill>
                            <a:srgbClr val="2F5597"/>
                          </a:solidFill>
                        </a:rPr>
                        <a:t>Proposer un traitement asynchrone lorsque c'est possible</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924610670"/>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213513729"/>
              </p:ext>
            </p:extLst>
          </p:nvPr>
        </p:nvGraphicFramePr>
        <p:xfrm>
          <a:off x="0" y="1112519"/>
          <a:ext cx="12192000" cy="4975766"/>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4965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76/Valider les pages auprès du W3C.</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26110">
                <a:tc>
                  <a:txBody>
                    <a:bodyPr/>
                    <a:lstStyle/>
                    <a:p>
                      <a:pPr marL="0" indent="0">
                        <a:buFont typeface="Arial" panose="020B0604020202020204" pitchFamily="34" charset="0"/>
                        <a:buNone/>
                      </a:pPr>
                      <a:r>
                        <a:rPr lang="fr-FR" sz="1600" dirty="0" smtClean="0">
                          <a:solidFill>
                            <a:schemeClr val="tx1"/>
                          </a:solidFill>
                        </a:rPr>
                        <a:t>Vérifier que le code HTML des pages est bien formé.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Dans le cas contraire, le navigateur corrigera dynamiquement un certain nombre d’éléments pour afficher au mieux les pages posant problème.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Ces corrections dynamiques consomment inutilement des ressources à chaque chargement des pages concernées.</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Le nombre d'erreurs critiques</a:t>
                      </a:r>
                      <a:r>
                        <a:rPr lang="fr-FR" sz="1600" baseline="0" dirty="0" smtClean="0">
                          <a:solidFill>
                            <a:schemeClr val="tx1"/>
                          </a:solidFill>
                        </a:rPr>
                        <a:t> </a:t>
                      </a:r>
                      <a:r>
                        <a:rPr lang="fr-FR" sz="1600" dirty="0" smtClean="0">
                          <a:solidFill>
                            <a:schemeClr val="tx1"/>
                          </a:solidFill>
                        </a:rPr>
                        <a:t>est inférieur ou égal à 0.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0"/>
          <a:ext cx="6094196" cy="1112518"/>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59">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59">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Haute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a:t>
                      </a:r>
                    </a:p>
                    <a:p>
                      <a:r>
                        <a:rPr lang="fr-FR" sz="1400" b="0" dirty="0" smtClean="0">
                          <a:solidFill>
                            <a:srgbClr val="2F5597"/>
                          </a:solidFill>
                        </a:rPr>
                        <a:t>Valider les pages auprès du W3C</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433288894"/>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796821898"/>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11809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77/Privilégier HTTP/2 à HTTP/1 </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857674">
                <a:tc>
                  <a:txBody>
                    <a:bodyPr/>
                    <a:lstStyle/>
                    <a:p>
                      <a:pPr marL="0" indent="0">
                        <a:buFont typeface="Arial" panose="020B0604020202020204" pitchFamily="34" charset="0"/>
                        <a:buNone/>
                      </a:pPr>
                      <a:r>
                        <a:rPr lang="fr-FR" sz="1600" dirty="0" smtClean="0">
                          <a:solidFill>
                            <a:schemeClr val="tx1"/>
                          </a:solidFill>
                        </a:rPr>
                        <a:t>Le protocole HTTP/2 a troqué la représentation textuelle des requêtes et réponses pour une représentation binaire avec un mécanisme de compression des entêtes HTTP (HPACK).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Il permet aussi le multiplexage des échanges, permettant de n'utiliser qu'une seule connexion TCP (et donc un seul </a:t>
                      </a:r>
                      <a:r>
                        <a:rPr lang="fr-FR" sz="1600" dirty="0" err="1" smtClean="0">
                          <a:solidFill>
                            <a:schemeClr val="tx1"/>
                          </a:solidFill>
                        </a:rPr>
                        <a:t>handshake</a:t>
                      </a:r>
                      <a:r>
                        <a:rPr lang="fr-FR" sz="1600" dirty="0" smtClean="0">
                          <a:solidFill>
                            <a:schemeClr val="tx1"/>
                          </a:solidFill>
                        </a:rPr>
                        <a:t> TLS) avec le serveur, et ainsi tirer le meilleur avantage de HPACK.</a:t>
                      </a:r>
                      <a:endParaRPr lang="fr-FR" sz="1600" dirty="0">
                        <a:solidFill>
                          <a:schemeClr val="tx1"/>
                        </a:solidFill>
                      </a:endParaRPr>
                    </a:p>
                  </a:txBody>
                  <a:tcPr/>
                </a:tc>
                <a:tc>
                  <a:txBody>
                    <a:bodyPr/>
                    <a:lstStyle/>
                    <a:p>
                      <a:r>
                        <a:rPr lang="fr-FR" sz="1600" dirty="0" smtClean="0">
                          <a:solidFill>
                            <a:schemeClr val="tx1"/>
                          </a:solidFill>
                        </a:rPr>
                        <a:t>Le nombre de requêtes utilisant HTTP/1</a:t>
                      </a:r>
                      <a:r>
                        <a:rPr lang="fr-FR" sz="1600" baseline="0" dirty="0" smtClean="0">
                          <a:solidFill>
                            <a:schemeClr val="tx1"/>
                          </a:solidFill>
                        </a:rPr>
                        <a:t> </a:t>
                      </a:r>
                      <a:r>
                        <a:rPr lang="fr-FR" sz="1600" dirty="0" smtClean="0">
                          <a:solidFill>
                            <a:schemeClr val="tx1"/>
                          </a:solidFill>
                        </a:rPr>
                        <a:t>est inférieur ou égal à 0.</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Haute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a:t>
                      </a:r>
                    </a:p>
                    <a:p>
                      <a:r>
                        <a:rPr lang="fr-FR" sz="1400" b="0" dirty="0" smtClean="0">
                          <a:solidFill>
                            <a:srgbClr val="2F5597"/>
                          </a:solidFill>
                        </a:rPr>
                        <a:t>Privilégier HTTP/2 à HTTP/1</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4264120337"/>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249298467"/>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87328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78/Mettre en place un « Circuit </a:t>
                      </a:r>
                      <a:r>
                        <a:rPr lang="fr-FR" sz="1800" b="1" u="sng" kern="1200" dirty="0" err="1" smtClean="0">
                          <a:solidFill>
                            <a:schemeClr val="bg1"/>
                          </a:solidFill>
                          <a:latin typeface="+mn-lt"/>
                          <a:ea typeface="+mn-ea"/>
                          <a:cs typeface="+mn-cs"/>
                        </a:rPr>
                        <a:t>breaker</a:t>
                      </a:r>
                      <a:r>
                        <a:rPr lang="fr-FR" sz="1800" b="1" u="sng" kern="1200" dirty="0" smtClean="0">
                          <a:solidFill>
                            <a:schemeClr val="bg1"/>
                          </a:solidFill>
                          <a:latin typeface="+mn-lt"/>
                          <a:ea typeface="+mn-ea"/>
                          <a:cs typeface="+mn-cs"/>
                        </a:rPr>
                        <a:t> ».   </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102475">
                <a:tc>
                  <a:txBody>
                    <a:bodyPr/>
                    <a:lstStyle/>
                    <a:p>
                      <a:pPr marL="0" indent="0">
                        <a:buFont typeface="Arial" panose="020B0604020202020204" pitchFamily="34" charset="0"/>
                        <a:buNone/>
                      </a:pPr>
                      <a:r>
                        <a:rPr lang="fr-FR" sz="1600" dirty="0" smtClean="0">
                          <a:solidFill>
                            <a:schemeClr val="tx1"/>
                          </a:solidFill>
                        </a:rPr>
                        <a:t>Un « circuit </a:t>
                      </a:r>
                      <a:r>
                        <a:rPr lang="fr-FR" sz="1600" dirty="0" err="1" smtClean="0">
                          <a:solidFill>
                            <a:schemeClr val="tx1"/>
                          </a:solidFill>
                        </a:rPr>
                        <a:t>breaker</a:t>
                      </a:r>
                      <a:r>
                        <a:rPr lang="fr-FR" sz="1600" dirty="0" smtClean="0">
                          <a:solidFill>
                            <a:schemeClr val="tx1"/>
                          </a:solidFill>
                        </a:rPr>
                        <a:t> » casse le traitement d'une requête à travers plusieurs services dans le cas où un des services ne répond pas.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Des requêtes provenant des terminaux utilisateurs peuvent solliciter des services utiles et aussi pour lesquels un mode dégradé est acceptable. Ils sont qualifiés de non critiques.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En fonction d’un certain nombre de critères d’erreur (timeout, nombre d’erreurs), le service appelant un service non critique peut désactiver cet appel et renvoyer immédiatement une réponse alternative.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Ce pattern permet de ne pas solliciter inutilement un service et le réseau.</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Le nombre de « circuit </a:t>
                      </a:r>
                      <a:r>
                        <a:rPr lang="fr-FR" sz="1600" dirty="0" err="1" smtClean="0">
                          <a:solidFill>
                            <a:schemeClr val="tx1"/>
                          </a:solidFill>
                        </a:rPr>
                        <a:t>breakers</a:t>
                      </a:r>
                      <a:r>
                        <a:rPr lang="fr-FR" sz="1600" dirty="0" smtClean="0">
                          <a:solidFill>
                            <a:schemeClr val="tx1"/>
                          </a:solidFill>
                        </a:rPr>
                        <a:t> » non mis en place sur des services non critiques</a:t>
                      </a:r>
                      <a:r>
                        <a:rPr lang="fr-FR" sz="1600" baseline="0" dirty="0" smtClean="0">
                          <a:solidFill>
                            <a:schemeClr val="tx1"/>
                          </a:solidFill>
                        </a:rPr>
                        <a:t> </a:t>
                      </a:r>
                      <a:r>
                        <a:rPr lang="fr-FR" sz="1600" dirty="0" smtClean="0">
                          <a:solidFill>
                            <a:schemeClr val="tx1"/>
                          </a:solidFill>
                        </a:rPr>
                        <a:t>est inférieur ou égal à 0.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Faible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Faible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a:t>
                      </a:r>
                    </a:p>
                    <a:p>
                      <a:r>
                        <a:rPr lang="fr-FR" sz="1400" b="0" dirty="0" smtClean="0">
                          <a:solidFill>
                            <a:srgbClr val="2F5597"/>
                          </a:solidFill>
                        </a:rPr>
                        <a:t>Mettre en place un "Circuit </a:t>
                      </a:r>
                      <a:r>
                        <a:rPr lang="fr-FR" sz="1400" b="0" dirty="0" err="1" smtClean="0">
                          <a:solidFill>
                            <a:srgbClr val="2F5597"/>
                          </a:solidFill>
                        </a:rPr>
                        <a:t>breaker</a:t>
                      </a:r>
                      <a:r>
                        <a:rPr lang="fr-FR" sz="1400" b="0" dirty="0" smtClean="0">
                          <a:solidFill>
                            <a:srgbClr val="2F5597"/>
                          </a:solidFill>
                        </a:rPr>
                        <a:t>"</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84176705"/>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682179432"/>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907072">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79/Limiter le nombre d'appels aux API HTTP. </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68692">
                <a:tc>
                  <a:txBody>
                    <a:bodyPr/>
                    <a:lstStyle/>
                    <a:p>
                      <a:r>
                        <a:rPr lang="fr-FR" sz="1600" b="0" i="0" kern="1200" dirty="0" smtClean="0">
                          <a:solidFill>
                            <a:schemeClr val="dk1"/>
                          </a:solidFill>
                          <a:effectLst/>
                          <a:latin typeface="+mn-lt"/>
                          <a:ea typeface="+mn-ea"/>
                          <a:cs typeface="+mn-cs"/>
                        </a:rPr>
                        <a:t>En tant que fournisseur d'API (serveur), vous pouvez fixer des quotas afin d'inciter les utilisateurs à définir une stratégie de mise en cache des réponses et éviter des appels systématiques. </a:t>
                      </a:r>
                    </a:p>
                    <a:p>
                      <a:endParaRPr lang="fr-FR" sz="1600" b="0" i="0" kern="1200" dirty="0" smtClean="0">
                        <a:solidFill>
                          <a:schemeClr val="dk1"/>
                        </a:solidFill>
                        <a:effectLst/>
                        <a:latin typeface="+mn-lt"/>
                        <a:ea typeface="+mn-ea"/>
                        <a:cs typeface="+mn-cs"/>
                      </a:endParaRPr>
                    </a:p>
                    <a:p>
                      <a:r>
                        <a:rPr lang="fr-FR" sz="1600" b="0" i="0" kern="1200" dirty="0" smtClean="0">
                          <a:solidFill>
                            <a:schemeClr val="dk1"/>
                          </a:solidFill>
                          <a:effectLst/>
                          <a:latin typeface="+mn-lt"/>
                          <a:ea typeface="+mn-ea"/>
                          <a:cs typeface="+mn-cs"/>
                        </a:rPr>
                        <a:t>En tant qu'utilisateur d'API (client), vous devez mettre en cache les résultats obtenus afin de pouvoir les proposer à nouveau sans appeler systématiquement l'API HTTP.</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Le nombre de </a:t>
                      </a:r>
                      <a:r>
                        <a:rPr lang="fr-FR" sz="1600" dirty="0" err="1" smtClean="0">
                          <a:solidFill>
                            <a:schemeClr val="tx1"/>
                          </a:solidFill>
                        </a:rPr>
                        <a:t>endpoints</a:t>
                      </a:r>
                      <a:r>
                        <a:rPr lang="fr-FR" sz="1600" dirty="0" smtClean="0">
                          <a:solidFill>
                            <a:schemeClr val="tx1"/>
                          </a:solidFill>
                        </a:rPr>
                        <a:t> qui ne bénéficient pas d'une stratégie de cache pertinente</a:t>
                      </a:r>
                      <a:r>
                        <a:rPr lang="fr-FR" sz="1600" baseline="0" dirty="0" smtClean="0">
                          <a:solidFill>
                            <a:schemeClr val="tx1"/>
                          </a:solidFill>
                        </a:rPr>
                        <a:t> </a:t>
                      </a:r>
                      <a:r>
                        <a:rPr lang="fr-FR" sz="1600" dirty="0" smtClean="0">
                          <a:solidFill>
                            <a:schemeClr val="tx1"/>
                          </a:solidFill>
                        </a:rPr>
                        <a:t>est inférieur ou égal à 0.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a:t>
                      </a:r>
                    </a:p>
                    <a:p>
                      <a:r>
                        <a:rPr lang="fr-FR" sz="1400" b="0" dirty="0" smtClean="0">
                          <a:solidFill>
                            <a:srgbClr val="2F5597"/>
                          </a:solidFill>
                        </a:rPr>
                        <a:t>Limiter le nombre d'appels aux API HTTP</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517227807"/>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027371235"/>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296788">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80/Ne charger des données/du code que lorsqu'elles sont/il est nécessaire.</a:t>
                      </a:r>
                    </a:p>
                  </a:txBody>
                  <a:tcPr anchor="ctr">
                    <a:solidFill>
                      <a:srgbClr val="2F5597"/>
                    </a:solidFill>
                  </a:tcPr>
                </a:tc>
                <a:tc hMerge="1">
                  <a:txBody>
                    <a:bodyPr/>
                    <a:lstStyle/>
                    <a:p>
                      <a:pPr algn="ctr" rtl="0" fontAlgn="base"/>
                      <a:endParaRPr lang="fr-FR" sz="22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78976">
                <a:tc>
                  <a:txBody>
                    <a:bodyPr/>
                    <a:lstStyle/>
                    <a:p>
                      <a:r>
                        <a:rPr lang="fr-FR" sz="1600" b="0" i="0" kern="1200" dirty="0" smtClean="0">
                          <a:solidFill>
                            <a:schemeClr val="dk1"/>
                          </a:solidFill>
                          <a:effectLst/>
                          <a:latin typeface="+mn-lt"/>
                          <a:ea typeface="+mn-ea"/>
                          <a:cs typeface="+mn-cs"/>
                        </a:rPr>
                        <a:t>Pour des raisons de performance perçue, il peut être tentant de </a:t>
                      </a:r>
                      <a:r>
                        <a:rPr lang="fr-FR" sz="1600" b="0" i="0" kern="1200" dirty="0" err="1" smtClean="0">
                          <a:solidFill>
                            <a:schemeClr val="dk1"/>
                          </a:solidFill>
                          <a:effectLst/>
                          <a:latin typeface="+mn-lt"/>
                          <a:ea typeface="+mn-ea"/>
                          <a:cs typeface="+mn-cs"/>
                        </a:rPr>
                        <a:t>précharger</a:t>
                      </a:r>
                      <a:r>
                        <a:rPr lang="fr-FR" sz="1600" b="0" i="0" kern="1200" dirty="0" smtClean="0">
                          <a:solidFill>
                            <a:schemeClr val="dk1"/>
                          </a:solidFill>
                          <a:effectLst/>
                          <a:latin typeface="+mn-lt"/>
                          <a:ea typeface="+mn-ea"/>
                          <a:cs typeface="+mn-cs"/>
                        </a:rPr>
                        <a:t> des ressources qui </a:t>
                      </a:r>
                      <a:r>
                        <a:rPr lang="fr-FR" sz="1600" b="0" i="1" kern="1200" dirty="0" smtClean="0">
                          <a:solidFill>
                            <a:schemeClr val="dk1"/>
                          </a:solidFill>
                          <a:effectLst/>
                          <a:latin typeface="+mn-lt"/>
                          <a:ea typeface="+mn-ea"/>
                          <a:cs typeface="+mn-cs"/>
                        </a:rPr>
                        <a:t>pourraient</a:t>
                      </a:r>
                      <a:r>
                        <a:rPr lang="fr-FR" sz="1600" b="0" i="0" kern="1200" dirty="0" smtClean="0">
                          <a:solidFill>
                            <a:schemeClr val="dk1"/>
                          </a:solidFill>
                          <a:effectLst/>
                          <a:latin typeface="+mn-lt"/>
                          <a:ea typeface="+mn-ea"/>
                          <a:cs typeface="+mn-cs"/>
                        </a:rPr>
                        <a:t> être utilisées si une action spécifique est effectuée par l'utilisateur (y compris une navigation vers une autre page).</a:t>
                      </a:r>
                    </a:p>
                    <a:p>
                      <a:endParaRPr lang="fr-FR" sz="1600" b="0" i="0" kern="1200" dirty="0" smtClean="0">
                        <a:solidFill>
                          <a:schemeClr val="dk1"/>
                        </a:solidFill>
                        <a:effectLst/>
                        <a:latin typeface="+mn-lt"/>
                        <a:ea typeface="+mn-ea"/>
                        <a:cs typeface="+mn-cs"/>
                      </a:endParaRPr>
                    </a:p>
                    <a:p>
                      <a:r>
                        <a:rPr lang="fr-FR" sz="1600" b="0" i="0" kern="1200" dirty="0" smtClean="0">
                          <a:solidFill>
                            <a:schemeClr val="dk1"/>
                          </a:solidFill>
                          <a:effectLst/>
                          <a:latin typeface="+mn-lt"/>
                          <a:ea typeface="+mn-ea"/>
                          <a:cs typeface="+mn-cs"/>
                        </a:rPr>
                        <a:t>Mais si cette action n'est pas entreprise, ces </a:t>
                      </a:r>
                      <a:r>
                        <a:rPr lang="fr-FR" sz="1600" b="0" i="0" kern="1200" dirty="0" err="1" smtClean="0">
                          <a:solidFill>
                            <a:schemeClr val="dk1"/>
                          </a:solidFill>
                          <a:effectLst/>
                          <a:latin typeface="+mn-lt"/>
                          <a:ea typeface="+mn-ea"/>
                          <a:cs typeface="+mn-cs"/>
                        </a:rPr>
                        <a:t>préchargements</a:t>
                      </a:r>
                      <a:r>
                        <a:rPr lang="fr-FR" sz="1600" b="0" i="0" kern="1200" dirty="0" smtClean="0">
                          <a:solidFill>
                            <a:schemeClr val="dk1"/>
                          </a:solidFill>
                          <a:effectLst/>
                          <a:latin typeface="+mn-lt"/>
                          <a:ea typeface="+mn-ea"/>
                          <a:cs typeface="+mn-cs"/>
                        </a:rPr>
                        <a:t> n'auront servi qu'à gaspiller des ressources.</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Le nombre</a:t>
                      </a:r>
                      <a:r>
                        <a:rPr lang="fr-FR" sz="1600" baseline="0" dirty="0" smtClean="0">
                          <a:solidFill>
                            <a:schemeClr val="tx1"/>
                          </a:solidFill>
                        </a:rPr>
                        <a:t> </a:t>
                      </a:r>
                      <a:r>
                        <a:rPr lang="fr-FR" sz="1600" dirty="0" smtClean="0">
                          <a:solidFill>
                            <a:schemeClr val="tx1"/>
                          </a:solidFill>
                        </a:rPr>
                        <a:t>de ressources chargées qui ne sont pas immédiatement utilisées est inférieur ou égal à 0.</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a:t>
                      </a:r>
                    </a:p>
                    <a:p>
                      <a:r>
                        <a:rPr lang="fr-FR" sz="1400" b="0" dirty="0" smtClean="0">
                          <a:solidFill>
                            <a:srgbClr val="2F5597"/>
                          </a:solidFill>
                        </a:rPr>
                        <a:t>Ne charger des données/du code que lorsqu'elles sont/il est nécessaire</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131457173"/>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409326402"/>
              </p:ext>
            </p:extLst>
          </p:nvPr>
        </p:nvGraphicFramePr>
        <p:xfrm>
          <a:off x="1" y="1112520"/>
          <a:ext cx="12193236" cy="4975764"/>
        </p:xfrm>
        <a:graphic>
          <a:graphicData uri="http://schemas.openxmlformats.org/drawingml/2006/table">
            <a:tbl>
              <a:tblPr firstRow="1" bandRow="1">
                <a:tableStyleId>{5C22544A-7EE6-4342-B048-85BDC9FD1C3A}</a:tableStyleId>
              </a:tblPr>
              <a:tblGrid>
                <a:gridCol w="6101286">
                  <a:extLst>
                    <a:ext uri="{9D8B030D-6E8A-4147-A177-3AD203B41FA5}">
                      <a16:colId xmlns:a16="http://schemas.microsoft.com/office/drawing/2014/main" val="1470604376"/>
                    </a:ext>
                  </a:extLst>
                </a:gridCol>
                <a:gridCol w="6091950">
                  <a:extLst>
                    <a:ext uri="{9D8B030D-6E8A-4147-A177-3AD203B41FA5}">
                      <a16:colId xmlns:a16="http://schemas.microsoft.com/office/drawing/2014/main" val="588129664"/>
                    </a:ext>
                  </a:extLst>
                </a:gridCol>
              </a:tblGrid>
              <a:tr h="119506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81/</a:t>
                      </a:r>
                      <a:r>
                        <a:rPr lang="fr-FR" sz="1800" b="1" u="sng" kern="1200" dirty="0" err="1" smtClean="0">
                          <a:solidFill>
                            <a:schemeClr val="bg1"/>
                          </a:solidFill>
                          <a:latin typeface="+mn-lt"/>
                          <a:ea typeface="+mn-ea"/>
                          <a:cs typeface="+mn-cs"/>
                        </a:rPr>
                        <a:t>Minifier</a:t>
                      </a:r>
                      <a:r>
                        <a:rPr lang="fr-FR" sz="1800" b="1" u="sng" kern="1200" dirty="0" smtClean="0">
                          <a:solidFill>
                            <a:schemeClr val="bg1"/>
                          </a:solidFill>
                          <a:latin typeface="+mn-lt"/>
                          <a:ea typeface="+mn-ea"/>
                          <a:cs typeface="+mn-cs"/>
                        </a:rPr>
                        <a:t> les fichiers CSS, JavaScript, HTML et SVG. </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780695">
                <a:tc>
                  <a:txBody>
                    <a:bodyPr/>
                    <a:lstStyle/>
                    <a:p>
                      <a:pPr marL="0" indent="0">
                        <a:buFont typeface="Arial" panose="020B0604020202020204" pitchFamily="34" charset="0"/>
                        <a:buNone/>
                      </a:pPr>
                      <a:r>
                        <a:rPr lang="fr-FR" sz="1600" dirty="0" smtClean="0">
                          <a:solidFill>
                            <a:schemeClr val="tx1"/>
                          </a:solidFill>
                        </a:rPr>
                        <a:t>Utiliser un outil de </a:t>
                      </a:r>
                      <a:r>
                        <a:rPr lang="fr-FR" sz="1600" dirty="0" err="1" smtClean="0">
                          <a:solidFill>
                            <a:schemeClr val="tx1"/>
                          </a:solidFill>
                        </a:rPr>
                        <a:t>minification</a:t>
                      </a:r>
                      <a:r>
                        <a:rPr lang="fr-FR" sz="1600" dirty="0" smtClean="0">
                          <a:solidFill>
                            <a:schemeClr val="tx1"/>
                          </a:solidFill>
                        </a:rPr>
                        <a:t> CSS, </a:t>
                      </a:r>
                      <a:r>
                        <a:rPr lang="fr-FR" sz="1600" dirty="0" err="1" smtClean="0">
                          <a:solidFill>
                            <a:schemeClr val="tx1"/>
                          </a:solidFill>
                        </a:rPr>
                        <a:t>Javascript</a:t>
                      </a:r>
                      <a:r>
                        <a:rPr lang="fr-FR" sz="1600" dirty="0" smtClean="0">
                          <a:solidFill>
                            <a:schemeClr val="tx1"/>
                          </a:solidFill>
                        </a:rPr>
                        <a:t>, HTML et SVG permet de supprimer les espaces inutiles, les commentaires des développeurs, les sauts de ligne, les délimiteurs de blocs et ainsi réduire leur taille.</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Le nombre de fichiers CSS, JavaScript, HTML et SVG non </a:t>
                      </a:r>
                      <a:r>
                        <a:rPr lang="fr-FR" sz="1600" dirty="0" err="1" smtClean="0">
                          <a:solidFill>
                            <a:schemeClr val="tx1"/>
                          </a:solidFill>
                        </a:rPr>
                        <a:t>minifiés</a:t>
                      </a:r>
                      <a:r>
                        <a:rPr lang="fr-FR" sz="1600" dirty="0" smtClean="0">
                          <a:solidFill>
                            <a:schemeClr val="tx1"/>
                          </a:solidFill>
                        </a:rPr>
                        <a:t> est inférieur ou égal à 0. </a:t>
                      </a:r>
                    </a:p>
                    <a:p>
                      <a:r>
                        <a:rPr lang="fr-FR" sz="1600" dirty="0" smtClean="0">
                          <a:solidFill>
                            <a:schemeClr val="tx1"/>
                          </a:solidFill>
                        </a:rPr>
                        <a:t> </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a:t>
                      </a:r>
                    </a:p>
                    <a:p>
                      <a:r>
                        <a:rPr lang="fr-FR" sz="1400" b="0" dirty="0" err="1" smtClean="0">
                          <a:solidFill>
                            <a:srgbClr val="2F5597"/>
                          </a:solidFill>
                        </a:rPr>
                        <a:t>Minifier</a:t>
                      </a:r>
                      <a:r>
                        <a:rPr lang="fr-FR" sz="1400" b="0" dirty="0" smtClean="0">
                          <a:solidFill>
                            <a:srgbClr val="2F5597"/>
                          </a:solidFill>
                        </a:rPr>
                        <a:t> les fichiers CSS, JavaScript, HTML et SVG</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057325653"/>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897695187"/>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176323">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82/Compresser les fichiers CSS, JavaScript, HTML et SVG.</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799441">
                <a:tc>
                  <a:txBody>
                    <a:bodyPr/>
                    <a:lstStyle/>
                    <a:p>
                      <a:pPr marL="0" indent="0">
                        <a:buFont typeface="Arial" panose="020B0604020202020204" pitchFamily="34" charset="0"/>
                        <a:buNone/>
                      </a:pPr>
                      <a:r>
                        <a:rPr lang="fr-FR" sz="1600" dirty="0" smtClean="0">
                          <a:solidFill>
                            <a:schemeClr val="tx1"/>
                          </a:solidFill>
                        </a:rPr>
                        <a:t>Compresser les feuilles de style CSS, les bibliothèques JavaScript ainsi que les fichiers HTML pour limiter l’utilisation de la bande passante et améliorer les temps de chargement. L’algorithme GZIP est un standard de la compression coté serveur, il permet de compresser à la volée les ressources avant de les envoyer aux clients. Plus récemment, BROTLI a été popularisé avec des performances accrues, il est supporté par tous les navigateurs les plus répandus.</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Le nombre de fichiers CSS, JavaScript, HTML et SVG non compressés</a:t>
                      </a:r>
                      <a:r>
                        <a:rPr lang="fr-FR" sz="1600" baseline="0" dirty="0" smtClean="0">
                          <a:solidFill>
                            <a:schemeClr val="tx1"/>
                          </a:solidFill>
                        </a:rPr>
                        <a:t> </a:t>
                      </a:r>
                      <a:r>
                        <a:rPr lang="fr-FR" sz="1600" dirty="0" smtClean="0">
                          <a:solidFill>
                            <a:schemeClr val="tx1"/>
                          </a:solidFill>
                        </a:rPr>
                        <a:t>est inférieur ou égal à 0.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a:t>
                      </a:r>
                    </a:p>
                    <a:p>
                      <a:r>
                        <a:rPr lang="fr-FR" sz="1400" b="0" dirty="0" smtClean="0">
                          <a:solidFill>
                            <a:srgbClr val="2F5597"/>
                          </a:solidFill>
                        </a:rPr>
                        <a:t>Compresser les fichiers CSS, JavaScript, HTML et SVG</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90285361"/>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4212003165"/>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4756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83/Limiter le nombre de CSS. </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28200">
                <a:tc>
                  <a:txBody>
                    <a:bodyPr/>
                    <a:lstStyle/>
                    <a:p>
                      <a:pPr marL="0" indent="0">
                        <a:buFont typeface="Arial" panose="020B0604020202020204" pitchFamily="34" charset="0"/>
                        <a:buNone/>
                      </a:pPr>
                      <a:r>
                        <a:rPr lang="fr-FR" sz="1600" dirty="0" smtClean="0">
                          <a:solidFill>
                            <a:schemeClr val="tx1"/>
                          </a:solidFill>
                        </a:rPr>
                        <a:t>Limiter le nombre de CSS pour ne pas multiplier les requêtes HTTP et pour simplifier le rendu côté navigateur. Utiliser une feuille de style commune pour tous les éléments communs, quel que soit l'affichage, et un fichier par résolution cible ou media </a:t>
                      </a:r>
                      <a:r>
                        <a:rPr lang="fr-FR" sz="1600" dirty="0" err="1" smtClean="0">
                          <a:solidFill>
                            <a:schemeClr val="tx1"/>
                          </a:solidFill>
                        </a:rPr>
                        <a:t>querie</a:t>
                      </a:r>
                      <a:r>
                        <a:rPr lang="fr-FR" sz="1600" dirty="0" smtClean="0">
                          <a:solidFill>
                            <a:schemeClr val="tx1"/>
                          </a:solidFill>
                        </a:rPr>
                        <a:t>. Attention, intégrer ces fichiers directement dans le code HTML et NON PAS avec des directives @import dans les fichiers CSS eux-mêmes.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Le nombre de fichiers CSS</a:t>
                      </a:r>
                      <a:r>
                        <a:rPr lang="fr-FR" sz="1600" baseline="0" dirty="0" smtClean="0">
                          <a:solidFill>
                            <a:schemeClr val="tx1"/>
                          </a:solidFill>
                        </a:rPr>
                        <a:t> </a:t>
                      </a:r>
                      <a:r>
                        <a:rPr lang="fr-FR" sz="1600" dirty="0" smtClean="0">
                          <a:solidFill>
                            <a:schemeClr val="tx1"/>
                          </a:solidFill>
                        </a:rPr>
                        <a:t>est inférieur ou égal à 10.</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Haute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a:t>
                      </a:r>
                    </a:p>
                    <a:p>
                      <a:r>
                        <a:rPr lang="fr-FR" sz="1400" b="0" dirty="0" smtClean="0">
                          <a:solidFill>
                            <a:srgbClr val="2F5597"/>
                          </a:solidFill>
                        </a:rPr>
                        <a:t>Limiter le nombre de CSS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709022004"/>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899221772"/>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176292">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84/Préférer les CSS aux images.</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799472">
                <a:tc>
                  <a:txBody>
                    <a:bodyPr/>
                    <a:lstStyle/>
                    <a:p>
                      <a:pPr marL="0" indent="0">
                        <a:buFont typeface="Arial" panose="020B0604020202020204" pitchFamily="34" charset="0"/>
                        <a:buNone/>
                      </a:pPr>
                      <a:r>
                        <a:rPr lang="fr-FR" sz="1600" dirty="0" smtClean="0">
                          <a:solidFill>
                            <a:schemeClr val="tx1"/>
                          </a:solidFill>
                        </a:rPr>
                        <a:t>Utiliser les propriétés CSS à la place d’images. En effet, le poids d’une feuille de styles est bien plus faible, surtout si elle est compressée. En outre, l’appel d’une feuille de styles ne génère qu’une seule requête HTTP, contre un grand nombre si l’on emploie beaucoup d’images (une requête HTTP pour chaque image).</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Exemple : Les coins arrondis, les bordures décorées, les effets de filtre des éléments doivent être gérés en CSS plutôt qu’avec des images.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Le nombre d'images qui auraient pu être remplacées par des CSS</a:t>
                      </a:r>
                      <a:r>
                        <a:rPr lang="fr-FR" sz="1600" baseline="0" dirty="0" smtClean="0">
                          <a:solidFill>
                            <a:schemeClr val="tx1"/>
                          </a:solidFill>
                        </a:rPr>
                        <a:t> </a:t>
                      </a:r>
                      <a:r>
                        <a:rPr lang="fr-FR" sz="1600" dirty="0" smtClean="0">
                          <a:solidFill>
                            <a:schemeClr val="tx1"/>
                          </a:solidFill>
                        </a:rPr>
                        <a:t>est inférieur ou égal à 0.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Faible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a:t>
                      </a:r>
                    </a:p>
                    <a:p>
                      <a:r>
                        <a:rPr lang="fr-FR" sz="1400" b="0" dirty="0" smtClean="0">
                          <a:solidFill>
                            <a:srgbClr val="2F5597"/>
                          </a:solidFill>
                        </a:rPr>
                        <a:t>Préférer les CSS aux images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4019068359"/>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247464212"/>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881787">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85/Écrire des sélecteurs CSS efficaces. </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93977">
                <a:tc>
                  <a:txBody>
                    <a:bodyPr/>
                    <a:lstStyle/>
                    <a:p>
                      <a:pPr marL="0" indent="0">
                        <a:buFont typeface="Arial" panose="020B0604020202020204" pitchFamily="34" charset="0"/>
                        <a:buNone/>
                      </a:pPr>
                      <a:r>
                        <a:rPr lang="fr-FR" sz="1600" dirty="0" smtClean="0">
                          <a:solidFill>
                            <a:schemeClr val="tx1"/>
                          </a:solidFill>
                        </a:rPr>
                        <a:t>Privilégier les sélecteurs basés sur des ID ou des classes. Ils seront ainsi filtrés plus rapidement, économisant des cycles CPU à la machine interprétant les règles.</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Le nombre de sélecteurs CSS qui n'utilisent ni d‘ID, ni de class et ni d'attribut</a:t>
                      </a:r>
                      <a:r>
                        <a:rPr lang="fr-FR" sz="1600" baseline="0" dirty="0" smtClean="0">
                          <a:solidFill>
                            <a:schemeClr val="tx1"/>
                          </a:solidFill>
                        </a:rPr>
                        <a:t> </a:t>
                      </a:r>
                      <a:r>
                        <a:rPr lang="fr-FR" sz="1600" dirty="0" smtClean="0">
                          <a:solidFill>
                            <a:schemeClr val="tx1"/>
                          </a:solidFill>
                        </a:rPr>
                        <a:t>est inférieur ou égal à 0.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a:t>
                      </a:r>
                    </a:p>
                    <a:p>
                      <a:r>
                        <a:rPr lang="fr-FR" sz="1400" b="0" dirty="0" smtClean="0">
                          <a:solidFill>
                            <a:srgbClr val="2F5597"/>
                          </a:solidFill>
                        </a:rPr>
                        <a:t>Écrire des sélecteurs CSS efficaces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615693248"/>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4176750274"/>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41148">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86/Grouper les déclarations CSS similaires.</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34616">
                <a:tc>
                  <a:txBody>
                    <a:bodyPr/>
                    <a:lstStyle/>
                    <a:p>
                      <a:pPr marL="0" indent="0">
                        <a:buFont typeface="Arial" panose="020B0604020202020204" pitchFamily="34" charset="0"/>
                        <a:buNone/>
                      </a:pPr>
                      <a:r>
                        <a:rPr lang="fr-FR" sz="1600" dirty="0" smtClean="0">
                          <a:solidFill>
                            <a:schemeClr val="tx1"/>
                          </a:solidFill>
                        </a:rPr>
                        <a:t>Lorsque plusieurs éléments du DOM (Document Object Model) ont des propriétés CSS communes, les déclarer ensemble dans la même feuille de styles. Cette méthode permet de réduire le poids de la CSS.</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Si vous souhaitez vous assurer que cette règle est bien respectée, vous pouvez mettre en place le module </a:t>
                      </a:r>
                      <a:r>
                        <a:rPr lang="fr-FR" sz="1600" dirty="0" err="1" smtClean="0">
                          <a:solidFill>
                            <a:schemeClr val="tx1"/>
                          </a:solidFill>
                        </a:rPr>
                        <a:t>stylelint</a:t>
                      </a:r>
                      <a:r>
                        <a:rPr lang="fr-FR" sz="1600" dirty="0" smtClean="0">
                          <a:solidFill>
                            <a:schemeClr val="tx1"/>
                          </a:solidFill>
                        </a:rPr>
                        <a:t> dans votre projet (</a:t>
                      </a:r>
                      <a:r>
                        <a:rPr lang="fr-FR" sz="1600" dirty="0" err="1" smtClean="0">
                          <a:solidFill>
                            <a:schemeClr val="tx1"/>
                          </a:solidFill>
                        </a:rPr>
                        <a:t>devDependencies</a:t>
                      </a:r>
                      <a:r>
                        <a:rPr lang="fr-FR" sz="1600" dirty="0" smtClean="0">
                          <a:solidFill>
                            <a:schemeClr val="tx1"/>
                          </a:solidFill>
                        </a:rPr>
                        <a:t>) et utiliser la règle </a:t>
                      </a:r>
                      <a:r>
                        <a:rPr lang="fr-FR" sz="1600" dirty="0" err="1" smtClean="0">
                          <a:solidFill>
                            <a:schemeClr val="tx1"/>
                          </a:solidFill>
                        </a:rPr>
                        <a:t>shorthand</a:t>
                      </a:r>
                      <a:r>
                        <a:rPr lang="fr-FR" sz="1600" dirty="0" smtClean="0">
                          <a:solidFill>
                            <a:schemeClr val="tx1"/>
                          </a:solidFill>
                        </a:rPr>
                        <a:t>-</a:t>
                      </a:r>
                      <a:r>
                        <a:rPr lang="fr-FR" sz="1600" dirty="0" err="1" smtClean="0">
                          <a:solidFill>
                            <a:schemeClr val="tx1"/>
                          </a:solidFill>
                        </a:rPr>
                        <a:t>property</a:t>
                      </a:r>
                      <a:r>
                        <a:rPr lang="fr-FR" sz="1600" dirty="0" smtClean="0">
                          <a:solidFill>
                            <a:schemeClr val="tx1"/>
                          </a:solidFill>
                        </a:rPr>
                        <a:t>-no-</a:t>
                      </a:r>
                      <a:r>
                        <a:rPr lang="fr-FR" sz="1600" dirty="0" err="1" smtClean="0">
                          <a:solidFill>
                            <a:schemeClr val="tx1"/>
                          </a:solidFill>
                        </a:rPr>
                        <a:t>redundant</a:t>
                      </a:r>
                      <a:r>
                        <a:rPr lang="fr-FR" sz="1600" dirty="0" smtClean="0">
                          <a:solidFill>
                            <a:schemeClr val="tx1"/>
                          </a:solidFill>
                        </a:rPr>
                        <a:t>-values.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Vous trouverez la liste complète de ces propriétés raccourcies sur le site MDN.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Le nombre de déclarations CSS similaires non regroupées</a:t>
                      </a:r>
                      <a:r>
                        <a:rPr lang="fr-FR" sz="1600" baseline="0" dirty="0" smtClean="0">
                          <a:solidFill>
                            <a:schemeClr val="tx1"/>
                          </a:solidFill>
                        </a:rPr>
                        <a:t> </a:t>
                      </a:r>
                      <a:r>
                        <a:rPr lang="fr-FR" sz="1600" dirty="0" smtClean="0">
                          <a:solidFill>
                            <a:schemeClr val="tx1"/>
                          </a:solidFill>
                        </a:rPr>
                        <a:t>est inférieur ou égal à 1.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a:t>
                      </a:r>
                    </a:p>
                    <a:p>
                      <a:r>
                        <a:rPr lang="fr-FR" sz="1400" b="0" dirty="0" smtClean="0">
                          <a:solidFill>
                            <a:srgbClr val="2F5597"/>
                          </a:solidFill>
                        </a:rPr>
                        <a:t>Grouper les déclarations CSS similaires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641542792"/>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877064674"/>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8">
                  <a:extLst>
                    <a:ext uri="{9D8B030D-6E8A-4147-A177-3AD203B41FA5}">
                      <a16:colId xmlns:a16="http://schemas.microsoft.com/office/drawing/2014/main" val="1470604376"/>
                    </a:ext>
                  </a:extLst>
                </a:gridCol>
                <a:gridCol w="6091332">
                  <a:extLst>
                    <a:ext uri="{9D8B030D-6E8A-4147-A177-3AD203B41FA5}">
                      <a16:colId xmlns:a16="http://schemas.microsoft.com/office/drawing/2014/main" val="588129664"/>
                    </a:ext>
                  </a:extLst>
                </a:gridCol>
              </a:tblGrid>
              <a:tr h="117448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87/Utiliser les notations CSS abrégées.</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801280">
                <a:tc>
                  <a:txBody>
                    <a:bodyPr/>
                    <a:lstStyle/>
                    <a:p>
                      <a:pPr marL="0" indent="0">
                        <a:buFont typeface="Arial" panose="020B0604020202020204" pitchFamily="34" charset="0"/>
                        <a:buNone/>
                      </a:pPr>
                      <a:r>
                        <a:rPr lang="fr-FR" sz="1600" dirty="0" smtClean="0">
                          <a:solidFill>
                            <a:schemeClr val="tx1"/>
                          </a:solidFill>
                        </a:rPr>
                        <a:t>Utiliser les notations CSS abrégées pour réduire le poids de la feuille de styles. </a:t>
                      </a:r>
                    </a:p>
                  </a:txBody>
                  <a:tcPr/>
                </a:tc>
                <a:tc>
                  <a:txBody>
                    <a:bodyPr/>
                    <a:lstStyle/>
                    <a:p>
                      <a:r>
                        <a:rPr lang="fr-FR" sz="1600" dirty="0" smtClean="0">
                          <a:solidFill>
                            <a:schemeClr val="tx1"/>
                          </a:solidFill>
                        </a:rPr>
                        <a:t>Le nombre de notations CSS non abrégées</a:t>
                      </a:r>
                      <a:r>
                        <a:rPr lang="fr-FR" sz="1600" baseline="0" dirty="0" smtClean="0">
                          <a:solidFill>
                            <a:schemeClr val="tx1"/>
                          </a:solidFill>
                        </a:rPr>
                        <a:t> </a:t>
                      </a:r>
                      <a:r>
                        <a:rPr lang="fr-FR" sz="1600" dirty="0" smtClean="0">
                          <a:solidFill>
                            <a:schemeClr val="tx1"/>
                          </a:solidFill>
                        </a:rPr>
                        <a:t>est inférieur ou égal à 0 %.</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Faible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a:t>
                      </a:r>
                    </a:p>
                    <a:p>
                      <a:r>
                        <a:rPr lang="fr-FR" sz="1400" b="0" dirty="0" smtClean="0">
                          <a:solidFill>
                            <a:srgbClr val="2F5597"/>
                          </a:solidFill>
                        </a:rPr>
                        <a:t>Utiliser les notations CSS abrégées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792259942"/>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8004175"/>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122177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88/N'utilisez que les portions indispensables des bibliothèques JavaScript et </a:t>
                      </a:r>
                      <a:r>
                        <a:rPr lang="fr-FR" sz="1800" b="1" u="sng" kern="1200" dirty="0" err="1" smtClean="0">
                          <a:solidFill>
                            <a:schemeClr val="bg1"/>
                          </a:solidFill>
                          <a:latin typeface="+mn-lt"/>
                          <a:ea typeface="+mn-ea"/>
                          <a:cs typeface="+mn-cs"/>
                        </a:rPr>
                        <a:t>frameworks</a:t>
                      </a:r>
                      <a:r>
                        <a:rPr lang="fr-FR" sz="1800" b="1" u="sng" kern="1200" dirty="0" smtClean="0">
                          <a:solidFill>
                            <a:schemeClr val="bg1"/>
                          </a:solidFill>
                          <a:latin typeface="+mn-lt"/>
                          <a:ea typeface="+mn-ea"/>
                          <a:cs typeface="+mn-cs"/>
                        </a:rPr>
                        <a:t> CSS. </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753990">
                <a:tc>
                  <a:txBody>
                    <a:bodyPr/>
                    <a:lstStyle/>
                    <a:p>
                      <a:pPr marL="0" indent="0">
                        <a:buFont typeface="Arial" panose="020B0604020202020204" pitchFamily="34" charset="0"/>
                        <a:buNone/>
                      </a:pPr>
                      <a:r>
                        <a:rPr lang="fr-FR" sz="1600" dirty="0" smtClean="0">
                          <a:solidFill>
                            <a:schemeClr val="tx1"/>
                          </a:solidFill>
                        </a:rPr>
                        <a:t>Il est préférable de se passer de ces bibliothèques (voir https://youmightnotneedjquery.com) ou de n’en conserver que les portions réellement utilisées.</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Utiliser un </a:t>
                      </a:r>
                      <a:r>
                        <a:rPr lang="fr-FR" sz="1600" dirty="0" err="1" smtClean="0">
                          <a:solidFill>
                            <a:schemeClr val="tx1"/>
                          </a:solidFill>
                        </a:rPr>
                        <a:t>bundler</a:t>
                      </a:r>
                      <a:r>
                        <a:rPr lang="fr-FR" sz="1600" dirty="0" smtClean="0">
                          <a:solidFill>
                            <a:schemeClr val="tx1"/>
                          </a:solidFill>
                        </a:rPr>
                        <a:t> (ex: </a:t>
                      </a:r>
                      <a:r>
                        <a:rPr lang="fr-FR" sz="1600" dirty="0" err="1" smtClean="0">
                          <a:solidFill>
                            <a:schemeClr val="tx1"/>
                          </a:solidFill>
                        </a:rPr>
                        <a:t>Webpack</a:t>
                      </a:r>
                      <a:r>
                        <a:rPr lang="fr-FR" sz="1600" dirty="0" smtClean="0">
                          <a:solidFill>
                            <a:schemeClr val="tx1"/>
                          </a:solidFill>
                        </a:rPr>
                        <a:t>) permet de faire facilement du </a:t>
                      </a:r>
                      <a:r>
                        <a:rPr lang="fr-FR" sz="1600" dirty="0" err="1" smtClean="0">
                          <a:solidFill>
                            <a:schemeClr val="tx1"/>
                          </a:solidFill>
                        </a:rPr>
                        <a:t>tree</a:t>
                      </a:r>
                      <a:r>
                        <a:rPr lang="fr-FR" sz="1600" dirty="0" smtClean="0">
                          <a:solidFill>
                            <a:schemeClr val="tx1"/>
                          </a:solidFill>
                        </a:rPr>
                        <a:t> </a:t>
                      </a:r>
                      <a:r>
                        <a:rPr lang="fr-FR" sz="1600" dirty="0" err="1" smtClean="0">
                          <a:solidFill>
                            <a:schemeClr val="tx1"/>
                          </a:solidFill>
                        </a:rPr>
                        <a:t>shaking</a:t>
                      </a:r>
                      <a:r>
                        <a:rPr lang="fr-FR" sz="1600" dirty="0" smtClean="0">
                          <a:solidFill>
                            <a:schemeClr val="tx1"/>
                          </a:solidFill>
                        </a:rPr>
                        <a:t>, soit d'éliminer du code mort donc non utilisé.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Le nombre</a:t>
                      </a:r>
                      <a:r>
                        <a:rPr lang="fr-FR" sz="1600" baseline="0" dirty="0" smtClean="0">
                          <a:solidFill>
                            <a:schemeClr val="tx1"/>
                          </a:solidFill>
                        </a:rPr>
                        <a:t> </a:t>
                      </a:r>
                      <a:r>
                        <a:rPr lang="fr-FR" sz="1600" dirty="0" smtClean="0">
                          <a:solidFill>
                            <a:schemeClr val="tx1"/>
                          </a:solidFill>
                        </a:rPr>
                        <a:t>de bibliothèques dont des portions non indispensables sont utilisées</a:t>
                      </a:r>
                      <a:r>
                        <a:rPr lang="fr-FR" sz="1600" baseline="0" dirty="0" smtClean="0">
                          <a:solidFill>
                            <a:schemeClr val="tx1"/>
                          </a:solidFill>
                        </a:rPr>
                        <a:t> </a:t>
                      </a:r>
                      <a:r>
                        <a:rPr lang="fr-FR" sz="1600" dirty="0" smtClean="0">
                          <a:solidFill>
                            <a:schemeClr val="tx1"/>
                          </a:solidFill>
                        </a:rPr>
                        <a:t>est inférieur ou égal à 1.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Haute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a:t>
                      </a:r>
                    </a:p>
                    <a:p>
                      <a:r>
                        <a:rPr lang="fr-FR" sz="1400" b="0" dirty="0" smtClean="0">
                          <a:solidFill>
                            <a:srgbClr val="2F5597"/>
                          </a:solidFill>
                        </a:rPr>
                        <a:t>N'utilisez que les portions indispensables des bibliothèques JavaScript et </a:t>
                      </a:r>
                      <a:r>
                        <a:rPr lang="fr-FR" sz="1400" b="0" dirty="0" err="1" smtClean="0">
                          <a:solidFill>
                            <a:srgbClr val="2F5597"/>
                          </a:solidFill>
                        </a:rPr>
                        <a:t>frameworks</a:t>
                      </a:r>
                      <a:r>
                        <a:rPr lang="fr-FR" sz="1400" b="0" dirty="0" smtClean="0">
                          <a:solidFill>
                            <a:srgbClr val="2F5597"/>
                          </a:solidFill>
                        </a:rPr>
                        <a:t> CSS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687233776"/>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678490097"/>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144331">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89/Mettre en cache les objets souvent accédés en JavaScript.</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831433">
                <a:tc>
                  <a:txBody>
                    <a:bodyPr/>
                    <a:lstStyle/>
                    <a:p>
                      <a:pPr marL="0" indent="0">
                        <a:buFont typeface="Arial" panose="020B0604020202020204" pitchFamily="34" charset="0"/>
                        <a:buNone/>
                      </a:pPr>
                      <a:r>
                        <a:rPr lang="fr-FR" sz="1600" dirty="0" smtClean="0">
                          <a:solidFill>
                            <a:schemeClr val="tx1"/>
                          </a:solidFill>
                        </a:rPr>
                        <a:t>L’accès au DOM (Document Object Model) est coûteux en termes de ressources processeur (cycles CPU).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Aussi, lorsque vous utilisez plusieurs fois le même élément du DOM depuis JavaScript, stockez sa référence dans une variable afin de ne pas parcourir à nouveau le DOM pour ce même élément.</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Le nombre de données constantes (ou non volatiles) récupérés à plusieurs reprises sans être mises en cache</a:t>
                      </a:r>
                      <a:r>
                        <a:rPr lang="fr-FR" sz="1600" baseline="0" dirty="0" smtClean="0">
                          <a:solidFill>
                            <a:schemeClr val="tx1"/>
                          </a:solidFill>
                        </a:rPr>
                        <a:t> </a:t>
                      </a:r>
                      <a:r>
                        <a:rPr lang="fr-FR" sz="1600" dirty="0" smtClean="0">
                          <a:solidFill>
                            <a:schemeClr val="tx1"/>
                          </a:solidFill>
                        </a:rPr>
                        <a:t>est inférieur ou égal à 0.</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a:t>
                      </a:r>
                    </a:p>
                    <a:p>
                      <a:r>
                        <a:rPr lang="fr-FR" sz="1400" b="0" dirty="0" smtClean="0">
                          <a:solidFill>
                            <a:srgbClr val="2F5597"/>
                          </a:solidFill>
                        </a:rPr>
                        <a:t>Mettre en cache les objets souvent accédés en JavaScript</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620514614"/>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816824509"/>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87328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90/Recourir à un système de cache serveur pour les données les plus utilisées.</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102475">
                <a:tc>
                  <a:txBody>
                    <a:bodyPr/>
                    <a:lstStyle/>
                    <a:p>
                      <a:pPr marL="0" indent="0">
                        <a:buFont typeface="Arial" panose="020B0604020202020204" pitchFamily="34" charset="0"/>
                        <a:buNone/>
                      </a:pPr>
                      <a:r>
                        <a:rPr lang="fr-FR" sz="1600" dirty="0" smtClean="0">
                          <a:solidFill>
                            <a:schemeClr val="tx1"/>
                          </a:solidFill>
                        </a:rPr>
                        <a:t>Identifier les données, entrées API, ressources les plus utilisées à mettre en cache afin d’éviter de les</a:t>
                      </a:r>
                      <a:r>
                        <a:rPr lang="fr-FR" sz="1600" baseline="0" dirty="0" smtClean="0">
                          <a:solidFill>
                            <a:schemeClr val="tx1"/>
                          </a:solidFill>
                        </a:rPr>
                        <a:t> </a:t>
                      </a:r>
                      <a:r>
                        <a:rPr lang="fr-FR" sz="1600" dirty="0" smtClean="0">
                          <a:solidFill>
                            <a:schemeClr val="tx1"/>
                          </a:solidFill>
                        </a:rPr>
                        <a:t>régénérer.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Configurer une durée d’expiration pour les rafraîchir par exemple en invalidant automatiquement</a:t>
                      </a:r>
                      <a:r>
                        <a:rPr lang="fr-FR" sz="1600" baseline="0" dirty="0" smtClean="0">
                          <a:solidFill>
                            <a:schemeClr val="tx1"/>
                          </a:solidFill>
                        </a:rPr>
                        <a:t> </a:t>
                      </a:r>
                      <a:r>
                        <a:rPr lang="fr-FR" sz="1600" dirty="0" smtClean="0">
                          <a:solidFill>
                            <a:schemeClr val="tx1"/>
                          </a:solidFill>
                        </a:rPr>
                        <a:t>le cache après une durée déterminée ou en utilisant des mécanismes de purge du cache lorsqu'une mise à</a:t>
                      </a:r>
                    </a:p>
                    <a:p>
                      <a:pPr marL="0" indent="0">
                        <a:buFont typeface="Arial" panose="020B0604020202020204" pitchFamily="34" charset="0"/>
                        <a:buNone/>
                      </a:pPr>
                      <a:r>
                        <a:rPr lang="fr-FR" sz="1600" dirty="0" smtClean="0">
                          <a:solidFill>
                            <a:schemeClr val="tx1"/>
                          </a:solidFill>
                        </a:rPr>
                        <a:t>jour des données est effectuée.</a:t>
                      </a:r>
                      <a:endParaRPr lang="fr-FR" sz="1600" dirty="0">
                        <a:solidFill>
                          <a:schemeClr val="tx1"/>
                        </a:solidFill>
                      </a:endParaRPr>
                    </a:p>
                  </a:txBody>
                  <a:tcPr/>
                </a:tc>
                <a:tc>
                  <a:txBody>
                    <a:bodyPr/>
                    <a:lstStyle/>
                    <a:p>
                      <a:r>
                        <a:rPr lang="fr-FR" sz="1600" dirty="0" smtClean="0">
                          <a:solidFill>
                            <a:schemeClr val="tx1"/>
                          </a:solidFill>
                        </a:rPr>
                        <a:t>Pour valider ce critère :</a:t>
                      </a:r>
                    </a:p>
                    <a:p>
                      <a:endParaRPr lang="fr-FR" sz="1600" dirty="0" smtClean="0">
                        <a:solidFill>
                          <a:schemeClr val="tx1"/>
                        </a:solidFill>
                      </a:endParaRPr>
                    </a:p>
                    <a:p>
                      <a:r>
                        <a:rPr lang="fr-FR" sz="1600" dirty="0" smtClean="0">
                          <a:solidFill>
                            <a:schemeClr val="tx1"/>
                          </a:solidFill>
                        </a:rPr>
                        <a:t>• Vérifier la configuration des systèmes de cache serveurs utilisés et s’assurer que les ressources les</a:t>
                      </a:r>
                      <a:r>
                        <a:rPr lang="fr-FR" sz="1600" baseline="0" dirty="0" smtClean="0">
                          <a:solidFill>
                            <a:schemeClr val="tx1"/>
                          </a:solidFill>
                        </a:rPr>
                        <a:t> </a:t>
                      </a:r>
                      <a:r>
                        <a:rPr lang="fr-FR" sz="1600" dirty="0" smtClean="0">
                          <a:solidFill>
                            <a:schemeClr val="tx1"/>
                          </a:solidFill>
                        </a:rPr>
                        <a:t>plus utilisées sont mises en cache ;</a:t>
                      </a:r>
                    </a:p>
                    <a:p>
                      <a:r>
                        <a:rPr lang="fr-FR" sz="1600" dirty="0" smtClean="0">
                          <a:solidFill>
                            <a:schemeClr val="tx1"/>
                          </a:solidFill>
                        </a:rPr>
                        <a:t>• Examiner la présence et les règles d’expiration qui doivent être correctement paramétrées en</a:t>
                      </a:r>
                      <a:r>
                        <a:rPr lang="fr-FR" sz="1600" baseline="0" dirty="0" smtClean="0">
                          <a:solidFill>
                            <a:schemeClr val="tx1"/>
                          </a:solidFill>
                        </a:rPr>
                        <a:t> </a:t>
                      </a:r>
                      <a:r>
                        <a:rPr lang="fr-FR" sz="1600" dirty="0" smtClean="0">
                          <a:solidFill>
                            <a:schemeClr val="tx1"/>
                          </a:solidFill>
                        </a:rPr>
                        <a:t>fonction des caractéristiques de chaque fonctionnalité (ressources statiques, contenu dynamique,</a:t>
                      </a:r>
                      <a:r>
                        <a:rPr lang="fr-FR" sz="1600" baseline="0" dirty="0" smtClean="0">
                          <a:solidFill>
                            <a:schemeClr val="tx1"/>
                          </a:solidFill>
                        </a:rPr>
                        <a:t> </a:t>
                      </a:r>
                      <a:r>
                        <a:rPr lang="fr-FR" sz="1600" dirty="0" smtClean="0">
                          <a:solidFill>
                            <a:schemeClr val="tx1"/>
                          </a:solidFill>
                        </a:rPr>
                        <a:t>données en temps réel, informations personnalisées…) ;</a:t>
                      </a:r>
                    </a:p>
                    <a:p>
                      <a:r>
                        <a:rPr lang="fr-FR" sz="1600" dirty="0" smtClean="0">
                          <a:solidFill>
                            <a:schemeClr val="tx1"/>
                          </a:solidFill>
                        </a:rPr>
                        <a:t>• S’assurer de la présence d’un mécanisme de rafraîchissement du cache.</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2022 et 2024</a:t>
                      </a:r>
                    </a:p>
                    <a:p>
                      <a:r>
                        <a:rPr lang="fr-FR" sz="1400" b="0" dirty="0" smtClean="0">
                          <a:solidFill>
                            <a:srgbClr val="2F5597"/>
                          </a:solidFill>
                        </a:rPr>
                        <a:t>7.1 Le service numérique </a:t>
                      </a:r>
                      <a:r>
                        <a:rPr lang="fr-FR" sz="1400" b="0" dirty="0" err="1" smtClean="0">
                          <a:solidFill>
                            <a:srgbClr val="2F5597"/>
                          </a:solidFill>
                        </a:rPr>
                        <a:t>a-t-il</a:t>
                      </a:r>
                      <a:r>
                        <a:rPr lang="fr-FR" sz="1400" b="0" dirty="0" smtClean="0">
                          <a:solidFill>
                            <a:srgbClr val="2F5597"/>
                          </a:solidFill>
                        </a:rPr>
                        <a:t> recours à un système de</a:t>
                      </a:r>
                      <a:r>
                        <a:rPr lang="fr-FR" sz="1400" b="0" baseline="0" dirty="0" smtClean="0">
                          <a:solidFill>
                            <a:srgbClr val="2F5597"/>
                          </a:solidFill>
                        </a:rPr>
                        <a:t> </a:t>
                      </a:r>
                      <a:r>
                        <a:rPr lang="fr-FR" sz="1400" b="0" dirty="0" smtClean="0">
                          <a:solidFill>
                            <a:srgbClr val="2F5597"/>
                          </a:solidFill>
                        </a:rPr>
                        <a:t>cache serveur pour les données les plus utilisées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820375840"/>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484315420"/>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907072">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91/Configurer le service pour transmettre depuis le serveur des contenus compressés au client qui les accepte.</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68692">
                <a:tc>
                  <a:txBody>
                    <a:bodyPr/>
                    <a:lstStyle/>
                    <a:p>
                      <a:pPr marL="0" indent="0">
                        <a:buFont typeface="Arial" panose="020B0604020202020204" pitchFamily="34" charset="0"/>
                        <a:buNone/>
                      </a:pPr>
                      <a:r>
                        <a:rPr lang="fr-FR" sz="1600" dirty="0" smtClean="0">
                          <a:solidFill>
                            <a:schemeClr val="tx1"/>
                          </a:solidFill>
                        </a:rPr>
                        <a:t>Mettre en place une compression de bout en bout (par exemple : https://developer.mozilla.org/fr/docs/Web/HTTP/Compression).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Vérifier la mise en place d'une compression des données</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2022</a:t>
                      </a:r>
                    </a:p>
                    <a:p>
                      <a:r>
                        <a:rPr lang="fr-FR" sz="1400" b="0" dirty="0" smtClean="0">
                          <a:solidFill>
                            <a:srgbClr val="2F5597"/>
                          </a:solidFill>
                        </a:rPr>
                        <a:t>7.2 Le service numérique est-il configuré pour transmettre</a:t>
                      </a:r>
                      <a:r>
                        <a:rPr lang="fr-FR" sz="1400" b="0" baseline="0" dirty="0" smtClean="0">
                          <a:solidFill>
                            <a:srgbClr val="2F5597"/>
                          </a:solidFill>
                        </a:rPr>
                        <a:t> </a:t>
                      </a:r>
                      <a:r>
                        <a:rPr lang="fr-FR" sz="1400" b="0" dirty="0" smtClean="0">
                          <a:solidFill>
                            <a:srgbClr val="2F5597"/>
                          </a:solidFill>
                        </a:rPr>
                        <a:t>depuis le serveur des contenus compressés au client</a:t>
                      </a:r>
                      <a:r>
                        <a:rPr lang="fr-FR" sz="1400" b="0" baseline="0" dirty="0" smtClean="0">
                          <a:solidFill>
                            <a:srgbClr val="2F5597"/>
                          </a:solidFill>
                        </a:rPr>
                        <a:t> </a:t>
                      </a:r>
                      <a:r>
                        <a:rPr lang="fr-FR" sz="1400" b="0" dirty="0" smtClean="0">
                          <a:solidFill>
                            <a:srgbClr val="2F5597"/>
                          </a:solidFill>
                        </a:rPr>
                        <a:t>qui les accepte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072932923"/>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695758296"/>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036818">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92/Définir des durées de conservation sur les données et documents</a:t>
                      </a:r>
                      <a:r>
                        <a:rPr lang="fr-FR" sz="1800" b="1" u="sng" kern="1200" baseline="0" dirty="0" smtClean="0">
                          <a:solidFill>
                            <a:schemeClr val="bg1"/>
                          </a:solidFill>
                          <a:latin typeface="+mn-lt"/>
                          <a:ea typeface="+mn-ea"/>
                          <a:cs typeface="+mn-cs"/>
                        </a:rPr>
                        <a:t> en vue de leur suppression ou archivage</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baseline="0" dirty="0" smtClean="0">
                          <a:solidFill>
                            <a:schemeClr val="bg1"/>
                          </a:solidFill>
                          <a:latin typeface="+mn-lt"/>
                          <a:ea typeface="+mn-ea"/>
                          <a:cs typeface="+mn-cs"/>
                        </a:rPr>
                        <a:t>passé ce délai</a:t>
                      </a:r>
                      <a:endParaRPr lang="fr-FR" sz="1800" b="1" u="sng" kern="1200" dirty="0" smtClean="0">
                        <a:solidFill>
                          <a:schemeClr val="bg1"/>
                        </a:solidFill>
                        <a:latin typeface="+mn-lt"/>
                        <a:ea typeface="+mn-ea"/>
                        <a:cs typeface="+mn-cs"/>
                      </a:endParaRP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938946">
                <a:tc>
                  <a:txBody>
                    <a:bodyPr/>
                    <a:lstStyle/>
                    <a:p>
                      <a:pPr marL="0" indent="0">
                        <a:buFont typeface="Arial" panose="020B0604020202020204" pitchFamily="34" charset="0"/>
                        <a:buNone/>
                      </a:pPr>
                      <a:r>
                        <a:rPr lang="fr-FR" sz="1400" dirty="0" smtClean="0">
                          <a:solidFill>
                            <a:schemeClr val="tx1"/>
                          </a:solidFill>
                        </a:rPr>
                        <a:t>Définir des dates d’expiration sur les données (fichiers, entrées en base de données…) permettant par la suite</a:t>
                      </a:r>
                      <a:r>
                        <a:rPr lang="fr-FR" sz="1400" baseline="0" dirty="0" smtClean="0">
                          <a:solidFill>
                            <a:schemeClr val="tx1"/>
                          </a:solidFill>
                        </a:rPr>
                        <a:t> </a:t>
                      </a:r>
                      <a:r>
                        <a:rPr lang="fr-FR" sz="1400" dirty="0" smtClean="0">
                          <a:solidFill>
                            <a:schemeClr val="tx1"/>
                          </a:solidFill>
                        </a:rPr>
                        <a:t>d’archiver et/ou de supprimer ces données. </a:t>
                      </a:r>
                    </a:p>
                    <a:p>
                      <a:pPr marL="0" indent="0">
                        <a:buFont typeface="Arial" panose="020B0604020202020204" pitchFamily="34" charset="0"/>
                        <a:buNone/>
                      </a:pPr>
                      <a:endParaRPr lang="fr-FR" sz="1400" dirty="0" smtClean="0">
                        <a:solidFill>
                          <a:schemeClr val="tx1"/>
                        </a:solidFill>
                      </a:endParaRPr>
                    </a:p>
                    <a:p>
                      <a:pPr marL="0" indent="0">
                        <a:buFont typeface="Arial" panose="020B0604020202020204" pitchFamily="34" charset="0"/>
                        <a:buNone/>
                      </a:pPr>
                      <a:r>
                        <a:rPr lang="fr-FR" sz="1400" dirty="0" smtClean="0">
                          <a:solidFill>
                            <a:schemeClr val="tx1"/>
                          </a:solidFill>
                        </a:rPr>
                        <a:t>Implémenter des fonctionnalités qui aident les utilisateurs à</a:t>
                      </a:r>
                      <a:r>
                        <a:rPr lang="fr-FR" sz="1400" baseline="0" dirty="0" smtClean="0">
                          <a:solidFill>
                            <a:schemeClr val="tx1"/>
                          </a:solidFill>
                        </a:rPr>
                        <a:t> </a:t>
                      </a:r>
                      <a:r>
                        <a:rPr lang="fr-FR" sz="1400" dirty="0" smtClean="0">
                          <a:solidFill>
                            <a:schemeClr val="tx1"/>
                          </a:solidFill>
                        </a:rPr>
                        <a:t>identifier des données obsolètes grâce à des indicateurs et ou des suggestions de localisation où les données</a:t>
                      </a:r>
                      <a:r>
                        <a:rPr lang="fr-FR" sz="1400" baseline="0" dirty="0" smtClean="0">
                          <a:solidFill>
                            <a:schemeClr val="tx1"/>
                          </a:solidFill>
                        </a:rPr>
                        <a:t> </a:t>
                      </a:r>
                      <a:r>
                        <a:rPr lang="fr-FR" sz="1400" dirty="0" smtClean="0">
                          <a:solidFill>
                            <a:schemeClr val="tx1"/>
                          </a:solidFill>
                        </a:rPr>
                        <a:t>peuvent être supprimées.</a:t>
                      </a:r>
                    </a:p>
                    <a:p>
                      <a:pPr marL="0" indent="0">
                        <a:buFont typeface="Arial" panose="020B0604020202020204" pitchFamily="34" charset="0"/>
                        <a:buNone/>
                      </a:pPr>
                      <a:endParaRPr lang="fr-FR" sz="1400" dirty="0" smtClean="0">
                        <a:solidFill>
                          <a:schemeClr val="tx1"/>
                        </a:solidFill>
                      </a:endParaRPr>
                    </a:p>
                    <a:p>
                      <a:pPr marL="0" indent="0">
                        <a:buFont typeface="Arial" panose="020B0604020202020204" pitchFamily="34" charset="0"/>
                        <a:buNone/>
                      </a:pPr>
                      <a:r>
                        <a:rPr lang="fr-FR" sz="1400" dirty="0" smtClean="0">
                          <a:solidFill>
                            <a:schemeClr val="tx1"/>
                          </a:solidFill>
                        </a:rPr>
                        <a:t>Mettre en place un processus (de préférence automatique) d’archivage ou de suppression des données</a:t>
                      </a:r>
                      <a:r>
                        <a:rPr lang="fr-FR" sz="1400" baseline="0" dirty="0" smtClean="0">
                          <a:solidFill>
                            <a:schemeClr val="tx1"/>
                          </a:solidFill>
                        </a:rPr>
                        <a:t> </a:t>
                      </a:r>
                      <a:r>
                        <a:rPr lang="fr-FR" sz="1400" dirty="0" smtClean="0">
                          <a:solidFill>
                            <a:schemeClr val="tx1"/>
                          </a:solidFill>
                        </a:rPr>
                        <a:t>(fichiers, entrées en base de données…) dont la durée de conservation est dépassée.</a:t>
                      </a:r>
                    </a:p>
                    <a:p>
                      <a:pPr marL="0" indent="0">
                        <a:buFont typeface="Arial" panose="020B0604020202020204" pitchFamily="34" charset="0"/>
                        <a:buNone/>
                      </a:pPr>
                      <a:endParaRPr lang="fr-FR" sz="1400" dirty="0" smtClean="0">
                        <a:solidFill>
                          <a:schemeClr val="tx1"/>
                        </a:solidFill>
                      </a:endParaRPr>
                    </a:p>
                    <a:p>
                      <a:pPr marL="0" indent="0">
                        <a:buFont typeface="Arial" panose="020B0604020202020204" pitchFamily="34" charset="0"/>
                        <a:buNone/>
                      </a:pPr>
                      <a:r>
                        <a:rPr lang="fr-FR" sz="1400" dirty="0" smtClean="0">
                          <a:solidFill>
                            <a:schemeClr val="tx1"/>
                          </a:solidFill>
                        </a:rPr>
                        <a:t>Dans la mesure du possible, archiver les informations rarement consultées et intégrer une interface de</a:t>
                      </a:r>
                      <a:r>
                        <a:rPr lang="fr-FR" sz="1400" baseline="0" dirty="0" smtClean="0">
                          <a:solidFill>
                            <a:schemeClr val="tx1"/>
                          </a:solidFill>
                        </a:rPr>
                        <a:t> </a:t>
                      </a:r>
                      <a:r>
                        <a:rPr lang="fr-FR" sz="1400" dirty="0" smtClean="0">
                          <a:solidFill>
                            <a:schemeClr val="tx1"/>
                          </a:solidFill>
                        </a:rPr>
                        <a:t>« récupération à partir de l'archive » dans les interactions de l'utilisateur. </a:t>
                      </a:r>
                    </a:p>
                    <a:p>
                      <a:pPr marL="0" indent="0">
                        <a:buFont typeface="Arial" panose="020B0604020202020204" pitchFamily="34" charset="0"/>
                        <a:buNone/>
                      </a:pPr>
                      <a:endParaRPr lang="fr-FR" sz="1400" dirty="0" smtClean="0">
                        <a:solidFill>
                          <a:schemeClr val="tx1"/>
                        </a:solidFill>
                      </a:endParaRPr>
                    </a:p>
                    <a:p>
                      <a:pPr marL="0" indent="0">
                        <a:buFont typeface="Arial" panose="020B0604020202020204" pitchFamily="34" charset="0"/>
                        <a:buNone/>
                      </a:pPr>
                      <a:r>
                        <a:rPr lang="fr-FR" sz="1400" dirty="0" smtClean="0">
                          <a:solidFill>
                            <a:schemeClr val="tx1"/>
                          </a:solidFill>
                        </a:rPr>
                        <a:t>Supprimer les archives inutilisées</a:t>
                      </a:r>
                      <a:r>
                        <a:rPr lang="fr-FR" sz="1400" baseline="0" dirty="0" smtClean="0">
                          <a:solidFill>
                            <a:schemeClr val="tx1"/>
                          </a:solidFill>
                        </a:rPr>
                        <a:t> </a:t>
                      </a:r>
                      <a:r>
                        <a:rPr lang="fr-FR" sz="1400" dirty="0" smtClean="0">
                          <a:solidFill>
                            <a:schemeClr val="tx1"/>
                          </a:solidFill>
                        </a:rPr>
                        <a:t>après une durée communiquée à l’utilisateur.</a:t>
                      </a:r>
                    </a:p>
                  </a:txBody>
                  <a:tcPr/>
                </a:tc>
                <a:tc>
                  <a:txBody>
                    <a:bodyPr/>
                    <a:lstStyle/>
                    <a:p>
                      <a:r>
                        <a:rPr lang="fr-FR" sz="1400" dirty="0" smtClean="0">
                          <a:solidFill>
                            <a:schemeClr val="tx1"/>
                          </a:solidFill>
                        </a:rPr>
                        <a:t>Pour valider ce critère, définir des dates d’expiration pour les informations obsolètes et mettre en place un</a:t>
                      </a:r>
                      <a:r>
                        <a:rPr lang="fr-FR" sz="1400" baseline="0" dirty="0" smtClean="0">
                          <a:solidFill>
                            <a:schemeClr val="tx1"/>
                          </a:solidFill>
                        </a:rPr>
                        <a:t> </a:t>
                      </a:r>
                      <a:r>
                        <a:rPr lang="fr-FR" sz="1400" dirty="0" smtClean="0">
                          <a:solidFill>
                            <a:schemeClr val="tx1"/>
                          </a:solidFill>
                        </a:rPr>
                        <a:t>mécanisme d’archivage ou de suppression des données dépassant la durée de conservation définie. </a:t>
                      </a:r>
                    </a:p>
                    <a:p>
                      <a:endParaRPr lang="fr-FR" sz="1400" dirty="0" smtClean="0">
                        <a:solidFill>
                          <a:schemeClr val="tx1"/>
                        </a:solidFill>
                      </a:endParaRPr>
                    </a:p>
                    <a:p>
                      <a:r>
                        <a:rPr lang="fr-FR" sz="1400" dirty="0" smtClean="0">
                          <a:solidFill>
                            <a:schemeClr val="tx1"/>
                          </a:solidFill>
                        </a:rPr>
                        <a:t>Un suivi</a:t>
                      </a:r>
                      <a:r>
                        <a:rPr lang="fr-FR" sz="1400" baseline="0" dirty="0" smtClean="0">
                          <a:solidFill>
                            <a:schemeClr val="tx1"/>
                          </a:solidFill>
                        </a:rPr>
                        <a:t> </a:t>
                      </a:r>
                      <a:r>
                        <a:rPr lang="fr-FR" sz="1400" dirty="0" smtClean="0">
                          <a:solidFill>
                            <a:schemeClr val="tx1"/>
                          </a:solidFill>
                        </a:rPr>
                        <a:t>de l’évolution du poids des fichiers stockés et des bases de données.</a:t>
                      </a:r>
                      <a:endParaRPr lang="fr-FR" sz="14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731520"/>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2022 et 2024</a:t>
                      </a:r>
                    </a:p>
                    <a:p>
                      <a:r>
                        <a:rPr lang="fr-FR" sz="1400" b="0" dirty="0" smtClean="0">
                          <a:solidFill>
                            <a:srgbClr val="2F5597"/>
                          </a:solidFill>
                        </a:rPr>
                        <a:t>7.2 Le service numérique met-il en place des durées de conservation</a:t>
                      </a:r>
                      <a:r>
                        <a:rPr lang="fr-FR" sz="1400" b="0" baseline="0" dirty="0" smtClean="0">
                          <a:solidFill>
                            <a:srgbClr val="2F5597"/>
                          </a:solidFill>
                        </a:rPr>
                        <a:t> </a:t>
                      </a:r>
                      <a:r>
                        <a:rPr lang="fr-FR" sz="1400" b="0" dirty="0" smtClean="0">
                          <a:solidFill>
                            <a:srgbClr val="2F5597"/>
                          </a:solidFill>
                        </a:rPr>
                        <a:t>sur les données et documents en vue de leur suppression ou archivage</a:t>
                      </a:r>
                    </a:p>
                    <a:p>
                      <a:r>
                        <a:rPr lang="fr-FR" sz="1400" b="0" dirty="0" smtClean="0">
                          <a:solidFill>
                            <a:srgbClr val="2F5597"/>
                          </a:solidFill>
                        </a:rPr>
                        <a:t>passé ce délai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693664662"/>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070141179"/>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93204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93/Archiver ou supprimer les données et documents après expiration de leur durée de conservation.</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43718">
                <a:tc>
                  <a:txBody>
                    <a:bodyPr/>
                    <a:lstStyle/>
                    <a:p>
                      <a:pPr marL="0" indent="0">
                        <a:buFont typeface="Arial" panose="020B0604020202020204" pitchFamily="34" charset="0"/>
                        <a:buNone/>
                      </a:pPr>
                      <a:r>
                        <a:rPr lang="fr-FR" sz="1200" dirty="0" smtClean="0"/>
                        <a:t>Définir des dates d’expiration sur les données (fichiers, entrées en base de données…) permettant par la suite </a:t>
                      </a:r>
                      <a:r>
                        <a:rPr lang="fr-FR" sz="1200" dirty="0" smtClean="0">
                          <a:solidFill>
                            <a:schemeClr val="tx1"/>
                          </a:solidFill>
                        </a:rPr>
                        <a:t>d’archiver et/ou de supprimer ces données. </a:t>
                      </a:r>
                    </a:p>
                    <a:p>
                      <a:pPr marL="0" indent="0">
                        <a:buFont typeface="Arial" panose="020B0604020202020204" pitchFamily="34" charset="0"/>
                        <a:buNone/>
                      </a:pPr>
                      <a:endParaRPr lang="fr-FR" sz="1200" dirty="0" smtClean="0">
                        <a:solidFill>
                          <a:schemeClr val="tx1"/>
                        </a:solidFill>
                      </a:endParaRPr>
                    </a:p>
                    <a:p>
                      <a:pPr marL="0" indent="0">
                        <a:buFont typeface="Arial" panose="020B0604020202020204" pitchFamily="34" charset="0"/>
                        <a:buNone/>
                      </a:pPr>
                      <a:r>
                        <a:rPr lang="fr-FR" sz="1200" dirty="0" smtClean="0">
                          <a:solidFill>
                            <a:schemeClr val="tx1"/>
                          </a:solidFill>
                        </a:rPr>
                        <a:t>Implémenter des fonctionnalités qui aident les utilisateurs à</a:t>
                      </a:r>
                      <a:r>
                        <a:rPr lang="fr-FR" sz="1200" baseline="0" dirty="0" smtClean="0">
                          <a:solidFill>
                            <a:schemeClr val="tx1"/>
                          </a:solidFill>
                        </a:rPr>
                        <a:t> </a:t>
                      </a:r>
                      <a:r>
                        <a:rPr lang="fr-FR" sz="1200" dirty="0" smtClean="0">
                          <a:solidFill>
                            <a:schemeClr val="tx1"/>
                          </a:solidFill>
                        </a:rPr>
                        <a:t>identifier des données obsolètes grâce à des indicateurs et ou des suggestions de localisation où les données</a:t>
                      </a:r>
                      <a:r>
                        <a:rPr lang="fr-FR" sz="1200" baseline="0" dirty="0" smtClean="0">
                          <a:solidFill>
                            <a:schemeClr val="tx1"/>
                          </a:solidFill>
                        </a:rPr>
                        <a:t> </a:t>
                      </a:r>
                      <a:r>
                        <a:rPr lang="fr-FR" sz="1200" dirty="0" smtClean="0">
                          <a:solidFill>
                            <a:schemeClr val="tx1"/>
                          </a:solidFill>
                        </a:rPr>
                        <a:t>peuvent être supprimées.</a:t>
                      </a:r>
                    </a:p>
                    <a:p>
                      <a:pPr marL="0" indent="0">
                        <a:buFont typeface="Arial" panose="020B0604020202020204" pitchFamily="34" charset="0"/>
                        <a:buNone/>
                      </a:pPr>
                      <a:endParaRPr lang="fr-FR" sz="1200" dirty="0" smtClean="0">
                        <a:solidFill>
                          <a:schemeClr val="tx1"/>
                        </a:solidFill>
                      </a:endParaRPr>
                    </a:p>
                    <a:p>
                      <a:pPr marL="0" indent="0">
                        <a:buFont typeface="Arial" panose="020B0604020202020204" pitchFamily="34" charset="0"/>
                        <a:buNone/>
                      </a:pPr>
                      <a:r>
                        <a:rPr lang="fr-FR" sz="1200" dirty="0" smtClean="0">
                          <a:solidFill>
                            <a:schemeClr val="tx1"/>
                          </a:solidFill>
                        </a:rPr>
                        <a:t>Mettre en place un processus (de préférence automatique) d’archivage ou de suppression des données</a:t>
                      </a:r>
                      <a:r>
                        <a:rPr lang="fr-FR" sz="1200" baseline="0" dirty="0" smtClean="0">
                          <a:solidFill>
                            <a:schemeClr val="tx1"/>
                          </a:solidFill>
                        </a:rPr>
                        <a:t> </a:t>
                      </a:r>
                      <a:r>
                        <a:rPr lang="fr-FR" sz="1200" dirty="0" smtClean="0">
                          <a:solidFill>
                            <a:schemeClr val="tx1"/>
                          </a:solidFill>
                        </a:rPr>
                        <a:t>(fichiers, entrées en base de données…) dont la durée de conservation est dépassée.</a:t>
                      </a:r>
                    </a:p>
                    <a:p>
                      <a:pPr marL="0" indent="0">
                        <a:buFont typeface="Arial" panose="020B0604020202020204" pitchFamily="34" charset="0"/>
                        <a:buNone/>
                      </a:pPr>
                      <a:endParaRPr lang="fr-FR" sz="1200" dirty="0" smtClean="0">
                        <a:solidFill>
                          <a:schemeClr val="tx1"/>
                        </a:solidFill>
                      </a:endParaRPr>
                    </a:p>
                    <a:p>
                      <a:pPr marL="0" indent="0">
                        <a:buFont typeface="Arial" panose="020B0604020202020204" pitchFamily="34" charset="0"/>
                        <a:buNone/>
                      </a:pPr>
                      <a:r>
                        <a:rPr lang="fr-FR" sz="1200" dirty="0" smtClean="0">
                          <a:solidFill>
                            <a:schemeClr val="tx1"/>
                          </a:solidFill>
                        </a:rPr>
                        <a:t>Dans la mesure du possible, archiver les informations rarement consultées et intégrer une interface de</a:t>
                      </a:r>
                      <a:r>
                        <a:rPr lang="fr-FR" sz="1200" baseline="0" dirty="0" smtClean="0">
                          <a:solidFill>
                            <a:schemeClr val="tx1"/>
                          </a:solidFill>
                        </a:rPr>
                        <a:t> </a:t>
                      </a:r>
                      <a:r>
                        <a:rPr lang="fr-FR" sz="1200" dirty="0" smtClean="0">
                          <a:solidFill>
                            <a:schemeClr val="tx1"/>
                          </a:solidFill>
                        </a:rPr>
                        <a:t>« récupération à partir de l'archive » dans les interactions de l'utilisateur. </a:t>
                      </a:r>
                    </a:p>
                    <a:p>
                      <a:pPr marL="0" indent="0">
                        <a:buFont typeface="Arial" panose="020B0604020202020204" pitchFamily="34" charset="0"/>
                        <a:buNone/>
                      </a:pPr>
                      <a:endParaRPr lang="fr-FR" sz="1200" dirty="0" smtClean="0">
                        <a:solidFill>
                          <a:schemeClr val="tx1"/>
                        </a:solidFill>
                      </a:endParaRPr>
                    </a:p>
                    <a:p>
                      <a:pPr marL="0" indent="0">
                        <a:buFont typeface="Arial" panose="020B0604020202020204" pitchFamily="34" charset="0"/>
                        <a:buNone/>
                      </a:pPr>
                      <a:r>
                        <a:rPr lang="fr-FR" sz="1200" dirty="0" smtClean="0">
                          <a:solidFill>
                            <a:schemeClr val="tx1"/>
                          </a:solidFill>
                        </a:rPr>
                        <a:t>Supprimer les archives inutilisées</a:t>
                      </a:r>
                      <a:r>
                        <a:rPr lang="fr-FR" sz="1200" baseline="0" dirty="0" smtClean="0">
                          <a:solidFill>
                            <a:schemeClr val="tx1"/>
                          </a:solidFill>
                        </a:rPr>
                        <a:t> </a:t>
                      </a:r>
                      <a:r>
                        <a:rPr lang="fr-FR" sz="1200" dirty="0" smtClean="0">
                          <a:solidFill>
                            <a:schemeClr val="tx1"/>
                          </a:solidFill>
                        </a:rPr>
                        <a:t>après une durée communiquée à l’utilisateur.</a:t>
                      </a:r>
                    </a:p>
                    <a:p>
                      <a:pPr marL="0" indent="0">
                        <a:buFont typeface="Arial" panose="020B0604020202020204" pitchFamily="34" charset="0"/>
                        <a:buNone/>
                      </a:pPr>
                      <a:r>
                        <a:rPr lang="fr-FR" sz="1200" dirty="0" smtClean="0">
                          <a:solidFill>
                            <a:schemeClr val="tx1"/>
                          </a:solidFill>
                        </a:rPr>
                        <a:t>Déplacer le cas échéant les archives (données « froides ») sur un autre support que celui utilisé pour les</a:t>
                      </a:r>
                      <a:r>
                        <a:rPr lang="fr-FR" sz="1200" baseline="0" dirty="0" smtClean="0">
                          <a:solidFill>
                            <a:schemeClr val="tx1"/>
                          </a:solidFill>
                        </a:rPr>
                        <a:t> </a:t>
                      </a:r>
                      <a:r>
                        <a:rPr lang="fr-FR" sz="1200" dirty="0" smtClean="0">
                          <a:solidFill>
                            <a:schemeClr val="tx1"/>
                          </a:solidFill>
                        </a:rPr>
                        <a:t>données actives (données « chaudes »), voir critère 8.8.</a:t>
                      </a:r>
                      <a:endParaRPr lang="fr-FR" sz="1200" dirty="0">
                        <a:solidFill>
                          <a:schemeClr val="tx1"/>
                        </a:solidFill>
                      </a:endParaRPr>
                    </a:p>
                  </a:txBody>
                  <a:tcPr/>
                </a:tc>
                <a:tc>
                  <a:txBody>
                    <a:bodyPr/>
                    <a:lstStyle/>
                    <a:p>
                      <a:r>
                        <a:rPr lang="fr-FR" sz="1200" dirty="0" smtClean="0">
                          <a:solidFill>
                            <a:schemeClr val="tx1"/>
                          </a:solidFill>
                        </a:rPr>
                        <a:t>Pour valider ce critère, définir des dates d’expiration pour les informations obsolètes et mettre en place un</a:t>
                      </a:r>
                      <a:r>
                        <a:rPr lang="fr-FR" sz="1200" baseline="0" dirty="0" smtClean="0">
                          <a:solidFill>
                            <a:schemeClr val="tx1"/>
                          </a:solidFill>
                        </a:rPr>
                        <a:t> </a:t>
                      </a:r>
                      <a:r>
                        <a:rPr lang="fr-FR" sz="1200" dirty="0" smtClean="0">
                          <a:solidFill>
                            <a:schemeClr val="tx1"/>
                          </a:solidFill>
                        </a:rPr>
                        <a:t>mécanisme d’archivage ou de suppression des données dépassant la durée de conservation définie. </a:t>
                      </a:r>
                    </a:p>
                    <a:p>
                      <a:endParaRPr lang="fr-FR" sz="1200" dirty="0" smtClean="0">
                        <a:solidFill>
                          <a:schemeClr val="tx1"/>
                        </a:solidFill>
                      </a:endParaRPr>
                    </a:p>
                    <a:p>
                      <a:r>
                        <a:rPr lang="fr-FR" sz="1200" dirty="0" smtClean="0">
                          <a:solidFill>
                            <a:schemeClr val="tx1"/>
                          </a:solidFill>
                        </a:rPr>
                        <a:t>Un suivi</a:t>
                      </a:r>
                      <a:r>
                        <a:rPr lang="fr-FR" sz="1200" baseline="0" dirty="0" smtClean="0">
                          <a:solidFill>
                            <a:schemeClr val="tx1"/>
                          </a:solidFill>
                        </a:rPr>
                        <a:t> </a:t>
                      </a:r>
                      <a:r>
                        <a:rPr lang="fr-FR" sz="1200" dirty="0" smtClean="0">
                          <a:solidFill>
                            <a:schemeClr val="tx1"/>
                          </a:solidFill>
                        </a:rPr>
                        <a:t>de l’évolution du poids des fichiers stockés et des bases de données.</a:t>
                      </a:r>
                      <a:endParaRPr lang="fr-FR" sz="12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731520"/>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2022 et 2024</a:t>
                      </a:r>
                    </a:p>
                    <a:p>
                      <a:r>
                        <a:rPr lang="fr-FR" sz="1400" b="0" dirty="0" smtClean="0">
                          <a:solidFill>
                            <a:srgbClr val="2F5597"/>
                          </a:solidFill>
                        </a:rPr>
                        <a:t>7.2 Le service numérique met-il en place des durées de conservation</a:t>
                      </a:r>
                      <a:r>
                        <a:rPr lang="fr-FR" sz="1400" b="0" baseline="0" dirty="0" smtClean="0">
                          <a:solidFill>
                            <a:srgbClr val="2F5597"/>
                          </a:solidFill>
                        </a:rPr>
                        <a:t> </a:t>
                      </a:r>
                      <a:r>
                        <a:rPr lang="fr-FR" sz="1400" b="0" dirty="0" smtClean="0">
                          <a:solidFill>
                            <a:srgbClr val="2F5597"/>
                          </a:solidFill>
                        </a:rPr>
                        <a:t>sur les données et documents en vue de leur suppression ou archivage</a:t>
                      </a:r>
                    </a:p>
                    <a:p>
                      <a:r>
                        <a:rPr lang="fr-FR" sz="1400" b="0" dirty="0" smtClean="0">
                          <a:solidFill>
                            <a:srgbClr val="2F5597"/>
                          </a:solidFill>
                        </a:rPr>
                        <a:t>passé ce délai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509568947"/>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04086553"/>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93204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94/Informer les utilisateurs d’un traitement en cours en arrière plan.</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43718">
                <a:tc>
                  <a:txBody>
                    <a:bodyPr/>
                    <a:lstStyle/>
                    <a:p>
                      <a:pPr marL="0" indent="0">
                        <a:buFont typeface="Arial" panose="020B0604020202020204" pitchFamily="34" charset="0"/>
                        <a:buNone/>
                      </a:pPr>
                      <a:r>
                        <a:rPr lang="fr-FR" sz="1600" dirty="0" smtClean="0">
                          <a:solidFill>
                            <a:schemeClr val="tx1"/>
                          </a:solidFill>
                        </a:rPr>
                        <a:t>Rendre indisponible l’action qui génère le traitement (par exemple un bouton de soumission de formulaire) et informer l’utilisateur que le traitement est en cours, éventuellement une durée approximative de traitement.</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Réaliser des tests fonctionnels permettant de vérifier que lorsqu'une action est en cours de traitement, le</a:t>
                      </a:r>
                      <a:r>
                        <a:rPr lang="fr-FR" sz="1600" baseline="0" dirty="0" smtClean="0">
                          <a:solidFill>
                            <a:schemeClr val="tx1"/>
                          </a:solidFill>
                        </a:rPr>
                        <a:t> </a:t>
                      </a:r>
                      <a:r>
                        <a:rPr lang="fr-FR" sz="1600" dirty="0" smtClean="0">
                          <a:solidFill>
                            <a:schemeClr val="tx1"/>
                          </a:solidFill>
                        </a:rPr>
                        <a:t>bouton ou l'élément déclencheur est désactivé et qu'un indicateur visuel ou un message d'attente est présent</a:t>
                      </a:r>
                      <a:r>
                        <a:rPr lang="fr-FR" sz="1600" baseline="0" dirty="0" smtClean="0">
                          <a:solidFill>
                            <a:schemeClr val="tx1"/>
                          </a:solidFill>
                        </a:rPr>
                        <a:t> </a:t>
                      </a:r>
                      <a:r>
                        <a:rPr lang="fr-FR" sz="1600" dirty="0" smtClean="0">
                          <a:solidFill>
                            <a:schemeClr val="tx1"/>
                          </a:solidFill>
                        </a:rPr>
                        <a:t>pour informer l'utilisateur.</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smtClean="0">
                          <a:solidFill>
                            <a:schemeClr val="tx1"/>
                          </a:solidFill>
                        </a:rPr>
                        <a:t>Faible</a:t>
                      </a:r>
                      <a:endParaRPr lang="fr-FR" dirty="0" smtClean="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Faible</a:t>
                      </a:r>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2022 et 2024</a:t>
                      </a:r>
                    </a:p>
                    <a:p>
                      <a:r>
                        <a:rPr lang="fr-FR" sz="1400" b="0" dirty="0" smtClean="0">
                          <a:solidFill>
                            <a:srgbClr val="2F5597"/>
                          </a:solidFill>
                        </a:rPr>
                        <a:t>7.3 Le service numérique informe-t-il l’utilisateur d’un traitement</a:t>
                      </a:r>
                      <a:r>
                        <a:rPr lang="fr-FR" sz="1400" b="0" baseline="0" dirty="0" smtClean="0">
                          <a:solidFill>
                            <a:srgbClr val="2F5597"/>
                          </a:solidFill>
                        </a:rPr>
                        <a:t> </a:t>
                      </a:r>
                      <a:r>
                        <a:rPr lang="fr-FR" sz="1400" b="0" dirty="0" smtClean="0">
                          <a:solidFill>
                            <a:srgbClr val="2F5597"/>
                          </a:solidFill>
                        </a:rPr>
                        <a:t>en cours en arrière-plan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242957751"/>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577616728"/>
              </p:ext>
            </p:extLst>
          </p:nvPr>
        </p:nvGraphicFramePr>
        <p:xfrm>
          <a:off x="0" y="1123590"/>
          <a:ext cx="12192000" cy="496469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10906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95/Mettre en cache les données calculées souvent utilisées.</a:t>
                      </a:r>
                    </a:p>
                  </a:txBody>
                  <a:tcPr anchor="ctr">
                    <a:solidFill>
                      <a:srgbClr val="2F5597"/>
                    </a:solidFill>
                  </a:tcPr>
                </a:tc>
                <a:tc hMerge="1">
                  <a:txBody>
                    <a:bodyPr/>
                    <a:lstStyle/>
                    <a:p>
                      <a:pP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855625">
                <a:tc>
                  <a:txBody>
                    <a:bodyPr/>
                    <a:lstStyle/>
                    <a:p>
                      <a:pPr marL="0" indent="0">
                        <a:buFont typeface="Arial" panose="020B0604020202020204" pitchFamily="34" charset="0"/>
                        <a:buNone/>
                      </a:pPr>
                      <a:r>
                        <a:rPr lang="fr-FR" sz="1600" dirty="0" smtClean="0">
                          <a:solidFill>
                            <a:schemeClr val="tx1"/>
                          </a:solidFill>
                        </a:rPr>
                        <a:t>Lorsque des calculs de valeurs ou de données sont coûteux en ressources, les mettre en cache si les valeurs demeurent inchangées, afin de ne pas réitérer ces opérations.</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Les systèmes de cache de type key-value store sont prévus pour stocker ces données.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Généralement montés entièrement en mémoire vive (RAM), ils génèrent d’importantes économies de cycles CPU si les données calculées sont très souvent sollicitées.</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Le nombre de données peu volatiles, demandant un calcul et accédées plusieurs fois, non mises dans un système de cache</a:t>
                      </a:r>
                      <a:r>
                        <a:rPr lang="fr-FR" sz="1600" baseline="0" dirty="0" smtClean="0">
                          <a:solidFill>
                            <a:schemeClr val="tx1"/>
                          </a:solidFill>
                        </a:rPr>
                        <a:t> </a:t>
                      </a:r>
                      <a:r>
                        <a:rPr lang="fr-FR" sz="1600" dirty="0" smtClean="0">
                          <a:solidFill>
                            <a:schemeClr val="tx1"/>
                          </a:solidFill>
                        </a:rPr>
                        <a:t>est inférieur ou égal à 0.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11070"/>
          <a:ext cx="6088786" cy="110145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0725">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0725">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a:t>
                      </a:r>
                    </a:p>
                    <a:p>
                      <a:r>
                        <a:rPr lang="fr-FR" sz="1400" b="0" dirty="0" smtClean="0">
                          <a:solidFill>
                            <a:srgbClr val="2F5597"/>
                          </a:solidFill>
                        </a:rPr>
                        <a:t>Mettre en cache les données calculées souvent utilisées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568431063"/>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4180758209"/>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97299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96/Éviter d'effectuer des requêtes SQL à l’intérieur d’une boucle.</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02768">
                <a:tc>
                  <a:txBody>
                    <a:bodyPr/>
                    <a:lstStyle/>
                    <a:p>
                      <a:pPr marL="0" indent="0">
                        <a:buFont typeface="Arial" panose="020B0604020202020204" pitchFamily="34" charset="0"/>
                        <a:buNone/>
                      </a:pPr>
                      <a:r>
                        <a:rPr lang="fr-FR" sz="1600" dirty="0" smtClean="0">
                          <a:solidFill>
                            <a:schemeClr val="tx1"/>
                          </a:solidFill>
                        </a:rPr>
                        <a:t>Les requêtes SQL à l’intérieur d’une boucle posent de gros problèmes de performance, et ce d’autant plus si le(s) serveur(s) SQL n’est (ne sont) pas sur la machine locale.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En effet, ces serveurs sont optimisés pour traiter plusieurs sélections, insertions ou modifications dans une seule requête ou une seule transaction.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Mal utilisées, ces requêtes consomment inutilement des cycles CPU, de la mémoire vive et de la bande passante.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Le nombre de requêtes SQL à l'intérieur d'une boucle</a:t>
                      </a:r>
                      <a:r>
                        <a:rPr lang="fr-FR" sz="1600" baseline="0" dirty="0" smtClean="0">
                          <a:solidFill>
                            <a:schemeClr val="tx1"/>
                          </a:solidFill>
                        </a:rPr>
                        <a:t> </a:t>
                      </a:r>
                      <a:r>
                        <a:rPr lang="fr-FR" sz="1600" dirty="0" smtClean="0">
                          <a:solidFill>
                            <a:schemeClr val="tx1"/>
                          </a:solidFill>
                        </a:rPr>
                        <a:t>est inférieur ou égal à 0.</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2"/>
          <a:ext cx="6088786" cy="1112522"/>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1">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1">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a:t>
                      </a:r>
                    </a:p>
                    <a:p>
                      <a:r>
                        <a:rPr lang="fr-FR" sz="1400" b="0" dirty="0" smtClean="0">
                          <a:solidFill>
                            <a:srgbClr val="2F5597"/>
                          </a:solidFill>
                        </a:rPr>
                        <a:t>Éviter d'effectuer des requêtes SQL à l’intérieur d’une boucle</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141262583"/>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551458531"/>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907072">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97/Ne se connecter à une base de données que si nécessaire.</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68692">
                <a:tc>
                  <a:txBody>
                    <a:bodyPr/>
                    <a:lstStyle/>
                    <a:p>
                      <a:pPr marL="0" indent="0">
                        <a:buFont typeface="Arial" panose="020B0604020202020204" pitchFamily="34" charset="0"/>
                        <a:buNone/>
                      </a:pPr>
                      <a:r>
                        <a:rPr lang="fr-FR" sz="1600" dirty="0" smtClean="0">
                          <a:solidFill>
                            <a:schemeClr val="tx1"/>
                          </a:solidFill>
                        </a:rPr>
                        <a:t>La bonne pratique qui est usuellement utilisée est la mise en place d’un pool de connexions.</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Il permet d’optimiser la gestion des connexions ainsi que les performances.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Cependant, sa configuration n’est pas forcément une opération triviale (nécessite de superviser le comportement de celui-ci pour trouver le bon paramétrage).</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Le nombre de connexions à une base de données pour requêter, stocker une donnée non nécessaire à l'utilisation du service</a:t>
                      </a:r>
                      <a:r>
                        <a:rPr lang="fr-FR" sz="1600" baseline="0" dirty="0" smtClean="0">
                          <a:solidFill>
                            <a:schemeClr val="tx1"/>
                          </a:solidFill>
                        </a:rPr>
                        <a:t> </a:t>
                      </a:r>
                      <a:r>
                        <a:rPr lang="fr-FR" sz="1600" dirty="0" smtClean="0">
                          <a:solidFill>
                            <a:schemeClr val="tx1"/>
                          </a:solidFill>
                        </a:rPr>
                        <a:t>est inférieur ou égal à 0.</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a:t>
                      </a:r>
                    </a:p>
                    <a:p>
                      <a:r>
                        <a:rPr lang="fr-FR" sz="1400" b="0" dirty="0" smtClean="0">
                          <a:solidFill>
                            <a:srgbClr val="2F5597"/>
                          </a:solidFill>
                        </a:rPr>
                        <a:t>Ne se connecter à une base de données que si nécessaire</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4159839653"/>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012035594"/>
              </p:ext>
            </p:extLst>
          </p:nvPr>
        </p:nvGraphicFramePr>
        <p:xfrm>
          <a:off x="0" y="1112520"/>
          <a:ext cx="12184000" cy="4975764"/>
        </p:xfrm>
        <a:graphic>
          <a:graphicData uri="http://schemas.openxmlformats.org/drawingml/2006/table">
            <a:tbl>
              <a:tblPr firstRow="1" bandRow="1">
                <a:tableStyleId>{5C22544A-7EE6-4342-B048-85BDC9FD1C3A}</a:tableStyleId>
              </a:tblPr>
              <a:tblGrid>
                <a:gridCol w="6096665">
                  <a:extLst>
                    <a:ext uri="{9D8B030D-6E8A-4147-A177-3AD203B41FA5}">
                      <a16:colId xmlns:a16="http://schemas.microsoft.com/office/drawing/2014/main" val="1470604376"/>
                    </a:ext>
                  </a:extLst>
                </a:gridCol>
                <a:gridCol w="6087335">
                  <a:extLst>
                    <a:ext uri="{9D8B030D-6E8A-4147-A177-3AD203B41FA5}">
                      <a16:colId xmlns:a16="http://schemas.microsoft.com/office/drawing/2014/main" val="588129664"/>
                    </a:ext>
                  </a:extLst>
                </a:gridCol>
              </a:tblGrid>
              <a:tr h="1407081">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98/Instaurer des mécanismes de mises en cache pour la totalité des contenus transférés dont il a le contrôle.</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568683">
                <a:tc>
                  <a:txBody>
                    <a:bodyPr/>
                    <a:lstStyle/>
                    <a:p>
                      <a:pPr marL="0" indent="0">
                        <a:buFont typeface="Arial" panose="020B0604020202020204" pitchFamily="34" charset="0"/>
                        <a:buNone/>
                      </a:pPr>
                      <a:r>
                        <a:rPr lang="fr-FR" sz="1400" dirty="0" smtClean="0">
                          <a:solidFill>
                            <a:schemeClr val="tx1"/>
                          </a:solidFill>
                        </a:rPr>
                        <a:t>La stratégie de cache doit être adaptée au contexte d’application, au type de contenus (images, fichiers CSS,</a:t>
                      </a:r>
                      <a:r>
                        <a:rPr lang="fr-FR" sz="1400" baseline="0" dirty="0" smtClean="0">
                          <a:solidFill>
                            <a:schemeClr val="tx1"/>
                          </a:solidFill>
                        </a:rPr>
                        <a:t> </a:t>
                      </a:r>
                      <a:r>
                        <a:rPr lang="fr-FR" sz="1400" dirty="0" smtClean="0">
                          <a:solidFill>
                            <a:schemeClr val="tx1"/>
                          </a:solidFill>
                        </a:rPr>
                        <a:t>JavaScript, etc.) qui sont transférés fréquemment depuis le serveur vers le client et au scénario d’usage.</a:t>
                      </a:r>
                    </a:p>
                    <a:p>
                      <a:pPr marL="0" indent="0">
                        <a:buFont typeface="Arial" panose="020B0604020202020204" pitchFamily="34" charset="0"/>
                        <a:buNone/>
                      </a:pPr>
                      <a:endParaRPr lang="fr-FR" sz="1400" dirty="0" smtClean="0">
                        <a:solidFill>
                          <a:schemeClr val="tx1"/>
                        </a:solidFill>
                      </a:endParaRPr>
                    </a:p>
                    <a:p>
                      <a:pPr marL="0" indent="0">
                        <a:buFont typeface="Arial" panose="020B0604020202020204" pitchFamily="34" charset="0"/>
                        <a:buNone/>
                      </a:pPr>
                      <a:r>
                        <a:rPr lang="fr-FR" sz="1400" dirty="0" smtClean="0">
                          <a:solidFill>
                            <a:schemeClr val="tx1"/>
                          </a:solidFill>
                        </a:rPr>
                        <a:t>Mettre en place un mécanisme de cache côté utilisateur, en </a:t>
                      </a:r>
                      <a:r>
                        <a:rPr lang="fr-FR" sz="1400" dirty="0" err="1" smtClean="0">
                          <a:solidFill>
                            <a:schemeClr val="tx1"/>
                          </a:solidFill>
                        </a:rPr>
                        <a:t>frontend</a:t>
                      </a:r>
                      <a:r>
                        <a:rPr lang="fr-FR" sz="1400" dirty="0" smtClean="0">
                          <a:solidFill>
                            <a:schemeClr val="tx1"/>
                          </a:solidFill>
                        </a:rPr>
                        <a:t> (cache HTTP par exemple). La gestion</a:t>
                      </a:r>
                      <a:r>
                        <a:rPr lang="fr-FR" sz="1400" baseline="0" dirty="0" smtClean="0">
                          <a:solidFill>
                            <a:schemeClr val="tx1"/>
                          </a:solidFill>
                        </a:rPr>
                        <a:t> </a:t>
                      </a:r>
                      <a:r>
                        <a:rPr lang="fr-FR" sz="1400" dirty="0" smtClean="0">
                          <a:solidFill>
                            <a:schemeClr val="tx1"/>
                          </a:solidFill>
                        </a:rPr>
                        <a:t>du mode déconnecté (offline) est parfois très pertinente, parfois non.</a:t>
                      </a:r>
                    </a:p>
                    <a:p>
                      <a:pPr marL="0" indent="0">
                        <a:buFont typeface="Arial" panose="020B0604020202020204" pitchFamily="34" charset="0"/>
                        <a:buNone/>
                      </a:pPr>
                      <a:endParaRPr lang="fr-FR" sz="1400" dirty="0" smtClean="0">
                        <a:solidFill>
                          <a:schemeClr val="tx1"/>
                        </a:solidFill>
                      </a:endParaRPr>
                    </a:p>
                    <a:p>
                      <a:pPr marL="0" indent="0">
                        <a:buFont typeface="Arial" panose="020B0604020202020204" pitchFamily="34" charset="0"/>
                        <a:buNone/>
                      </a:pPr>
                      <a:r>
                        <a:rPr lang="fr-FR" sz="1400" dirty="0" smtClean="0">
                          <a:solidFill>
                            <a:schemeClr val="tx1"/>
                          </a:solidFill>
                        </a:rPr>
                        <a:t>Lorsqu’une même information est susceptible d’être requêtée plusieurs fois, privilégier un stockage</a:t>
                      </a:r>
                      <a:r>
                        <a:rPr lang="fr-FR" sz="1400" baseline="0" dirty="0" smtClean="0">
                          <a:solidFill>
                            <a:schemeClr val="tx1"/>
                          </a:solidFill>
                        </a:rPr>
                        <a:t> </a:t>
                      </a:r>
                      <a:r>
                        <a:rPr lang="fr-FR" sz="1400" dirty="0" smtClean="0">
                          <a:solidFill>
                            <a:schemeClr val="tx1"/>
                          </a:solidFill>
                        </a:rPr>
                        <a:t>temporaire local pour éviter un trafic réseau inutile. Par exemple, il est possible de stocker des données</a:t>
                      </a:r>
                    </a:p>
                    <a:p>
                      <a:pPr marL="0" indent="0">
                        <a:buFont typeface="Arial" panose="020B0604020202020204" pitchFamily="34" charset="0"/>
                        <a:buNone/>
                      </a:pPr>
                      <a:r>
                        <a:rPr lang="fr-FR" sz="1400" dirty="0" smtClean="0">
                          <a:solidFill>
                            <a:schemeClr val="tx1"/>
                          </a:solidFill>
                        </a:rPr>
                        <a:t>souvent utilisées dans le navigateur web, afin de limiter les échanges avec le serveur.</a:t>
                      </a:r>
                      <a:endParaRPr lang="fr-FR" sz="1400" dirty="0">
                        <a:solidFill>
                          <a:schemeClr val="tx1"/>
                        </a:solidFill>
                      </a:endParaRPr>
                    </a:p>
                  </a:txBody>
                  <a:tcPr/>
                </a:tc>
                <a:tc>
                  <a:txBody>
                    <a:bodyPr/>
                    <a:lstStyle/>
                    <a:p>
                      <a:r>
                        <a:rPr lang="fr-FR" sz="1400" dirty="0" smtClean="0">
                          <a:solidFill>
                            <a:schemeClr val="tx1"/>
                          </a:solidFill>
                        </a:rPr>
                        <a:t>Pour valider ce critère, un mécanisme de cache côté utilisateur est mis en place, quand la solution est</a:t>
                      </a:r>
                      <a:r>
                        <a:rPr lang="fr-FR" sz="1400" baseline="0" dirty="0" smtClean="0">
                          <a:solidFill>
                            <a:schemeClr val="tx1"/>
                          </a:solidFill>
                        </a:rPr>
                        <a:t> </a:t>
                      </a:r>
                      <a:r>
                        <a:rPr lang="fr-FR" sz="1400" dirty="0" smtClean="0">
                          <a:solidFill>
                            <a:schemeClr val="tx1"/>
                          </a:solidFill>
                        </a:rPr>
                        <a:t>pertinente. </a:t>
                      </a:r>
                    </a:p>
                    <a:p>
                      <a:endParaRPr lang="fr-FR" sz="1400" dirty="0" smtClean="0">
                        <a:solidFill>
                          <a:schemeClr val="tx1"/>
                        </a:solidFill>
                      </a:endParaRPr>
                    </a:p>
                    <a:p>
                      <a:r>
                        <a:rPr lang="fr-FR" sz="1400" dirty="0" smtClean="0">
                          <a:solidFill>
                            <a:schemeClr val="tx1"/>
                          </a:solidFill>
                        </a:rPr>
                        <a:t>En termes de moyens de test, accéder à plusieurs reprises au service et vérifier si les contenus</a:t>
                      </a:r>
                      <a:r>
                        <a:rPr lang="fr-FR" sz="1400" baseline="0" dirty="0" smtClean="0">
                          <a:solidFill>
                            <a:schemeClr val="tx1"/>
                          </a:solidFill>
                        </a:rPr>
                        <a:t> </a:t>
                      </a:r>
                      <a:r>
                        <a:rPr lang="fr-FR" sz="1400" dirty="0" smtClean="0">
                          <a:solidFill>
                            <a:schemeClr val="tx1"/>
                          </a:solidFill>
                        </a:rPr>
                        <a:t>sont récupérés à partir du cache plutôt que du serveur.</a:t>
                      </a:r>
                    </a:p>
                    <a:p>
                      <a:endParaRPr lang="fr-FR" sz="1400" dirty="0" smtClean="0">
                        <a:solidFill>
                          <a:schemeClr val="tx1"/>
                        </a:solidFill>
                      </a:endParaRPr>
                    </a:p>
                    <a:p>
                      <a:r>
                        <a:rPr lang="fr-FR" sz="1400" dirty="0" smtClean="0">
                          <a:solidFill>
                            <a:schemeClr val="tx1"/>
                          </a:solidFill>
                        </a:rPr>
                        <a:t>Expliciter dans la déclaration d’écoconception du service la stratégie de cache </a:t>
                      </a:r>
                      <a:r>
                        <a:rPr lang="fr-FR" sz="1400" dirty="0" err="1" smtClean="0">
                          <a:solidFill>
                            <a:schemeClr val="tx1"/>
                          </a:solidFill>
                        </a:rPr>
                        <a:t>frontend</a:t>
                      </a:r>
                      <a:r>
                        <a:rPr lang="fr-FR" sz="1400" dirty="0" smtClean="0">
                          <a:solidFill>
                            <a:schemeClr val="tx1"/>
                          </a:solidFill>
                        </a:rPr>
                        <a:t>, y compris son</a:t>
                      </a:r>
                      <a:r>
                        <a:rPr lang="fr-FR" sz="1400" baseline="0" dirty="0" smtClean="0">
                          <a:solidFill>
                            <a:schemeClr val="tx1"/>
                          </a:solidFill>
                        </a:rPr>
                        <a:t> </a:t>
                      </a:r>
                      <a:r>
                        <a:rPr lang="fr-FR" sz="1400" dirty="0" smtClean="0">
                          <a:solidFill>
                            <a:schemeClr val="tx1"/>
                          </a:solidFill>
                        </a:rPr>
                        <a:t>optimisation au regard du type de contenu, du contexte d’application et des scénarios d’usage.</a:t>
                      </a:r>
                      <a:endParaRPr lang="fr-FR" sz="14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2022 et 2024</a:t>
                      </a:r>
                    </a:p>
                    <a:p>
                      <a:r>
                        <a:rPr lang="fr-FR" sz="1400" b="0" dirty="0" smtClean="0">
                          <a:solidFill>
                            <a:srgbClr val="2F5597"/>
                          </a:solidFill>
                        </a:rPr>
                        <a:t>6.2 Le service numérique utilise-t-il des mécanismes de mise en cache</a:t>
                      </a:r>
                      <a:r>
                        <a:rPr lang="fr-FR" sz="1400" b="0" baseline="0" dirty="0" smtClean="0">
                          <a:solidFill>
                            <a:srgbClr val="2F5597"/>
                          </a:solidFill>
                        </a:rPr>
                        <a:t> </a:t>
                      </a:r>
                      <a:r>
                        <a:rPr lang="fr-FR" sz="1400" b="0" dirty="0" smtClean="0">
                          <a:solidFill>
                            <a:srgbClr val="2F5597"/>
                          </a:solidFill>
                        </a:rPr>
                        <a:t>pour la totalité des contenus transférés dont il a le contrôle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501989104"/>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766029377"/>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28029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99/Les informations collectées sur le formulaire sont limitées au strict minimum.</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95465">
                <a:tc>
                  <a:txBody>
                    <a:bodyPr/>
                    <a:lstStyle/>
                    <a:p>
                      <a:pPr marL="0" indent="0">
                        <a:buFont typeface="Arial" panose="020B0604020202020204" pitchFamily="34" charset="0"/>
                        <a:buNone/>
                      </a:pPr>
                      <a:r>
                        <a:rPr lang="fr-FR" sz="1600" dirty="0" smtClean="0">
                          <a:solidFill>
                            <a:schemeClr val="tx1"/>
                          </a:solidFill>
                        </a:rPr>
                        <a:t>La tentation est souvent grande d’utiliser des formulaires standards avec un certain nombre de</a:t>
                      </a:r>
                      <a:r>
                        <a:rPr lang="fr-FR" sz="1600" baseline="0" dirty="0" smtClean="0">
                          <a:solidFill>
                            <a:schemeClr val="tx1"/>
                          </a:solidFill>
                        </a:rPr>
                        <a:t> </a:t>
                      </a:r>
                      <a:r>
                        <a:rPr lang="fr-FR" sz="1600" dirty="0" smtClean="0">
                          <a:solidFill>
                            <a:schemeClr val="tx1"/>
                          </a:solidFill>
                        </a:rPr>
                        <a:t>champs prédéfinis. Encore une fois, l’enjeu est d’interroger l’utilité du ou des champs, et de ne</a:t>
                      </a:r>
                      <a:r>
                        <a:rPr lang="fr-FR" sz="1600" baseline="0" dirty="0" smtClean="0">
                          <a:solidFill>
                            <a:schemeClr val="tx1"/>
                          </a:solidFill>
                        </a:rPr>
                        <a:t> </a:t>
                      </a:r>
                      <a:r>
                        <a:rPr lang="fr-FR" sz="1600" dirty="0" smtClean="0">
                          <a:solidFill>
                            <a:schemeClr val="tx1"/>
                          </a:solidFill>
                        </a:rPr>
                        <a:t>demander que ce qui est vraiment nécessaire.</a:t>
                      </a:r>
                      <a:endParaRPr lang="fr-FR" sz="1600" dirty="0">
                        <a:solidFill>
                          <a:schemeClr val="tx1"/>
                        </a:solidFill>
                      </a:endParaRPr>
                    </a:p>
                  </a:txBody>
                  <a:tcPr/>
                </a:tc>
                <a:tc>
                  <a:txBody>
                    <a:bodyPr/>
                    <a:lstStyle/>
                    <a:p>
                      <a:r>
                        <a:rPr lang="fr-FR" sz="1600" dirty="0" smtClean="0">
                          <a:solidFill>
                            <a:schemeClr val="tx1"/>
                          </a:solidFill>
                        </a:rPr>
                        <a:t>Les informations collectées sur le formulaire sont limitées au strict minimum</a:t>
                      </a:r>
                      <a:r>
                        <a:rPr lang="fr-FR" sz="1600" baseline="0" dirty="0" smtClean="0">
                          <a:solidFill>
                            <a:schemeClr val="tx1"/>
                          </a:solidFill>
                        </a:rPr>
                        <a:t> ? OUI/NON</a:t>
                      </a:r>
                      <a:endParaRPr lang="fr-FR" sz="1600" dirty="0" smtClean="0">
                        <a:solidFill>
                          <a:schemeClr val="tx1"/>
                        </a:solidFill>
                      </a:endParaRP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86982" y="0"/>
          <a:ext cx="6105018" cy="1112520"/>
        </p:xfrm>
        <a:graphic>
          <a:graphicData uri="http://schemas.openxmlformats.org/drawingml/2006/table">
            <a:tbl>
              <a:tblPr firstRow="1" bandRow="1">
                <a:tableStyleId>{5C22544A-7EE6-4342-B048-85BDC9FD1C3A}</a:tableStyleId>
              </a:tblPr>
              <a:tblGrid>
                <a:gridCol w="3052509">
                  <a:extLst>
                    <a:ext uri="{9D8B030D-6E8A-4147-A177-3AD203B41FA5}">
                      <a16:colId xmlns:a16="http://schemas.microsoft.com/office/drawing/2014/main" val="2625270736"/>
                    </a:ext>
                  </a:extLst>
                </a:gridCol>
                <a:gridCol w="3052509">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Faible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Le guide d’écoconception de services numériques</a:t>
                      </a:r>
                    </a:p>
                    <a:p>
                      <a:r>
                        <a:rPr lang="fr-FR" sz="1400" b="0" dirty="0" smtClean="0">
                          <a:solidFill>
                            <a:srgbClr val="2F5597"/>
                          </a:solidFill>
                        </a:rPr>
                        <a:t>7. Les formulaires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188783184"/>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065836214"/>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92375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100/Optimiser</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la sollicitation des</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environnements de développement, de </a:t>
                      </a:r>
                      <a:r>
                        <a:rPr lang="fr-FR" sz="1800" b="1" u="sng" kern="1200" dirty="0" err="1" smtClean="0">
                          <a:solidFill>
                            <a:schemeClr val="bg1"/>
                          </a:solidFill>
                          <a:latin typeface="+mn-lt"/>
                          <a:ea typeface="+mn-ea"/>
                          <a:cs typeface="+mn-cs"/>
                        </a:rPr>
                        <a:t>préproduction</a:t>
                      </a:r>
                      <a:r>
                        <a:rPr lang="fr-FR" sz="1800" b="1" u="sng" kern="1200" dirty="0" smtClean="0">
                          <a:solidFill>
                            <a:schemeClr val="bg1"/>
                          </a:solidFill>
                          <a:latin typeface="+mn-lt"/>
                          <a:ea typeface="+mn-ea"/>
                          <a:cs typeface="+mn-cs"/>
                        </a:rPr>
                        <a:t> ou de test en</a:t>
                      </a:r>
                      <a:r>
                        <a:rPr lang="fr-FR" sz="1800" b="1" u="sng" kern="1200" baseline="0" dirty="0" smtClean="0">
                          <a:solidFill>
                            <a:schemeClr val="bg1"/>
                          </a:solidFill>
                          <a:latin typeface="+mn-lt"/>
                          <a:ea typeface="+mn-ea"/>
                          <a:cs typeface="+mn-cs"/>
                        </a:rPr>
                        <a:t> </a:t>
                      </a:r>
                      <a:r>
                        <a:rPr lang="fr-FR" sz="1800" b="1" u="sng" kern="1200" dirty="0" smtClean="0">
                          <a:solidFill>
                            <a:schemeClr val="bg1"/>
                          </a:solidFill>
                          <a:latin typeface="+mn-lt"/>
                          <a:ea typeface="+mn-ea"/>
                          <a:cs typeface="+mn-cs"/>
                        </a:rPr>
                        <a:t>fonction de ses besoins</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52008">
                <a:tc>
                  <a:txBody>
                    <a:bodyPr/>
                    <a:lstStyle/>
                    <a:p>
                      <a:pPr marL="0" indent="0">
                        <a:buFont typeface="Arial" panose="020B0604020202020204" pitchFamily="34" charset="0"/>
                        <a:buNone/>
                      </a:pPr>
                      <a:r>
                        <a:rPr lang="fr-FR" sz="1600" dirty="0" smtClean="0">
                          <a:solidFill>
                            <a:schemeClr val="tx1"/>
                          </a:solidFill>
                        </a:rPr>
                        <a:t>S’appuyer sur des environnements de développement, de </a:t>
                      </a:r>
                      <a:r>
                        <a:rPr lang="fr-FR" sz="1600" dirty="0" err="1" smtClean="0">
                          <a:solidFill>
                            <a:schemeClr val="tx1"/>
                          </a:solidFill>
                        </a:rPr>
                        <a:t>préproduction</a:t>
                      </a:r>
                      <a:r>
                        <a:rPr lang="fr-FR" sz="1600" dirty="0" smtClean="0">
                          <a:solidFill>
                            <a:schemeClr val="tx1"/>
                          </a:solidFill>
                        </a:rPr>
                        <a:t> ou de test mutualisés (par</a:t>
                      </a:r>
                      <a:r>
                        <a:rPr lang="fr-FR" sz="1600" baseline="0" dirty="0" smtClean="0">
                          <a:solidFill>
                            <a:schemeClr val="tx1"/>
                          </a:solidFill>
                        </a:rPr>
                        <a:t> </a:t>
                      </a:r>
                      <a:r>
                        <a:rPr lang="fr-FR" sz="1600" dirty="0" smtClean="0">
                          <a:solidFill>
                            <a:schemeClr val="tx1"/>
                          </a:solidFill>
                        </a:rPr>
                        <a:t>exemple : une machine virtuelle).</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Si cela n’est pas possible, désactivez-ces environnements sur les plages horaires où ils sont inutilisés (par</a:t>
                      </a:r>
                      <a:r>
                        <a:rPr lang="fr-FR" sz="1600" baseline="0" dirty="0" smtClean="0">
                          <a:solidFill>
                            <a:schemeClr val="tx1"/>
                          </a:solidFill>
                        </a:rPr>
                        <a:t> </a:t>
                      </a:r>
                      <a:r>
                        <a:rPr lang="fr-FR" sz="1600" dirty="0" smtClean="0">
                          <a:solidFill>
                            <a:schemeClr val="tx1"/>
                          </a:solidFill>
                        </a:rPr>
                        <a:t>exemple la nuit).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La remise en service de ces environnements peut se faire automatiquement à une heure</a:t>
                      </a:r>
                      <a:r>
                        <a:rPr lang="fr-FR" sz="1600" baseline="0" dirty="0" smtClean="0">
                          <a:solidFill>
                            <a:schemeClr val="tx1"/>
                          </a:solidFill>
                        </a:rPr>
                        <a:t> </a:t>
                      </a:r>
                      <a:r>
                        <a:rPr lang="fr-FR" sz="1600" dirty="0" smtClean="0">
                          <a:solidFill>
                            <a:schemeClr val="tx1"/>
                          </a:solidFill>
                        </a:rPr>
                        <a:t>donnée, via un signal permettant de savoir qu’ils pourraient être prochainement utilisés, ou manuellement.</a:t>
                      </a:r>
                      <a:endParaRPr lang="fr-FR" sz="1600" dirty="0">
                        <a:solidFill>
                          <a:schemeClr val="tx1"/>
                        </a:solidFill>
                      </a:endParaRPr>
                    </a:p>
                  </a:txBody>
                  <a:tcPr/>
                </a:tc>
                <a:tc>
                  <a:txBody>
                    <a:bodyPr/>
                    <a:lstStyle/>
                    <a:p>
                      <a:r>
                        <a:rPr lang="fr-FR" sz="1600" dirty="0" smtClean="0">
                          <a:solidFill>
                            <a:schemeClr val="tx1"/>
                          </a:solidFill>
                        </a:rPr>
                        <a:t>Le critère est validé si le service s’appuie sur des environnements de développement / </a:t>
                      </a:r>
                      <a:r>
                        <a:rPr lang="fr-FR" sz="1600" dirty="0" err="1" smtClean="0">
                          <a:solidFill>
                            <a:schemeClr val="tx1"/>
                          </a:solidFill>
                        </a:rPr>
                        <a:t>préproduction</a:t>
                      </a:r>
                      <a:r>
                        <a:rPr lang="fr-FR" sz="1600" dirty="0" smtClean="0">
                          <a:solidFill>
                            <a:schemeClr val="tx1"/>
                          </a:solidFill>
                        </a:rPr>
                        <a:t> / tests</a:t>
                      </a:r>
                      <a:r>
                        <a:rPr lang="fr-FR" sz="1600" baseline="0" dirty="0" smtClean="0">
                          <a:solidFill>
                            <a:schemeClr val="tx1"/>
                          </a:solidFill>
                        </a:rPr>
                        <a:t> </a:t>
                      </a:r>
                      <a:r>
                        <a:rPr lang="fr-FR" sz="1600" dirty="0" smtClean="0">
                          <a:solidFill>
                            <a:schemeClr val="tx1"/>
                          </a:solidFill>
                        </a:rPr>
                        <a:t>mutualisés, ou bien si ces environnements sont désactivés sur les plages horaires où ils sont inutilisés</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Faible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731520"/>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2024</a:t>
                      </a:r>
                    </a:p>
                    <a:p>
                      <a:r>
                        <a:rPr lang="fr-FR" sz="1400" b="0" dirty="0" smtClean="0">
                          <a:solidFill>
                            <a:srgbClr val="2F5597"/>
                          </a:solidFill>
                        </a:rPr>
                        <a:t>3.7 Le service numérique optimise-t-il la sollicitation des</a:t>
                      </a:r>
                      <a:r>
                        <a:rPr lang="fr-FR" sz="1400" b="0" baseline="0" dirty="0" smtClean="0">
                          <a:solidFill>
                            <a:srgbClr val="2F5597"/>
                          </a:solidFill>
                        </a:rPr>
                        <a:t> </a:t>
                      </a:r>
                      <a:r>
                        <a:rPr lang="fr-FR" sz="1400" b="0" dirty="0" smtClean="0">
                          <a:solidFill>
                            <a:srgbClr val="2F5597"/>
                          </a:solidFill>
                        </a:rPr>
                        <a:t>environnements de développement, de </a:t>
                      </a:r>
                      <a:r>
                        <a:rPr lang="fr-FR" sz="1400" b="0" dirty="0" err="1" smtClean="0">
                          <a:solidFill>
                            <a:srgbClr val="2F5597"/>
                          </a:solidFill>
                        </a:rPr>
                        <a:t>préproduction</a:t>
                      </a:r>
                      <a:r>
                        <a:rPr lang="fr-FR" sz="1400" b="0" dirty="0" smtClean="0">
                          <a:solidFill>
                            <a:srgbClr val="2F5597"/>
                          </a:solidFill>
                        </a:rPr>
                        <a:t> ou de test en</a:t>
                      </a:r>
                    </a:p>
                    <a:p>
                      <a:r>
                        <a:rPr lang="fr-FR" sz="1400" b="0" dirty="0" smtClean="0">
                          <a:solidFill>
                            <a:srgbClr val="2F5597"/>
                          </a:solidFill>
                        </a:rPr>
                        <a:t>fonction de ses besoins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131020501"/>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808591543"/>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898678">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101/Attribuer la mémoire en fonction de l'usage réel</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77086">
                <a:tc>
                  <a:txBody>
                    <a:bodyPr/>
                    <a:lstStyle/>
                    <a:p>
                      <a:pPr marL="0" indent="0">
                        <a:buFont typeface="Arial" panose="020B0604020202020204" pitchFamily="34" charset="0"/>
                        <a:buNone/>
                      </a:pPr>
                      <a:r>
                        <a:rPr lang="fr-FR" sz="1600" dirty="0" smtClean="0">
                          <a:solidFill>
                            <a:schemeClr val="tx1"/>
                          </a:solidFill>
                        </a:rPr>
                        <a:t>L'adaptation et le suivi des consommations de ressources physiques doivent faire intervenir des collectes sur les équipements physiques et sur tous les équipements virtuels qu'ils accueillent.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Les techniques de virtualisation récentes autorisent le changement de paramètres sans interruption pour, en fonction du besoin, augmenter ou diminuer les ressources (CPU/RAM) allouées aux machines virtuelles, voire migrer des machines virtuelles sur des serveurs physiques moins chargés.</a:t>
                      </a:r>
                      <a:endParaRPr lang="fr-FR" sz="1600" dirty="0">
                        <a:solidFill>
                          <a:schemeClr val="tx1"/>
                        </a:solidFill>
                      </a:endParaRPr>
                    </a:p>
                  </a:txBody>
                  <a:tcPr/>
                </a:tc>
                <a:tc>
                  <a:txBody>
                    <a:bodyPr/>
                    <a:lstStyle/>
                    <a:p>
                      <a:r>
                        <a:rPr lang="fr-FR" sz="1600" dirty="0" smtClean="0">
                          <a:solidFill>
                            <a:schemeClr val="tx1"/>
                          </a:solidFill>
                        </a:rPr>
                        <a:t>% de la mémoire réellement utilisée.</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Haute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GR491</a:t>
                      </a:r>
                    </a:p>
                    <a:p>
                      <a:r>
                        <a:rPr lang="fr-FR" sz="1400" b="0" dirty="0" smtClean="0">
                          <a:solidFill>
                            <a:srgbClr val="2F5597"/>
                          </a:solidFill>
                        </a:rPr>
                        <a:t>La mémoire attribuée est-elle fonction de l'usage réel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283731037"/>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726184487"/>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864755">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102/Attribuer le nombre de cœurs en fonction de l'usage réel</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111009">
                <a:tc>
                  <a:txBody>
                    <a:bodyPr/>
                    <a:lstStyle/>
                    <a:p>
                      <a:pPr marL="0" indent="0">
                        <a:buFont typeface="Arial" panose="020B0604020202020204" pitchFamily="34" charset="0"/>
                        <a:buNone/>
                      </a:pPr>
                      <a:r>
                        <a:rPr lang="fr-FR" sz="1600" dirty="0" smtClean="0">
                          <a:solidFill>
                            <a:schemeClr val="tx1"/>
                          </a:solidFill>
                        </a:rPr>
                        <a:t>Les ressources CPU accessibles par les machines virtuelles sont fonction du nombre de processeurs, du nombre de </a:t>
                      </a:r>
                      <a:r>
                        <a:rPr lang="fr-FR" sz="1600" dirty="0" err="1" smtClean="0">
                          <a:solidFill>
                            <a:schemeClr val="tx1"/>
                          </a:solidFill>
                        </a:rPr>
                        <a:t>coeurs</a:t>
                      </a:r>
                      <a:r>
                        <a:rPr lang="fr-FR" sz="1600" dirty="0" smtClean="0">
                          <a:solidFill>
                            <a:schemeClr val="tx1"/>
                          </a:solidFill>
                        </a:rPr>
                        <a:t> de chaque processeur et des capacités d'</a:t>
                      </a:r>
                      <a:r>
                        <a:rPr lang="fr-FR" sz="1600" dirty="0" err="1" smtClean="0">
                          <a:solidFill>
                            <a:schemeClr val="tx1"/>
                          </a:solidFill>
                        </a:rPr>
                        <a:t>hyperThreading</a:t>
                      </a:r>
                      <a:r>
                        <a:rPr lang="fr-FR" sz="1600" dirty="0" smtClean="0">
                          <a:solidFill>
                            <a:schemeClr val="tx1"/>
                          </a:solidFill>
                        </a:rPr>
                        <a:t>.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Ce nombre de composants CPU constitue la base des ressources virtuelles que les machines virtuelles pourront allouer.</a:t>
                      </a:r>
                      <a:endParaRPr lang="fr-FR" sz="1600" dirty="0">
                        <a:solidFill>
                          <a:schemeClr val="tx1"/>
                        </a:solidFill>
                      </a:endParaRPr>
                    </a:p>
                  </a:txBody>
                  <a:tcPr/>
                </a:tc>
                <a:tc>
                  <a:txBody>
                    <a:bodyPr/>
                    <a:lstStyle/>
                    <a:p>
                      <a:r>
                        <a:rPr lang="fr-FR" sz="1600" dirty="0" smtClean="0">
                          <a:solidFill>
                            <a:schemeClr val="tx1"/>
                          </a:solidFill>
                        </a:rPr>
                        <a:t>% de cœurs réellement utilisé.</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Haute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GR491</a:t>
                      </a:r>
                    </a:p>
                    <a:p>
                      <a:r>
                        <a:rPr lang="fr-FR" sz="1400" b="0" dirty="0" smtClean="0">
                          <a:solidFill>
                            <a:srgbClr val="2F5597"/>
                          </a:solidFill>
                        </a:rPr>
                        <a:t>Le nombre de </a:t>
                      </a:r>
                      <a:r>
                        <a:rPr lang="fr-FR" sz="1400" b="0" dirty="0" err="1" smtClean="0">
                          <a:solidFill>
                            <a:srgbClr val="2F5597"/>
                          </a:solidFill>
                        </a:rPr>
                        <a:t>coeurs</a:t>
                      </a:r>
                      <a:r>
                        <a:rPr lang="fr-FR" sz="1400" b="0" dirty="0" smtClean="0">
                          <a:solidFill>
                            <a:srgbClr val="2F5597"/>
                          </a:solidFill>
                        </a:rPr>
                        <a:t> attribués est-il fonction de l'usage réel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854470589"/>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287929899"/>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95671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103/Dimensionner la taille du parc physique en adéquation avec le volume de machines virtuelles à exécuter</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19048">
                <a:tc>
                  <a:txBody>
                    <a:bodyPr/>
                    <a:lstStyle/>
                    <a:p>
                      <a:pPr marL="0" indent="0">
                        <a:buFont typeface="Arial" panose="020B0604020202020204" pitchFamily="34" charset="0"/>
                        <a:buNone/>
                      </a:pPr>
                      <a:r>
                        <a:rPr lang="fr-FR" sz="1600" dirty="0" smtClean="0">
                          <a:solidFill>
                            <a:schemeClr val="tx1"/>
                          </a:solidFill>
                        </a:rPr>
                        <a:t>Les techniques de virtualisation permettent de mutualiser les ressources physiques d'un serveur et d'un espace de stockage.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Cette abstraction peut optimiser l'emploi du matériel, mais peut aussi conduire à sous-utiliser les équipements physiques et déployer de nouveaux équipements avant que le besoin ne soit réellement présent.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L'impact environnemental total d'un serveur et de son utilisation est important.</a:t>
                      </a:r>
                      <a:endParaRPr lang="fr-FR" sz="1600" dirty="0">
                        <a:solidFill>
                          <a:schemeClr val="tx1"/>
                        </a:solidFill>
                      </a:endParaRPr>
                    </a:p>
                  </a:txBody>
                  <a:tcPr/>
                </a:tc>
                <a:tc>
                  <a:txBody>
                    <a:bodyPr/>
                    <a:lstStyle/>
                    <a:p>
                      <a:r>
                        <a:rPr lang="fr-FR" sz="1600" dirty="0" smtClean="0">
                          <a:solidFill>
                            <a:schemeClr val="tx1"/>
                          </a:solidFill>
                        </a:rPr>
                        <a:t>La taille du parc physique est-il en adéquation avec le volume de machines virtuelles à exécuter ? OUI/NON</a:t>
                      </a:r>
                    </a:p>
                    <a:p>
                      <a:endParaRPr lang="fr-FR" sz="1600" dirty="0" smtClean="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smtClean="0">
                          <a:solidFill>
                            <a:schemeClr val="tx1"/>
                          </a:solidFill>
                        </a:rPr>
                        <a:t>L'allocation des ressources physiques par rapport aux machines virtuelles est-elle suivie ? OUI/NON</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Faible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GR491</a:t>
                      </a:r>
                    </a:p>
                    <a:p>
                      <a:r>
                        <a:rPr lang="fr-FR" sz="1400" b="0" dirty="0" smtClean="0">
                          <a:solidFill>
                            <a:srgbClr val="2F5597"/>
                          </a:solidFill>
                        </a:rPr>
                        <a:t>La taille du parc physique est-il en adéquation avec le volume de machines virtuelles à exécuter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037283316"/>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91578992"/>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964873">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104/Désactiver</a:t>
                      </a:r>
                      <a:r>
                        <a:rPr lang="fr-FR" sz="1800" b="1" u="sng" kern="1200" baseline="0" dirty="0" smtClean="0">
                          <a:solidFill>
                            <a:schemeClr val="bg1"/>
                          </a:solidFill>
                          <a:latin typeface="+mn-lt"/>
                          <a:ea typeface="+mn-ea"/>
                          <a:cs typeface="+mn-cs"/>
                        </a:rPr>
                        <a:t> les cœurs non utilisés</a:t>
                      </a:r>
                      <a:endParaRPr lang="fr-FR" sz="1800" b="1" u="sng" kern="1200" dirty="0" smtClean="0">
                        <a:solidFill>
                          <a:schemeClr val="bg1"/>
                        </a:solidFill>
                        <a:latin typeface="+mn-lt"/>
                        <a:ea typeface="+mn-ea"/>
                        <a:cs typeface="+mn-cs"/>
                      </a:endParaRP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10891">
                <a:tc>
                  <a:txBody>
                    <a:bodyPr/>
                    <a:lstStyle/>
                    <a:p>
                      <a:pPr marL="0" indent="0">
                        <a:buFont typeface="Arial" panose="020B0604020202020204" pitchFamily="34" charset="0"/>
                        <a:buNone/>
                      </a:pPr>
                      <a:r>
                        <a:rPr lang="fr-FR" sz="1600" dirty="0" smtClean="0">
                          <a:solidFill>
                            <a:schemeClr val="tx1"/>
                          </a:solidFill>
                        </a:rPr>
                        <a:t>Les services hébergés n'ont pas toujours les mêmes besoins de performance et subissent des variations fortes de charges, au cours de la journée, de la semaine, des mois, de l'année.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Les dimensionnements sont calibrés pour accepter les charges maximales qui peuvent être sur des plages de temps restreintes.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En dehors de ces périodes, le besoin de puissance est réduit et l'activité des systèmes doit être en mesure de se réduire dans les mêmes proportions pour ne pas monopoliser d'énergie inutilement.</a:t>
                      </a:r>
                      <a:endParaRPr lang="fr-FR" sz="1600" dirty="0">
                        <a:solidFill>
                          <a:schemeClr val="tx1"/>
                        </a:solidFill>
                      </a:endParaRPr>
                    </a:p>
                  </a:txBody>
                  <a:tcPr/>
                </a:tc>
                <a:tc>
                  <a:txBody>
                    <a:bodyPr/>
                    <a:lstStyle/>
                    <a:p>
                      <a:r>
                        <a:rPr lang="fr-FR" sz="1600" dirty="0" smtClean="0">
                          <a:solidFill>
                            <a:schemeClr val="tx1"/>
                          </a:solidFill>
                        </a:rPr>
                        <a:t>Les </a:t>
                      </a:r>
                      <a:r>
                        <a:rPr lang="fr-FR" sz="1600" dirty="0" err="1" smtClean="0">
                          <a:solidFill>
                            <a:schemeClr val="tx1"/>
                          </a:solidFill>
                        </a:rPr>
                        <a:t>coeurs</a:t>
                      </a:r>
                      <a:r>
                        <a:rPr lang="fr-FR" sz="1600" dirty="0" smtClean="0">
                          <a:solidFill>
                            <a:schemeClr val="tx1"/>
                          </a:solidFill>
                        </a:rPr>
                        <a:t> inutilisés sont-ils désactivés ? OUI/NON</a:t>
                      </a:r>
                    </a:p>
                    <a:p>
                      <a:endParaRPr lang="fr-FR" sz="1600" dirty="0" smtClean="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smtClean="0">
                          <a:solidFill>
                            <a:schemeClr val="tx1"/>
                          </a:solidFill>
                        </a:rPr>
                        <a:t>Les périodes de sous et </a:t>
                      </a:r>
                      <a:r>
                        <a:rPr lang="fr-FR" sz="1600" dirty="0" err="1" smtClean="0">
                          <a:solidFill>
                            <a:schemeClr val="tx1"/>
                          </a:solidFill>
                        </a:rPr>
                        <a:t>sur-charge</a:t>
                      </a:r>
                      <a:r>
                        <a:rPr lang="fr-FR" sz="1600" dirty="0" smtClean="0">
                          <a:solidFill>
                            <a:schemeClr val="tx1"/>
                          </a:solidFill>
                        </a:rPr>
                        <a:t> sont-elles anticipées ? OUI/NON</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Faible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Haute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GR491</a:t>
                      </a:r>
                    </a:p>
                    <a:p>
                      <a:r>
                        <a:rPr lang="fr-FR" sz="1400" b="0" dirty="0" smtClean="0">
                          <a:solidFill>
                            <a:srgbClr val="2F5597"/>
                          </a:solidFill>
                        </a:rPr>
                        <a:t>Les </a:t>
                      </a:r>
                      <a:r>
                        <a:rPr lang="fr-FR" sz="1400" b="0" dirty="0" err="1" smtClean="0">
                          <a:solidFill>
                            <a:srgbClr val="2F5597"/>
                          </a:solidFill>
                        </a:rPr>
                        <a:t>coeurs</a:t>
                      </a:r>
                      <a:r>
                        <a:rPr lang="fr-FR" sz="1400" b="0" dirty="0" smtClean="0">
                          <a:solidFill>
                            <a:srgbClr val="2F5597"/>
                          </a:solidFill>
                        </a:rPr>
                        <a:t> inutilisés sont-ils désactivés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748588826"/>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750804954"/>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81279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105/Mettre en place</a:t>
                      </a:r>
                      <a:r>
                        <a:rPr lang="fr-FR" sz="1800" b="1" u="sng" kern="1200" baseline="0" dirty="0" smtClean="0">
                          <a:solidFill>
                            <a:schemeClr val="bg1"/>
                          </a:solidFill>
                          <a:latin typeface="+mn-lt"/>
                          <a:ea typeface="+mn-ea"/>
                          <a:cs typeface="+mn-cs"/>
                        </a:rPr>
                        <a:t> un système de sauvegarde incrémentiel</a:t>
                      </a:r>
                      <a:endParaRPr lang="fr-FR" sz="1800" b="1" u="sng" kern="1200" dirty="0" smtClean="0">
                        <a:solidFill>
                          <a:schemeClr val="bg1"/>
                        </a:solidFill>
                        <a:latin typeface="+mn-lt"/>
                        <a:ea typeface="+mn-ea"/>
                        <a:cs typeface="+mn-cs"/>
                      </a:endParaRP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162965">
                <a:tc>
                  <a:txBody>
                    <a:bodyPr/>
                    <a:lstStyle/>
                    <a:p>
                      <a:pPr marL="0" indent="0">
                        <a:buFont typeface="Arial" panose="020B0604020202020204" pitchFamily="34" charset="0"/>
                        <a:buNone/>
                      </a:pPr>
                      <a:r>
                        <a:rPr lang="fr-FR" sz="1600" dirty="0" smtClean="0">
                          <a:solidFill>
                            <a:schemeClr val="tx1"/>
                          </a:solidFill>
                        </a:rPr>
                        <a:t>La sécurité est un des points clé des </a:t>
                      </a:r>
                      <a:r>
                        <a:rPr lang="fr-FR" sz="1600" dirty="0" err="1" smtClean="0">
                          <a:solidFill>
                            <a:schemeClr val="tx1"/>
                          </a:solidFill>
                        </a:rPr>
                        <a:t>datacenters</a:t>
                      </a:r>
                      <a:r>
                        <a:rPr lang="fr-FR" sz="1600" dirty="0" smtClean="0">
                          <a:solidFill>
                            <a:schemeClr val="tx1"/>
                          </a:solidFill>
                        </a:rPr>
                        <a:t>, les sauvegardes sont l'un des éléments participant à cette sécurisation. La volumétrie des sauvegardes est cumulative.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Unitairement le volume de données à sauvegarder tend à croître, les différents jeux de sauvegardes multiplient cet effet. Les données non modifiées n'ont pas de raison d'encombrer inutilement des espaces de sauvegarde.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Les sauvegardes incrémentales réduisent l'impact environnemental de ce processus. </a:t>
                      </a:r>
                    </a:p>
                    <a:p>
                      <a:pPr marL="0" indent="0">
                        <a:buFont typeface="Arial" panose="020B0604020202020204" pitchFamily="34" charset="0"/>
                        <a:buNone/>
                      </a:pPr>
                      <a:r>
                        <a:rPr lang="fr-FR" sz="1600" dirty="0" smtClean="0">
                          <a:solidFill>
                            <a:schemeClr val="tx1"/>
                          </a:solidFill>
                        </a:rPr>
                        <a:t>Certaines solutions sont en mesure de gérer des incréments, d'autres ne savent gérer que des archives totales qui augmentent l'empreinte environnementale.</a:t>
                      </a:r>
                      <a:endParaRPr lang="fr-FR" sz="1600" dirty="0">
                        <a:solidFill>
                          <a:schemeClr val="tx1"/>
                        </a:solidFill>
                      </a:endParaRPr>
                    </a:p>
                  </a:txBody>
                  <a:tcPr/>
                </a:tc>
                <a:tc>
                  <a:txBody>
                    <a:bodyPr/>
                    <a:lstStyle/>
                    <a:p>
                      <a:r>
                        <a:rPr lang="fr-FR" sz="1600" dirty="0" smtClean="0">
                          <a:solidFill>
                            <a:schemeClr val="tx1"/>
                          </a:solidFill>
                        </a:rPr>
                        <a:t>Le système de sauvegarde est-il incrémentiel (optimisation disque) ? OUI/NON</a:t>
                      </a:r>
                    </a:p>
                    <a:p>
                      <a:endParaRPr lang="fr-FR" sz="1600" dirty="0" smtClean="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Faible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GR491</a:t>
                      </a:r>
                    </a:p>
                    <a:p>
                      <a:r>
                        <a:rPr lang="fr-FR" sz="1400" b="0" dirty="0" smtClean="0">
                          <a:solidFill>
                            <a:srgbClr val="2F5597"/>
                          </a:solidFill>
                        </a:rPr>
                        <a:t>Le système de sauvegarde est-il incrémentiel (optimisation disque)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057481388"/>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005260135"/>
              </p:ext>
            </p:extLst>
          </p:nvPr>
        </p:nvGraphicFramePr>
        <p:xfrm>
          <a:off x="1"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940303">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106/Exposer tous</a:t>
                      </a:r>
                      <a:r>
                        <a:rPr lang="fr-FR" sz="1800" b="1" u="sng" kern="1200" baseline="0" dirty="0" smtClean="0">
                          <a:solidFill>
                            <a:schemeClr val="bg1"/>
                          </a:solidFill>
                          <a:latin typeface="+mn-lt"/>
                          <a:ea typeface="+mn-ea"/>
                          <a:cs typeface="+mn-cs"/>
                        </a:rPr>
                        <a:t> les indicateurs des fournisseurs</a:t>
                      </a:r>
                      <a:endParaRPr lang="fr-FR" sz="1800" b="1" u="sng" kern="1200" dirty="0" smtClean="0">
                        <a:solidFill>
                          <a:schemeClr val="bg1"/>
                        </a:solidFill>
                        <a:latin typeface="+mn-lt"/>
                        <a:ea typeface="+mn-ea"/>
                        <a:cs typeface="+mn-cs"/>
                      </a:endParaRP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35461">
                <a:tc>
                  <a:txBody>
                    <a:bodyPr/>
                    <a:lstStyle/>
                    <a:p>
                      <a:pPr marL="0" indent="0">
                        <a:buFont typeface="Arial" panose="020B0604020202020204" pitchFamily="34" charset="0"/>
                        <a:buNone/>
                      </a:pPr>
                      <a:r>
                        <a:rPr lang="fr-FR" sz="1600" dirty="0" smtClean="0">
                          <a:solidFill>
                            <a:schemeClr val="tx1"/>
                          </a:solidFill>
                        </a:rPr>
                        <a:t>Le niveau de maturité NR des opérateurs de </a:t>
                      </a:r>
                      <a:r>
                        <a:rPr lang="fr-FR" sz="1600" dirty="0" err="1" smtClean="0">
                          <a:solidFill>
                            <a:schemeClr val="tx1"/>
                          </a:solidFill>
                        </a:rPr>
                        <a:t>datacenter</a:t>
                      </a:r>
                      <a:r>
                        <a:rPr lang="fr-FR" sz="1600" dirty="0" smtClean="0">
                          <a:solidFill>
                            <a:schemeClr val="tx1"/>
                          </a:solidFill>
                        </a:rPr>
                        <a:t> est très variable, lorsque les indicateurs de performances NR sont exposés cela démontre une maturité avancée. </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La communication d'indicateurs ne présume pas de la pertinence et de la fiabilité des indicateurs qui doivent aussi être exposés.</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Le fournisseur expose-t-il tous ses indicateurs ? OUI/NON</a:t>
                      </a:r>
                    </a:p>
                    <a:p>
                      <a:endParaRPr lang="fr-FR" sz="1600" dirty="0" smtClean="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Faible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GR491</a:t>
                      </a:r>
                    </a:p>
                    <a:p>
                      <a:r>
                        <a:rPr lang="fr-FR" sz="1400" b="0" dirty="0" smtClean="0">
                          <a:solidFill>
                            <a:srgbClr val="2F5597"/>
                          </a:solidFill>
                        </a:rPr>
                        <a:t>Le fournisseur expose-t-il tous ses indicateurs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663641433"/>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949399442"/>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956715">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107/Les VM sont commandées au juste besoin.</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19049">
                <a:tc>
                  <a:txBody>
                    <a:bodyPr/>
                    <a:lstStyle/>
                    <a:p>
                      <a:pPr marL="0" indent="0">
                        <a:buFont typeface="Arial" panose="020B0604020202020204" pitchFamily="34" charset="0"/>
                        <a:buNone/>
                      </a:pPr>
                      <a:r>
                        <a:rPr lang="fr-FR" sz="1600" dirty="0" smtClean="0">
                          <a:solidFill>
                            <a:schemeClr val="tx1"/>
                          </a:solidFill>
                        </a:rPr>
                        <a:t>Ajuster les ressources IT aux réels besoins tout au long du cycle projet/produit : </a:t>
                      </a:r>
                      <a:r>
                        <a:rPr lang="fr-FR" sz="1600" baseline="0" dirty="0" smtClean="0">
                          <a:solidFill>
                            <a:schemeClr val="tx1"/>
                          </a:solidFill>
                        </a:rPr>
                        <a:t> </a:t>
                      </a:r>
                      <a:r>
                        <a:rPr lang="fr-FR" sz="1600" dirty="0" smtClean="0">
                          <a:solidFill>
                            <a:schemeClr val="tx1"/>
                          </a:solidFill>
                        </a:rPr>
                        <a:t>pas trop en amont, pas de surdimensionnement initial, ressources adaptées aux environnements, identifier et traiter les surconsommations</a:t>
                      </a:r>
                    </a:p>
                    <a:p>
                      <a:pPr marL="0" indent="0">
                        <a:buFont typeface="Arial" panose="020B0604020202020204" pitchFamily="34" charset="0"/>
                        <a:buNone/>
                      </a:pPr>
                      <a:endParaRPr lang="fr-FR" sz="1600" dirty="0" smtClean="0">
                        <a:solidFill>
                          <a:schemeClr val="tx1"/>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FR" sz="1400" dirty="0" smtClean="0">
                          <a:solidFill>
                            <a:schemeClr val="tx1"/>
                          </a:solidFill>
                        </a:rPr>
                        <a:t>Prérequis : </a:t>
                      </a:r>
                      <a:r>
                        <a:rPr lang="fr-FR" sz="1600" b="0" i="0" u="none" strike="noStrike" kern="1200" dirty="0" smtClean="0">
                          <a:solidFill>
                            <a:schemeClr val="dk1"/>
                          </a:solidFill>
                          <a:effectLst/>
                          <a:latin typeface="+mn-lt"/>
                          <a:ea typeface="+mn-ea"/>
                          <a:cs typeface="+mn-cs"/>
                        </a:rPr>
                        <a:t>avoir la cartographie technique pour savoir quelle application est sur quels VM. </a:t>
                      </a:r>
                    </a:p>
                    <a:p>
                      <a:pPr marL="0" indent="0">
                        <a:buFont typeface="Arial" panose="020B0604020202020204" pitchFamily="34" charset="0"/>
                        <a:buNone/>
                      </a:pPr>
                      <a:r>
                        <a:rPr lang="fr-FR" sz="1600" dirty="0" smtClean="0">
                          <a:solidFill>
                            <a:schemeClr val="tx1"/>
                          </a:solidFill>
                        </a:rPr>
                        <a:t> </a:t>
                      </a:r>
                      <a:endParaRPr lang="fr-FR" sz="1600" dirty="0">
                        <a:solidFill>
                          <a:schemeClr val="tx1"/>
                        </a:solidFill>
                      </a:endParaRPr>
                    </a:p>
                  </a:txBody>
                  <a:tcPr/>
                </a:tc>
                <a:tc>
                  <a:txBody>
                    <a:bodyPr/>
                    <a:lstStyle/>
                    <a:p>
                      <a:r>
                        <a:rPr lang="fr-FR" sz="1600" dirty="0" smtClean="0">
                          <a:solidFill>
                            <a:schemeClr val="tx1"/>
                          </a:solidFill>
                        </a:rPr>
                        <a:t>% des serveurs</a:t>
                      </a:r>
                      <a:r>
                        <a:rPr lang="fr-FR" sz="1600" baseline="0" dirty="0" smtClean="0">
                          <a:solidFill>
                            <a:schemeClr val="tx1"/>
                          </a:solidFill>
                        </a:rPr>
                        <a:t> </a:t>
                      </a:r>
                      <a:r>
                        <a:rPr lang="fr-FR" sz="1600" dirty="0" smtClean="0">
                          <a:solidFill>
                            <a:schemeClr val="tx1"/>
                          </a:solidFill>
                        </a:rPr>
                        <a:t>virtualisés.</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Haute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Bonnes pratiques numérique responsable pour les organisations</a:t>
                      </a:r>
                    </a:p>
                    <a:p>
                      <a:r>
                        <a:rPr lang="fr-FR" sz="1400" b="0" dirty="0" smtClean="0">
                          <a:solidFill>
                            <a:srgbClr val="2F5597"/>
                          </a:solidFill>
                        </a:rPr>
                        <a:t>h.4 Regrouper et rationaliser les serveurs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4124962989"/>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82734746"/>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93204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108/Les VM sont commandées au juste timing.</a:t>
                      </a: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43718">
                <a:tc>
                  <a:txBody>
                    <a:bodyPr/>
                    <a:lstStyle/>
                    <a:p>
                      <a:pPr marL="0" indent="0">
                        <a:buFont typeface="Arial" panose="020B0604020202020204" pitchFamily="34" charset="0"/>
                        <a:buNone/>
                      </a:pPr>
                      <a:r>
                        <a:rPr lang="fr-FR" sz="1600" dirty="0" smtClean="0">
                          <a:solidFill>
                            <a:schemeClr val="tx1"/>
                          </a:solidFill>
                        </a:rPr>
                        <a:t>Ajuster les ressources IT aux réels besoins tout au long du cycle projet/produit : </a:t>
                      </a:r>
                      <a:r>
                        <a:rPr lang="fr-FR" sz="1600" baseline="0" dirty="0" smtClean="0">
                          <a:solidFill>
                            <a:schemeClr val="tx1"/>
                          </a:solidFill>
                        </a:rPr>
                        <a:t> </a:t>
                      </a:r>
                      <a:r>
                        <a:rPr lang="fr-FR" sz="1600" dirty="0" smtClean="0">
                          <a:solidFill>
                            <a:schemeClr val="tx1"/>
                          </a:solidFill>
                        </a:rPr>
                        <a:t>pas trop en amont, pas de surdimensionnement initial, ressources adaptées aux environnements, identifier et traiter les surconsommations</a:t>
                      </a:r>
                    </a:p>
                    <a:p>
                      <a:pPr marL="0" indent="0">
                        <a:buFont typeface="Arial" panose="020B0604020202020204" pitchFamily="34" charset="0"/>
                        <a:buNone/>
                      </a:pPr>
                      <a:endParaRPr lang="fr-FR" sz="1600" dirty="0" smtClean="0">
                        <a:solidFill>
                          <a:schemeClr val="tx1"/>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fr-FR" sz="1400" dirty="0" smtClean="0">
                          <a:solidFill>
                            <a:schemeClr val="tx1"/>
                          </a:solidFill>
                        </a:rPr>
                        <a:t>Prérequis : </a:t>
                      </a:r>
                      <a:r>
                        <a:rPr lang="fr-FR" sz="1600" b="0" i="0" u="none" strike="noStrike" kern="1200" dirty="0" smtClean="0">
                          <a:solidFill>
                            <a:schemeClr val="dk1"/>
                          </a:solidFill>
                          <a:effectLst/>
                          <a:latin typeface="+mn-lt"/>
                          <a:ea typeface="+mn-ea"/>
                          <a:cs typeface="+mn-cs"/>
                        </a:rPr>
                        <a:t>avoir la cartographie technique pour savoir quelle application est sur quels VM. </a:t>
                      </a:r>
                    </a:p>
                    <a:p>
                      <a:pPr marL="0" indent="0">
                        <a:buFont typeface="Arial" panose="020B0604020202020204" pitchFamily="34" charset="0"/>
                        <a:buNone/>
                      </a:pPr>
                      <a:r>
                        <a:rPr lang="fr-FR" sz="1600" dirty="0" smtClean="0">
                          <a:solidFill>
                            <a:schemeClr val="tx1"/>
                          </a:solidFill>
                        </a:rPr>
                        <a:t> </a:t>
                      </a:r>
                      <a:endParaRPr lang="fr-FR" sz="1600" dirty="0">
                        <a:solidFill>
                          <a:schemeClr val="tx1"/>
                        </a:solidFill>
                      </a:endParaRPr>
                    </a:p>
                  </a:txBody>
                  <a:tcPr/>
                </a:tc>
                <a:tc>
                  <a:txBody>
                    <a:bodyPr/>
                    <a:lstStyle/>
                    <a:p>
                      <a:r>
                        <a:rPr lang="fr-FR" sz="1600" dirty="0" smtClean="0">
                          <a:solidFill>
                            <a:schemeClr val="tx1"/>
                          </a:solidFill>
                        </a:rPr>
                        <a:t>% des serveurs</a:t>
                      </a:r>
                      <a:r>
                        <a:rPr lang="fr-FR" sz="1600" baseline="0" dirty="0" smtClean="0">
                          <a:solidFill>
                            <a:schemeClr val="tx1"/>
                          </a:solidFill>
                        </a:rPr>
                        <a:t> </a:t>
                      </a:r>
                      <a:r>
                        <a:rPr lang="fr-FR" sz="1600" dirty="0" smtClean="0">
                          <a:solidFill>
                            <a:schemeClr val="tx1"/>
                          </a:solidFill>
                        </a:rPr>
                        <a:t>virtualisés.</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Haute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Bonnes pratiques numérique responsable pour les organisations</a:t>
                      </a:r>
                    </a:p>
                    <a:p>
                      <a:r>
                        <a:rPr lang="fr-FR" sz="1400" b="0" dirty="0" smtClean="0">
                          <a:solidFill>
                            <a:srgbClr val="2F5597"/>
                          </a:solidFill>
                        </a:rPr>
                        <a:t>h.4 Regrouper et rationaliser les serveurs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158256899"/>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265542543"/>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013125">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109/Eviter la duplication des machines virtuelles : redondance de partition seulement lorsque cela est nécessaire pour ce type d'environnement.</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962639">
                <a:tc>
                  <a:txBody>
                    <a:bodyPr/>
                    <a:lstStyle/>
                    <a:p>
                      <a:pPr marL="0" indent="0">
                        <a:buFont typeface="Arial" panose="020B0604020202020204" pitchFamily="34" charset="0"/>
                        <a:buNone/>
                      </a:pPr>
                      <a:r>
                        <a:rPr lang="fr-FR" sz="1600" dirty="0" smtClean="0">
                          <a:solidFill>
                            <a:schemeClr val="tx1"/>
                          </a:solidFill>
                        </a:rPr>
                        <a:t>Ajuster les ressources IT aux réels besoins tout au long du cycle projet/produit : </a:t>
                      </a:r>
                    </a:p>
                    <a:p>
                      <a:pPr marL="0" indent="0">
                        <a:buFont typeface="Arial" panose="020B0604020202020204" pitchFamily="34" charset="0"/>
                        <a:buNone/>
                      </a:pPr>
                      <a:r>
                        <a:rPr lang="fr-FR" sz="1600" dirty="0" smtClean="0">
                          <a:solidFill>
                            <a:schemeClr val="tx1"/>
                          </a:solidFill>
                        </a:rPr>
                        <a:t>pas trop en amont, pas de surdimensionnement initial, ressources adaptées aux environnements, identifier et traiter les surconsommations </a:t>
                      </a:r>
                      <a:endParaRPr lang="fr-FR" sz="1600" dirty="0">
                        <a:solidFill>
                          <a:schemeClr val="tx1"/>
                        </a:solidFill>
                      </a:endParaRPr>
                    </a:p>
                  </a:txBody>
                  <a:tcPr/>
                </a:tc>
                <a:tc>
                  <a:txBody>
                    <a:bodyPr/>
                    <a:lstStyle/>
                    <a:p>
                      <a:r>
                        <a:rPr lang="fr-FR" sz="1600" dirty="0" smtClean="0">
                          <a:solidFill>
                            <a:schemeClr val="tx1"/>
                          </a:solidFill>
                        </a:rPr>
                        <a:t>% d'augmentation du nombre de machine virtuel par an.</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Haute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Bonnes pratiques numérique responsable pour les organisations</a:t>
                      </a:r>
                    </a:p>
                    <a:p>
                      <a:r>
                        <a:rPr lang="fr-FR" sz="1400" b="0" dirty="0" smtClean="0">
                          <a:solidFill>
                            <a:srgbClr val="2F5597"/>
                          </a:solidFill>
                        </a:rPr>
                        <a:t>h.4 Regrouper et rationaliser les serveurs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401602513"/>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682575163"/>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6">
                  <a:extLst>
                    <a:ext uri="{9D8B030D-6E8A-4147-A177-3AD203B41FA5}">
                      <a16:colId xmlns:a16="http://schemas.microsoft.com/office/drawing/2014/main" val="1470604376"/>
                    </a:ext>
                  </a:extLst>
                </a:gridCol>
                <a:gridCol w="6091334">
                  <a:extLst>
                    <a:ext uri="{9D8B030D-6E8A-4147-A177-3AD203B41FA5}">
                      <a16:colId xmlns:a16="http://schemas.microsoft.com/office/drawing/2014/main" val="588129664"/>
                    </a:ext>
                  </a:extLst>
                </a:gridCol>
              </a:tblGrid>
              <a:tr h="75909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110/Adapter la qualité de service et le niveau de disponibilité</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216674">
                <a:tc>
                  <a:txBody>
                    <a:bodyPr/>
                    <a:lstStyle/>
                    <a:p>
                      <a:pPr marL="0" indent="0">
                        <a:buFont typeface="Arial" panose="020B0604020202020204" pitchFamily="34" charset="0"/>
                        <a:buNone/>
                      </a:pPr>
                      <a:r>
                        <a:rPr lang="fr-FR" sz="1600" dirty="0" smtClean="0">
                          <a:solidFill>
                            <a:schemeClr val="tx1"/>
                          </a:solidFill>
                        </a:rPr>
                        <a:t>La qualité de service (</a:t>
                      </a:r>
                      <a:r>
                        <a:rPr lang="fr-FR" sz="1600" dirty="0" err="1" smtClean="0">
                          <a:solidFill>
                            <a:schemeClr val="tx1"/>
                          </a:solidFill>
                        </a:rPr>
                        <a:t>QoS</a:t>
                      </a:r>
                      <a:r>
                        <a:rPr lang="fr-FR" sz="1600" dirty="0" smtClean="0">
                          <a:solidFill>
                            <a:schemeClr val="tx1"/>
                          </a:solidFill>
                        </a:rPr>
                        <a:t> pour </a:t>
                      </a:r>
                      <a:r>
                        <a:rPr lang="fr-FR" sz="1600" dirty="0" err="1" smtClean="0">
                          <a:solidFill>
                            <a:schemeClr val="tx1"/>
                          </a:solidFill>
                        </a:rPr>
                        <a:t>Quality</a:t>
                      </a:r>
                      <a:r>
                        <a:rPr lang="fr-FR" sz="1600" dirty="0" smtClean="0">
                          <a:solidFill>
                            <a:schemeClr val="tx1"/>
                          </a:solidFill>
                        </a:rPr>
                        <a:t> of Service) et le niveau de disponibilité (SLA pour Service </a:t>
                      </a:r>
                      <a:r>
                        <a:rPr lang="fr-FR" sz="1600" dirty="0" err="1" smtClean="0">
                          <a:solidFill>
                            <a:schemeClr val="tx1"/>
                          </a:solidFill>
                        </a:rPr>
                        <a:t>Level</a:t>
                      </a:r>
                      <a:r>
                        <a:rPr lang="fr-FR" sz="1600" dirty="0" smtClean="0">
                          <a:solidFill>
                            <a:schemeClr val="tx1"/>
                          </a:solidFill>
                        </a:rPr>
                        <a:t> Agreement) doivent être déterminés avec les utilisateurs du site web ou du service en ligne. Il est par exemple inutile d’héberger le service dans un centre de données très haute disponibilité (</a:t>
                      </a:r>
                      <a:r>
                        <a:rPr lang="fr-FR" sz="1600" dirty="0" err="1" smtClean="0">
                          <a:solidFill>
                            <a:schemeClr val="tx1"/>
                          </a:solidFill>
                        </a:rPr>
                        <a:t>Tier</a:t>
                      </a:r>
                      <a:r>
                        <a:rPr lang="fr-FR" sz="1600" dirty="0" smtClean="0">
                          <a:solidFill>
                            <a:schemeClr val="tx1"/>
                          </a:solidFill>
                        </a:rPr>
                        <a:t> IV) si les utilisateurs acceptent un taux de disponibilité inférieur ou égal à 99 % pour un service non critique. En d'autres termes, il faut éviter de tomber dans la </a:t>
                      </a:r>
                      <a:r>
                        <a:rPr lang="fr-FR" sz="1600" dirty="0" err="1" smtClean="0">
                          <a:solidFill>
                            <a:schemeClr val="tx1"/>
                          </a:solidFill>
                        </a:rPr>
                        <a:t>surqualité</a:t>
                      </a:r>
                      <a:r>
                        <a:rPr lang="fr-FR" sz="1600" dirty="0" smtClean="0">
                          <a:solidFill>
                            <a:schemeClr val="tx1"/>
                          </a:solidFill>
                        </a:rPr>
                        <a:t>. Il est plutôt conseillé d'appliquer une qualité de service en fonction des ressources et du taux de disponibilité nécessaires et suffisants.</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Le nombre d'augmentations du niveau de disponibilité alors que le niveau actuel est suffisant est inférieur ou égal à 0.</a:t>
                      </a:r>
                    </a:p>
                    <a:p>
                      <a:r>
                        <a:rPr lang="fr-FR" sz="1600" dirty="0" smtClean="0">
                          <a:solidFill>
                            <a:schemeClr val="tx1"/>
                          </a:solidFill>
                        </a:rPr>
                        <a:t> </a:t>
                      </a:r>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Haute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a:t>
                      </a:r>
                    </a:p>
                    <a:p>
                      <a:r>
                        <a:rPr lang="fr-FR" sz="1400" b="0" dirty="0" smtClean="0">
                          <a:solidFill>
                            <a:srgbClr val="2F5597"/>
                          </a:solidFill>
                        </a:rPr>
                        <a:t>Adapter la qualité de service et le niveau de disponibilité</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385695640"/>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534637424"/>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881787">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111/Optimiser l'efficacité énergétique des serveurs. </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93977">
                <a:tc>
                  <a:txBody>
                    <a:bodyPr/>
                    <a:lstStyle/>
                    <a:p>
                      <a:pPr marL="0" indent="0">
                        <a:buFont typeface="Arial" panose="020B0604020202020204" pitchFamily="34" charset="0"/>
                        <a:buNone/>
                      </a:pPr>
                      <a:r>
                        <a:rPr lang="fr-FR" sz="1600" dirty="0" smtClean="0">
                          <a:solidFill>
                            <a:schemeClr val="tx1"/>
                          </a:solidFill>
                        </a:rPr>
                        <a:t>À service rendu identique, il est possible de réduire la consommation électrique des serveurs en choisissant des équipements peu énergivores.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Le nombre de serveurs sans une alimentation électrique certifiée 80Plus </a:t>
                      </a:r>
                      <a:r>
                        <a:rPr lang="fr-FR" sz="1600" dirty="0" err="1" smtClean="0">
                          <a:solidFill>
                            <a:schemeClr val="tx1"/>
                          </a:solidFill>
                        </a:rPr>
                        <a:t>Platinium</a:t>
                      </a:r>
                      <a:r>
                        <a:rPr lang="fr-FR" sz="1600" dirty="0" smtClean="0">
                          <a:solidFill>
                            <a:schemeClr val="tx1"/>
                          </a:solidFill>
                        </a:rPr>
                        <a:t> ou plus OU non </a:t>
                      </a:r>
                      <a:r>
                        <a:rPr lang="fr-FR" sz="1600" dirty="0" err="1" smtClean="0">
                          <a:solidFill>
                            <a:schemeClr val="tx1"/>
                          </a:solidFill>
                        </a:rPr>
                        <a:t>écolabellisés</a:t>
                      </a:r>
                      <a:r>
                        <a:rPr lang="fr-FR" sz="1600" dirty="0" smtClean="0">
                          <a:solidFill>
                            <a:schemeClr val="tx1"/>
                          </a:solidFill>
                        </a:rPr>
                        <a:t> ou </a:t>
                      </a:r>
                      <a:r>
                        <a:rPr lang="fr-FR" sz="1600" dirty="0" err="1" smtClean="0">
                          <a:solidFill>
                            <a:schemeClr val="tx1"/>
                          </a:solidFill>
                        </a:rPr>
                        <a:t>Energy</a:t>
                      </a:r>
                      <a:r>
                        <a:rPr lang="fr-FR" sz="1600" dirty="0" smtClean="0">
                          <a:solidFill>
                            <a:schemeClr val="tx1"/>
                          </a:solidFill>
                        </a:rPr>
                        <a:t> Star for server.</a:t>
                      </a:r>
                      <a:r>
                        <a:rPr lang="fr-FR" sz="1600" baseline="0" dirty="0" smtClean="0">
                          <a:solidFill>
                            <a:schemeClr val="tx1"/>
                          </a:solidFill>
                        </a:rPr>
                        <a:t> </a:t>
                      </a:r>
                      <a:r>
                        <a:rPr lang="fr-FR" sz="1600" dirty="0" smtClean="0">
                          <a:solidFill>
                            <a:schemeClr val="tx1"/>
                          </a:solidFill>
                        </a:rPr>
                        <a:t>est inférieur ou égal à 0.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86982" y="0"/>
          <a:ext cx="6105018" cy="1112520"/>
        </p:xfrm>
        <a:graphic>
          <a:graphicData uri="http://schemas.openxmlformats.org/drawingml/2006/table">
            <a:tbl>
              <a:tblPr firstRow="1" bandRow="1">
                <a:tableStyleId>{5C22544A-7EE6-4342-B048-85BDC9FD1C3A}</a:tableStyleId>
              </a:tblPr>
              <a:tblGrid>
                <a:gridCol w="3052509">
                  <a:extLst>
                    <a:ext uri="{9D8B030D-6E8A-4147-A177-3AD203B41FA5}">
                      <a16:colId xmlns:a16="http://schemas.microsoft.com/office/drawing/2014/main" val="2625270736"/>
                    </a:ext>
                  </a:extLst>
                </a:gridCol>
                <a:gridCol w="3052509">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Faible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Faible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a:t>
                      </a:r>
                    </a:p>
                    <a:p>
                      <a:r>
                        <a:rPr lang="fr-FR" sz="1400" b="0" dirty="0" smtClean="0">
                          <a:solidFill>
                            <a:srgbClr val="2F5597"/>
                          </a:solidFill>
                        </a:rPr>
                        <a:t>Optimiser l'efficacité énergétique des serveurs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816553221"/>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545108788"/>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93204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112/Installer le minimum requis sur le serveur.</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43718">
                <a:tc>
                  <a:txBody>
                    <a:bodyPr/>
                    <a:lstStyle/>
                    <a:p>
                      <a:pPr marL="0" indent="0">
                        <a:buFont typeface="Arial" panose="020B0604020202020204" pitchFamily="34" charset="0"/>
                        <a:buNone/>
                      </a:pPr>
                      <a:r>
                        <a:rPr lang="fr-FR" sz="1600" dirty="0" smtClean="0">
                          <a:solidFill>
                            <a:schemeClr val="tx1"/>
                          </a:solidFill>
                        </a:rPr>
                        <a:t>Désinstaller tous les services qui ne sont pas indispensables au bon fonctionnement du site. Cette mesure supprimera nécessairement des daemons (agents et services fonctionnant en permanence en mémoire), qui sont consommateurs de ressources, notamment en cycles CPU et en mémoire vive. Privilégier une installation   manuelle » du serveur (LAMP + CMS, par exemple) plutôt qu’une distribution avec une surcouche de type </a:t>
                      </a:r>
                      <a:r>
                        <a:rPr lang="fr-FR" sz="1600" dirty="0" err="1" smtClean="0">
                          <a:solidFill>
                            <a:schemeClr val="tx1"/>
                          </a:solidFill>
                        </a:rPr>
                        <a:t>cPanel</a:t>
                      </a:r>
                      <a:r>
                        <a:rPr lang="fr-FR" sz="1600" dirty="0" smtClean="0">
                          <a:solidFill>
                            <a:schemeClr val="tx1"/>
                          </a:solidFill>
                        </a:rPr>
                        <a:t> ou </a:t>
                      </a:r>
                      <a:r>
                        <a:rPr lang="fr-FR" sz="1600" dirty="0" err="1" smtClean="0">
                          <a:solidFill>
                            <a:schemeClr val="tx1"/>
                          </a:solidFill>
                        </a:rPr>
                        <a:t>Plesk</a:t>
                      </a:r>
                      <a:r>
                        <a:rPr lang="fr-FR" sz="1600" dirty="0" smtClean="0">
                          <a:solidFill>
                            <a:schemeClr val="tx1"/>
                          </a:solidFill>
                        </a:rPr>
                        <a:t>. Et si une surcouche d’administration est nécessaire, préférer des solutions légères comme </a:t>
                      </a:r>
                      <a:r>
                        <a:rPr lang="fr-FR" sz="1600" dirty="0" err="1" smtClean="0">
                          <a:solidFill>
                            <a:schemeClr val="tx1"/>
                          </a:solidFill>
                        </a:rPr>
                        <a:t>Webmin</a:t>
                      </a:r>
                      <a:r>
                        <a:rPr lang="fr-FR" sz="1600" dirty="0" smtClean="0">
                          <a:solidFill>
                            <a:schemeClr val="tx1"/>
                          </a:solidFill>
                        </a:rPr>
                        <a:t>.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Le nombre de services non nécessaires au fonctionnement du site exécutés sur le système d'exploitation</a:t>
                      </a:r>
                      <a:r>
                        <a:rPr lang="fr-FR" sz="1600" baseline="0" dirty="0" smtClean="0">
                          <a:solidFill>
                            <a:schemeClr val="tx1"/>
                          </a:solidFill>
                        </a:rPr>
                        <a:t> </a:t>
                      </a:r>
                      <a:r>
                        <a:rPr lang="fr-FR" sz="1600" dirty="0" smtClean="0">
                          <a:solidFill>
                            <a:schemeClr val="tx1"/>
                          </a:solidFill>
                        </a:rPr>
                        <a:t>est inférieur ou égal à 0.</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Moyenne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Moyenne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a:t>
                      </a:r>
                    </a:p>
                    <a:p>
                      <a:r>
                        <a:rPr lang="fr-FR" sz="1400" b="0" dirty="0" smtClean="0">
                          <a:solidFill>
                            <a:srgbClr val="2F5597"/>
                          </a:solidFill>
                        </a:rPr>
                        <a:t>Installer le minimum requis sur le serveur</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887051438"/>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778972579"/>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113/Réduire au nécessaire les logs des serveurs.</a:t>
                      </a:r>
                    </a:p>
                  </a:txBody>
                  <a:tcPr anchor="ctr">
                    <a:solidFill>
                      <a:srgbClr val="2F5597"/>
                    </a:solidFill>
                  </a:tcPr>
                </a:tc>
                <a:tc hMerge="1">
                  <a:txBody>
                    <a:bodyPr/>
                    <a:lstStyle/>
                    <a:p>
                      <a:pP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smtClean="0">
                          <a:solidFill>
                            <a:schemeClr val="tx1"/>
                          </a:solidFill>
                        </a:rPr>
                        <a:t>Les logs des serveurs (web, applicatif, base de données) pouvant devenir très volumineux, il est recommandé de les configurer dans leur ensemble.</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En réglant au plus juste le niveau log de l’application (exemple: uniquement information/warning/</a:t>
                      </a:r>
                      <a:r>
                        <a:rPr lang="fr-FR" sz="1600" dirty="0" err="1" smtClean="0">
                          <a:solidFill>
                            <a:schemeClr val="tx1"/>
                          </a:solidFill>
                        </a:rPr>
                        <a:t>error</a:t>
                      </a:r>
                      <a:r>
                        <a:rPr lang="fr-FR" sz="1600" dirty="0" smtClean="0">
                          <a:solidFill>
                            <a:schemeClr val="tx1"/>
                          </a:solidFill>
                        </a:rPr>
                        <a:t>) et en ne traçant que les informations pertinentes, on évite des écritures sur le disque qui peuvent être massives, ce qui limite la consommation de cycles CPU et réduit l’espace de stockage nécessaire.</a:t>
                      </a:r>
                    </a:p>
                    <a:p>
                      <a:pPr marL="0" indent="0">
                        <a:buFont typeface="Arial" panose="020B0604020202020204" pitchFamily="34" charset="0"/>
                        <a:buNone/>
                      </a:pPr>
                      <a:endParaRPr lang="fr-FR" sz="1600" dirty="0" smtClean="0">
                        <a:solidFill>
                          <a:schemeClr val="tx1"/>
                        </a:solidFill>
                      </a:endParaRPr>
                    </a:p>
                    <a:p>
                      <a:pPr marL="0" indent="0">
                        <a:buFont typeface="Arial" panose="020B0604020202020204" pitchFamily="34" charset="0"/>
                        <a:buNone/>
                      </a:pPr>
                      <a:r>
                        <a:rPr lang="fr-FR" sz="1600" dirty="0" smtClean="0">
                          <a:solidFill>
                            <a:schemeClr val="tx1"/>
                          </a:solidFill>
                        </a:rPr>
                        <a:t>Pour éviter de saturer des disques, il est également recommandé de mettre en place une durée de rétention et une rotation des logs en fonction du besoin lors de l’exploitation du service. </a:t>
                      </a:r>
                    </a:p>
                    <a:p>
                      <a:pPr marL="0" indent="0">
                        <a:buFont typeface="Arial" panose="020B0604020202020204" pitchFamily="34" charset="0"/>
                        <a:buNone/>
                      </a:pPr>
                      <a:endParaRPr lang="fr-FR" sz="1600" dirty="0">
                        <a:solidFill>
                          <a:schemeClr val="tx1"/>
                        </a:solidFill>
                      </a:endParaRPr>
                    </a:p>
                  </a:txBody>
                  <a:tcPr/>
                </a:tc>
                <a:tc>
                  <a:txBody>
                    <a:bodyPr/>
                    <a:lstStyle/>
                    <a:p>
                      <a:r>
                        <a:rPr lang="fr-FR" sz="1600" dirty="0" smtClean="0">
                          <a:solidFill>
                            <a:schemeClr val="tx1"/>
                          </a:solidFill>
                        </a:rPr>
                        <a:t>Le nombre de logs sans durée maximale de rétention</a:t>
                      </a:r>
                      <a:r>
                        <a:rPr lang="fr-FR" sz="1600" baseline="0" dirty="0" smtClean="0">
                          <a:solidFill>
                            <a:schemeClr val="tx1"/>
                          </a:solidFill>
                        </a:rPr>
                        <a:t> </a:t>
                      </a:r>
                      <a:r>
                        <a:rPr lang="fr-FR" sz="1600" dirty="0" smtClean="0">
                          <a:solidFill>
                            <a:schemeClr val="tx1"/>
                          </a:solidFill>
                        </a:rPr>
                        <a:t>est inférieur ou égal à 0. </a:t>
                      </a: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Faible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Faible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a:t>
                      </a:r>
                    </a:p>
                    <a:p>
                      <a:r>
                        <a:rPr lang="fr-FR" sz="1400" b="0" dirty="0" smtClean="0">
                          <a:solidFill>
                            <a:srgbClr val="2F5597"/>
                          </a:solidFill>
                        </a:rPr>
                        <a:t>Réduire au nécessaire les logs des serveurs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105400218"/>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491273270"/>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114/Mettre en place des mesures comparatif d’impact d'une application lors d’une montée de version ou un remplacement d’application</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smtClean="0">
                          <a:solidFill>
                            <a:schemeClr val="tx1"/>
                          </a:solidFill>
                        </a:rPr>
                        <a:t>Lorsqu’une</a:t>
                      </a:r>
                      <a:r>
                        <a:rPr lang="fr-FR" sz="1600" baseline="0" dirty="0" smtClean="0">
                          <a:solidFill>
                            <a:schemeClr val="tx1"/>
                          </a:solidFill>
                        </a:rPr>
                        <a:t> application monte de version ou en remplace une autre, il est important d’effectuer des tests de performance et des mesures entre les deux applications ou versions.</a:t>
                      </a:r>
                    </a:p>
                    <a:p>
                      <a:pPr marL="0" indent="0">
                        <a:buFont typeface="Arial" panose="020B0604020202020204" pitchFamily="34" charset="0"/>
                        <a:buNone/>
                      </a:pPr>
                      <a:r>
                        <a:rPr lang="fr-FR" sz="1600" baseline="0" dirty="0" smtClean="0">
                          <a:solidFill>
                            <a:schemeClr val="tx1"/>
                          </a:solidFill>
                        </a:rPr>
                        <a:t>Ces test permettront de comparer l’évolution de l’application et d’en rationnaliser les gains.</a:t>
                      </a:r>
                    </a:p>
                    <a:p>
                      <a:pPr marL="0" indent="0">
                        <a:buFont typeface="Arial" panose="020B0604020202020204" pitchFamily="34" charset="0"/>
                        <a:buNone/>
                      </a:pPr>
                      <a:endParaRPr lang="fr-FR" sz="1600" baseline="0" dirty="0" smtClean="0">
                        <a:solidFill>
                          <a:schemeClr val="tx1"/>
                        </a:solidFill>
                      </a:endParaRPr>
                    </a:p>
                    <a:p>
                      <a:pPr marL="0" indent="0">
                        <a:buFont typeface="Arial" panose="020B0604020202020204" pitchFamily="34" charset="0"/>
                        <a:buNone/>
                      </a:pPr>
                      <a:r>
                        <a:rPr lang="fr-FR" sz="1600" baseline="0" dirty="0" smtClean="0">
                          <a:solidFill>
                            <a:schemeClr val="tx1"/>
                          </a:solidFill>
                        </a:rPr>
                        <a:t>Si une montée de version ou un remplacement n’apporte aucun gain ou  au contraire augmente les pertes de performance, se questionner sur la pertinence de cette modification.</a:t>
                      </a:r>
                      <a:endParaRPr lang="fr-FR" sz="1600" dirty="0">
                        <a:solidFill>
                          <a:schemeClr val="tx1"/>
                        </a:solidFill>
                      </a:endParaRPr>
                    </a:p>
                  </a:txBody>
                  <a:tcPr/>
                </a:tc>
                <a:tc>
                  <a:txBody>
                    <a:bodyPr/>
                    <a:lstStyle/>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Faible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Faible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a:t>
                      </a:r>
                    </a:p>
                    <a:p>
                      <a:r>
                        <a:rPr lang="fr-FR" sz="1400" b="0" dirty="0" smtClean="0">
                          <a:solidFill>
                            <a:srgbClr val="2F5597"/>
                          </a:solidFill>
                        </a:rPr>
                        <a:t>Réduire au nécessaire les logs des serveurs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122317670"/>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933154349"/>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115/Optimiser la gestion des index</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smtClean="0">
                          <a:solidFill>
                            <a:schemeClr val="tx1"/>
                          </a:solidFill>
                        </a:rPr>
                        <a:t>L’ajout d’index</a:t>
                      </a:r>
                      <a:r>
                        <a:rPr lang="fr-FR" sz="1600" baseline="0" dirty="0" smtClean="0">
                          <a:solidFill>
                            <a:schemeClr val="tx1"/>
                          </a:solidFill>
                        </a:rPr>
                        <a:t> permet de faciliter la recherche de données dans une base de données, de ce fait, y ajouter accélère et permet de mieux optimiser les requêtes à une base de données.</a:t>
                      </a:r>
                    </a:p>
                    <a:p>
                      <a:pPr marL="0" indent="0">
                        <a:buFont typeface="Arial" panose="020B0604020202020204" pitchFamily="34" charset="0"/>
                        <a:buNone/>
                      </a:pPr>
                      <a:endParaRPr lang="fr-FR" sz="1600" baseline="0" dirty="0" smtClean="0">
                        <a:solidFill>
                          <a:schemeClr val="tx1"/>
                        </a:solidFill>
                      </a:endParaRPr>
                    </a:p>
                    <a:p>
                      <a:pPr marL="0" indent="0">
                        <a:buFont typeface="Arial" panose="020B0604020202020204" pitchFamily="34" charset="0"/>
                        <a:buNone/>
                      </a:pPr>
                      <a:r>
                        <a:rPr lang="fr-FR" sz="1600" dirty="0" smtClean="0">
                          <a:solidFill>
                            <a:schemeClr val="tx1"/>
                          </a:solidFill>
                        </a:rPr>
                        <a:t>Cependant,</a:t>
                      </a:r>
                      <a:r>
                        <a:rPr lang="fr-FR" sz="1600" baseline="0" dirty="0" smtClean="0">
                          <a:solidFill>
                            <a:schemeClr val="tx1"/>
                          </a:solidFill>
                        </a:rPr>
                        <a:t> lorsqu’il y en a trop, le code peut vite se retrouver alourdie et les ressources seront dès lors trop solliciter par rapport au besoin réel.</a:t>
                      </a:r>
                      <a:endParaRPr lang="fr-FR" sz="1600" dirty="0">
                        <a:solidFill>
                          <a:schemeClr val="tx1"/>
                        </a:solidFill>
                      </a:endParaRPr>
                    </a:p>
                  </a:txBody>
                  <a:tcPr/>
                </a:tc>
                <a:tc>
                  <a:txBody>
                    <a:bodyPr/>
                    <a:lstStyle/>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Faible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Faible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3690465519"/>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764023235"/>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30714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116/Désactiver les environnements non utilisées</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668620">
                <a:tc>
                  <a:txBody>
                    <a:bodyPr/>
                    <a:lstStyle/>
                    <a:p>
                      <a:pPr marL="0" indent="0">
                        <a:buFont typeface="Arial" panose="020B0604020202020204" pitchFamily="34" charset="0"/>
                        <a:buNone/>
                      </a:pPr>
                      <a:r>
                        <a:rPr lang="fr-FR" sz="1600" dirty="0" smtClean="0">
                          <a:solidFill>
                            <a:schemeClr val="tx1"/>
                          </a:solidFill>
                        </a:rPr>
                        <a:t>Lorsqu’un environnement doit être allouer pour un projet,</a:t>
                      </a:r>
                      <a:r>
                        <a:rPr lang="fr-FR" sz="1600" baseline="0" dirty="0" smtClean="0">
                          <a:solidFill>
                            <a:schemeClr val="tx1"/>
                          </a:solidFill>
                        </a:rPr>
                        <a:t> il ne faut pas anticiper de manière excessive l’activation d’un environnement.</a:t>
                      </a:r>
                    </a:p>
                    <a:p>
                      <a:pPr marL="0" indent="0">
                        <a:buFont typeface="Arial" panose="020B0604020202020204" pitchFamily="34" charset="0"/>
                        <a:buNone/>
                      </a:pPr>
                      <a:r>
                        <a:rPr lang="fr-FR" sz="1600" baseline="0" dirty="0" smtClean="0">
                          <a:solidFill>
                            <a:schemeClr val="tx1"/>
                          </a:solidFill>
                        </a:rPr>
                        <a:t>Laisser un environnement actif en attendant un projet pendant des mois, peut avoir un cout financier et un cout environnemental .</a:t>
                      </a:r>
                    </a:p>
                    <a:p>
                      <a:pPr marL="0" indent="0">
                        <a:buFont typeface="Arial" panose="020B0604020202020204" pitchFamily="34" charset="0"/>
                        <a:buNone/>
                      </a:pPr>
                      <a:endParaRPr lang="fr-FR" sz="1600" baseline="0" dirty="0" smtClean="0">
                        <a:solidFill>
                          <a:schemeClr val="tx1"/>
                        </a:solidFill>
                      </a:endParaRPr>
                    </a:p>
                    <a:p>
                      <a:pPr marL="0" indent="0">
                        <a:buFont typeface="Arial" panose="020B0604020202020204" pitchFamily="34" charset="0"/>
                        <a:buNone/>
                      </a:pPr>
                      <a:r>
                        <a:rPr lang="fr-FR" sz="1600" baseline="0" dirty="0" smtClean="0">
                          <a:solidFill>
                            <a:schemeClr val="tx1"/>
                          </a:solidFill>
                        </a:rPr>
                        <a:t>De plus, dans le cadre d’un retard au sein d’un projet, il faut être capable de désactiver un environnement en attendant que le projet soit prêt.</a:t>
                      </a:r>
                      <a:endParaRPr lang="fr-FR" sz="1600" dirty="0">
                        <a:solidFill>
                          <a:schemeClr val="tx1"/>
                        </a:solidFill>
                      </a:endParaRPr>
                    </a:p>
                  </a:txBody>
                  <a:tcPr/>
                </a:tc>
                <a:tc>
                  <a:txBody>
                    <a:bodyPr/>
                    <a:lstStyle/>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Faible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Faible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spTree>
    <p:extLst>
      <p:ext uri="{BB962C8B-B14F-4D97-AF65-F5344CB8AC3E}">
        <p14:creationId xmlns:p14="http://schemas.microsoft.com/office/powerpoint/2010/main" val="172681890"/>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4101204877"/>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1148007">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117/Eviter un usage non justifié et déraisonné d’une phase</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d’entraînement</a:t>
                      </a: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827757">
                <a:tc>
                  <a:txBody>
                    <a:bodyPr/>
                    <a:lstStyle/>
                    <a:p>
                      <a:r>
                        <a:rPr lang="fr-FR" sz="1400" dirty="0" smtClean="0">
                          <a:solidFill>
                            <a:schemeClr val="tx1"/>
                          </a:solidFill>
                        </a:rPr>
                        <a:t>Identifier les cibles utilisatrices et leurs besoins vis-à-vis du service</a:t>
                      </a:r>
                      <a:r>
                        <a:rPr lang="fr-FR" sz="1400" baseline="0" dirty="0" smtClean="0">
                          <a:solidFill>
                            <a:schemeClr val="tx1"/>
                          </a:solidFill>
                        </a:rPr>
                        <a:t> </a:t>
                      </a:r>
                      <a:r>
                        <a:rPr lang="fr-FR" sz="1400" dirty="0" smtClean="0">
                          <a:solidFill>
                            <a:schemeClr val="tx1"/>
                          </a:solidFill>
                        </a:rPr>
                        <a:t>numérique. </a:t>
                      </a:r>
                    </a:p>
                    <a:p>
                      <a:endParaRPr lang="fr-FR" sz="1400" dirty="0" smtClean="0">
                        <a:solidFill>
                          <a:schemeClr val="tx1"/>
                        </a:solidFill>
                      </a:endParaRPr>
                    </a:p>
                    <a:p>
                      <a:r>
                        <a:rPr lang="fr-FR" sz="1400" dirty="0" smtClean="0">
                          <a:solidFill>
                            <a:schemeClr val="tx1"/>
                          </a:solidFill>
                        </a:rPr>
                        <a:t>Lister les fonctionnalités du service essentielles à ces besoins et se poser la question de la</a:t>
                      </a:r>
                      <a:r>
                        <a:rPr lang="fr-FR" sz="1400" baseline="0" dirty="0" smtClean="0">
                          <a:solidFill>
                            <a:schemeClr val="tx1"/>
                          </a:solidFill>
                        </a:rPr>
                        <a:t> </a:t>
                      </a:r>
                      <a:r>
                        <a:rPr lang="fr-FR" sz="1400" dirty="0" smtClean="0">
                          <a:solidFill>
                            <a:schemeClr val="tx1"/>
                          </a:solidFill>
                        </a:rPr>
                        <a:t>nécessité ou non de l’inclusion d’une phase d’entraînement.</a:t>
                      </a:r>
                    </a:p>
                    <a:p>
                      <a:endParaRPr lang="fr-FR" sz="1400" dirty="0" smtClean="0">
                        <a:solidFill>
                          <a:schemeClr val="tx1"/>
                        </a:solidFill>
                      </a:endParaRPr>
                    </a:p>
                    <a:p>
                      <a:r>
                        <a:rPr lang="fr-FR" sz="1400" dirty="0" smtClean="0">
                          <a:solidFill>
                            <a:schemeClr val="tx1"/>
                          </a:solidFill>
                        </a:rPr>
                        <a:t>Il conviendra de s’interroger régulièrement sur la valeur ajoutée espérée par la phase d’entraînement : l’ajout</a:t>
                      </a:r>
                      <a:r>
                        <a:rPr lang="fr-FR" sz="1400" baseline="0" dirty="0" smtClean="0">
                          <a:solidFill>
                            <a:schemeClr val="tx1"/>
                          </a:solidFill>
                        </a:rPr>
                        <a:t> </a:t>
                      </a:r>
                      <a:r>
                        <a:rPr lang="fr-FR" sz="1400" dirty="0" smtClean="0">
                          <a:solidFill>
                            <a:schemeClr val="tx1"/>
                          </a:solidFill>
                        </a:rPr>
                        <a:t>d’une phase d’entraînement améliore-t-il significativement le service numérique dans l’atteinte des besoins</a:t>
                      </a:r>
                      <a:r>
                        <a:rPr lang="fr-FR" sz="1400" baseline="0" dirty="0" smtClean="0">
                          <a:solidFill>
                            <a:schemeClr val="tx1"/>
                          </a:solidFill>
                        </a:rPr>
                        <a:t> </a:t>
                      </a:r>
                      <a:r>
                        <a:rPr lang="fr-FR" sz="1400" dirty="0" smtClean="0">
                          <a:solidFill>
                            <a:schemeClr val="tx1"/>
                          </a:solidFill>
                        </a:rPr>
                        <a:t>de ses cibles ? L’amélioration est-elle effectivement perceptible et utile pour l’utilisateur ?</a:t>
                      </a:r>
                    </a:p>
                  </a:txBody>
                  <a:tcPr/>
                </a:tc>
                <a:tc>
                  <a:txBody>
                    <a:bodyPr/>
                    <a:lstStyle/>
                    <a:p>
                      <a:r>
                        <a:rPr lang="fr-FR" sz="1400" dirty="0" smtClean="0">
                          <a:solidFill>
                            <a:schemeClr val="tx1"/>
                          </a:solidFill>
                        </a:rPr>
                        <a:t>Ne pas inclure une phase d’entraînement tant que le besoin n’est pas démontré et préférer les méthodes de</a:t>
                      </a:r>
                      <a:r>
                        <a:rPr lang="fr-FR" sz="1400" baseline="0" dirty="0" smtClean="0">
                          <a:solidFill>
                            <a:schemeClr val="tx1"/>
                          </a:solidFill>
                        </a:rPr>
                        <a:t> </a:t>
                      </a:r>
                      <a:r>
                        <a:rPr lang="fr-FR" sz="1400" dirty="0" smtClean="0">
                          <a:solidFill>
                            <a:schemeClr val="tx1"/>
                          </a:solidFill>
                        </a:rPr>
                        <a:t>recherches classiques, ou des solutions existantes déjà entraînées. </a:t>
                      </a:r>
                    </a:p>
                    <a:p>
                      <a:endParaRPr lang="fr-FR" sz="1400" dirty="0" smtClean="0">
                        <a:solidFill>
                          <a:schemeClr val="tx1"/>
                        </a:solidFill>
                      </a:endParaRPr>
                    </a:p>
                    <a:p>
                      <a:r>
                        <a:rPr lang="fr-FR" sz="1400" dirty="0" smtClean="0">
                          <a:solidFill>
                            <a:schemeClr val="tx1"/>
                          </a:solidFill>
                        </a:rPr>
                        <a:t>Le cas échéant, il s’agira de cibler des publics, les besoins associés et de rendre accessible des documents de référence faisant état des études,</a:t>
                      </a:r>
                      <a:r>
                        <a:rPr lang="fr-FR" sz="1400" baseline="0" dirty="0" smtClean="0">
                          <a:solidFill>
                            <a:schemeClr val="tx1"/>
                          </a:solidFill>
                        </a:rPr>
                        <a:t> </a:t>
                      </a:r>
                      <a:r>
                        <a:rPr lang="fr-FR" sz="1400" dirty="0" smtClean="0">
                          <a:solidFill>
                            <a:schemeClr val="tx1"/>
                          </a:solidFill>
                        </a:rPr>
                        <a:t>entretiens, recherches, </a:t>
                      </a:r>
                      <a:r>
                        <a:rPr lang="fr-FR" sz="1400" dirty="0" err="1" smtClean="0">
                          <a:solidFill>
                            <a:schemeClr val="tx1"/>
                          </a:solidFill>
                        </a:rPr>
                        <a:t>personas</a:t>
                      </a:r>
                      <a:r>
                        <a:rPr lang="fr-FR" sz="1400" dirty="0" smtClean="0">
                          <a:solidFill>
                            <a:schemeClr val="tx1"/>
                          </a:solidFill>
                        </a:rPr>
                        <a:t> ayant permis de définir les cibles utilisatrices et leur besoin.</a:t>
                      </a:r>
                    </a:p>
                    <a:p>
                      <a:endParaRPr lang="fr-FR" sz="1400" dirty="0" smtClean="0">
                        <a:solidFill>
                          <a:schemeClr val="tx1"/>
                        </a:solidFill>
                      </a:endParaRPr>
                    </a:p>
                    <a:p>
                      <a:r>
                        <a:rPr lang="fr-FR" sz="1400" dirty="0" smtClean="0">
                          <a:solidFill>
                            <a:schemeClr val="tx1"/>
                          </a:solidFill>
                        </a:rPr>
                        <a:t>Le critère est validé si le service n’intègre pas d’apprentissage non justifié et suit donc, dans l’éventualité de</a:t>
                      </a:r>
                      <a:r>
                        <a:rPr lang="fr-FR" sz="1400" baseline="0" dirty="0" smtClean="0">
                          <a:solidFill>
                            <a:schemeClr val="tx1"/>
                          </a:solidFill>
                        </a:rPr>
                        <a:t> </a:t>
                      </a:r>
                      <a:r>
                        <a:rPr lang="fr-FR" sz="1400" dirty="0" smtClean="0">
                          <a:solidFill>
                            <a:schemeClr val="tx1"/>
                          </a:solidFill>
                        </a:rPr>
                        <a:t>la mise en place d’une phase d’apprentissage, les critères de documentation susmentionnés démontrant</a:t>
                      </a:r>
                      <a:r>
                        <a:rPr lang="fr-FR" sz="1400" baseline="0" dirty="0" smtClean="0">
                          <a:solidFill>
                            <a:schemeClr val="tx1"/>
                          </a:solidFill>
                        </a:rPr>
                        <a:t> </a:t>
                      </a:r>
                      <a:r>
                        <a:rPr lang="fr-FR" sz="1400" dirty="0" smtClean="0">
                          <a:solidFill>
                            <a:schemeClr val="tx1"/>
                          </a:solidFill>
                        </a:rPr>
                        <a:t>l’utilité de la phase d’entraînement et son caractère proportionnel au regard de ses cibles ainsi que des</a:t>
                      </a:r>
                      <a:r>
                        <a:rPr lang="fr-FR" sz="1400" baseline="0" dirty="0" smtClean="0">
                          <a:solidFill>
                            <a:schemeClr val="tx1"/>
                          </a:solidFill>
                        </a:rPr>
                        <a:t> </a:t>
                      </a:r>
                      <a:r>
                        <a:rPr lang="fr-FR" sz="1400" dirty="0" smtClean="0">
                          <a:solidFill>
                            <a:schemeClr val="tx1"/>
                          </a:solidFill>
                        </a:rPr>
                        <a:t>fonctionnalités concernées.</a:t>
                      </a:r>
                      <a:endParaRPr lang="fr-FR" sz="14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86982" y="0"/>
          <a:ext cx="6105018" cy="1112520"/>
        </p:xfrm>
        <a:graphic>
          <a:graphicData uri="http://schemas.openxmlformats.org/drawingml/2006/table">
            <a:tbl>
              <a:tblPr firstRow="1" bandRow="1">
                <a:tableStyleId>{5C22544A-7EE6-4342-B048-85BDC9FD1C3A}</a:tableStyleId>
              </a:tblPr>
              <a:tblGrid>
                <a:gridCol w="3052509">
                  <a:extLst>
                    <a:ext uri="{9D8B030D-6E8A-4147-A177-3AD203B41FA5}">
                      <a16:colId xmlns:a16="http://schemas.microsoft.com/office/drawing/2014/main" val="2625270736"/>
                    </a:ext>
                  </a:extLst>
                </a:gridCol>
                <a:gridCol w="3052509">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Faible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2024</a:t>
                      </a:r>
                    </a:p>
                    <a:p>
                      <a:r>
                        <a:rPr lang="fr-FR" sz="1400" b="0" dirty="0" smtClean="0">
                          <a:solidFill>
                            <a:srgbClr val="2F5597"/>
                          </a:solidFill>
                        </a:rPr>
                        <a:t>9.1 Le service numérique </a:t>
                      </a:r>
                      <a:r>
                        <a:rPr lang="fr-FR" sz="1400" b="0" dirty="0" err="1" smtClean="0">
                          <a:solidFill>
                            <a:srgbClr val="2F5597"/>
                          </a:solidFill>
                        </a:rPr>
                        <a:t>a-t-il</a:t>
                      </a:r>
                      <a:r>
                        <a:rPr lang="fr-FR" sz="1400" b="0" dirty="0" smtClean="0">
                          <a:solidFill>
                            <a:srgbClr val="2F5597"/>
                          </a:solidFill>
                        </a:rPr>
                        <a:t> interrogé la nécessité d’une phase d’entraînement pour éviter un usage non justifié et déraisonné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994903626"/>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886380120"/>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92375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118/Défini</a:t>
                      </a:r>
                      <a:r>
                        <a:rPr lang="fr-FR" sz="1800" b="1" u="sng" kern="1200" baseline="0" dirty="0" smtClean="0">
                          <a:solidFill>
                            <a:schemeClr val="bg1"/>
                          </a:solidFill>
                          <a:latin typeface="+mn-lt"/>
                          <a:ea typeface="+mn-ea"/>
                          <a:cs typeface="+mn-cs"/>
                        </a:rPr>
                        <a:t>r un responsable produit tout au long du cycle de vie</a:t>
                      </a:r>
                      <a:endParaRPr lang="fr-FR" sz="1800" b="1" u="sng" kern="1200" dirty="0" smtClean="0">
                        <a:solidFill>
                          <a:schemeClr val="bg1"/>
                        </a:solidFill>
                        <a:latin typeface="+mn-lt"/>
                        <a:ea typeface="+mn-ea"/>
                        <a:cs typeface="+mn-cs"/>
                      </a:endParaRP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52008">
                <a:tc>
                  <a:txBody>
                    <a:bodyPr/>
                    <a:lstStyle/>
                    <a:p>
                      <a:pPr marL="0" indent="0">
                        <a:buFont typeface="Arial" panose="020B0604020202020204" pitchFamily="34" charset="0"/>
                        <a:buNone/>
                      </a:pPr>
                      <a:r>
                        <a:rPr lang="fr-FR" sz="1600" dirty="0" smtClean="0">
                          <a:solidFill>
                            <a:schemeClr val="tx1"/>
                          </a:solidFill>
                        </a:rPr>
                        <a:t>Nécessité d’un Référent Produit identifié tout au long du cycle de vie</a:t>
                      </a:r>
                      <a:r>
                        <a:rPr lang="fr-FR" sz="1600" dirty="0">
                          <a:solidFill>
                            <a:schemeClr val="tx1"/>
                          </a:solidFill>
                        </a:rPr>
                        <a:t>.</a:t>
                      </a:r>
                      <a:endParaRPr lang="fr-FR" sz="1600" dirty="0" smtClean="0">
                        <a:solidFill>
                          <a:schemeClr val="tx1"/>
                        </a:solidFill>
                      </a:endParaRPr>
                    </a:p>
                  </a:txBody>
                  <a:tcPr/>
                </a:tc>
                <a:tc>
                  <a:txBody>
                    <a:bodyPr/>
                    <a:lstStyle/>
                    <a:p>
                      <a:r>
                        <a:rPr lang="fr-FR" sz="1600" dirty="0" smtClean="0">
                          <a:solidFill>
                            <a:schemeClr val="tx1"/>
                          </a:solidFill>
                        </a:rPr>
                        <a:t>Référent</a:t>
                      </a:r>
                      <a:r>
                        <a:rPr lang="fr-FR" sz="1600" baseline="0" dirty="0" smtClean="0">
                          <a:solidFill>
                            <a:schemeClr val="tx1"/>
                          </a:solidFill>
                        </a:rPr>
                        <a:t> du produit : OUI / NON ?</a:t>
                      </a:r>
                      <a:endParaRPr lang="fr-FR" sz="1600" dirty="0" smtClean="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370840">
                <a:tc>
                  <a:txBody>
                    <a:bodyPr/>
                    <a:lstStyle/>
                    <a:p>
                      <a:pPr algn="ctr"/>
                      <a:r>
                        <a:rPr lang="fr-FR" sz="1600" dirty="0" smtClean="0"/>
                        <a:t>Priorité</a:t>
                      </a:r>
                      <a:endParaRPr lang="fr-FR" sz="1600" dirty="0"/>
                    </a:p>
                  </a:txBody>
                  <a:tcPr>
                    <a:solidFill>
                      <a:srgbClr val="2F5597"/>
                    </a:solidFill>
                  </a:tcPr>
                </a:tc>
                <a:tc>
                  <a:txBody>
                    <a:bodyPr/>
                    <a:lstStyle/>
                    <a:p>
                      <a:pPr algn="ctr"/>
                      <a:r>
                        <a:rPr lang="fr-FR" dirty="0" smtClean="0">
                          <a:solidFill>
                            <a:schemeClr val="tx1"/>
                          </a:solidFill>
                        </a:rPr>
                        <a:t>Moyenne</a:t>
                      </a:r>
                      <a:endParaRPr lang="fr-FR"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3898120666"/>
                  </a:ext>
                </a:extLst>
              </a:tr>
              <a:tr h="37084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solidFill>
                      <a:srgbClr val="2F5597"/>
                    </a:solidFill>
                  </a:tcPr>
                </a:tc>
                <a:tc>
                  <a:txBody>
                    <a:bodyPr/>
                    <a:lstStyle/>
                    <a:p>
                      <a:pPr algn="ctr"/>
                      <a:r>
                        <a:rPr lang="fr-FR" b="1" dirty="0" smtClean="0"/>
                        <a:t>Moyenne</a:t>
                      </a:r>
                      <a:endParaRPr lang="fr-FR" b="1" dirty="0"/>
                    </a:p>
                  </a:txBody>
                  <a:tcPr>
                    <a:solidFill>
                      <a:schemeClr val="accent1">
                        <a:lumMod val="60000"/>
                        <a:lumOff val="40000"/>
                      </a:schemeClr>
                    </a:solidFill>
                  </a:tcPr>
                </a:tc>
                <a:extLst>
                  <a:ext uri="{0D108BD9-81ED-4DB2-BD59-A6C34878D82A}">
                    <a16:rowId xmlns:a16="http://schemas.microsoft.com/office/drawing/2014/main" val="3890775650"/>
                  </a:ext>
                </a:extLst>
              </a:tr>
              <a:tr h="370840">
                <a:tc>
                  <a:txBody>
                    <a:bodyPr/>
                    <a:lstStyle/>
                    <a:p>
                      <a:pPr algn="ctr"/>
                      <a:r>
                        <a:rPr lang="fr-FR" sz="1600" b="1" dirty="0" smtClean="0">
                          <a:solidFill>
                            <a:schemeClr val="bg1"/>
                          </a:solidFill>
                        </a:rPr>
                        <a:t>Impact</a:t>
                      </a:r>
                      <a:r>
                        <a:rPr lang="fr-FR" sz="1600" b="1" baseline="0" dirty="0" smtClean="0">
                          <a:solidFill>
                            <a:schemeClr val="bg1"/>
                          </a:solidFill>
                        </a:rPr>
                        <a:t> écologique</a:t>
                      </a:r>
                      <a:endParaRPr lang="fr-FR" sz="1600" b="1" dirty="0">
                        <a:solidFill>
                          <a:schemeClr val="bg1"/>
                        </a:solidFill>
                      </a:endParaRPr>
                    </a:p>
                  </a:txBody>
                  <a:tcPr>
                    <a:solidFill>
                      <a:srgbClr val="2F5597"/>
                    </a:solidFill>
                  </a:tcPr>
                </a:tc>
                <a:tc>
                  <a:txBody>
                    <a:bodyPr/>
                    <a:lstStyle/>
                    <a:p>
                      <a:pPr algn="ctr"/>
                      <a:r>
                        <a:rPr lang="fr-FR" b="1" dirty="0" smtClean="0"/>
                        <a:t>Moyen</a:t>
                      </a:r>
                      <a:endParaRPr lang="fr-FR" b="1" dirty="0"/>
                    </a:p>
                  </a:txBody>
                  <a:tcPr>
                    <a:solidFill>
                      <a:schemeClr val="accent1">
                        <a:lumMod val="60000"/>
                        <a:lumOff val="40000"/>
                      </a:schemeClr>
                    </a:solidFill>
                  </a:tcPr>
                </a:tc>
                <a:extLst>
                  <a:ext uri="{0D108BD9-81ED-4DB2-BD59-A6C34878D82A}">
                    <a16:rowId xmlns:a16="http://schemas.microsoft.com/office/drawing/2014/main" val="2474752899"/>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Ecoconception web : les 115 bonnes pratiques</a:t>
                      </a:r>
                    </a:p>
                    <a:p>
                      <a:r>
                        <a:rPr lang="fr-FR" sz="1400" b="0" dirty="0" smtClean="0">
                          <a:solidFill>
                            <a:srgbClr val="2F5597"/>
                          </a:solidFill>
                        </a:rPr>
                        <a:t>Réduire au nécessaire les logs des serveurs</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317635014"/>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662500028"/>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83893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119/</a:t>
                      </a:r>
                      <a:r>
                        <a:rPr lang="fr-FR" sz="1800" b="1" u="sng" kern="1200" dirty="0" err="1" smtClean="0">
                          <a:solidFill>
                            <a:schemeClr val="bg1"/>
                          </a:solidFill>
                          <a:latin typeface="+mn-lt"/>
                          <a:ea typeface="+mn-ea"/>
                          <a:cs typeface="+mn-cs"/>
                        </a:rPr>
                        <a:t>Décommissionnement</a:t>
                      </a:r>
                      <a:r>
                        <a:rPr lang="fr-FR" sz="1800" b="1" u="sng" kern="1200" dirty="0" smtClean="0">
                          <a:solidFill>
                            <a:schemeClr val="bg1"/>
                          </a:solidFill>
                          <a:latin typeface="+mn-lt"/>
                          <a:ea typeface="+mn-ea"/>
                          <a:cs typeface="+mn-cs"/>
                        </a:rPr>
                        <a:t> des composants</a:t>
                      </a:r>
                      <a:r>
                        <a:rPr lang="fr-FR" sz="1800" b="1" u="sng" kern="1200" baseline="0" dirty="0" smtClean="0">
                          <a:solidFill>
                            <a:schemeClr val="bg1"/>
                          </a:solidFill>
                          <a:latin typeface="+mn-lt"/>
                          <a:ea typeface="+mn-ea"/>
                          <a:cs typeface="+mn-cs"/>
                        </a:rPr>
                        <a:t> et versions non utilisés</a:t>
                      </a:r>
                      <a:endParaRPr lang="fr-FR" sz="1800" b="1" u="sng" kern="1200" dirty="0" smtClean="0">
                        <a:solidFill>
                          <a:schemeClr val="bg1"/>
                        </a:solidFill>
                        <a:latin typeface="+mn-lt"/>
                        <a:ea typeface="+mn-ea"/>
                        <a:cs typeface="+mn-cs"/>
                      </a:endParaRP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136825">
                <a:tc>
                  <a:txBody>
                    <a:bodyPr/>
                    <a:lstStyle/>
                    <a:p>
                      <a:pPr marL="0" indent="0">
                        <a:buFont typeface="Arial" panose="020B0604020202020204" pitchFamily="34" charset="0"/>
                        <a:buNone/>
                      </a:pPr>
                      <a:r>
                        <a:rPr lang="fr-FR" sz="1600" dirty="0" smtClean="0">
                          <a:solidFill>
                            <a:schemeClr val="tx1"/>
                          </a:solidFill>
                        </a:rPr>
                        <a:t>Détecter un</a:t>
                      </a:r>
                      <a:r>
                        <a:rPr lang="fr-FR" sz="1600" baseline="0" dirty="0" smtClean="0">
                          <a:solidFill>
                            <a:schemeClr val="tx1"/>
                          </a:solidFill>
                        </a:rPr>
                        <a:t> composant et version </a:t>
                      </a:r>
                      <a:r>
                        <a:rPr lang="fr-FR" sz="1600" dirty="0" smtClean="0">
                          <a:solidFill>
                            <a:schemeClr val="tx1"/>
                          </a:solidFill>
                        </a:rPr>
                        <a:t>non essentiel est possible au moment de l'analyse de l'expression du besoin. La méthode </a:t>
                      </a:r>
                      <a:r>
                        <a:rPr lang="fr-FR" sz="1600" dirty="0" err="1" smtClean="0">
                          <a:solidFill>
                            <a:schemeClr val="tx1"/>
                          </a:solidFill>
                        </a:rPr>
                        <a:t>MoSCoW</a:t>
                      </a:r>
                      <a:r>
                        <a:rPr lang="fr-FR" sz="1600" dirty="0" smtClean="0">
                          <a:solidFill>
                            <a:schemeClr val="tx1"/>
                          </a:solidFill>
                        </a:rPr>
                        <a:t>, des ateliers, des </a:t>
                      </a:r>
                      <a:r>
                        <a:rPr lang="fr-FR" sz="1600" dirty="0" err="1" smtClean="0">
                          <a:solidFill>
                            <a:schemeClr val="tx1"/>
                          </a:solidFill>
                        </a:rPr>
                        <a:t>wireframes</a:t>
                      </a:r>
                      <a:r>
                        <a:rPr lang="fr-FR" sz="1600" dirty="0" smtClean="0">
                          <a:solidFill>
                            <a:schemeClr val="tx1"/>
                          </a:solidFill>
                        </a:rPr>
                        <a:t> (maquettes fonctionnelles) ou des prototypes avec tests utilisateurs permettent de vérifier l'utilité d’une fonctionnalité en amont de son développement </a:t>
                      </a:r>
                      <a:r>
                        <a:rPr lang="fr-FR" sz="1600" baseline="0" dirty="0" smtClean="0">
                          <a:solidFill>
                            <a:schemeClr val="tx1"/>
                          </a:solidFill>
                        </a:rPr>
                        <a:t>Potentiellement, libérer les VM.</a:t>
                      </a:r>
                      <a:endParaRPr lang="fr-FR" sz="1600" dirty="0">
                        <a:solidFill>
                          <a:schemeClr val="tx1"/>
                        </a:solidFill>
                      </a:endParaRPr>
                    </a:p>
                  </a:txBody>
                  <a:tcPr/>
                </a:tc>
                <a:tc>
                  <a:txBody>
                    <a:bodyPr/>
                    <a:lstStyle/>
                    <a:p>
                      <a:r>
                        <a:rPr lang="fr-FR" sz="1600" dirty="0" err="1" smtClean="0">
                          <a:solidFill>
                            <a:schemeClr val="tx1"/>
                          </a:solidFill>
                        </a:rPr>
                        <a:t>Décomissionnement</a:t>
                      </a:r>
                      <a:r>
                        <a:rPr lang="fr-FR" sz="1600" dirty="0" smtClean="0">
                          <a:solidFill>
                            <a:schemeClr val="tx1"/>
                          </a:solidFill>
                        </a:rPr>
                        <a:t> des</a:t>
                      </a:r>
                      <a:r>
                        <a:rPr lang="fr-FR" sz="1600" baseline="0" dirty="0" smtClean="0">
                          <a:solidFill>
                            <a:schemeClr val="tx1"/>
                          </a:solidFill>
                        </a:rPr>
                        <a:t> composants et versions non utilisés ? OUI/NON</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solidFill>
                      <a:srgbClr val="2F5597"/>
                    </a:solidFill>
                  </a:tcPr>
                </a:tc>
                <a:tc>
                  <a:txBody>
                    <a:bodyPr/>
                    <a:lstStyle/>
                    <a:p>
                      <a:pPr algn="ctr"/>
                      <a:r>
                        <a:rPr lang="fr-FR" b="1" dirty="0" smtClean="0"/>
                        <a:t>Haute</a:t>
                      </a:r>
                      <a:endParaRPr lang="fr-FR" b="1" dirty="0"/>
                    </a:p>
                  </a:txBody>
                  <a:tcP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731520"/>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2022</a:t>
                      </a:r>
                    </a:p>
                    <a:p>
                      <a:r>
                        <a:rPr lang="fr-FR" sz="1400" b="0" dirty="0" smtClean="0">
                          <a:solidFill>
                            <a:srgbClr val="2F5597"/>
                          </a:solidFill>
                        </a:rPr>
                        <a:t>2.2 Le service numérique </a:t>
                      </a:r>
                      <a:r>
                        <a:rPr lang="fr-FR" sz="1400" b="0" dirty="0" err="1" smtClean="0">
                          <a:solidFill>
                            <a:srgbClr val="2F5597"/>
                          </a:solidFill>
                        </a:rPr>
                        <a:t>a-t-il</a:t>
                      </a:r>
                      <a:r>
                        <a:rPr lang="fr-FR" sz="1400" b="0" dirty="0" smtClean="0">
                          <a:solidFill>
                            <a:srgbClr val="2F5597"/>
                          </a:solidFill>
                        </a:rPr>
                        <a:t> prévu une stratégie de </a:t>
                      </a:r>
                      <a:r>
                        <a:rPr lang="fr-FR" sz="1400" b="0" dirty="0" err="1" smtClean="0">
                          <a:solidFill>
                            <a:srgbClr val="2F5597"/>
                          </a:solidFill>
                        </a:rPr>
                        <a:t>décommissionnement</a:t>
                      </a:r>
                      <a:r>
                        <a:rPr lang="fr-FR" sz="1400" b="0" dirty="0" smtClean="0">
                          <a:solidFill>
                            <a:srgbClr val="2F5597"/>
                          </a:solidFill>
                        </a:rPr>
                        <a:t> pour ses fonctionnalités,</a:t>
                      </a:r>
                      <a:r>
                        <a:rPr lang="fr-FR" sz="1400" b="0" baseline="0" dirty="0" smtClean="0">
                          <a:solidFill>
                            <a:srgbClr val="2F5597"/>
                          </a:solidFill>
                        </a:rPr>
                        <a:t> </a:t>
                      </a:r>
                      <a:r>
                        <a:rPr lang="fr-FR" sz="1400" b="0" dirty="0" smtClean="0">
                          <a:solidFill>
                            <a:srgbClr val="2F5597"/>
                          </a:solidFill>
                        </a:rPr>
                        <a:t>ses composants ou ses environnements non utilisés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600247396"/>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530148448"/>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881787">
                <a:tc gridSpan="2">
                  <a:txBody>
                    <a:bodyPr/>
                    <a:lstStyle/>
                    <a:p>
                      <a:pPr algn="ctr"/>
                      <a:r>
                        <a:rPr lang="fr-FR" sz="1800" u="sng" dirty="0" smtClean="0"/>
                        <a:t>120/Suivre</a:t>
                      </a:r>
                      <a:r>
                        <a:rPr lang="fr-FR" sz="1800" u="sng" baseline="0" dirty="0" smtClean="0"/>
                        <a:t> les différents indicateurs d’écoconception</a:t>
                      </a:r>
                      <a:endParaRPr lang="fr-FR" sz="1800" u="sng" dirty="0"/>
                    </a:p>
                  </a:txBody>
                  <a:tcPr anchor="ctr">
                    <a:solidFill>
                      <a:srgbClr val="2F5597"/>
                    </a:solidFill>
                  </a:tcPr>
                </a:tc>
                <a:tc hMerge="1">
                  <a:txBody>
                    <a:bodyPr/>
                    <a:lstStyle/>
                    <a:p>
                      <a:pPr algn="ctr"/>
                      <a:endParaRPr lang="fr-FR" sz="1800" b="1" u="none" dirty="0" smtClean="0">
                        <a:solidFill>
                          <a:schemeClr val="bg1"/>
                        </a:solidFill>
                      </a:endParaRPr>
                    </a:p>
                  </a:txBody>
                  <a:tcPr anchor="ctr">
                    <a:solidFill>
                      <a:srgbClr val="2F5597"/>
                    </a:solidFill>
                  </a:tcPr>
                </a:tc>
                <a:extLst>
                  <a:ext uri="{0D108BD9-81ED-4DB2-BD59-A6C34878D82A}">
                    <a16:rowId xmlns:a16="http://schemas.microsoft.com/office/drawing/2014/main" val="2512791991"/>
                  </a:ext>
                </a:extLst>
              </a:tr>
              <a:tr h="4093977">
                <a:tc>
                  <a:txBody>
                    <a:bodyPr/>
                    <a:lstStyle/>
                    <a:p>
                      <a:pPr marL="0" indent="0">
                        <a:buFont typeface="Arial" panose="020B0604020202020204" pitchFamily="34" charset="0"/>
                        <a:buNone/>
                      </a:pPr>
                      <a:r>
                        <a:rPr lang="fr-FR" sz="1600" dirty="0" smtClean="0">
                          <a:solidFill>
                            <a:schemeClr val="tx1"/>
                          </a:solidFill>
                        </a:rPr>
                        <a:t>Suivre</a:t>
                      </a:r>
                      <a:r>
                        <a:rPr lang="fr-FR" sz="1600" baseline="0" dirty="0" smtClean="0">
                          <a:solidFill>
                            <a:schemeClr val="tx1"/>
                          </a:solidFill>
                        </a:rPr>
                        <a:t> l’évolution des indicateurs afin d’alerter et de rendre compte des impacts liés à l’usage du produit.</a:t>
                      </a:r>
                      <a:endParaRPr lang="fr-FR" sz="1600" dirty="0">
                        <a:solidFill>
                          <a:schemeClr val="tx1"/>
                        </a:solidFill>
                      </a:endParaRPr>
                    </a:p>
                  </a:txBody>
                  <a:tcPr/>
                </a:tc>
                <a:tc>
                  <a:txBody>
                    <a:bodyPr/>
                    <a:lstStyle/>
                    <a:p>
                      <a:r>
                        <a:rPr lang="fr-FR" sz="1600" i="0" dirty="0" smtClean="0">
                          <a:solidFill>
                            <a:schemeClr val="tx1"/>
                          </a:solidFill>
                        </a:rPr>
                        <a:t>Suivi régulier (1 fois par mois) ? : OUI/NON.</a:t>
                      </a:r>
                    </a:p>
                    <a:p>
                      <a:endParaRPr lang="fr-FR" sz="1600" i="0" dirty="0" smtClean="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dirty="0" smtClean="0">
                          <a:ln>
                            <a:noFill/>
                          </a:ln>
                          <a:solidFill>
                            <a:srgbClr val="000000"/>
                          </a:solidFill>
                          <a:effectLst/>
                          <a:uLnTx/>
                          <a:uFillTx/>
                          <a:latin typeface="Arial" panose="020B0604020202020204"/>
                          <a:cs typeface="Arial"/>
                        </a:rPr>
                        <a:t>Vérification de l’existence de l’Indicateur à chaque phase du projet (COMEN, R7, CAB, …) et arbitrage potentiel.</a:t>
                      </a:r>
                    </a:p>
                    <a:p>
                      <a:endParaRPr lang="fr-FR" sz="1600" i="0" dirty="0" smtClean="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dirty="0" smtClean="0">
                          <a:ln>
                            <a:noFill/>
                          </a:ln>
                          <a:solidFill>
                            <a:srgbClr val="000000"/>
                          </a:solidFill>
                          <a:effectLst/>
                          <a:uLnTx/>
                          <a:uFillTx/>
                          <a:latin typeface="Arial" panose="020B0604020202020204"/>
                          <a:cs typeface="Arial"/>
                        </a:rPr>
                        <a:t>Indicateur intégré dans le pilotage projet (COPIL).</a:t>
                      </a:r>
                    </a:p>
                    <a:p>
                      <a:endParaRPr lang="fr-FR" sz="1600" i="0" dirty="0" smtClean="0">
                        <a:solidFill>
                          <a:schemeClr val="tx1"/>
                        </a:solidFill>
                      </a:endParaRPr>
                    </a:p>
                    <a:p>
                      <a:endParaRPr lang="fr-FR" sz="1600" i="1" u="none" dirty="0" smtClean="0">
                        <a:solidFill>
                          <a:schemeClr val="tx1"/>
                        </a:solidFill>
                      </a:endParaRPr>
                    </a:p>
                    <a:p>
                      <a:endParaRPr lang="fr-FR" sz="1600" dirty="0">
                        <a:solidFill>
                          <a:schemeClr val="tx1"/>
                        </a:solidFill>
                      </a:endParaRP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Haute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7" name="Tableau 6"/>
          <p:cNvGraphicFramePr>
            <a:graphicFrameLocks noGrp="1"/>
          </p:cNvGraphicFramePr>
          <p:nvPr>
            <p:extLst/>
          </p:nvPr>
        </p:nvGraphicFramePr>
        <p:xfrm>
          <a:off x="-1" y="6138224"/>
          <a:ext cx="10271869" cy="666532"/>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2022</a:t>
                      </a:r>
                    </a:p>
                    <a:p>
                      <a:r>
                        <a:rPr lang="fr-FR" sz="1400" b="0" dirty="0" smtClean="0">
                          <a:solidFill>
                            <a:srgbClr val="2F5597"/>
                          </a:solidFill>
                        </a:rPr>
                        <a:t>1.9 Le service numérique </a:t>
                      </a:r>
                      <a:r>
                        <a:rPr lang="fr-FR" sz="1400" b="0" dirty="0" err="1" smtClean="0">
                          <a:solidFill>
                            <a:srgbClr val="2F5597"/>
                          </a:solidFill>
                        </a:rPr>
                        <a:t>a-t-il</a:t>
                      </a:r>
                      <a:r>
                        <a:rPr lang="fr-FR" sz="1400" b="0" dirty="0" smtClean="0">
                          <a:solidFill>
                            <a:srgbClr val="2F5597"/>
                          </a:solidFill>
                        </a:rPr>
                        <a:t> identifié des indicateurs</a:t>
                      </a:r>
                      <a:r>
                        <a:rPr lang="fr-FR" sz="1400" b="0" baseline="0" dirty="0" smtClean="0">
                          <a:solidFill>
                            <a:srgbClr val="2F5597"/>
                          </a:solidFill>
                        </a:rPr>
                        <a:t> </a:t>
                      </a:r>
                      <a:r>
                        <a:rPr lang="fr-FR" sz="1400" b="0" dirty="0" smtClean="0">
                          <a:solidFill>
                            <a:srgbClr val="2F5597"/>
                          </a:solidFill>
                        </a:rPr>
                        <a:t>pour mesurer ses impacts environnementaux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256501106"/>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089365462"/>
              </p:ext>
            </p:extLst>
          </p:nvPr>
        </p:nvGraphicFramePr>
        <p:xfrm>
          <a:off x="0" y="1112520"/>
          <a:ext cx="12192000" cy="4975764"/>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907072">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121/</a:t>
                      </a:r>
                      <a:r>
                        <a:rPr lang="fr-FR" sz="1800" b="1" u="sng" kern="1200" dirty="0" err="1" smtClean="0">
                          <a:solidFill>
                            <a:schemeClr val="bg1"/>
                          </a:solidFill>
                          <a:latin typeface="+mn-lt"/>
                          <a:ea typeface="+mn-ea"/>
                          <a:cs typeface="+mn-cs"/>
                        </a:rPr>
                        <a:t>Décommissionnement</a:t>
                      </a:r>
                      <a:r>
                        <a:rPr lang="fr-FR" sz="1800" b="1" u="sng" kern="1200" dirty="0" smtClean="0">
                          <a:solidFill>
                            <a:schemeClr val="bg1"/>
                          </a:solidFill>
                          <a:latin typeface="+mn-lt"/>
                          <a:ea typeface="+mn-ea"/>
                          <a:cs typeface="+mn-cs"/>
                        </a:rPr>
                        <a:t> des environnements</a:t>
                      </a:r>
                      <a:r>
                        <a:rPr lang="fr-FR" sz="1800" b="1" u="sng" kern="1200" baseline="0" dirty="0" smtClean="0">
                          <a:solidFill>
                            <a:schemeClr val="bg1"/>
                          </a:solidFill>
                          <a:latin typeface="+mn-lt"/>
                          <a:ea typeface="+mn-ea"/>
                          <a:cs typeface="+mn-cs"/>
                        </a:rPr>
                        <a:t> non utilisés</a:t>
                      </a:r>
                      <a:endParaRPr lang="fr-FR" sz="1800" b="1" u="sng" kern="1200" dirty="0" smtClean="0">
                        <a:solidFill>
                          <a:schemeClr val="bg1"/>
                        </a:solidFill>
                        <a:latin typeface="+mn-lt"/>
                        <a:ea typeface="+mn-ea"/>
                        <a:cs typeface="+mn-cs"/>
                      </a:endParaRPr>
                    </a:p>
                  </a:txBody>
                  <a:tcPr anchor="ctr">
                    <a:solidFill>
                      <a:srgbClr val="2F5597"/>
                    </a:solidFill>
                  </a:tcPr>
                </a:tc>
                <a:tc hMerge="1">
                  <a:txBody>
                    <a:bodyPr/>
                    <a:lstStyle/>
                    <a:p>
                      <a:pPr algn="ctr" rtl="0" fontAlgn="base"/>
                      <a:endParaRPr lang="fr-FR" sz="1800" b="1" u="none" kern="1200" dirty="0" smtClean="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68692">
                <a:tc>
                  <a:txBody>
                    <a:bodyPr/>
                    <a:lstStyle/>
                    <a:p>
                      <a:pPr marL="0" indent="0">
                        <a:buFont typeface="Arial" panose="020B0604020202020204" pitchFamily="34" charset="0"/>
                        <a:buNone/>
                      </a:pPr>
                      <a:r>
                        <a:rPr lang="fr-FR" sz="1600" dirty="0" smtClean="0">
                          <a:solidFill>
                            <a:schemeClr val="tx1"/>
                          </a:solidFill>
                        </a:rPr>
                        <a:t>Détecter un</a:t>
                      </a:r>
                      <a:r>
                        <a:rPr lang="fr-FR" sz="1600" baseline="0" dirty="0" smtClean="0">
                          <a:solidFill>
                            <a:schemeClr val="tx1"/>
                          </a:solidFill>
                        </a:rPr>
                        <a:t> environnement </a:t>
                      </a:r>
                      <a:r>
                        <a:rPr lang="fr-FR" sz="1600" dirty="0" smtClean="0">
                          <a:solidFill>
                            <a:schemeClr val="tx1"/>
                          </a:solidFill>
                        </a:rPr>
                        <a:t>non essentiel est possible au moment de l'analyse de l'expression du besoin. La méthode </a:t>
                      </a:r>
                      <a:r>
                        <a:rPr lang="fr-FR" sz="1600" dirty="0" err="1" smtClean="0">
                          <a:solidFill>
                            <a:schemeClr val="tx1"/>
                          </a:solidFill>
                        </a:rPr>
                        <a:t>MoSCoW</a:t>
                      </a:r>
                      <a:r>
                        <a:rPr lang="fr-FR" sz="1600" dirty="0" smtClean="0">
                          <a:solidFill>
                            <a:schemeClr val="tx1"/>
                          </a:solidFill>
                        </a:rPr>
                        <a:t>, des ateliers, des </a:t>
                      </a:r>
                      <a:r>
                        <a:rPr lang="fr-FR" sz="1600" dirty="0" err="1" smtClean="0">
                          <a:solidFill>
                            <a:schemeClr val="tx1"/>
                          </a:solidFill>
                        </a:rPr>
                        <a:t>wireframes</a:t>
                      </a:r>
                      <a:r>
                        <a:rPr lang="fr-FR" sz="1600" dirty="0" smtClean="0">
                          <a:solidFill>
                            <a:schemeClr val="tx1"/>
                          </a:solidFill>
                        </a:rPr>
                        <a:t> (maquettes fonctionnelles) ou des prototypes avec tests utilisateurs permettent de vérifier l'utilité d’une fonctionnalité en amont de son développement.</a:t>
                      </a:r>
                    </a:p>
                    <a:p>
                      <a:pPr marL="0" indent="0">
                        <a:buFont typeface="Arial" panose="020B0604020202020204" pitchFamily="34" charset="0"/>
                        <a:buNone/>
                      </a:pPr>
                      <a:r>
                        <a:rPr lang="fr-FR" sz="1600" baseline="0" dirty="0" smtClean="0">
                          <a:solidFill>
                            <a:schemeClr val="tx1"/>
                          </a:solidFill>
                        </a:rPr>
                        <a:t>Potentiellement, libérer les VM.</a:t>
                      </a:r>
                      <a:endParaRPr lang="fr-FR" sz="1600" dirty="0">
                        <a:solidFill>
                          <a:schemeClr val="tx1"/>
                        </a:solidFill>
                      </a:endParaRPr>
                    </a:p>
                  </a:txBody>
                  <a:tcPr/>
                </a:tc>
                <a:tc>
                  <a:txBody>
                    <a:bodyPr/>
                    <a:lstStyle/>
                    <a:p>
                      <a:r>
                        <a:rPr lang="fr-FR" sz="1600" dirty="0" err="1" smtClean="0">
                          <a:solidFill>
                            <a:schemeClr val="tx1"/>
                          </a:solidFill>
                        </a:rPr>
                        <a:t>Décomissionnement</a:t>
                      </a:r>
                      <a:r>
                        <a:rPr lang="fr-FR" sz="1600" dirty="0" smtClean="0">
                          <a:solidFill>
                            <a:schemeClr val="tx1"/>
                          </a:solidFill>
                        </a:rPr>
                        <a:t> des</a:t>
                      </a:r>
                      <a:r>
                        <a:rPr lang="fr-FR" sz="1600" baseline="0" dirty="0" smtClean="0">
                          <a:solidFill>
                            <a:schemeClr val="tx1"/>
                          </a:solidFill>
                        </a:rPr>
                        <a:t> </a:t>
                      </a:r>
                      <a:r>
                        <a:rPr lang="fr-FR" sz="1600" kern="1200" baseline="0" dirty="0" smtClean="0">
                          <a:solidFill>
                            <a:schemeClr val="tx1"/>
                          </a:solidFill>
                          <a:latin typeface="+mn-lt"/>
                          <a:ea typeface="+mn-ea"/>
                          <a:cs typeface="+mn-cs"/>
                        </a:rPr>
                        <a:t>environnements </a:t>
                      </a:r>
                      <a:r>
                        <a:rPr lang="fr-FR" sz="1600" baseline="0" dirty="0" smtClean="0">
                          <a:solidFill>
                            <a:schemeClr val="tx1"/>
                          </a:solidFill>
                        </a:rPr>
                        <a:t>non utilisés ? OUI/NON</a:t>
                      </a:r>
                    </a:p>
                  </a:txBody>
                  <a:tcPr/>
                </a:tc>
                <a:extLst>
                  <a:ext uri="{0D108BD9-81ED-4DB2-BD59-A6C34878D82A}">
                    <a16:rowId xmlns:a16="http://schemas.microsoft.com/office/drawing/2014/main" val="3420094902"/>
                  </a:ext>
                </a:extLst>
              </a:tr>
            </a:tbl>
          </a:graphicData>
        </a:graphic>
      </p:graphicFrame>
      <p:graphicFrame>
        <p:nvGraphicFramePr>
          <p:cNvPr id="5" name="Tableau 4"/>
          <p:cNvGraphicFramePr>
            <a:graphicFrameLocks noGrp="1"/>
          </p:cNvGraphicFramePr>
          <p:nvPr>
            <p:extLst/>
          </p:nvPr>
        </p:nvGraphicFramePr>
        <p:xfrm>
          <a:off x="6103214" y="0"/>
          <a:ext cx="6088786" cy="1112520"/>
        </p:xfrm>
        <a:graphic>
          <a:graphicData uri="http://schemas.openxmlformats.org/drawingml/2006/table">
            <a:tbl>
              <a:tblPr firstRow="1" bandRow="1">
                <a:tableStyleId>{5C22544A-7EE6-4342-B048-85BDC9FD1C3A}</a:tableStyleId>
              </a:tblPr>
              <a:tblGrid>
                <a:gridCol w="3044393">
                  <a:extLst>
                    <a:ext uri="{9D8B030D-6E8A-4147-A177-3AD203B41FA5}">
                      <a16:colId xmlns:a16="http://schemas.microsoft.com/office/drawing/2014/main" val="2625270736"/>
                    </a:ext>
                  </a:extLst>
                </a:gridCol>
                <a:gridCol w="3044393">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nchor="ctr">
                    <a:solidFill>
                      <a:srgbClr val="2F5597"/>
                    </a:solidFill>
                  </a:tcPr>
                </a:tc>
                <a:tc>
                  <a:txBody>
                    <a:bodyPr/>
                    <a:lstStyle/>
                    <a:p>
                      <a:pPr algn="ctr"/>
                      <a:r>
                        <a:rPr lang="fr-FR" dirty="0" smtClean="0">
                          <a:solidFill>
                            <a:schemeClr val="tx1"/>
                          </a:solidFill>
                        </a:rPr>
                        <a:t>Haute</a:t>
                      </a:r>
                      <a:endParaRPr lang="fr-FR" dirty="0">
                        <a:solidFill>
                          <a:schemeClr val="tx1"/>
                        </a:solidFill>
                      </a:endParaRPr>
                    </a:p>
                  </a:txBody>
                  <a:tcPr anchor="ct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nchor="ctr">
                    <a:solidFill>
                      <a:srgbClr val="2F5597"/>
                    </a:solidFill>
                  </a:tcPr>
                </a:tc>
                <a:tc>
                  <a:txBody>
                    <a:bodyPr/>
                    <a:lstStyle/>
                    <a:p>
                      <a:pPr algn="ctr"/>
                      <a:r>
                        <a:rPr lang="fr-FR" b="1" dirty="0" smtClean="0"/>
                        <a:t>Haute</a:t>
                      </a:r>
                      <a:endParaRPr lang="fr-FR" b="1" dirty="0"/>
                    </a:p>
                  </a:txBody>
                  <a:tcPr anchor="ct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6" name="Image 5"/>
          <p:cNvPicPr>
            <a:picLocks noChangeAspect="1"/>
          </p:cNvPicPr>
          <p:nvPr/>
        </p:nvPicPr>
        <p:blipFill>
          <a:blip r:embed="rId2"/>
          <a:stretch>
            <a:fillRect/>
          </a:stretch>
        </p:blipFill>
        <p:spPr>
          <a:xfrm>
            <a:off x="10271869" y="6088284"/>
            <a:ext cx="1873835" cy="646919"/>
          </a:xfrm>
          <a:prstGeom prst="rect">
            <a:avLst/>
          </a:prstGeom>
        </p:spPr>
      </p:pic>
      <p:graphicFrame>
        <p:nvGraphicFramePr>
          <p:cNvPr id="8" name="Tableau 7"/>
          <p:cNvGraphicFramePr>
            <a:graphicFrameLocks noGrp="1"/>
          </p:cNvGraphicFramePr>
          <p:nvPr>
            <p:extLst/>
          </p:nvPr>
        </p:nvGraphicFramePr>
        <p:xfrm>
          <a:off x="-1" y="6138224"/>
          <a:ext cx="10271869" cy="731520"/>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666532">
                <a:tc>
                  <a:txBody>
                    <a:bodyPr/>
                    <a:lstStyle/>
                    <a:p>
                      <a:r>
                        <a:rPr lang="fr-FR" sz="1400" b="0" dirty="0" smtClean="0">
                          <a:solidFill>
                            <a:srgbClr val="2F5597"/>
                          </a:solidFill>
                        </a:rPr>
                        <a:t>Source : RGESN version 2022</a:t>
                      </a:r>
                    </a:p>
                    <a:p>
                      <a:r>
                        <a:rPr lang="fr-FR" sz="1400" b="0" dirty="0" smtClean="0">
                          <a:solidFill>
                            <a:srgbClr val="2F5597"/>
                          </a:solidFill>
                        </a:rPr>
                        <a:t>2.2 Le service numérique </a:t>
                      </a:r>
                      <a:r>
                        <a:rPr lang="fr-FR" sz="1400" b="0" dirty="0" err="1" smtClean="0">
                          <a:solidFill>
                            <a:srgbClr val="2F5597"/>
                          </a:solidFill>
                        </a:rPr>
                        <a:t>a-t-il</a:t>
                      </a:r>
                      <a:r>
                        <a:rPr lang="fr-FR" sz="1400" b="0" dirty="0" smtClean="0">
                          <a:solidFill>
                            <a:srgbClr val="2F5597"/>
                          </a:solidFill>
                        </a:rPr>
                        <a:t> prévu une stratégie de </a:t>
                      </a:r>
                      <a:r>
                        <a:rPr lang="fr-FR" sz="1400" b="0" dirty="0" err="1" smtClean="0">
                          <a:solidFill>
                            <a:srgbClr val="2F5597"/>
                          </a:solidFill>
                        </a:rPr>
                        <a:t>décommissionnement</a:t>
                      </a:r>
                      <a:r>
                        <a:rPr lang="fr-FR" sz="1400" b="0" dirty="0" smtClean="0">
                          <a:solidFill>
                            <a:srgbClr val="2F5597"/>
                          </a:solidFill>
                        </a:rPr>
                        <a:t> pour ses fonctionnalités,</a:t>
                      </a:r>
                      <a:r>
                        <a:rPr lang="fr-FR" sz="1400" b="0" baseline="0" dirty="0" smtClean="0">
                          <a:solidFill>
                            <a:srgbClr val="2F5597"/>
                          </a:solidFill>
                        </a:rPr>
                        <a:t> </a:t>
                      </a:r>
                      <a:r>
                        <a:rPr lang="fr-FR" sz="1400" b="0" dirty="0" smtClean="0">
                          <a:solidFill>
                            <a:srgbClr val="2F5597"/>
                          </a:solidFill>
                        </a:rPr>
                        <a:t>ses composants ou ses environnements non utilisés ?</a:t>
                      </a: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692803188"/>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979515248"/>
              </p:ext>
            </p:extLst>
          </p:nvPr>
        </p:nvGraphicFramePr>
        <p:xfrm>
          <a:off x="0" y="1112520"/>
          <a:ext cx="12192000" cy="4904123"/>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819572">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122/Proposer des dimensionnements nominaux standards en adéquation avec les besoins et exigences </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800" b="1" u="sng" kern="1200" dirty="0" smtClean="0">
                        <a:solidFill>
                          <a:schemeClr val="bg1"/>
                        </a:solidFill>
                        <a:latin typeface="+mn-lt"/>
                        <a:ea typeface="+mn-ea"/>
                        <a:cs typeface="+mn-cs"/>
                      </a:endParaRP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84551">
                <a:tc>
                  <a:txBody>
                    <a:bodyPr/>
                    <a:lstStyle/>
                    <a:p>
                      <a:pPr marL="0" indent="0">
                        <a:buFont typeface="Arial" panose="020B0604020202020204" pitchFamily="34" charset="0"/>
                        <a:buNone/>
                      </a:pPr>
                      <a:r>
                        <a:rPr lang="fr-FR" sz="1600" dirty="0" smtClean="0">
                          <a:solidFill>
                            <a:schemeClr val="tx1"/>
                          </a:solidFill>
                        </a:rPr>
                        <a:t>Exemple de mise en œuvre</a:t>
                      </a:r>
                      <a:endParaRPr lang="fr-FR" sz="1600" dirty="0">
                        <a:solidFill>
                          <a:schemeClr val="tx1"/>
                        </a:solidFill>
                      </a:endParaRPr>
                    </a:p>
                  </a:txBody>
                  <a:tcPr/>
                </a:tc>
                <a:tc>
                  <a:txBody>
                    <a:bodyPr/>
                    <a:lstStyle/>
                    <a:p>
                      <a:r>
                        <a:rPr lang="fr-FR" sz="1400" dirty="0" smtClean="0"/>
                        <a:t>Moyen de test ou de contrôle.</a:t>
                      </a:r>
                    </a:p>
                  </a:txBody>
                  <a:tcPr/>
                </a:tc>
                <a:extLst>
                  <a:ext uri="{0D108BD9-81ED-4DB2-BD59-A6C34878D82A}">
                    <a16:rowId xmlns:a16="http://schemas.microsoft.com/office/drawing/2014/main" val="3420094902"/>
                  </a:ext>
                </a:extLst>
              </a:tr>
            </a:tbl>
          </a:graphicData>
        </a:graphic>
      </p:graphicFrame>
      <p:graphicFrame>
        <p:nvGraphicFramePr>
          <p:cNvPr id="2" name="Tableau 1"/>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solidFill>
                      <a:srgbClr val="2F5597"/>
                    </a:solidFill>
                  </a:tcPr>
                </a:tc>
                <a:tc>
                  <a:txBody>
                    <a:bodyPr/>
                    <a:lstStyle/>
                    <a:p>
                      <a:pPr algn="ctr"/>
                      <a:endParaRPr lang="fr-FR"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solidFill>
                      <a:srgbClr val="2F5597"/>
                    </a:solidFill>
                  </a:tcPr>
                </a:tc>
                <a:tc>
                  <a:txBody>
                    <a:bodyPr/>
                    <a:lstStyle/>
                    <a:p>
                      <a:pPr algn="ctr"/>
                      <a:endParaRPr lang="fr-FR" b="1" dirty="0"/>
                    </a:p>
                  </a:txBody>
                  <a:tcP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6" name="Tableau 5"/>
          <p:cNvGraphicFramePr>
            <a:graphicFrameLocks noGrp="1"/>
          </p:cNvGraphicFramePr>
          <p:nvPr>
            <p:extLst/>
          </p:nvPr>
        </p:nvGraphicFramePr>
        <p:xfrm>
          <a:off x="-1" y="6016643"/>
          <a:ext cx="10271869" cy="84135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841357">
                <a:tc>
                  <a:txBody>
                    <a:bodyPr/>
                    <a:lstStyle/>
                    <a:p>
                      <a:r>
                        <a:rPr lang="fr-FR" sz="1600" b="0" dirty="0" smtClean="0">
                          <a:solidFill>
                            <a:srgbClr val="2F5597"/>
                          </a:solidFill>
                        </a:rPr>
                        <a:t>Référentiel</a:t>
                      </a:r>
                    </a:p>
                    <a:p>
                      <a:r>
                        <a:rPr lang="fr-FR" sz="1600" b="0" dirty="0" smtClean="0">
                          <a:solidFill>
                            <a:srgbClr val="2F5597"/>
                          </a:solidFill>
                        </a:rPr>
                        <a:t>Numéro du</a:t>
                      </a:r>
                      <a:r>
                        <a:rPr lang="fr-FR" sz="1600" b="0" baseline="0" dirty="0" smtClean="0">
                          <a:solidFill>
                            <a:srgbClr val="2F5597"/>
                          </a:solidFill>
                        </a:rPr>
                        <a:t> critère dans le référentiel</a:t>
                      </a:r>
                      <a:endParaRPr lang="fr-FR" sz="1600" b="0" dirty="0">
                        <a:solidFill>
                          <a:srgbClr val="2F5597"/>
                        </a:solidFill>
                      </a:endParaRP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819295365"/>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1877057482"/>
              </p:ext>
            </p:extLst>
          </p:nvPr>
        </p:nvGraphicFramePr>
        <p:xfrm>
          <a:off x="0" y="1112519"/>
          <a:ext cx="12192000" cy="4904123"/>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83687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123/Dimensionner chaque typologie d'environnement par rapport à ces usages spécifiques</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800" b="1" u="sng" kern="1200" dirty="0" smtClean="0">
                        <a:solidFill>
                          <a:schemeClr val="bg1"/>
                        </a:solidFill>
                        <a:latin typeface="+mn-lt"/>
                        <a:ea typeface="+mn-ea"/>
                        <a:cs typeface="+mn-cs"/>
                      </a:endParaRP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4067244">
                <a:tc>
                  <a:txBody>
                    <a:bodyPr/>
                    <a:lstStyle/>
                    <a:p>
                      <a:pPr marL="0" indent="0">
                        <a:buFont typeface="Arial" panose="020B0604020202020204" pitchFamily="34" charset="0"/>
                        <a:buNone/>
                      </a:pPr>
                      <a:r>
                        <a:rPr lang="fr-FR" sz="1600" dirty="0" smtClean="0">
                          <a:solidFill>
                            <a:schemeClr val="tx1"/>
                          </a:solidFill>
                        </a:rPr>
                        <a:t>Exemple de mise en œuvre</a:t>
                      </a:r>
                      <a:endParaRPr lang="fr-FR" sz="1600" dirty="0">
                        <a:solidFill>
                          <a:schemeClr val="tx1"/>
                        </a:solidFill>
                      </a:endParaRPr>
                    </a:p>
                  </a:txBody>
                  <a:tcPr/>
                </a:tc>
                <a:tc>
                  <a:txBody>
                    <a:bodyPr/>
                    <a:lstStyle/>
                    <a:p>
                      <a:r>
                        <a:rPr lang="fr-FR" sz="1400" dirty="0" smtClean="0"/>
                        <a:t>Moyen de test ou de contrôle.</a:t>
                      </a:r>
                    </a:p>
                  </a:txBody>
                  <a:tcPr/>
                </a:tc>
                <a:extLst>
                  <a:ext uri="{0D108BD9-81ED-4DB2-BD59-A6C34878D82A}">
                    <a16:rowId xmlns:a16="http://schemas.microsoft.com/office/drawing/2014/main" val="3420094902"/>
                  </a:ext>
                </a:extLst>
              </a:tr>
            </a:tbl>
          </a:graphicData>
        </a:graphic>
      </p:graphicFrame>
      <p:graphicFrame>
        <p:nvGraphicFramePr>
          <p:cNvPr id="2" name="Tableau 1"/>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solidFill>
                      <a:srgbClr val="2F5597"/>
                    </a:solidFill>
                  </a:tcPr>
                </a:tc>
                <a:tc>
                  <a:txBody>
                    <a:bodyPr/>
                    <a:lstStyle/>
                    <a:p>
                      <a:pPr algn="ctr"/>
                      <a:endParaRPr lang="fr-FR"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solidFill>
                      <a:srgbClr val="2F5597"/>
                    </a:solidFill>
                  </a:tcPr>
                </a:tc>
                <a:tc>
                  <a:txBody>
                    <a:bodyPr/>
                    <a:lstStyle/>
                    <a:p>
                      <a:pPr algn="ctr"/>
                      <a:endParaRPr lang="fr-FR" b="1" dirty="0"/>
                    </a:p>
                  </a:txBody>
                  <a:tcP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6" name="Tableau 5"/>
          <p:cNvGraphicFramePr>
            <a:graphicFrameLocks noGrp="1"/>
          </p:cNvGraphicFramePr>
          <p:nvPr>
            <p:extLst/>
          </p:nvPr>
        </p:nvGraphicFramePr>
        <p:xfrm>
          <a:off x="-1" y="6016643"/>
          <a:ext cx="10271869" cy="84135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841357">
                <a:tc>
                  <a:txBody>
                    <a:bodyPr/>
                    <a:lstStyle/>
                    <a:p>
                      <a:r>
                        <a:rPr lang="fr-FR" sz="1600" b="0" dirty="0" smtClean="0">
                          <a:solidFill>
                            <a:srgbClr val="2F5597"/>
                          </a:solidFill>
                        </a:rPr>
                        <a:t>Référentiel</a:t>
                      </a:r>
                    </a:p>
                    <a:p>
                      <a:r>
                        <a:rPr lang="fr-FR" sz="1600" b="0" dirty="0" smtClean="0">
                          <a:solidFill>
                            <a:srgbClr val="2F5597"/>
                          </a:solidFill>
                        </a:rPr>
                        <a:t>Numéro du</a:t>
                      </a:r>
                      <a:r>
                        <a:rPr lang="fr-FR" sz="1600" b="0" baseline="0" dirty="0" smtClean="0">
                          <a:solidFill>
                            <a:srgbClr val="2F5597"/>
                          </a:solidFill>
                        </a:rPr>
                        <a:t> critère dans le référentiel</a:t>
                      </a:r>
                      <a:endParaRPr lang="fr-FR" sz="1600" b="0" dirty="0">
                        <a:solidFill>
                          <a:srgbClr val="2F5597"/>
                        </a:solidFill>
                      </a:endParaRP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2565715250"/>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3772835863"/>
              </p:ext>
            </p:extLst>
          </p:nvPr>
        </p:nvGraphicFramePr>
        <p:xfrm>
          <a:off x="0" y="1112520"/>
          <a:ext cx="12192000" cy="4904123"/>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989875">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124/Dans le cas des machines mutualisées, dimensionner par rapport au besoin maximal à instant t (et non en cumulatif global)</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800" b="1" u="sng" kern="1200" dirty="0" smtClean="0">
                        <a:solidFill>
                          <a:schemeClr val="bg1"/>
                        </a:solidFill>
                        <a:latin typeface="+mn-lt"/>
                        <a:ea typeface="+mn-ea"/>
                        <a:cs typeface="+mn-cs"/>
                      </a:endParaRP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914248">
                <a:tc>
                  <a:txBody>
                    <a:bodyPr/>
                    <a:lstStyle/>
                    <a:p>
                      <a:pPr marL="0" indent="0">
                        <a:buFont typeface="Arial" panose="020B0604020202020204" pitchFamily="34" charset="0"/>
                        <a:buNone/>
                      </a:pPr>
                      <a:r>
                        <a:rPr lang="fr-FR" sz="1600" dirty="0" smtClean="0">
                          <a:solidFill>
                            <a:schemeClr val="tx1"/>
                          </a:solidFill>
                        </a:rPr>
                        <a:t>Exemple de mise en œuvre</a:t>
                      </a:r>
                      <a:endParaRPr lang="fr-FR" sz="1600" dirty="0">
                        <a:solidFill>
                          <a:schemeClr val="tx1"/>
                        </a:solidFill>
                      </a:endParaRPr>
                    </a:p>
                  </a:txBody>
                  <a:tcPr/>
                </a:tc>
                <a:tc>
                  <a:txBody>
                    <a:bodyPr/>
                    <a:lstStyle/>
                    <a:p>
                      <a:r>
                        <a:rPr lang="fr-FR" sz="1400" dirty="0" smtClean="0"/>
                        <a:t>Moyen de test ou de contrôle.</a:t>
                      </a:r>
                    </a:p>
                  </a:txBody>
                  <a:tcPr/>
                </a:tc>
                <a:extLst>
                  <a:ext uri="{0D108BD9-81ED-4DB2-BD59-A6C34878D82A}">
                    <a16:rowId xmlns:a16="http://schemas.microsoft.com/office/drawing/2014/main" val="3420094902"/>
                  </a:ext>
                </a:extLst>
              </a:tr>
            </a:tbl>
          </a:graphicData>
        </a:graphic>
      </p:graphicFrame>
      <p:graphicFrame>
        <p:nvGraphicFramePr>
          <p:cNvPr id="2" name="Tableau 1"/>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solidFill>
                      <a:srgbClr val="2F5597"/>
                    </a:solidFill>
                  </a:tcPr>
                </a:tc>
                <a:tc>
                  <a:txBody>
                    <a:bodyPr/>
                    <a:lstStyle/>
                    <a:p>
                      <a:pPr algn="ctr"/>
                      <a:endParaRPr lang="fr-FR"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solidFill>
                      <a:srgbClr val="2F5597"/>
                    </a:solidFill>
                  </a:tcPr>
                </a:tc>
                <a:tc>
                  <a:txBody>
                    <a:bodyPr/>
                    <a:lstStyle/>
                    <a:p>
                      <a:pPr algn="ctr"/>
                      <a:endParaRPr lang="fr-FR" b="1" dirty="0"/>
                    </a:p>
                  </a:txBody>
                  <a:tcP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6" name="Tableau 5"/>
          <p:cNvGraphicFramePr>
            <a:graphicFrameLocks noGrp="1"/>
          </p:cNvGraphicFramePr>
          <p:nvPr>
            <p:extLst/>
          </p:nvPr>
        </p:nvGraphicFramePr>
        <p:xfrm>
          <a:off x="-1" y="6016643"/>
          <a:ext cx="10271869" cy="84135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841357">
                <a:tc>
                  <a:txBody>
                    <a:bodyPr/>
                    <a:lstStyle/>
                    <a:p>
                      <a:r>
                        <a:rPr lang="fr-FR" sz="1600" b="0" dirty="0" smtClean="0">
                          <a:solidFill>
                            <a:srgbClr val="2F5597"/>
                          </a:solidFill>
                        </a:rPr>
                        <a:t>Référentiel</a:t>
                      </a:r>
                    </a:p>
                    <a:p>
                      <a:r>
                        <a:rPr lang="fr-FR" sz="1600" b="0" dirty="0" smtClean="0">
                          <a:solidFill>
                            <a:srgbClr val="2F5597"/>
                          </a:solidFill>
                        </a:rPr>
                        <a:t>Numéro du</a:t>
                      </a:r>
                      <a:r>
                        <a:rPr lang="fr-FR" sz="1600" b="0" baseline="0" dirty="0" smtClean="0">
                          <a:solidFill>
                            <a:srgbClr val="2F5597"/>
                          </a:solidFill>
                        </a:rPr>
                        <a:t> critère dans le référentiel</a:t>
                      </a:r>
                      <a:endParaRPr lang="fr-FR" sz="1600" b="0" dirty="0">
                        <a:solidFill>
                          <a:srgbClr val="2F5597"/>
                        </a:solidFill>
                      </a:endParaRP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1806283274"/>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216991297"/>
              </p:ext>
            </p:extLst>
          </p:nvPr>
        </p:nvGraphicFramePr>
        <p:xfrm>
          <a:off x="0" y="1112520"/>
          <a:ext cx="12192000" cy="4904123"/>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989875">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125/Dimensionner les ressources des environnements au fur et à mesure de la progression réelle des sollicitations (ajuster régulièrement)</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800" b="1" u="sng" kern="1200" dirty="0" smtClean="0">
                        <a:solidFill>
                          <a:schemeClr val="bg1"/>
                        </a:solidFill>
                        <a:latin typeface="+mn-lt"/>
                        <a:ea typeface="+mn-ea"/>
                        <a:cs typeface="+mn-cs"/>
                      </a:endParaRP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914248">
                <a:tc>
                  <a:txBody>
                    <a:bodyPr/>
                    <a:lstStyle/>
                    <a:p>
                      <a:pPr marL="0" indent="0">
                        <a:buFont typeface="Arial" panose="020B0604020202020204" pitchFamily="34" charset="0"/>
                        <a:buNone/>
                      </a:pPr>
                      <a:r>
                        <a:rPr lang="fr-FR" sz="1600" dirty="0" smtClean="0">
                          <a:solidFill>
                            <a:schemeClr val="tx1"/>
                          </a:solidFill>
                        </a:rPr>
                        <a:t>Exemple de mise en œuvre</a:t>
                      </a:r>
                      <a:endParaRPr lang="fr-FR" sz="1600" dirty="0">
                        <a:solidFill>
                          <a:schemeClr val="tx1"/>
                        </a:solidFill>
                      </a:endParaRPr>
                    </a:p>
                  </a:txBody>
                  <a:tcPr/>
                </a:tc>
                <a:tc>
                  <a:txBody>
                    <a:bodyPr/>
                    <a:lstStyle/>
                    <a:p>
                      <a:r>
                        <a:rPr lang="fr-FR" sz="1400" dirty="0" smtClean="0"/>
                        <a:t>Moyen de test ou de contrôle.</a:t>
                      </a:r>
                    </a:p>
                  </a:txBody>
                  <a:tcPr/>
                </a:tc>
                <a:extLst>
                  <a:ext uri="{0D108BD9-81ED-4DB2-BD59-A6C34878D82A}">
                    <a16:rowId xmlns:a16="http://schemas.microsoft.com/office/drawing/2014/main" val="3420094902"/>
                  </a:ext>
                </a:extLst>
              </a:tr>
            </a:tbl>
          </a:graphicData>
        </a:graphic>
      </p:graphicFrame>
      <p:graphicFrame>
        <p:nvGraphicFramePr>
          <p:cNvPr id="2" name="Tableau 1"/>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solidFill>
                      <a:srgbClr val="2F5597"/>
                    </a:solidFill>
                  </a:tcPr>
                </a:tc>
                <a:tc>
                  <a:txBody>
                    <a:bodyPr/>
                    <a:lstStyle/>
                    <a:p>
                      <a:pPr algn="ctr"/>
                      <a:endParaRPr lang="fr-FR"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solidFill>
                      <a:srgbClr val="2F5597"/>
                    </a:solidFill>
                  </a:tcPr>
                </a:tc>
                <a:tc>
                  <a:txBody>
                    <a:bodyPr/>
                    <a:lstStyle/>
                    <a:p>
                      <a:pPr algn="ctr"/>
                      <a:endParaRPr lang="fr-FR" b="1" dirty="0"/>
                    </a:p>
                  </a:txBody>
                  <a:tcP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6" name="Tableau 5"/>
          <p:cNvGraphicFramePr>
            <a:graphicFrameLocks noGrp="1"/>
          </p:cNvGraphicFramePr>
          <p:nvPr>
            <p:extLst/>
          </p:nvPr>
        </p:nvGraphicFramePr>
        <p:xfrm>
          <a:off x="-1" y="6016643"/>
          <a:ext cx="10271869" cy="84135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841357">
                <a:tc>
                  <a:txBody>
                    <a:bodyPr/>
                    <a:lstStyle/>
                    <a:p>
                      <a:r>
                        <a:rPr lang="fr-FR" sz="1600" b="0" dirty="0" smtClean="0">
                          <a:solidFill>
                            <a:srgbClr val="2F5597"/>
                          </a:solidFill>
                        </a:rPr>
                        <a:t>Référentiel</a:t>
                      </a:r>
                    </a:p>
                    <a:p>
                      <a:r>
                        <a:rPr lang="fr-FR" sz="1600" b="0" dirty="0" smtClean="0">
                          <a:solidFill>
                            <a:srgbClr val="2F5597"/>
                          </a:solidFill>
                        </a:rPr>
                        <a:t>Numéro du</a:t>
                      </a:r>
                      <a:r>
                        <a:rPr lang="fr-FR" sz="1600" b="0" baseline="0" dirty="0" smtClean="0">
                          <a:solidFill>
                            <a:srgbClr val="2F5597"/>
                          </a:solidFill>
                        </a:rPr>
                        <a:t> critère dans le référentiel</a:t>
                      </a:r>
                      <a:endParaRPr lang="fr-FR" sz="1600" b="0" dirty="0">
                        <a:solidFill>
                          <a:srgbClr val="2F5597"/>
                        </a:solidFill>
                      </a:endParaRP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3200036632"/>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extLst>
              <p:ext uri="{D42A27DB-BD31-4B8C-83A1-F6EECF244321}">
                <p14:modId xmlns:p14="http://schemas.microsoft.com/office/powerpoint/2010/main" val="24460254"/>
              </p:ext>
            </p:extLst>
          </p:nvPr>
        </p:nvGraphicFramePr>
        <p:xfrm>
          <a:off x="0" y="1112520"/>
          <a:ext cx="12192000" cy="4904123"/>
        </p:xfrm>
        <a:graphic>
          <a:graphicData uri="http://schemas.openxmlformats.org/drawingml/2006/table">
            <a:tbl>
              <a:tblPr firstRow="1" bandRow="1">
                <a:tableStyleId>{5C22544A-7EE6-4342-B048-85BDC9FD1C3A}</a:tableStyleId>
              </a:tblPr>
              <a:tblGrid>
                <a:gridCol w="6100667">
                  <a:extLst>
                    <a:ext uri="{9D8B030D-6E8A-4147-A177-3AD203B41FA5}">
                      <a16:colId xmlns:a16="http://schemas.microsoft.com/office/drawing/2014/main" val="1470604376"/>
                    </a:ext>
                  </a:extLst>
                </a:gridCol>
                <a:gridCol w="6091333">
                  <a:extLst>
                    <a:ext uri="{9D8B030D-6E8A-4147-A177-3AD203B41FA5}">
                      <a16:colId xmlns:a16="http://schemas.microsoft.com/office/drawing/2014/main" val="588129664"/>
                    </a:ext>
                  </a:extLst>
                </a:gridCol>
              </a:tblGrid>
              <a:tr h="989875">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u="sng" kern="1200" dirty="0" smtClean="0">
                          <a:solidFill>
                            <a:schemeClr val="bg1"/>
                          </a:solidFill>
                          <a:latin typeface="+mn-lt"/>
                          <a:ea typeface="+mn-ea"/>
                          <a:cs typeface="+mn-cs"/>
                        </a:rPr>
                        <a:t>126/Après un besoin temporaire d'augmentation de ressources (suite migration, suite problème, ….), redimensionner les environnements et les ressources au juste besoin</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800" b="1" u="sng" kern="1200" dirty="0" smtClean="0">
                        <a:solidFill>
                          <a:schemeClr val="bg1"/>
                        </a:solidFill>
                        <a:latin typeface="+mn-lt"/>
                        <a:ea typeface="+mn-ea"/>
                        <a:cs typeface="+mn-cs"/>
                      </a:endParaRPr>
                    </a:p>
                  </a:txBody>
                  <a:tcPr anchor="ctr">
                    <a:solidFill>
                      <a:srgbClr val="2F5597"/>
                    </a:solidFill>
                  </a:tcPr>
                </a:tc>
                <a:tc hMerge="1">
                  <a:txBody>
                    <a:bodyPr/>
                    <a:lstStyle/>
                    <a:p>
                      <a:pPr algn="ctr" rtl="0" fontAlgn="base"/>
                      <a:endParaRPr lang="fr-FR" sz="1800" b="1" u="none" kern="1200" dirty="0">
                        <a:solidFill>
                          <a:schemeClr val="bg1"/>
                        </a:solidFill>
                        <a:latin typeface="+mn-lt"/>
                        <a:ea typeface="+mn-ea"/>
                        <a:cs typeface="+mn-cs"/>
                      </a:endParaRPr>
                    </a:p>
                  </a:txBody>
                  <a:tcPr anchor="ctr">
                    <a:solidFill>
                      <a:srgbClr val="2F5597"/>
                    </a:solidFill>
                  </a:tcPr>
                </a:tc>
                <a:extLst>
                  <a:ext uri="{0D108BD9-81ED-4DB2-BD59-A6C34878D82A}">
                    <a16:rowId xmlns:a16="http://schemas.microsoft.com/office/drawing/2014/main" val="2512791991"/>
                  </a:ext>
                </a:extLst>
              </a:tr>
              <a:tr h="3914248">
                <a:tc>
                  <a:txBody>
                    <a:bodyPr/>
                    <a:lstStyle/>
                    <a:p>
                      <a:pPr marL="0" indent="0">
                        <a:buFont typeface="Arial" panose="020B0604020202020204" pitchFamily="34" charset="0"/>
                        <a:buNone/>
                      </a:pPr>
                      <a:r>
                        <a:rPr lang="fr-FR" sz="1600" dirty="0" smtClean="0">
                          <a:solidFill>
                            <a:schemeClr val="tx1"/>
                          </a:solidFill>
                        </a:rPr>
                        <a:t>Exemple de mise en œuvre</a:t>
                      </a:r>
                      <a:endParaRPr lang="fr-FR" sz="1600" dirty="0">
                        <a:solidFill>
                          <a:schemeClr val="tx1"/>
                        </a:solidFill>
                      </a:endParaRPr>
                    </a:p>
                  </a:txBody>
                  <a:tcPr/>
                </a:tc>
                <a:tc>
                  <a:txBody>
                    <a:bodyPr/>
                    <a:lstStyle/>
                    <a:p>
                      <a:r>
                        <a:rPr lang="fr-FR" sz="1400" dirty="0" smtClean="0"/>
                        <a:t>Moyen de test ou de contrôle.</a:t>
                      </a:r>
                    </a:p>
                  </a:txBody>
                  <a:tcPr/>
                </a:tc>
                <a:extLst>
                  <a:ext uri="{0D108BD9-81ED-4DB2-BD59-A6C34878D82A}">
                    <a16:rowId xmlns:a16="http://schemas.microsoft.com/office/drawing/2014/main" val="3420094902"/>
                  </a:ext>
                </a:extLst>
              </a:tr>
            </a:tbl>
          </a:graphicData>
        </a:graphic>
      </p:graphicFrame>
      <p:graphicFrame>
        <p:nvGraphicFramePr>
          <p:cNvPr id="2" name="Tableau 1"/>
          <p:cNvGraphicFramePr>
            <a:graphicFrameLocks noGrp="1"/>
          </p:cNvGraphicFramePr>
          <p:nvPr>
            <p:extLst/>
          </p:nvPr>
        </p:nvGraphicFramePr>
        <p:xfrm>
          <a:off x="6097804" y="0"/>
          <a:ext cx="6094196" cy="1112520"/>
        </p:xfrm>
        <a:graphic>
          <a:graphicData uri="http://schemas.openxmlformats.org/drawingml/2006/table">
            <a:tbl>
              <a:tblPr firstRow="1" bandRow="1">
                <a:tableStyleId>{5C22544A-7EE6-4342-B048-85BDC9FD1C3A}</a:tableStyleId>
              </a:tblPr>
              <a:tblGrid>
                <a:gridCol w="3047098">
                  <a:extLst>
                    <a:ext uri="{9D8B030D-6E8A-4147-A177-3AD203B41FA5}">
                      <a16:colId xmlns:a16="http://schemas.microsoft.com/office/drawing/2014/main" val="2625270736"/>
                    </a:ext>
                  </a:extLst>
                </a:gridCol>
                <a:gridCol w="3047098">
                  <a:extLst>
                    <a:ext uri="{9D8B030D-6E8A-4147-A177-3AD203B41FA5}">
                      <a16:colId xmlns:a16="http://schemas.microsoft.com/office/drawing/2014/main" val="4249181533"/>
                    </a:ext>
                  </a:extLst>
                </a:gridCol>
              </a:tblGrid>
              <a:tr h="556260">
                <a:tc>
                  <a:txBody>
                    <a:bodyPr/>
                    <a:lstStyle/>
                    <a:p>
                      <a:pPr algn="ctr"/>
                      <a:r>
                        <a:rPr lang="fr-FR" sz="1600" dirty="0" smtClean="0"/>
                        <a:t>Priorité</a:t>
                      </a:r>
                      <a:endParaRPr lang="fr-FR" sz="1600" dirty="0"/>
                    </a:p>
                  </a:txBody>
                  <a:tcPr>
                    <a:solidFill>
                      <a:srgbClr val="2F5597"/>
                    </a:solidFill>
                  </a:tcPr>
                </a:tc>
                <a:tc>
                  <a:txBody>
                    <a:bodyPr/>
                    <a:lstStyle/>
                    <a:p>
                      <a:pPr algn="ctr"/>
                      <a:endParaRPr lang="fr-FR" dirty="0">
                        <a:solidFill>
                          <a:schemeClr val="tx1"/>
                        </a:solidFill>
                      </a:endParaRPr>
                    </a:p>
                  </a:txBody>
                  <a:tcPr>
                    <a:solidFill>
                      <a:schemeClr val="accent1">
                        <a:lumMod val="60000"/>
                        <a:lumOff val="40000"/>
                      </a:schemeClr>
                    </a:solidFill>
                  </a:tcPr>
                </a:tc>
                <a:extLst>
                  <a:ext uri="{0D108BD9-81ED-4DB2-BD59-A6C34878D82A}">
                    <a16:rowId xmlns:a16="http://schemas.microsoft.com/office/drawing/2014/main" val="3898120666"/>
                  </a:ext>
                </a:extLst>
              </a:tr>
              <a:tr h="556260">
                <a:tc>
                  <a:txBody>
                    <a:bodyPr/>
                    <a:lstStyle/>
                    <a:p>
                      <a:pPr algn="ctr"/>
                      <a:r>
                        <a:rPr lang="fr-FR" sz="1600" b="1" dirty="0" smtClean="0">
                          <a:solidFill>
                            <a:schemeClr val="bg1"/>
                          </a:solidFill>
                        </a:rPr>
                        <a:t>Difficulté de mise en œuvre</a:t>
                      </a:r>
                      <a:endParaRPr lang="fr-FR" sz="1600" b="1" dirty="0">
                        <a:solidFill>
                          <a:schemeClr val="bg1"/>
                        </a:solidFill>
                      </a:endParaRPr>
                    </a:p>
                  </a:txBody>
                  <a:tcPr>
                    <a:solidFill>
                      <a:srgbClr val="2F5597"/>
                    </a:solidFill>
                  </a:tcPr>
                </a:tc>
                <a:tc>
                  <a:txBody>
                    <a:bodyPr/>
                    <a:lstStyle/>
                    <a:p>
                      <a:pPr algn="ctr"/>
                      <a:endParaRPr lang="fr-FR" b="1" dirty="0"/>
                    </a:p>
                  </a:txBody>
                  <a:tcPr>
                    <a:solidFill>
                      <a:schemeClr val="accent1">
                        <a:lumMod val="60000"/>
                        <a:lumOff val="40000"/>
                      </a:schemeClr>
                    </a:solidFill>
                  </a:tcPr>
                </a:tc>
                <a:extLst>
                  <a:ext uri="{0D108BD9-81ED-4DB2-BD59-A6C34878D82A}">
                    <a16:rowId xmlns:a16="http://schemas.microsoft.com/office/drawing/2014/main" val="3890775650"/>
                  </a:ext>
                </a:extLst>
              </a:tr>
            </a:tbl>
          </a:graphicData>
        </a:graphic>
      </p:graphicFrame>
      <p:pic>
        <p:nvPicPr>
          <p:cNvPr id="5" name="Image 4"/>
          <p:cNvPicPr>
            <a:picLocks noChangeAspect="1"/>
          </p:cNvPicPr>
          <p:nvPr/>
        </p:nvPicPr>
        <p:blipFill>
          <a:blip r:embed="rId3"/>
          <a:stretch>
            <a:fillRect/>
          </a:stretch>
        </p:blipFill>
        <p:spPr>
          <a:xfrm>
            <a:off x="10271869" y="6088284"/>
            <a:ext cx="1873835" cy="646919"/>
          </a:xfrm>
          <a:prstGeom prst="rect">
            <a:avLst/>
          </a:prstGeom>
        </p:spPr>
      </p:pic>
      <p:graphicFrame>
        <p:nvGraphicFramePr>
          <p:cNvPr id="6" name="Tableau 5"/>
          <p:cNvGraphicFramePr>
            <a:graphicFrameLocks noGrp="1"/>
          </p:cNvGraphicFramePr>
          <p:nvPr>
            <p:extLst/>
          </p:nvPr>
        </p:nvGraphicFramePr>
        <p:xfrm>
          <a:off x="-1" y="6016643"/>
          <a:ext cx="10271869" cy="841357"/>
        </p:xfrm>
        <a:graphic>
          <a:graphicData uri="http://schemas.openxmlformats.org/drawingml/2006/table">
            <a:tbl>
              <a:tblPr firstRow="1" bandRow="1">
                <a:tableStyleId>{5C22544A-7EE6-4342-B048-85BDC9FD1C3A}</a:tableStyleId>
              </a:tblPr>
              <a:tblGrid>
                <a:gridCol w="10271869">
                  <a:extLst>
                    <a:ext uri="{9D8B030D-6E8A-4147-A177-3AD203B41FA5}">
                      <a16:colId xmlns:a16="http://schemas.microsoft.com/office/drawing/2014/main" val="2930079927"/>
                    </a:ext>
                  </a:extLst>
                </a:gridCol>
              </a:tblGrid>
              <a:tr h="841357">
                <a:tc>
                  <a:txBody>
                    <a:bodyPr/>
                    <a:lstStyle/>
                    <a:p>
                      <a:r>
                        <a:rPr lang="fr-FR" sz="1600" b="0" dirty="0" smtClean="0">
                          <a:solidFill>
                            <a:srgbClr val="2F5597"/>
                          </a:solidFill>
                        </a:rPr>
                        <a:t>Référentiel</a:t>
                      </a:r>
                    </a:p>
                    <a:p>
                      <a:r>
                        <a:rPr lang="fr-FR" sz="1600" b="0" dirty="0" smtClean="0">
                          <a:solidFill>
                            <a:srgbClr val="2F5597"/>
                          </a:solidFill>
                        </a:rPr>
                        <a:t>Numéro du</a:t>
                      </a:r>
                      <a:r>
                        <a:rPr lang="fr-FR" sz="1600" b="0" baseline="0" dirty="0" smtClean="0">
                          <a:solidFill>
                            <a:srgbClr val="2F5597"/>
                          </a:solidFill>
                        </a:rPr>
                        <a:t> critère dans le référentiel</a:t>
                      </a:r>
                      <a:endParaRPr lang="fr-FR" sz="1600" b="0" dirty="0">
                        <a:solidFill>
                          <a:srgbClr val="2F5597"/>
                        </a:solidFill>
                      </a:endParaRPr>
                    </a:p>
                  </a:txBody>
                  <a:tcPr anchor="ctr">
                    <a:solidFill>
                      <a:schemeClr val="bg1"/>
                    </a:solidFill>
                  </a:tcPr>
                </a:tc>
                <a:extLst>
                  <a:ext uri="{0D108BD9-81ED-4DB2-BD59-A6C34878D82A}">
                    <a16:rowId xmlns:a16="http://schemas.microsoft.com/office/drawing/2014/main" val="1922283332"/>
                  </a:ext>
                </a:extLst>
              </a:tr>
            </a:tbl>
          </a:graphicData>
        </a:graphic>
      </p:graphicFrame>
    </p:spTree>
    <p:extLst>
      <p:ext uri="{BB962C8B-B14F-4D97-AF65-F5344CB8AC3E}">
        <p14:creationId xmlns:p14="http://schemas.microsoft.com/office/powerpoint/2010/main" val="56211473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50C5F265DC95A4D93839EFDDD06B2AF" ma:contentTypeVersion="1" ma:contentTypeDescription="Crée un document." ma:contentTypeScope="" ma:versionID="79822ece65becf10d6fdb1130650effd">
  <xsd:schema xmlns:xsd="http://www.w3.org/2001/XMLSchema" xmlns:xs="http://www.w3.org/2001/XMLSchema" xmlns:p="http://schemas.microsoft.com/office/2006/metadata/properties" xmlns:ns2="http://schemas.microsoft.com/sharepoint/v4" targetNamespace="http://schemas.microsoft.com/office/2006/metadata/properties" ma:root="true" ma:fieldsID="8a85c721fb393e988d1bdd7d5dfec7f0" ns2:_="">
    <xsd:import namespace="http://schemas.microsoft.com/sharepoint/v4"/>
    <xsd:element name="properties">
      <xsd:complexType>
        <xsd:sequence>
          <xsd:element name="documentManagement">
            <xsd:complexType>
              <xsd:all>
                <xsd:element ref="ns2:IconOverla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8"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IconOverlay xmlns="http://schemas.microsoft.com/sharepoint/v4" xsi:nil="true"/>
  </documentManagement>
</p:properties>
</file>

<file path=customXml/itemProps1.xml><?xml version="1.0" encoding="utf-8"?>
<ds:datastoreItem xmlns:ds="http://schemas.openxmlformats.org/officeDocument/2006/customXml" ds:itemID="{9F97C38B-A56B-47FE-A4D5-BF667CC516D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5375BFB-4B36-49D6-A97F-17139445C756}">
  <ds:schemaRefs>
    <ds:schemaRef ds:uri="http://schemas.microsoft.com/sharepoint/v3/contenttype/forms"/>
  </ds:schemaRefs>
</ds:datastoreItem>
</file>

<file path=customXml/itemProps3.xml><?xml version="1.0" encoding="utf-8"?>
<ds:datastoreItem xmlns:ds="http://schemas.openxmlformats.org/officeDocument/2006/customXml" ds:itemID="{92D0FB93-FF1D-4C77-9326-6A3E6FB2CDA4}">
  <ds:schemaRefs>
    <ds:schemaRef ds:uri="http://purl.org/dc/terms/"/>
    <ds:schemaRef ds:uri="http://purl.org/dc/elements/1.1/"/>
    <ds:schemaRef ds:uri="http://schemas.microsoft.com/office/2006/documentManagement/types"/>
    <ds:schemaRef ds:uri="http://schemas.microsoft.com/sharepoint/v4"/>
    <ds:schemaRef ds:uri="http://purl.org/dc/dcmitype/"/>
    <ds:schemaRef ds:uri="http://schemas.microsoft.com/office/2006/metadata/properties"/>
    <ds:schemaRef ds:uri="http://schemas.openxmlformats.org/package/2006/metadata/core-properties"/>
    <ds:schemaRef ds:uri="http://schemas.microsoft.com/office/infopath/2007/PartnerControl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44974</TotalTime>
  <Words>30762</Words>
  <Application>Microsoft Office PowerPoint</Application>
  <PresentationFormat>Grand écran</PresentationFormat>
  <Paragraphs>2919</Paragraphs>
  <Slides>232</Slides>
  <Notes>102</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232</vt:i4>
      </vt:variant>
    </vt:vector>
  </HeadingPairs>
  <TitlesOfParts>
    <vt:vector size="236" baseType="lpstr">
      <vt:lpstr>Arial</vt:lpstr>
      <vt:lpstr>Calibri</vt:lpstr>
      <vt:lpstr>Calibri Light</vt:lpstr>
      <vt:lpstr>Thème Office</vt:lpstr>
      <vt:lpstr>Présentation PowerPoint</vt:lpstr>
      <vt:lpstr>Historique des mises à jour</vt:lpstr>
      <vt:lpstr>En résumé, qu’est ce que l’écoconception …</vt:lpstr>
      <vt:lpstr>L’écoconception au cœur des projets CNAM</vt:lpstr>
      <vt:lpstr>L’écoconception au cœur des projets CNAM</vt:lpstr>
      <vt:lpstr>Présentation PowerPoint</vt:lpstr>
      <vt:lpstr>Liste des Finalités et Critères</vt:lpstr>
      <vt:lpstr>Liste des Finalités et Critères</vt:lpstr>
      <vt:lpstr>Liste des Finalités et Critères</vt:lpstr>
      <vt:lpstr>Liste des Finalités et Critères</vt:lpstr>
      <vt:lpstr>Les phases projets concernées avec leurs acteurs</vt:lpstr>
      <vt:lpstr>Présentation PowerPoint</vt:lpstr>
      <vt:lpstr>Liste des métiers et Critères</vt:lpstr>
      <vt:lpstr>Liste des métiers et Critères</vt:lpstr>
      <vt:lpstr>Liste des métiers et Critères</vt:lpstr>
      <vt:lpstr>Liste des métiers et Critères</vt:lpstr>
      <vt:lpstr>Liste des métiers et Critères</vt:lpstr>
      <vt:lpstr>Liste des métiers et Critères</vt:lpstr>
      <vt:lpstr>Liste des métiers et Critères</vt:lpstr>
      <vt:lpstr>Liste des métiers et Critères</vt:lpstr>
      <vt:lpstr>Liste des métiers et Critères</vt:lpstr>
      <vt:lpstr>Liste des métiers et Critères</vt:lpstr>
      <vt:lpstr>Liste des métiers et Critères</vt:lpstr>
      <vt:lpstr>Liste des métiers et Critères</vt:lpstr>
      <vt:lpstr>Schéma de la mesure dans un contexte organisationnel</vt:lpstr>
      <vt:lpstr>Présentation PowerPoint</vt:lpstr>
      <vt:lpstr>Bonnes pratiques par phase métier</vt:lpstr>
      <vt:lpstr>Présentation PowerPoint</vt:lpstr>
      <vt:lpstr>Gouvernance/Stratégie SI</vt:lpstr>
      <vt:lpstr>Documents et outils associés</vt:lpstr>
      <vt:lpstr>Présentation PowerPoint</vt:lpstr>
      <vt:lpstr>Gestion projet</vt:lpstr>
      <vt:lpstr>Documents et outils associés</vt:lpstr>
      <vt:lpstr>Présentation PowerPoint</vt:lpstr>
      <vt:lpstr>CDC &amp; Spec</vt:lpstr>
      <vt:lpstr>Documents et outils associés</vt:lpstr>
      <vt:lpstr>Présentation PowerPoint</vt:lpstr>
      <vt:lpstr>Architecture AS</vt:lpstr>
      <vt:lpstr>Architecture EST DATM</vt:lpstr>
      <vt:lpstr>Architecture EST DASI</vt:lpstr>
      <vt:lpstr>Architecture AT</vt:lpstr>
      <vt:lpstr>Architecture Exploitation</vt:lpstr>
      <vt:lpstr>Architecture AF</vt:lpstr>
      <vt:lpstr>Documents et outils associés</vt:lpstr>
      <vt:lpstr>Présentation PowerPoint</vt:lpstr>
      <vt:lpstr>Spec Conception et Design</vt:lpstr>
      <vt:lpstr>Spec Conception et Design</vt:lpstr>
      <vt:lpstr>Documents et outils associés</vt:lpstr>
      <vt:lpstr>Présentation PowerPoint</vt:lpstr>
      <vt:lpstr>Développement Front end</vt:lpstr>
      <vt:lpstr>Développement Front end</vt:lpstr>
      <vt:lpstr>Documents et outils associés</vt:lpstr>
      <vt:lpstr>Présentation PowerPoint</vt:lpstr>
      <vt:lpstr>Développement Back end</vt:lpstr>
      <vt:lpstr>Documents et outils associés</vt:lpstr>
      <vt:lpstr>Présentation PowerPoint</vt:lpstr>
      <vt:lpstr>Environnements : Conception de l’hébergement numérique</vt:lpstr>
      <vt:lpstr>Documents et outils associés</vt:lpstr>
      <vt:lpstr>Présentation PowerPoint</vt:lpstr>
      <vt:lpstr>RUN : Maintenance &amp; fin de vie </vt:lpstr>
      <vt:lpstr>Documents et outils associés</vt:lpstr>
      <vt:lpstr>Présentation PowerPoint</vt:lpstr>
      <vt:lpstr>Intelligence Artificielle</vt:lpstr>
      <vt:lpstr>Présentation PowerPoint</vt:lpstr>
      <vt:lpstr>Bonnes pratiques par finalité</vt:lpstr>
      <vt:lpstr>Présentation PowerPoint</vt:lpstr>
      <vt:lpstr>S’assurer que ma solution répond aux besoins essentiels et qu'elle sera / est utilisée</vt:lpstr>
      <vt:lpstr>Présentation PowerPoint</vt:lpstr>
      <vt:lpstr>Etre au plus près des technologies et versions "standards"</vt:lpstr>
      <vt:lpstr>S’assurer que ma solution est utilisable et minimise les contraintes sur les terminaux et matériel utilisé</vt:lpstr>
      <vt:lpstr>Présentation PowerPoint</vt:lpstr>
      <vt:lpstr>Appliquer des méthodes d’écoconception dans la méthodologie projet</vt:lpstr>
      <vt:lpstr>Imposer aux fournisseurs et/ou partenaires participant à l'élaboration du service une démarche environnementale</vt:lpstr>
      <vt:lpstr>Suivre les impacts coté Datacenters</vt:lpstr>
      <vt:lpstr>Suivre les impacts du service numérique</vt:lpstr>
      <vt:lpstr>Présentation PowerPoint</vt:lpstr>
      <vt:lpstr>Eviter le recours à des ressources inutiles coté terminal utilisateur</vt:lpstr>
      <vt:lpstr>Favoriser le bon fonctionnement des navigateurs</vt:lpstr>
      <vt:lpstr>Limiter le poids par écran</vt:lpstr>
      <vt:lpstr>Optimiser les contenus multi-média</vt:lpstr>
      <vt:lpstr>Optimiser les ressources d'Interface Utilisateur</vt:lpstr>
      <vt:lpstr>Optimiser l'intéraction avec l'utilisateur pour minimiser le temps passé sur son terminal, le "poids" des échanges</vt:lpstr>
      <vt:lpstr>Présentation PowerPoint</vt:lpstr>
      <vt:lpstr>Optimiser les traitements "lourds" coté terminal utilisateur</vt:lpstr>
      <vt:lpstr>Limiter le nombre de requête distante</vt:lpstr>
      <vt:lpstr>Mettre en place un « Circuit breaker ». </vt:lpstr>
      <vt:lpstr>Optimiser les traitements "lourds"</vt:lpstr>
      <vt:lpstr>Eviter un usage non justifié et déraisonné d’une phase d’entraînement</vt:lpstr>
      <vt:lpstr>Favoriser les traitements asynchrones</vt:lpstr>
      <vt:lpstr>Optimiser les traitements "lourds" coté serveur</vt:lpstr>
      <vt:lpstr>Paramétrer de manière optimal coté serveur</vt:lpstr>
      <vt:lpstr>Optimiser le poids des échanges "client/serveur"</vt:lpstr>
      <vt:lpstr>Présentation PowerPoint</vt:lpstr>
      <vt:lpstr>Minimiser le besoin en terme de stockage de données</vt:lpstr>
      <vt:lpstr>Ajuster tout au long du cycle de vie le dimensionnement les ressources IT au juste besoin</vt:lpstr>
      <vt:lpstr>Eviter la duplication d'infra (machine/stockage)</vt:lpstr>
      <vt:lpstr>Optimiser le parc physique IT</vt:lpstr>
      <vt:lpstr>S’assurer de limiter le besoin en infra</vt:lpstr>
      <vt:lpstr>Présentation PowerPoint</vt:lpstr>
      <vt:lpstr>Décommissionner</vt:lpstr>
      <vt:lpstr>Présentation PowerPoint</vt:lpstr>
      <vt:lpstr>Optimiser la consommation d'énergie au niveau IT</vt:lpstr>
      <vt:lpstr>Présentation PowerPoint</vt:lpstr>
      <vt:lpstr>Liste des bonnes pratiques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Cnam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MOREAU DYLAN (CNAM / Angers)</dc:creator>
  <cp:lastModifiedBy>KAMMERLOCHER FRANCK (CNAM / Angers)</cp:lastModifiedBy>
  <cp:revision>640</cp:revision>
  <dcterms:created xsi:type="dcterms:W3CDTF">2024-04-29T08:18:17Z</dcterms:created>
  <dcterms:modified xsi:type="dcterms:W3CDTF">2025-02-07T08:57:01Z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0x010100650C5F265DC95A4D93839EFDDD06B2AF</vt:lpwstr>
  </property>
</Properties>
</file>